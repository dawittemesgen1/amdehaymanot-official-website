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ctrTitle"/>
          </p:nvPr>
        </p:nvSpPr>
        <p:spPr>
          <a:xfrm>
            <a:off x="0" y="2103120"/>
          </a:xfrm>
        </p:spPr>
        <p:txBody>
          <a:bodyPr/>
          <a:lstStyle/>
          <a:p>
            <a:pPr algn="ctr"/>
            <a:r>
              <a:rPr b="1" sz="4000">
                <a:solidFill>
                  <a:srgbClr val="FFCF00"/>
                </a:solidFill>
                <a:latin typeface="Segoe UI"/>
              </a:rPr>
              <a:t>የመዝሙር ክፍል አደረጃጀትና የአገልግሎት መዋቅር ማሻሻያ ጥናታዊ የውሳኔ ሐሳብ</a:t>
            </a:r>
          </a:p>
        </p:txBody>
      </p:sp>
      <p:sp>
        <p:nvSpPr>
          <p:cNvPr id="3" name="Subtitle 2"/>
          <p:cNvSpPr>
            <a:spLocks noGrp="1"/>
          </p:cNvSpPr>
          <p:nvPr>
            <p:ph type="subTitle" idx="1"/>
          </p:nvPr>
        </p:nvSpPr>
        <p:spPr>
          <a:xfrm>
            <a:off x="0" y="4114800"/>
          </a:xfrm>
        </p:spPr>
        <p:txBody>
          <a:bodyPr/>
          <a:lstStyle/>
          <a:p>
            <a:pPr algn="ctr"/>
            <a:r>
              <a:rPr b="0" sz="2800">
                <a:solidFill>
                  <a:srgbClr val="E8EEF4"/>
                </a:solidFill>
                <a:latin typeface="Segoe UI"/>
              </a:rPr>
              <a:t>(ሙሉ ሰነድ)</a:t>
            </a:r>
          </a:p>
        </p:txBody>
      </p:sp>
      <p:sp>
        <p:nvSpPr>
          <p:cNvPr id="4" name="Rectangle 3"/>
          <p:cNvSpPr/>
          <p:nvPr/>
        </p:nvSpPr>
        <p:spPr>
          <a:xfrm>
            <a:off x="3200400" y="4754880"/>
            <a:ext cx="2743200" cy="635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 A png.png"/>
          <p:cNvPicPr>
            <a:picLocks noChangeAspect="1"/>
          </p:cNvPicPr>
          <p:nvPr/>
        </p:nvPicPr>
        <p:blipFill>
          <a:blip r:embed="rId2"/>
          <a:stretch>
            <a:fillRect/>
          </a:stretch>
        </p:blipFill>
        <p:spPr>
          <a:xfrm>
            <a:off x="3886200" y="457200"/>
            <a:ext cx="1371600" cy="1371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ምስጋና (Acknowledgment)</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2000">
                <a:solidFill>
                  <a:srgbClr val="E8EEF4"/>
                </a:solidFill>
                <a:latin typeface="Segoe UI"/>
              </a:rPr>
              <a:t>በቅድመ አያቶቻችን እምነትና ተጋድሎ የተመሰረተችው ቅድስት ቤተክርስቲያናችን፣ ከትውልድ ወደ ትውልድ ያሬዳዊ ዜማዋንና መንፈሳዊ ሀብቷን ጠብቃ እንድታቆይልን ላደረገ ለአምላካችን እግዚአብሔር ምስጋና ይሁን።</a:t>
            </a:r>
          </a:p>
          <a:p>
            <a:pPr>
              <a:spcAft>
                <a:spcPts val="1400"/>
              </a:spcAft>
            </a:pPr>
            <a:r>
              <a:rPr sz="2000">
                <a:solidFill>
                  <a:srgbClr val="E8EEF4"/>
                </a:solidFill>
                <a:latin typeface="Segoe UI"/>
              </a:rPr>
              <a:t>ሰንበት ትምህርት ቤታችን ከተመሰረተበት 1965 ዓ.ም ጀምሮ እስካሁን ድረስ የመዝሙር አገልግሎቱ ሳይቋረጥና ያሬዳዊ ዜማውን ሳይለቅ አሁን ላለበት የዕድገት ደረጃ እንዲደርስ ሌሊትና ቀን በጸሎት፣ በጉልበት፣ በዕውቀትና በገንዘባቸው ላገለገሉ ቀደምት አባቶች፣ እናቶች፣ መምህራንና የመዝሙር አስጠኚዎች በሙሉ ምስጋናችን የላቀ ነው።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ማውጫ (Table of Contents) — 1/2</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አላማ (Objectives of the Proposal)</a:t>
            </a:r>
          </a:p>
          <a:p>
            <a:pPr>
              <a:spcAft>
                <a:spcPts val="1400"/>
              </a:spcAft>
            </a:pPr>
            <a:r>
              <a:rPr sz="1900">
                <a:solidFill>
                  <a:srgbClr val="E8EEF4"/>
                </a:solidFill>
                <a:latin typeface="Segoe UI"/>
              </a:rPr>
              <a:t>ምዕራፍ 1: መሪ / አስጠኚ</a:t>
            </a:r>
          </a:p>
          <a:p>
            <a:pPr>
              <a:spcAft>
                <a:spcPts val="1400"/>
              </a:spcAft>
            </a:pPr>
            <a:r>
              <a:rPr sz="1900">
                <a:solidFill>
                  <a:srgbClr val="E8EEF4"/>
                </a:solidFill>
                <a:latin typeface="Segoe UI"/>
              </a:rPr>
              <a:t>  1.1. መሪነት በጥንተ ተፈጥሮ</a:t>
            </a:r>
          </a:p>
          <a:p>
            <a:pPr>
              <a:spcAft>
                <a:spcPts val="1400"/>
              </a:spcAft>
            </a:pPr>
            <a:r>
              <a:rPr sz="1900">
                <a:solidFill>
                  <a:srgbClr val="E8EEF4"/>
                </a:solidFill>
                <a:latin typeface="Segoe UI"/>
              </a:rPr>
              <a:t>  1.2. የመሪነት ትርጉም</a:t>
            </a:r>
          </a:p>
          <a:p>
            <a:pPr>
              <a:spcAft>
                <a:spcPts val="1400"/>
              </a:spcAft>
            </a:pPr>
            <a:r>
              <a:rPr sz="1900">
                <a:solidFill>
                  <a:srgbClr val="E8EEF4"/>
                </a:solidFill>
                <a:latin typeface="Segoe UI"/>
              </a:rPr>
              <a:t>  1.3. የመዝሙር አስጠኚነት ከመሪነት አንጻር</a:t>
            </a:r>
          </a:p>
          <a:p>
            <a:pPr>
              <a:spcAft>
                <a:spcPts val="1400"/>
              </a:spcAft>
            </a:pPr>
            <a:r>
              <a:rPr sz="1900">
                <a:solidFill>
                  <a:srgbClr val="E8EEF4"/>
                </a:solidFill>
                <a:latin typeface="Segoe UI"/>
              </a:rPr>
              <a:t>ምዕራፍ 2: መዝሙር አስጠኚነት እስካሁን የመጣበት መንገድ</a:t>
            </a:r>
          </a:p>
          <a:p>
            <a:pPr>
              <a:spcAft>
                <a:spcPts val="1400"/>
              </a:spcAft>
            </a:pPr>
            <a:r>
              <a:rPr sz="1900">
                <a:solidFill>
                  <a:srgbClr val="E8EEF4"/>
                </a:solidFill>
                <a:latin typeface="Segoe UI"/>
              </a:rPr>
              <a:t>  2.1. የታሪክ ጉዞና ሚና</a:t>
            </a:r>
          </a:p>
          <a:p>
            <a:pPr>
              <a:spcAft>
                <a:spcPts val="1400"/>
              </a:spcAft>
            </a:pPr>
            <a:r>
              <a:rPr sz="1900">
                <a:solidFill>
                  <a:srgbClr val="E8EEF4"/>
                </a:solidFill>
                <a:latin typeface="Segoe UI"/>
              </a:rPr>
              <a:t>  2.2. ቀደም ሲል የነበሩ አሠራሮችና የታዩ ክፍተቶች</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ማውጫ (Table of Contents) — 2/2</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b="1" sz="1900">
                <a:solidFill>
                  <a:srgbClr val="FFFFFF"/>
                </a:solidFill>
                <a:latin typeface="Segoe UI"/>
              </a:rPr>
              <a:t>ምዕራፍ 3: አዲሱ የተሻሻለ የመፍትሔ ሐሳብና የመዋቅር ፍልስፍና</a:t>
            </a:r>
          </a:p>
          <a:p>
            <a:pPr>
              <a:spcAft>
                <a:spcPts val="1400"/>
              </a:spcAft>
            </a:pPr>
            <a:r>
              <a:rPr sz="1900">
                <a:solidFill>
                  <a:srgbClr val="E8EEF4"/>
                </a:solidFill>
                <a:latin typeface="Segoe UI"/>
              </a:rPr>
              <a:t>  3.1–3.6. Rationale | አደረጃጀት ዲያግራም | Dual Liaisons | Class Coordinator</a:t>
            </a:r>
          </a:p>
          <a:p>
            <a:pPr>
              <a:spcAft>
                <a:spcPts val="1400"/>
              </a:spcAft>
            </a:pPr>
            <a:r>
              <a:rPr sz="1900">
                <a:solidFill>
                  <a:srgbClr val="E8EEF4"/>
                </a:solidFill>
                <a:latin typeface="Segoe UI"/>
              </a:rPr>
              <a:t>ምዕራፍ 4: የመዝሙር አስጠኚዎች አዲሱ መዋቅር</a:t>
            </a:r>
          </a:p>
          <a:p>
            <a:pPr>
              <a:spcAft>
                <a:spcPts val="1400"/>
              </a:spcAft>
            </a:pPr>
            <a:r>
              <a:rPr sz="1900">
                <a:solidFill>
                  <a:srgbClr val="E8EEF4"/>
                </a:solidFill>
                <a:latin typeface="Segoe UI"/>
              </a:rPr>
              <a:t>  4.1. ለመዝሙር አስጠኚነት ለመመረጥ የሚያስፈልጉ መስፈርቶች</a:t>
            </a:r>
          </a:p>
          <a:p>
            <a:pPr>
              <a:spcAft>
                <a:spcPts val="1400"/>
              </a:spcAft>
            </a:pPr>
            <a:r>
              <a:rPr sz="1900">
                <a:solidFill>
                  <a:srgbClr val="E8EEF4"/>
                </a:solidFill>
                <a:latin typeface="Segoe UI"/>
              </a:rPr>
              <a:t>  4.2–4.3. የስራ ድርሻ እና ግዴታዎች</a:t>
            </a:r>
          </a:p>
          <a:p>
            <a:pPr>
              <a:spcAft>
                <a:spcPts val="1400"/>
              </a:spcAft>
            </a:pPr>
            <a:r>
              <a:rPr sz="1900">
                <a:solidFill>
                  <a:srgbClr val="E8EEF4"/>
                </a:solidFill>
                <a:latin typeface="Segoe UI"/>
              </a:rPr>
              <a:t>  4.4. ድርብ የመረጃ አያያዝ / Data Reconciliation</a:t>
            </a:r>
          </a:p>
          <a:p>
            <a:pPr>
              <a:spcAft>
                <a:spcPts val="1400"/>
              </a:spcAft>
            </a:pPr>
            <a:r>
              <a:rPr sz="1900">
                <a:solidFill>
                  <a:srgbClr val="E8EEF4"/>
                </a:solidFill>
                <a:latin typeface="Segoe UI"/>
              </a:rPr>
              <a:t>ምዕራፍ 5: ተተኪ አስጠኚ | ደንቦች | ምዘና | ቅጣት | ማጠቃለያ</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አላማ (Objectives)</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2000">
                <a:solidFill>
                  <a:srgbClr val="E8EEF4"/>
                </a:solidFill>
                <a:latin typeface="Segoe UI"/>
              </a:rPr>
              <a:t>1. ወጥ የአሠራር ስርዓት መዘርጋት — መዝሙር የማስጠናትና የመማር ሂደቱን ወጥ፣ ዘመናዊና መመሪያን የተከተለ ማድረግ።</a:t>
            </a:r>
          </a:p>
          <a:p>
            <a:pPr>
              <a:spcAft>
                <a:spcPts val="1400"/>
              </a:spcAft>
            </a:pPr>
            <a:r>
              <a:rPr sz="2000">
                <a:solidFill>
                  <a:srgbClr val="E8EEF4"/>
                </a:solidFill>
                <a:latin typeface="Segoe UI"/>
              </a:rPr>
              <a:t>2. የአስጠኚዎችን ጫና መቀነስ — ሙሉ ትኩረታቸውን በዜማ ጥራትና ይዘት ላይ ብቻ እንዲያደርጉ ማስቻል።</a:t>
            </a:r>
          </a:p>
          <a:p>
            <a:pPr>
              <a:spcAft>
                <a:spcPts val="1400"/>
              </a:spcAft>
            </a:pPr>
            <a:r>
              <a:rPr sz="2000">
                <a:solidFill>
                  <a:srgbClr val="E8EEF4"/>
                </a:solidFill>
                <a:latin typeface="Segoe UI"/>
              </a:rPr>
              <a:t>3. ፍትሃዊነትና ቁጥጥርን ማስፈን — Checks and Balances ሥርዓት መዘርጋት።</a:t>
            </a:r>
          </a:p>
          <a:p>
            <a:pPr>
              <a:spcAft>
                <a:spcPts val="1400"/>
              </a:spcAft>
            </a:pPr>
            <a:r>
              <a:rPr sz="2000">
                <a:solidFill>
                  <a:srgbClr val="E8EEF4"/>
                </a:solidFill>
                <a:latin typeface="Segoe UI"/>
              </a:rPr>
              <a:t>4. የመረጃ ጥራትን ማረጋገጥ — Dual Data Collection አሠራር።</a:t>
            </a:r>
          </a:p>
          <a:p>
            <a:pPr>
              <a:spcAft>
                <a:spcPts val="1400"/>
              </a:spcAft>
            </a:pPr>
            <a:r>
              <a:rPr sz="2000">
                <a:solidFill>
                  <a:srgbClr val="E8EEF4"/>
                </a:solidFill>
                <a:latin typeface="Segoe UI"/>
              </a:rPr>
              <a:t>5. ተተኪ አስጠኚዎችን ማብቃት — በስርዓት ማፍራት።</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ምዕራፍ 1: መሪ / አስጠኚ — 1.1 መሪነት በጥንተ ተፈጥሮ</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መሪነት ለሰው ልጅ ከተሰጡት አምላካዊ ጸጋዎች አንዱ ሲሆን፣ ይህም እግዚአብሔርን በመምሰል የመግዛትና የመምራት ስጦታ ነው (ዘፍ 1፥26)።</a:t>
            </a:r>
          </a:p>
          <a:p>
            <a:pPr>
              <a:spcAft>
                <a:spcPts val="1400"/>
              </a:spcAft>
            </a:pPr>
            <a:r>
              <a:rPr sz="1900">
                <a:solidFill>
                  <a:srgbClr val="E8EEF4"/>
                </a:solidFill>
                <a:latin typeface="Segoe UI"/>
              </a:rPr>
              <a:t>እግዚአብሔር በባሕርዩ ገዢ እንደመሆኑ መጠን፣ ሰውን በጸጋውና በፍቅሩ ፍጥረታትን እንዲገዛና እንዲመራ አድርጎታል።</a:t>
            </a:r>
          </a:p>
          <a:p>
            <a:pPr>
              <a:spcAft>
                <a:spcPts val="1400"/>
              </a:spcAft>
            </a:pPr>
            <a:r>
              <a:rPr sz="1900">
                <a:solidFill>
                  <a:srgbClr val="E8EEF4"/>
                </a:solidFill>
                <a:latin typeface="Segoe UI"/>
              </a:rPr>
              <a:t>መሪነት ለሰማያውያንም ሆነ ምድራውያን ፍጥረታት የዛሬ ሕይወታቸው መመሪያና የወደፊት ጉዟቸው አቅጣጫ እንዲሆን የተሰጠ ሥርዓት ነው።</a:t>
            </a:r>
          </a:p>
          <a:p>
            <a:pPr>
              <a:spcAft>
                <a:spcPts val="1400"/>
              </a:spcAft>
            </a:pPr>
            <a:r>
              <a:rPr sz="1900">
                <a:solidFill>
                  <a:srgbClr val="E8EEF4"/>
                </a:solidFill>
                <a:latin typeface="Segoe UI"/>
              </a:rPr>
              <a:t>የክርስትና ሕይወት ከትውልድ ወደ ትውልድ በቀደሙት አባቶች መሪነት ሲተላለፍ የመጣ ሕይወት ነው።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1.2. የመሪነት ትርጉም</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2000">
                <a:solidFill>
                  <a:srgbClr val="E8EEF4"/>
                </a:solidFill>
                <a:latin typeface="Segoe UI"/>
              </a:rPr>
              <a:t>በጎ ተፅዕኖ ማሳደር፦ መሪነት ማለት በሰዎች ላይ በጎ ተፅዕኖ ማሳደር እና አርኣያ መሆን ማለት ነው።</a:t>
            </a:r>
          </a:p>
          <a:p>
            <a:pPr>
              <a:spcAft>
                <a:spcPts val="1400"/>
              </a:spcAft>
            </a:pPr>
            <a:r>
              <a:rPr sz="2000">
                <a:solidFill>
                  <a:srgbClr val="E8EEF4"/>
                </a:solidFill>
                <a:latin typeface="Segoe UI"/>
              </a:rPr>
              <a:t>የክህሎት ዕድገት፦ ተፅዕኖ የማሳደር ክህሎት በልምድና በትምህርት ሊያድግ የሚችል ነው። አንድ መሪ ተመሪዎቹ ሀላፊነቱን በፍላጎትና በደስታ እንዲወጡ ማድረግ ይኖርበታል።</a:t>
            </a:r>
          </a:p>
          <a:p>
            <a:pPr>
              <a:spcAft>
                <a:spcPts val="1400"/>
              </a:spcAft>
            </a:pPr>
            <a:r>
              <a:rPr sz="2000">
                <a:solidFill>
                  <a:srgbClr val="E8EEF4"/>
                </a:solidFill>
                <a:latin typeface="Segoe UI"/>
              </a:rPr>
              <a:t>መክሊትን ማብዛት፦ በክርስቶስ ክርስቲያን የሆነ ሁሉ በተሰጠው መክሊት መጠን ፍሬ ማፍራት አለበት፤ ስለሆነም እንደ ሙሴ የስጦታውን ሐሳብ ተረድቶ እንደ አሮን ድክመቱን በባልንጀራው የሚሞላበትን መንገድ መፈለግ መሪነት ነው።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1.3. የመዝሙር አስጠኚነት ከመሪነት አንጻር (1/2)</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«የእውነትን ቃል በቅንነት የማናገር የማያሳፍርም ሰራተኛ ሆነህ የተፈተነውን ራስህን ለእግዚአብሔር ልታቀርብ ትጋ» (2ኛ ጢሞ 2፥15)</a:t>
            </a:r>
          </a:p>
          <a:p>
            <a:pPr>
              <a:spcAft>
                <a:spcPts val="1400"/>
              </a:spcAft>
            </a:pPr>
            <a:r>
              <a:rPr sz="1900">
                <a:solidFill>
                  <a:srgbClr val="E8EEF4"/>
                </a:solidFill>
                <a:latin typeface="Segoe UI"/>
              </a:rPr>
              <a:t>የእውነትን ቃል የሚናገር፦ ሰማያዊ ያሬዳዊ ዜማና የእግዚአብሔርን ሕያው ቃል በቅንነት ለአባላቱ የሚያስተላልፍ አስጠኚ።</a:t>
            </a:r>
          </a:p>
          <a:p>
            <a:pPr>
              <a:spcAft>
                <a:spcPts val="1400"/>
              </a:spcAft>
            </a:pPr>
            <a:r>
              <a:rPr sz="1900">
                <a:solidFill>
                  <a:srgbClr val="E8EEF4"/>
                </a:solidFill>
                <a:latin typeface="Segoe UI"/>
              </a:rPr>
              <a:t>የማያሳፍር፦ እውነተኛ አገልግሎት የራስን ስም ሳይሆን የክርስቶስን ክብር ብቻ የሚገልጥ ነው። አስጠኚው ለሰው ሳይሆን ለእግዚአብሔር በመታዘዝ ተልዕኮውን ይወጣል።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1.3. የመዝሙር አስጠኚነት ከመሪነት አንጻር (2/2)</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2000">
                <a:solidFill>
                  <a:srgbClr val="E8EEF4"/>
                </a:solidFill>
                <a:latin typeface="Segoe UI"/>
              </a:rPr>
              <a:t>ሠራተኛ፦ ለክርስቶስ አካልና ለቤተክርስቲያን ታዛዥ የሆነ፣ ለበጎ ለውጥ ራሱን የሚያዘጋጅ፣ አገልግሎቱን በትጋትና በትሕትና የሚወጣ።</a:t>
            </a:r>
          </a:p>
          <a:p>
            <a:pPr>
              <a:spcAft>
                <a:spcPts val="1400"/>
              </a:spcAft>
            </a:pPr>
            <a:r>
              <a:rPr sz="2000">
                <a:solidFill>
                  <a:srgbClr val="E8EEF4"/>
                </a:solidFill>
                <a:latin typeface="Segoe UI"/>
              </a:rPr>
              <a:t>የተፈተነ፦ በማንኛውም ፈተና ውስጥ አልፎ ከኢየሱስ ክርስቶስ ጋር መጽናትን የተማረ፣ የሰንበት ትምህርት ቤቱን ትልቅ ሀላፊነት ለመሸከም ብቁ የሆነ አገልጋይ።</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ምዕራፍ 2: የመዝሙር አስጠኚነት እስካሁን የመጣበት መንገድ — 2.1</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የታሪክ ጉዞና ሚና፦ ሰንበት ትምህርት ቤታችን ከ1965 ዓ.ም ጀምሮ እስከዛሬ ዋነኛ ሚናውን ሲወጣ የቆየው የመዝሙር ክፍል ነው።</a:t>
            </a:r>
          </a:p>
          <a:p>
            <a:pPr>
              <a:spcAft>
                <a:spcPts val="1400"/>
              </a:spcAft>
            </a:pPr>
            <a:r>
              <a:rPr sz="1900">
                <a:solidFill>
                  <a:srgbClr val="E8EEF4"/>
                </a:solidFill>
                <a:latin typeface="Segoe UI"/>
              </a:rPr>
              <a:t>ያሬዳዊ ዜማን መጠበቅ፦ ስብሐተ እግዚአብሔርን ያሬዳዊ ዜማቸውን ሳይለቁ ከትውልድ ወደ ትውልድ በማስተላለፍ ሰንበት ትምህርት ቤቱ አሁን ላለበት ደረጃ ተደርሷል።</a:t>
            </a:r>
          </a:p>
          <a:p>
            <a:pPr>
              <a:spcAft>
                <a:spcPts val="1400"/>
              </a:spcAft>
            </a:pPr>
            <a:r>
              <a:rPr sz="1900">
                <a:solidFill>
                  <a:srgbClr val="E8EEF4"/>
                </a:solidFill>
                <a:latin typeface="Segoe UI"/>
              </a:rPr>
              <a:t>የአስጠኚዎች ቁልፍ ድርሻ፦ በሀገረ ስብከቱ ካሉ እህት ሰንበት ትምህርት ቤቶች ሁሉ ተሻለ ውጤት ለተገኘበት ምክንያት የመዝሙር አስጠኚዎች ሚና የላቀ ነው።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2.2. ቀደም ሲል የነበሩ አሠራሮችና ክፍተቶች</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የነበሩ ሥራዎች፦ ደብተር ማጻፍ፣ ዜማ ማስጠና፣ በአውደ ምሕረት ማስዘመር፣ አቴንዳንስ መያዝ፣ ዲሲፕሊን ማስከበር፣ አባላትን መምከር።</a:t>
            </a:r>
          </a:p>
          <a:p>
            <a:pPr>
              <a:spcAft>
                <a:spcPts val="1400"/>
              </a:spcAft>
            </a:pPr>
            <a:r>
              <a:rPr sz="1900">
                <a:solidFill>
                  <a:srgbClr val="E8EEF4"/>
                </a:solidFill>
                <a:latin typeface="Segoe UI"/>
              </a:rPr>
              <a:t>ቅጣቶች (ቀደም ሲል)፦ ወጥ መመሪያ ባለመኖሩ ግርፋት፣ ወላጅ ማስመጣት፣ ልብስ ማሳጠብ፣ ከአገልግሎት ማገድ ይፈጸሙ ነበር።</a:t>
            </a:r>
          </a:p>
          <a:p>
            <a:pPr>
              <a:spcAft>
                <a:spcPts val="1400"/>
              </a:spcAft>
            </a:pPr>
            <a:r>
              <a:rPr sz="1900">
                <a:solidFill>
                  <a:srgbClr val="E8EEF4"/>
                </a:solidFill>
                <a:latin typeface="Segoe UI"/>
              </a:rPr>
              <a:t>ቅርርብ፦ አስጠኚው አባሉን እንደ ልጁ፣ አባሉም አስጠኚውን እንደ ወላጅ ያይ ነበር፤ አባላት ሲጠፉ ቤት ድረስ ይፈለጉ ነበር።</a:t>
            </a:r>
          </a:p>
          <a:p>
            <a:pPr>
              <a:spcAft>
                <a:spcPts val="1400"/>
              </a:spcAft>
            </a:pPr>
            <a:r>
              <a:rPr sz="1900">
                <a:solidFill>
                  <a:srgbClr val="E8EEF4"/>
                </a:solidFill>
                <a:latin typeface="Segoe UI"/>
              </a:rPr>
              <a:t>የታዩ ደካማ ጎኖች፦ ተተኪ አለማፍራት | ዝርው ማስጠናት | አስጠኚ ሲቀያየር ክፍተት | ማዳላት | ግላዊ ሕይወት መጎዳት።</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ምዕራፍ 3: አዲሱ የተሻሻለ አቅጣጫ — 3.1 Rationale</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Class Coordinator (የክፍል ተጠሪ)፦ አስጠኚዎችን ከአስተዳደራዊ ጫናዎች (አቴንዳንስ፣ ዲሲፕሊን፣ ክትትል) ነፃ ለማድረግ አዲስ ሐሳብ ሆኖ ቀርቧል።</a:t>
            </a:r>
          </a:p>
          <a:p>
            <a:pPr>
              <a:spcAft>
                <a:spcPts val="1400"/>
              </a:spcAft>
            </a:pPr>
            <a:r>
              <a:rPr sz="1900">
                <a:solidFill>
                  <a:srgbClr val="E8EEF4"/>
                </a:solidFill>
                <a:latin typeface="Segoe UI"/>
              </a:rPr>
              <a:t>Dual Liaisons (አገናኝ ንዑሳን)፦ ሰዓትና ቦታ ሲመደብ አድልዎ እንዳይፈጠር፣ Checks and Balances ሥርዓት ለማስፈን ቀርቧል።</a:t>
            </a:r>
          </a:p>
          <a:p>
            <a:pPr>
              <a:spcAft>
                <a:spcPts val="1400"/>
              </a:spcAft>
            </a:pPr>
            <a:r>
              <a:rPr sz="1900">
                <a:solidFill>
                  <a:srgbClr val="E8EEF4"/>
                </a:solidFill>
                <a:latin typeface="Segoe UI"/>
              </a:rPr>
              <a:t>Mezmur Instructor (አዲሱ ሚና)፦ አስጠኚው ሙሉ ትኩረቱን ያሬዳዊ ዜማን ማስተላለፍ ላይ ያደርጋል፤ ድርብ ኦዲት ዳታ የመያዝ ኃላፊነቱ ግን ይቀጥላል።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3.2. የሪፖርትና የበላይ አመራር መዋቅር (Members Affairs)</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2000">
                <a:solidFill>
                  <a:srgbClr val="E8EEF4"/>
                </a:solidFill>
                <a:latin typeface="Segoe UI"/>
              </a:rPr>
              <a:t>አምስቱም የክፍል ተጠሪዎች (የጎልማሳ፣ የወጣት፣ የታዳጊ፣ የሕፃናት እና የደቂቃን) ተግባራቸውን የሚያከናውኑት የአባላት ጉዳይ (Members Affairs) ክፍል ክትትል ሥር ነው።</a:t>
            </a:r>
          </a:p>
          <a:p>
            <a:pPr>
              <a:spcAft>
                <a:spcPts val="1400"/>
              </a:spcAft>
            </a:pPr>
            <a:r>
              <a:rPr sz="2000">
                <a:solidFill>
                  <a:srgbClr val="E8EEF4"/>
                </a:solidFill>
                <a:latin typeface="Segoe UI"/>
              </a:rPr>
              <a:t>የአባላት ጉዳይ ክፍል ሚና፦ ሁሉንም ክፍላት ያስተባብራል፣ ይቆጣጠራል፣ የሥራ አፈጻጸም ይገምግማል።</a:t>
            </a:r>
          </a:p>
          <a:p>
            <a:pPr>
              <a:spcAft>
                <a:spcPts val="1400"/>
              </a:spcAft>
            </a:pPr>
            <a:r>
              <a:rPr sz="2000">
                <a:solidFill>
                  <a:srgbClr val="E8EEF4"/>
                </a:solidFill>
                <a:latin typeface="Segoe UI"/>
              </a:rPr>
              <a:t>ውሳኔ ሰጪ አካል፦ ከክፍል ተጠሪዎች አቅም በላይ ለሆኑ ጉዳዮች (ዲሲፕሊን፣ አስተዳደር) የመጨረሻ መፍትሔ ይሰጣል።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3.3. የተሟላው የመዋቅር አደረጃጀት ዲያግራም</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800">
                <a:solidFill>
                  <a:srgbClr val="E8EEF4"/>
                </a:solidFill>
                <a:latin typeface="Segoe UI"/>
              </a:rPr>
              <a:t>[ አባላት ጉዳይ — Members Affairs ]</a:t>
            </a:r>
          </a:p>
          <a:p>
            <a:pPr>
              <a:spcAft>
                <a:spcPts val="1400"/>
              </a:spcAft>
            </a:pPr>
            <a:r>
              <a:rPr sz="1800">
                <a:solidFill>
                  <a:srgbClr val="E8EEF4"/>
                </a:solidFill>
                <a:latin typeface="Segoe UI"/>
              </a:rPr>
              <a:t>  (የአምስቱም ክፍላት ተጠሪዎች የበላይ መሪ)</a:t>
            </a:r>
          </a:p>
          <a:p>
            <a:pPr>
              <a:spcAft>
                <a:spcPts val="1400"/>
              </a:spcAft>
            </a:pPr>
            <a:r>
              <a:rPr sz="1800">
                <a:solidFill>
                  <a:srgbClr val="E8EEF4"/>
                </a:solidFill>
                <a:latin typeface="Segoe UI"/>
              </a:rPr>
              <a:t>       |</a:t>
            </a:r>
          </a:p>
          <a:p>
            <a:pPr>
              <a:spcAft>
                <a:spcPts val="1400"/>
              </a:spcAft>
            </a:pPr>
            <a:r>
              <a:rPr sz="1800">
                <a:solidFill>
                  <a:srgbClr val="E8EEF4"/>
                </a:solidFill>
                <a:latin typeface="Segoe UI"/>
              </a:rPr>
              <a:t>  [ጎልማሳ ተጠሪ]  [ወጣት ተጠሪ]  [ታዳጊ ተጠሪ]  [ሕፃናት ተጠሪ]  [ደቂቃን ተጠሪ]</a:t>
            </a:r>
          </a:p>
          <a:p>
            <a:pPr>
              <a:spcAft>
                <a:spcPts val="1400"/>
              </a:spcAft>
            </a:pPr>
            <a:r>
              <a:rPr sz="1800">
                <a:solidFill>
                  <a:srgbClr val="E8EEF4"/>
                </a:solidFill>
                <a:latin typeface="Segoe UI"/>
              </a:rPr>
              <a:t>       |</a:t>
            </a:r>
          </a:p>
          <a:p>
            <a:pPr>
              <a:spcAft>
                <a:spcPts val="1400"/>
              </a:spcAft>
            </a:pPr>
            <a:r>
              <a:rPr sz="1800">
                <a:solidFill>
                  <a:srgbClr val="E8EEF4"/>
                </a:solidFill>
                <a:latin typeface="Segoe UI"/>
              </a:rPr>
              <a:t>  ሀ. ማስተባበር (Coordination) — ለሁሉም ክፍሎች ጊዜና ቦታ ማመቻቸት</a:t>
            </a:r>
          </a:p>
          <a:p>
            <a:pPr>
              <a:spcAft>
                <a:spcPts val="1400"/>
              </a:spcAft>
            </a:pPr>
            <a:r>
              <a:rPr sz="1800">
                <a:solidFill>
                  <a:srgbClr val="E8EEF4"/>
                </a:solidFill>
                <a:latin typeface="Segoe UI"/>
              </a:rPr>
              <a:t>  ለ. አባትነት / Leadership — ሕይወትን በቅርበት መምራት</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3.4. Dual Liaisons — አገናኝ ንዑሳን</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ሚናቸው፦ አገልግሎቱ ሚዛናዊ፣ ፍትሃዊ እና ጥራቱን የጠበቀ እንዲሆን ሁለት አገናኝ ንዑሳን ይመደባሉ።</a:t>
            </a:r>
          </a:p>
          <a:p>
            <a:pPr>
              <a:spcAft>
                <a:spcPts val="1400"/>
              </a:spcAft>
            </a:pPr>
            <a:r>
              <a:rPr sz="1900">
                <a:solidFill>
                  <a:srgbClr val="E8EEF4"/>
                </a:solidFill>
                <a:latin typeface="Segoe UI"/>
              </a:rPr>
              <a:t>አመራረጥ፦</a:t>
            </a:r>
          </a:p>
          <a:p>
            <a:pPr>
              <a:spcAft>
                <a:spcPts val="1400"/>
              </a:spcAft>
            </a:pPr>
            <a:r>
              <a:rPr sz="1900">
                <a:solidFill>
                  <a:srgbClr val="E8EEF4"/>
                </a:solidFill>
                <a:latin typeface="Segoe UI"/>
              </a:rPr>
              <a:t>  • የትምህርት ክፍል አገናኝ ንዑስ — ከትምህርት ክፍል ቀጥታ ይወከላል።</a:t>
            </a:r>
          </a:p>
          <a:p>
            <a:pPr>
              <a:spcAft>
                <a:spcPts val="1400"/>
              </a:spcAft>
            </a:pPr>
            <a:r>
              <a:rPr sz="1900">
                <a:solidFill>
                  <a:srgbClr val="E8EEF4"/>
                </a:solidFill>
                <a:latin typeface="Segoe UI"/>
              </a:rPr>
              <a:t>  • የመዝሙር ክፍል አገናኝ ንዑስ — ከመዝሙር ክፍል ቀጥታ ይወከላል።</a:t>
            </a:r>
          </a:p>
          <a:p>
            <a:pPr>
              <a:spcAft>
                <a:spcPts val="1400"/>
              </a:spcAft>
            </a:pPr>
            <a:r>
              <a:rPr sz="1900">
                <a:solidFill>
                  <a:srgbClr val="E8EEF4"/>
                </a:solidFill>
                <a:latin typeface="Segoe UI"/>
              </a:rPr>
              <a:t>ሁለቱም ከክፍሎቻቸው፣ ከአባላት ጉዳይ እና ከክፍል ተጠሪዎች ጋር የድልድይ ሚና ይጫወታሉ።</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3.4.2. ዋና ዋና ኃላፊነቶች — Dual Liaisons</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ሀ. ፍትሃዊነት ማረጋገጥ፦ ተጠሪዎች ጊዜና ቦታ ሲመድቡ አድልዎ አለማድረጋቸውን ይቆጣጠራሉ። ካጋጠመ ወዲያውኑ ለበላይ ያሳውቃሉ።</a:t>
            </a:r>
          </a:p>
          <a:p>
            <a:pPr>
              <a:spcAft>
                <a:spcPts val="1400"/>
              </a:spcAft>
            </a:pPr>
            <a:r>
              <a:rPr sz="1900">
                <a:solidFill>
                  <a:srgbClr val="E8EEF4"/>
                </a:solidFill>
                <a:latin typeface="Segoe UI"/>
              </a:rPr>
              <a:t>ለ. Performance Auditing፦ የወካይ ክፍሎቻቸው አገልግሎት ጥራቱን የጠበቀ፣ በዕቅድ የሚመራ መሆኑን ይሞላሉ።</a:t>
            </a:r>
          </a:p>
          <a:p>
            <a:pPr>
              <a:spcAft>
                <a:spcPts val="1400"/>
              </a:spcAft>
            </a:pPr>
            <a:r>
              <a:rPr sz="1900">
                <a:solidFill>
                  <a:srgbClr val="E8EEF4"/>
                </a:solidFill>
                <a:latin typeface="Segoe UI"/>
              </a:rPr>
              <a:t>ሐ. ዳታ ማድረስ፦ ተጣርቶ የተዘጋጀ መረጃን ከአባላት ጉዳይ ተቀብለው ለወካዮቻቸው ያስተላልፋሉ።</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3.5. የተሻሻለው አጠቃላይ የመዋቅር ዲያግራም</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 አባላት ጉዳይ — Members Affairs ]</a:t>
            </a:r>
          </a:p>
          <a:p>
            <a:pPr>
              <a:spcAft>
                <a:spcPts val="1400"/>
              </a:spcAft>
            </a:pPr>
            <a:r>
              <a:rPr sz="1900">
                <a:solidFill>
                  <a:srgbClr val="E8EEF4"/>
                </a:solidFill>
                <a:latin typeface="Segoe UI"/>
              </a:rPr>
              <a:t>         |</a:t>
            </a:r>
          </a:p>
          <a:p>
            <a:pPr>
              <a:spcAft>
                <a:spcPts val="1400"/>
              </a:spcAft>
            </a:pPr>
            <a:r>
              <a:rPr sz="1900">
                <a:solidFill>
                  <a:srgbClr val="E8EEF4"/>
                </a:solidFill>
                <a:latin typeface="Segoe UI"/>
              </a:rPr>
              <a:t>  [ክፍል ተጠሪዎች]  &lt;──────&gt;  [Dual Liaisons (ትምህርት)] &amp; [Dual Liaisons (መዝሙር)]</a:t>
            </a:r>
          </a:p>
          <a:p>
            <a:pPr>
              <a:spcAft>
                <a:spcPts val="1400"/>
              </a:spcAft>
            </a:pPr>
            <a:r>
              <a:rPr sz="1900">
                <a:solidFill>
                  <a:srgbClr val="E8EEF4"/>
                </a:solidFill>
                <a:latin typeface="Segoe UI"/>
              </a:rPr>
              <a:t>         |</a:t>
            </a:r>
          </a:p>
          <a:p>
            <a:pPr>
              <a:spcAft>
                <a:spcPts val="1400"/>
              </a:spcAft>
            </a:pPr>
            <a:r>
              <a:rPr sz="1900">
                <a:solidFill>
                  <a:srgbClr val="E8EEF4"/>
                </a:solidFill>
                <a:latin typeface="Segoe UI"/>
              </a:rPr>
              <a:t>  [መዝሙር ክፍል]    [ትምህርት ክፍል]    [ኪነ-ጥበብ ክፍል]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3.6.1. Class Coordinator — የመመረጫ መስፈርቶች</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 የአገልግሎት ቆይታ — ቢያንስ 3 ዓመት ያገለገለ</a:t>
            </a:r>
          </a:p>
          <a:p>
            <a:pPr>
              <a:spcAft>
                <a:spcPts val="1400"/>
              </a:spcAft>
            </a:pPr>
            <a:r>
              <a:rPr sz="1900">
                <a:solidFill>
                  <a:srgbClr val="E8EEF4"/>
                </a:solidFill>
                <a:latin typeface="Segoe UI"/>
              </a:rPr>
              <a:t>• መንፈሳዊነትና ስነ-ምግባር — የተመሰከረለት፣ ለአባላቱ አርኣያ</a:t>
            </a:r>
          </a:p>
          <a:p>
            <a:pPr>
              <a:spcAft>
                <a:spcPts val="1400"/>
              </a:spcAft>
            </a:pPr>
            <a:r>
              <a:rPr sz="1900">
                <a:solidFill>
                  <a:srgbClr val="E8EEF4"/>
                </a:solidFill>
                <a:latin typeface="Segoe UI"/>
              </a:rPr>
              <a:t>• የአመራርና ተግባቦት ክህሎት — ማስተባበር፣ ማዳመጥ፣ ቀጥታ ሠርቶ ማሳየት</a:t>
            </a:r>
          </a:p>
          <a:p>
            <a:pPr>
              <a:spcAft>
                <a:spcPts val="1400"/>
              </a:spcAft>
            </a:pPr>
            <a:r>
              <a:rPr sz="1900">
                <a:solidFill>
                  <a:srgbClr val="E8EEF4"/>
                </a:solidFill>
                <a:latin typeface="Segoe UI"/>
              </a:rPr>
              <a:t>• አባትነት / እናትነት — ለአባላት ቅርብ የሚሆን ሥነ-ልቦናዊ ብስለት</a:t>
            </a:r>
          </a:p>
          <a:p>
            <a:pPr>
              <a:spcAft>
                <a:spcPts val="1400"/>
              </a:spcAft>
            </a:pPr>
            <a:r>
              <a:rPr sz="1900">
                <a:solidFill>
                  <a:srgbClr val="E8EEF4"/>
                </a:solidFill>
                <a:latin typeface="Segoe UI"/>
              </a:rPr>
              <a:t>• ጊዜና ፈቃደኝነት — ኃላፊነቱን ለመወጣት ዝግጁ</a:t>
            </a:r>
          </a:p>
          <a:p>
            <a:pPr>
              <a:spcAft>
                <a:spcPts val="1400"/>
              </a:spcAft>
            </a:pPr>
            <a:r>
              <a:rPr sz="1900">
                <a:solidFill>
                  <a:srgbClr val="E8EEF4"/>
                </a:solidFill>
                <a:latin typeface="Segoe UI"/>
              </a:rPr>
              <a:t>• የዕድሜ ገደብ — ለታዳጊ ክፍል 22+፣ ለወጣት ክፍል 25+</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3.6.2. Class Coordinator — ዋና የሥራ ድርሻዎች</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ሀ. አስተዳደርና Master Schedule፦ የክፍሉን ጊዜ ሰሌዳ ያወጣል፣ ለሁሉም ክፍሎች ሰዓትና ቦታ ያመቻቻል።</a:t>
            </a:r>
          </a:p>
          <a:p>
            <a:pPr>
              <a:spcAft>
                <a:spcPts val="1400"/>
              </a:spcAft>
            </a:pPr>
            <a:r>
              <a:rPr sz="1900">
                <a:solidFill>
                  <a:srgbClr val="E8EEF4"/>
                </a:solidFill>
                <a:latin typeface="Segoe UI"/>
              </a:rPr>
              <a:t>ለ. የአባላት ክትትልና አባትነት፦ አጠቃላይ የአባላት መረጃ ይከታተላል፣ የጠፉትን ይፈልጋል፣ ይመክራል።</a:t>
            </a:r>
          </a:p>
          <a:p>
            <a:pPr>
              <a:spcAft>
                <a:spcPts val="1400"/>
              </a:spcAft>
            </a:pPr>
            <a:r>
              <a:rPr sz="1900">
                <a:solidFill>
                  <a:srgbClr val="E8EEF4"/>
                </a:solidFill>
                <a:latin typeface="Segoe UI"/>
              </a:rPr>
              <a:t>ሐ. ቀጥታ ቅንጅት፦ ከመዝሙር አስጠኚው እና ከሥርዓተ ትምህርት ቁጥጥር ንዑስ ጋር ቀጥታ ይሠራል፤ ለበላይ ሪፖርት ያደርጋል።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ምዕራፍ 4: የመዝሙር አስጠኚ — 4.1 የመመረጫ መስፈርቶች</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 የተተኪ አስጠኚነት ልምድ ያለው/ያላት</a:t>
            </a:r>
          </a:p>
          <a:p>
            <a:pPr>
              <a:spcAft>
                <a:spcPts val="1400"/>
              </a:spcAft>
            </a:pPr>
            <a:r>
              <a:rPr sz="1900">
                <a:solidFill>
                  <a:srgbClr val="E8EEF4"/>
                </a:solidFill>
                <a:latin typeface="Segoe UI"/>
              </a:rPr>
              <a:t>• የመዝሙር ተሰጥኦና ዕውቀት</a:t>
            </a:r>
          </a:p>
          <a:p>
            <a:pPr>
              <a:spcAft>
                <a:spcPts val="1400"/>
              </a:spcAft>
            </a:pPr>
            <a:r>
              <a:rPr sz="1900">
                <a:solidFill>
                  <a:srgbClr val="E8EEF4"/>
                </a:solidFill>
                <a:latin typeface="Segoe UI"/>
              </a:rPr>
              <a:t>• ለማስጠናት እና ለመምራት ብቁ</a:t>
            </a:r>
          </a:p>
          <a:p>
            <a:pPr>
              <a:spcAft>
                <a:spcPts val="1400"/>
              </a:spcAft>
            </a:pPr>
            <a:r>
              <a:rPr sz="1900">
                <a:solidFill>
                  <a:srgbClr val="E8EEF4"/>
                </a:solidFill>
                <a:latin typeface="Segoe UI"/>
              </a:rPr>
              <a:t>• ከአባላት ጋር ጥሩ ተግባቦት ያለው/ያላት</a:t>
            </a:r>
          </a:p>
          <a:p>
            <a:pPr>
              <a:spcAft>
                <a:spcPts val="1400"/>
              </a:spcAft>
            </a:pPr>
            <a:r>
              <a:rPr sz="1900">
                <a:solidFill>
                  <a:srgbClr val="E8EEF4"/>
                </a:solidFill>
                <a:latin typeface="Segoe UI"/>
              </a:rPr>
              <a:t>• ከ2 ዓመት በላይ ያገለገለ/ች</a:t>
            </a:r>
          </a:p>
          <a:p>
            <a:pPr>
              <a:spcAft>
                <a:spcPts val="1400"/>
              </a:spcAft>
            </a:pPr>
            <a:r>
              <a:rPr sz="1900">
                <a:solidFill>
                  <a:srgbClr val="E8EEF4"/>
                </a:solidFill>
                <a:latin typeface="Segoe UI"/>
              </a:rPr>
              <a:t>• ፈቃደኛ እና ጊዜ ያለው/ያላት</a:t>
            </a:r>
          </a:p>
          <a:p>
            <a:pPr>
              <a:spcAft>
                <a:spcPts val="1400"/>
              </a:spcAft>
            </a:pPr>
            <a:r>
              <a:rPr sz="1900">
                <a:solidFill>
                  <a:srgbClr val="E8EEF4"/>
                </a:solidFill>
                <a:latin typeface="Segoe UI"/>
              </a:rPr>
              <a:t>• በስነ-ምግባሩ/ሯ የተመሰከረለት/ላት</a:t>
            </a:r>
          </a:p>
          <a:p>
            <a:pPr>
              <a:spcAft>
                <a:spcPts val="1400"/>
              </a:spcAft>
            </a:pPr>
            <a:r>
              <a:rPr sz="1900">
                <a:solidFill>
                  <a:srgbClr val="E8EEF4"/>
                </a:solidFill>
                <a:latin typeface="Segoe UI"/>
              </a:rPr>
              <a:t>• የታዳጊ፣ ወጣት ወይም ጎልማሳ ክፍል አባል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4.2. የስራ ድርሻ — Mezmur Instructor</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 መዝሙሮች በክፍሉ እንዲፃፉ ያደርጋል፣ ዜማቸውን ያስጠናል</a:t>
            </a:r>
          </a:p>
          <a:p>
            <a:pPr>
              <a:spcAft>
                <a:spcPts val="1400"/>
              </a:spcAft>
            </a:pPr>
            <a:r>
              <a:rPr sz="1900">
                <a:solidFill>
                  <a:srgbClr val="E8EEF4"/>
                </a:solidFill>
                <a:latin typeface="Segoe UI"/>
              </a:rPr>
              <a:t>• ሳምንታዊ የአስጠኚዎች ጥናት ያካፍላል</a:t>
            </a:r>
          </a:p>
          <a:p>
            <a:pPr>
              <a:spcAft>
                <a:spcPts val="1400"/>
              </a:spcAft>
            </a:pPr>
            <a:r>
              <a:rPr sz="1900">
                <a:solidFill>
                  <a:srgbClr val="E8EEF4"/>
                </a:solidFill>
                <a:latin typeface="Segoe UI"/>
              </a:rPr>
              <a:t>• አዳዲስ መዝሙሮችን አፅፎ ዜማቸውን ያስጠናል</a:t>
            </a:r>
          </a:p>
          <a:p>
            <a:pPr>
              <a:spcAft>
                <a:spcPts val="1400"/>
              </a:spcAft>
            </a:pPr>
            <a:r>
              <a:rPr sz="1900">
                <a:solidFill>
                  <a:srgbClr val="E8EEF4"/>
                </a:solidFill>
                <a:latin typeface="Segoe UI"/>
              </a:rPr>
              <a:t>• የበዓላት ዝማሬ ያስጠናል</a:t>
            </a:r>
          </a:p>
          <a:p>
            <a:pPr>
              <a:spcAft>
                <a:spcPts val="1400"/>
              </a:spcAft>
            </a:pPr>
            <a:r>
              <a:rPr sz="1900">
                <a:solidFill>
                  <a:srgbClr val="E8EEF4"/>
                </a:solidFill>
                <a:latin typeface="Segoe UI"/>
              </a:rPr>
              <a:t>• ሽብሸባ፣ እንቅስቃሴ፣ ከበሮና ወረብ ያስጠናል</a:t>
            </a:r>
          </a:p>
          <a:p>
            <a:pPr>
              <a:spcAft>
                <a:spcPts val="1400"/>
              </a:spcAft>
            </a:pPr>
            <a:r>
              <a:rPr sz="1900">
                <a:solidFill>
                  <a:srgbClr val="E8EEF4"/>
                </a:solidFill>
                <a:latin typeface="Segoe UI"/>
              </a:rPr>
              <a:t>• አውደ ምሕረት ላይ ዜማ እንዲዘመር ያደርጋል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4.3. ግዴታዎች — Mezmur Instructor</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 መመሪያ ተግብሮ ማስተግበር</a:t>
            </a:r>
          </a:p>
          <a:p>
            <a:pPr>
              <a:spcAft>
                <a:spcPts val="1400"/>
              </a:spcAft>
            </a:pPr>
            <a:r>
              <a:rPr sz="1900">
                <a:solidFill>
                  <a:srgbClr val="E8EEF4"/>
                </a:solidFill>
                <a:latin typeface="Segoe UI"/>
              </a:rPr>
              <a:t>• ሰዓቱን አክብሮ ቀጥሎ ሃላፊነቱን መወጣት</a:t>
            </a:r>
          </a:p>
          <a:p>
            <a:pPr>
              <a:spcAft>
                <a:spcPts val="1400"/>
              </a:spcAft>
            </a:pPr>
            <a:r>
              <a:rPr sz="1900">
                <a:solidFill>
                  <a:srgbClr val="E8EEF4"/>
                </a:solidFill>
                <a:latin typeface="Segoe UI"/>
              </a:rPr>
              <a:t>• የአስጠኚዎች ጥናት ላይ ሁልጊዜ መገኘት</a:t>
            </a:r>
          </a:p>
          <a:p>
            <a:pPr>
              <a:spcAft>
                <a:spcPts val="1400"/>
              </a:spcAft>
            </a:pPr>
            <a:r>
              <a:rPr sz="1900">
                <a:solidFill>
                  <a:srgbClr val="E8EEF4"/>
                </a:solidFill>
                <a:latin typeface="Segoe UI"/>
              </a:rPr>
              <a:t>• ተተኪ አስጠኚዎችን ማብቃት</a:t>
            </a:r>
          </a:p>
          <a:p>
            <a:pPr>
              <a:spcAft>
                <a:spcPts val="1400"/>
              </a:spcAft>
            </a:pPr>
            <a:r>
              <a:rPr sz="1900">
                <a:solidFill>
                  <a:srgbClr val="E8EEF4"/>
                </a:solidFill>
                <a:latin typeface="Segoe UI"/>
              </a:rPr>
              <a:t>• ሳይያስፈቅድ ሳይተካ አለመቅረት</a:t>
            </a:r>
          </a:p>
          <a:p>
            <a:pPr>
              <a:spcAft>
                <a:spcPts val="1400"/>
              </a:spcAft>
            </a:pPr>
            <a:r>
              <a:rPr sz="1900">
                <a:solidFill>
                  <a:srgbClr val="E8EEF4"/>
                </a:solidFill>
                <a:latin typeface="Segoe UI"/>
              </a:rPr>
              <a:t>• ከመአንክ እና ከመክተ ያልሆነ መመሪያ አለማስፈጸም</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4.4. ከClass Coordinator ጋር ያለው ቅንጅት</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ጊዜ ሰሌዳ፦ የሰዓትና ቦታ ጥያቄ ለክፍል ተጠሪው ቀጥታ ይቀርባል።</a:t>
            </a:r>
          </a:p>
          <a:p>
            <a:pPr>
              <a:spcAft>
                <a:spcPts val="1400"/>
              </a:spcAft>
            </a:pPr>
            <a:r>
              <a:rPr sz="1900">
                <a:solidFill>
                  <a:srgbClr val="E8EEF4"/>
                </a:solidFill>
                <a:latin typeface="Segoe UI"/>
              </a:rPr>
              <a:t>ዲሲፕሊን፦ በጥናት ሰዓት ጸጥታ የማስከበር ኃላፊነት የአስጠኚው ነው፤ ተጠሪው ከርቀት ያዛል።</a:t>
            </a:r>
          </a:p>
          <a:p>
            <a:pPr>
              <a:spcAft>
                <a:spcPts val="1400"/>
              </a:spcAft>
            </a:pPr>
            <a:r>
              <a:rPr sz="1900">
                <a:solidFill>
                  <a:srgbClr val="E8EEF4"/>
                </a:solidFill>
                <a:latin typeface="Segoe UI"/>
              </a:rPr>
              <a:t>Dual Data Collection፦ ተጠሪው አጠቃላይ የአባላት መረጃ ይይዛል፤ አስጠኚው የጥናት ሰዓት ተሳትፎ ይከታተላል።</a:t>
            </a:r>
          </a:p>
          <a:p>
            <a:pPr>
              <a:spcAft>
                <a:spcPts val="1400"/>
              </a:spcAft>
            </a:pPr>
            <a:r>
              <a:rPr sz="1900">
                <a:solidFill>
                  <a:srgbClr val="E8EEF4"/>
                </a:solidFill>
                <a:latin typeface="Segoe UI"/>
              </a:rPr>
              <a:t>Data Reconciliation፦ ሁለቱ ሲሰሜሙ ትክክለኛ ምስል ይቀርጻሉ። ክፍተት ካለ ወዲያው ይታወቃል።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ምዕራፍ 5: የተተኪ አስጠኚ — 5.1.1 የመመረጫ መስፈርቶች</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 ከ2 ዓመት ያላነሰ የአገልግሎት ቆይታ</a:t>
            </a:r>
          </a:p>
          <a:p>
            <a:pPr>
              <a:spcAft>
                <a:spcPts val="1400"/>
              </a:spcAft>
            </a:pPr>
            <a:r>
              <a:rPr sz="1900">
                <a:solidFill>
                  <a:srgbClr val="E8EEF4"/>
                </a:solidFill>
                <a:latin typeface="Segoe UI"/>
              </a:rPr>
              <a:t>• የመዝሙር ተሰጥኦ (ዜማ፣ ዝማሬ) እና ዕውቀት</a:t>
            </a:r>
          </a:p>
          <a:p>
            <a:pPr>
              <a:spcAft>
                <a:spcPts val="1400"/>
              </a:spcAft>
            </a:pPr>
            <a:r>
              <a:rPr sz="1900">
                <a:solidFill>
                  <a:srgbClr val="E8EEF4"/>
                </a:solidFill>
                <a:latin typeface="Segoe UI"/>
              </a:rPr>
              <a:t>• ለማስጠናት ፍላጎትና አቅም ያለው/ያላት</a:t>
            </a:r>
          </a:p>
          <a:p>
            <a:pPr>
              <a:spcAft>
                <a:spcPts val="1400"/>
              </a:spcAft>
            </a:pPr>
            <a:r>
              <a:rPr sz="1900">
                <a:solidFill>
                  <a:srgbClr val="E8EEF4"/>
                </a:solidFill>
                <a:latin typeface="Segoe UI"/>
              </a:rPr>
              <a:t>• ከአባላት ጋር መልካም ተግባቦት</a:t>
            </a:r>
          </a:p>
          <a:p>
            <a:pPr>
              <a:spcAft>
                <a:spcPts val="1400"/>
              </a:spcAft>
            </a:pPr>
            <a:r>
              <a:rPr sz="1900">
                <a:solidFill>
                  <a:srgbClr val="E8EEF4"/>
                </a:solidFill>
                <a:latin typeface="Segoe UI"/>
              </a:rPr>
              <a:t>• በስነ-ምግባሩ/ሯ የተመሰከረለት/ላት</a:t>
            </a:r>
          </a:p>
          <a:p>
            <a:pPr>
              <a:spcAft>
                <a:spcPts val="1400"/>
              </a:spcAft>
            </a:pPr>
            <a:r>
              <a:rPr sz="1900">
                <a:solidFill>
                  <a:srgbClr val="E8EEF4"/>
                </a:solidFill>
                <a:latin typeface="Segoe UI"/>
              </a:rPr>
              <a:t>• የታዳጊ፣ ወጣት ወይም ጎልማሳ ክፍል አባል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5.1.2. ተተኪ አስጠኚ — ዋና ዋና ሥራዎች</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2000">
                <a:solidFill>
                  <a:srgbClr val="E8EEF4"/>
                </a:solidFill>
                <a:latin typeface="Segoe UI"/>
              </a:rPr>
              <a:t>• አስጠኚ ሲቀር ወዲያው ወስዶ ያስጠናቸዋል</a:t>
            </a:r>
          </a:p>
          <a:p>
            <a:pPr>
              <a:spcAft>
                <a:spcPts val="1400"/>
              </a:spcAft>
            </a:pPr>
            <a:r>
              <a:rPr sz="2000">
                <a:solidFill>
                  <a:srgbClr val="E8EEF4"/>
                </a:solidFill>
                <a:latin typeface="Segoe UI"/>
              </a:rPr>
              <a:t>• መዝሙር እንዲፅፉ ያደርጋል</a:t>
            </a:r>
          </a:p>
          <a:p>
            <a:pPr>
              <a:spcAft>
                <a:spcPts val="1400"/>
              </a:spcAft>
            </a:pPr>
            <a:r>
              <a:rPr sz="2000">
                <a:solidFill>
                  <a:srgbClr val="E8EEF4"/>
                </a:solidFill>
                <a:latin typeface="Segoe UI"/>
              </a:rPr>
              <a:t>• የአስጠኚዎችን ጥናት ያካፍላል</a:t>
            </a:r>
          </a:p>
          <a:p>
            <a:pPr>
              <a:spcAft>
                <a:spcPts val="1400"/>
              </a:spcAft>
            </a:pPr>
            <a:r>
              <a:rPr sz="2000">
                <a:solidFill>
                  <a:srgbClr val="E8EEF4"/>
                </a:solidFill>
                <a:latin typeface="Segoe UI"/>
              </a:rPr>
              <a:t>• ከአስጠኚው ጋር ጥናት ያስጠናቸዋል፣ ክህሎታቸውን ያዳምጣል</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5.2. ስነ-ምግባር ደንቦች እና ክልከላዎች</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5.2.1. የስነ-ምግባር ደንቦች፦ መንፈሳዊ፣ ትሁት፣ ታዛዥ፣ አርኣያ የሚሆን ሕይወት። ምስጢር ጠባቂ።</a:t>
            </a:r>
          </a:p>
          <a:p>
            <a:pPr>
              <a:spcAft>
                <a:spcPts val="1400"/>
              </a:spcAft>
            </a:pPr>
            <a:r>
              <a:rPr sz="1900">
                <a:solidFill>
                  <a:srgbClr val="E8EEF4"/>
                </a:solidFill>
                <a:latin typeface="Segoe UI"/>
              </a:rPr>
              <a:t>5.2.2. ተከልክሎ ያሉ ነገሮች፦</a:t>
            </a:r>
          </a:p>
          <a:p>
            <a:pPr>
              <a:spcAft>
                <a:spcPts val="1400"/>
              </a:spcAft>
            </a:pPr>
            <a:r>
              <a:rPr sz="1900">
                <a:solidFill>
                  <a:srgbClr val="E8EEF4"/>
                </a:solidFill>
                <a:latin typeface="Segoe UI"/>
              </a:rPr>
              <a:t>  ✗ ከስልጣን ወሰን ውጭ — አባላትን መቅጣት፣ ማገድ ወይም ማባረር</a:t>
            </a:r>
          </a:p>
          <a:p>
            <a:pPr>
              <a:spcAft>
                <a:spcPts val="1400"/>
              </a:spcAft>
            </a:pPr>
            <a:r>
              <a:rPr sz="1900">
                <a:solidFill>
                  <a:srgbClr val="E8EEF4"/>
                </a:solidFill>
                <a:latin typeface="Segoe UI"/>
              </a:rPr>
              <a:t>  ✗ አላስፈላጊ ቅርርብ — ማዳላት ወይም ከስምሪቱ ውጭ ግንኙነት</a:t>
            </a:r>
          </a:p>
          <a:p>
            <a:pPr>
              <a:spcAft>
                <a:spcPts val="1400"/>
              </a:spcAft>
            </a:pPr>
            <a:r>
              <a:rPr sz="1900">
                <a:solidFill>
                  <a:srgbClr val="E8EEF4"/>
                </a:solidFill>
                <a:latin typeface="Segoe UI"/>
              </a:rPr>
              <a:t>  ✗ ያልተፈቀዱ ዝማሬዎች — ያልተገምገሙ መዝሙሮችን ማስጠና</a:t>
            </a:r>
          </a:p>
          <a:p>
            <a:pPr>
              <a:spcAft>
                <a:spcPts val="1400"/>
              </a:spcAft>
            </a:pPr>
            <a:r>
              <a:rPr sz="1900">
                <a:solidFill>
                  <a:srgbClr val="E8EEF4"/>
                </a:solidFill>
                <a:latin typeface="Segoe UI"/>
              </a:rPr>
              <a:t>  ✗ ያለፈቃድ መቅረት — ሳያስፈቅዱ ሳይተኩ አለመቅረብ</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5.3. የምዘና ስልቶች</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2200">
                <a:solidFill>
                  <a:srgbClr val="E8EEF4"/>
                </a:solidFill>
                <a:latin typeface="Segoe UI"/>
              </a:rPr>
              <a:t>• የቃል ምዘና</a:t>
            </a:r>
          </a:p>
          <a:p>
            <a:pPr>
              <a:spcAft>
                <a:spcPts val="1400"/>
              </a:spcAft>
            </a:pPr>
            <a:r>
              <a:rPr sz="2200">
                <a:solidFill>
                  <a:srgbClr val="E8EEF4"/>
                </a:solidFill>
                <a:latin typeface="Segoe UI"/>
              </a:rPr>
              <a:t>• የጽሑፍ ምዘና</a:t>
            </a:r>
          </a:p>
          <a:p>
            <a:pPr>
              <a:spcAft>
                <a:spcPts val="1400"/>
              </a:spcAft>
            </a:pPr>
            <a:r>
              <a:rPr sz="2200">
                <a:solidFill>
                  <a:srgbClr val="E8EEF4"/>
                </a:solidFill>
                <a:latin typeface="Segoe UI"/>
              </a:rPr>
              <a:t>• የተግባር / የአውደ ምሕረት ምዘና</a:t>
            </a:r>
          </a:p>
          <a:p>
            <a:pPr>
              <a:spcAft>
                <a:spcPts val="1400"/>
              </a:spcAft>
            </a:pPr>
            <a:r>
              <a:rPr sz="2200">
                <a:solidFill>
                  <a:srgbClr val="E8EEF4"/>
                </a:solidFill>
                <a:latin typeface="Segoe UI"/>
              </a:rPr>
              <a:t>• የክትትል ምዘና (Monitoring)</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5.4. የቅጣትና የእርምት እርምጃዎች</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1900">
                <a:solidFill>
                  <a:srgbClr val="E8EEF4"/>
                </a:solidFill>
                <a:latin typeface="Segoe UI"/>
              </a:rPr>
              <a:t>1ኛ ደረጃ — የቃል ማስጠንቀቂያ፦ ያለምክንያት 1 ጊዜ ሲቀር ወይም አነስተኛ ግድፈት ሲፈጽም</a:t>
            </a:r>
          </a:p>
          <a:p>
            <a:pPr>
              <a:spcAft>
                <a:spcPts val="1400"/>
              </a:spcAft>
            </a:pPr>
            <a:r>
              <a:rPr sz="1900">
                <a:solidFill>
                  <a:srgbClr val="E8EEF4"/>
                </a:solidFill>
                <a:latin typeface="Segoe UI"/>
              </a:rPr>
              <a:t>2ኛ ደረጃ — የጽሑፍ ማስጠንቀቂያ፦ ጥፋቱን ሲደግም ወይም ሳያስፈቅድ ከ2 ጊዜ በላይ ሲቀር</a:t>
            </a:r>
          </a:p>
          <a:p>
            <a:pPr>
              <a:spcAft>
                <a:spcPts val="1400"/>
              </a:spcAft>
            </a:pPr>
            <a:r>
              <a:rPr sz="1900">
                <a:solidFill>
                  <a:srgbClr val="E8EEF4"/>
                </a:solidFill>
                <a:latin typeface="Segoe UI"/>
              </a:rPr>
              <a:t>3ኛ ደረጃ — ጊዜያዊ ማገድ፦ መመሪያ ለማስፈጸም ፈቃደኛ ሳይሆን ሲቀር ወይም ከባድ ግድፈት ሲፈጽም</a:t>
            </a:r>
          </a:p>
          <a:p>
            <a:pPr>
              <a:spcAft>
                <a:spcPts val="1400"/>
              </a:spcAft>
            </a:pPr>
            <a:r>
              <a:rPr sz="1900">
                <a:solidFill>
                  <a:srgbClr val="E8EEF4"/>
                </a:solidFill>
                <a:latin typeface="Segoe UI"/>
              </a:rPr>
              <a:t>4ኛ ደረጃ — ሙሉ ማሰናበት፦ ጥፋቱ ከባድ ሆኖ ወይም የሰንበት ትምህርት ቤቱን ክብር የሚጎዳ ሆኖ ሲገኝ</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4179"/>
        </a:solidFill>
        <a:effectLst/>
      </p:bgPr>
    </p:bg>
    <p:spTree>
      <p:nvGrpSpPr>
        <p:cNvPr id="1" name=""/>
        <p:cNvGrpSpPr/>
        <p:nvPr/>
      </p:nvGrpSpPr>
      <p:grpSpPr/>
      <p:sp>
        <p:nvSpPr>
          <p:cNvPr id="2" name="Title 1"/>
          <p:cNvSpPr>
            <a:spLocks noGrp="1"/>
          </p:cNvSpPr>
          <p:nvPr>
            <p:ph type="title"/>
          </p:nvPr>
        </p:nvSpPr>
        <p:spPr>
          <a:xfrm>
            <a:off x="457200" y="274320"/>
            <a:ext cx="6858000" cy="1097280"/>
          </a:xfrm>
        </p:spPr>
        <p:txBody>
          <a:bodyPr/>
          <a:lstStyle/>
          <a:p>
            <a:pPr algn="l"/>
            <a:r>
              <a:rPr b="1" sz="3000">
                <a:solidFill>
                  <a:srgbClr val="FFCF00"/>
                </a:solidFill>
                <a:latin typeface="Segoe UI"/>
              </a:rPr>
              <a:t>5.5. ማጠቃለያ (Conclusion)</a:t>
            </a:r>
          </a:p>
        </p:txBody>
      </p:sp>
      <p:sp>
        <p:nvSpPr>
          <p:cNvPr id="3" name="Content Placeholder 2"/>
          <p:cNvSpPr>
            <a:spLocks noGrp="1"/>
          </p:cNvSpPr>
          <p:nvPr>
            <p:ph idx="1"/>
          </p:nvPr>
        </p:nvSpPr>
        <p:spPr>
          <a:xfrm>
            <a:off x="457200" y="1645920"/>
            <a:ext cx="8229600" cy="4937760"/>
          </a:xfrm>
        </p:spPr>
        <p:txBody>
          <a:bodyPr tIns="182880"/>
          <a:lstStyle/>
          <a:p>
            <a:pPr>
              <a:spcAft>
                <a:spcPts val="1400"/>
              </a:spcAft>
            </a:pPr>
            <a:r>
              <a:rPr sz="2000">
                <a:solidFill>
                  <a:srgbClr val="E8EEF4"/>
                </a:solidFill>
                <a:latin typeface="Segoe UI"/>
              </a:rPr>
              <a:t>«ሰውነታችሁን እግዚአብሔርን ደስ የሚያሰኝና ሕያው ቅዱስም መሥዋዕት አድርጋችሁ ታቀርቡ ዘንድ በእግዚአብሔር ርኅራኄ እለምናችኋለሁ፤ እርሱም ለአእምሮ የሚመች አገልግሎታችሁ ነው» (ሮሜ 12፥1)</a:t>
            </a:r>
          </a:p>
          <a:p>
            <a:pPr>
              <a:spcAft>
                <a:spcPts val="1400"/>
              </a:spcAft>
            </a:pPr>
            <a:r>
              <a:rPr sz="2000">
                <a:solidFill>
                  <a:srgbClr val="E8EEF4"/>
                </a:solidFill>
                <a:latin typeface="Segoe UI"/>
              </a:rPr>
              <a:t>ይህ አዲስ መዋቅር ከተተገበረ፦</a:t>
            </a:r>
          </a:p>
          <a:p>
            <a:pPr>
              <a:spcAft>
                <a:spcPts val="1400"/>
              </a:spcAft>
            </a:pPr>
            <a:r>
              <a:rPr sz="2000">
                <a:solidFill>
                  <a:srgbClr val="E8EEF4"/>
                </a:solidFill>
                <a:latin typeface="Segoe UI"/>
              </a:rPr>
              <a:t>  ✓ የአስጠኚዎች ጫና ይቀንሳል</a:t>
            </a:r>
          </a:p>
          <a:p>
            <a:pPr>
              <a:spcAft>
                <a:spcPts val="1400"/>
              </a:spcAft>
            </a:pPr>
            <a:r>
              <a:rPr sz="2000">
                <a:solidFill>
                  <a:srgbClr val="E8EEF4"/>
                </a:solidFill>
                <a:latin typeface="Segoe UI"/>
              </a:rPr>
              <a:t>  ✓ የአባላት ክትትልና አባትነት በጥራት ይከናወናል</a:t>
            </a:r>
          </a:p>
          <a:p>
            <a:pPr>
              <a:spcAft>
                <a:spcPts val="1400"/>
              </a:spcAft>
            </a:pPr>
            <a:r>
              <a:rPr sz="2000">
                <a:solidFill>
                  <a:srgbClr val="E8EEF4"/>
                </a:solidFill>
                <a:latin typeface="Segoe UI"/>
              </a:rPr>
              <a:t>  ✓ የመረጃ ጥራትና ፍትሃዊነት ይረጋገጣል</a:t>
            </a:r>
          </a:p>
          <a:p>
            <a:pPr>
              <a:spcAft>
                <a:spcPts val="1400"/>
              </a:spcAft>
            </a:pPr>
            <a:r>
              <a:rPr sz="2000">
                <a:solidFill>
                  <a:srgbClr val="E8EEF4"/>
                </a:solidFill>
                <a:latin typeface="Segoe UI"/>
              </a:rPr>
              <a:t>  ✓ ብቁ ተተኪ አስጠኚዎች ይፈራሉ</a:t>
            </a:r>
          </a:p>
          <a:p>
            <a:pPr>
              <a:spcAft>
                <a:spcPts val="1400"/>
              </a:spcAft>
            </a:pPr>
          </a:p>
          <a:p>
            <a:pPr>
              <a:spcAft>
                <a:spcPts val="1400"/>
              </a:spcAft>
            </a:pPr>
            <a:r>
              <a:rPr sz="2000">
                <a:solidFill>
                  <a:srgbClr val="E8EEF4"/>
                </a:solidFill>
                <a:latin typeface="Segoe UI"/>
              </a:rPr>
              <a:t>ወስበሐት ለእግዚአብሔር!</a:t>
            </a:r>
          </a:p>
        </p:txBody>
      </p:sp>
      <p:pic>
        <p:nvPicPr>
          <p:cNvPr id="4" name="Picture 3" descr="logo A png.png"/>
          <p:cNvPicPr>
            <a:picLocks noChangeAspect="1"/>
          </p:cNvPicPr>
          <p:nvPr/>
        </p:nvPicPr>
        <p:blipFill>
          <a:blip r:embed="rId2"/>
          <a:stretch>
            <a:fillRect/>
          </a:stretch>
        </p:blipFill>
        <p:spPr>
          <a:xfrm>
            <a:off x="7772400" y="182880"/>
            <a:ext cx="822960" cy="822960"/>
          </a:xfrm>
          <a:prstGeom prst="rect">
            <a:avLst/>
          </a:prstGeom>
        </p:spPr>
      </p:pic>
      <p:sp>
        <p:nvSpPr>
          <p:cNvPr id="5" name="Rectangle 4"/>
          <p:cNvSpPr/>
          <p:nvPr/>
        </p:nvSpPr>
        <p:spPr>
          <a:xfrm>
            <a:off x="457200" y="1463040"/>
            <a:ext cx="7315200" cy="38100"/>
          </a:xfrm>
          <a:prstGeom prst="rect">
            <a:avLst/>
          </a:prstGeom>
          <a:solidFill>
            <a:srgbClr val="FFCF00"/>
          </a:solidFill>
          <a:ln>
            <a:solidFill>
              <a:srgbClr val="FFC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