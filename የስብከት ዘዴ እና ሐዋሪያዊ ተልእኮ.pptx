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55"/>
  </p:notesMasterIdLst>
  <p:sldIdLst>
    <p:sldId id="305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07" r:id="rId19"/>
    <p:sldId id="308" r:id="rId20"/>
    <p:sldId id="274" r:id="rId21"/>
    <p:sldId id="275" r:id="rId22"/>
    <p:sldId id="309" r:id="rId23"/>
    <p:sldId id="276" r:id="rId24"/>
    <p:sldId id="310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306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9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028"/>
    </p:cViewPr>
  </p:sorterViewPr>
  <p:notesViewPr>
    <p:cSldViewPr>
      <p:cViewPr varScale="1">
        <p:scale>
          <a:sx n="55" d="100"/>
          <a:sy n="55" d="100"/>
        </p:scale>
        <p:origin x="-280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3F745-8DB2-49AD-8902-1D484CD17A11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551A4-5F03-4833-AC94-B6FCEEEF43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57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prstClr val="black"/>
                </a:solidFill>
                <a:latin typeface="Times New Roman" pitchFamily="18" charset="0"/>
              </a:rPr>
              <a:t>Es cells</a:t>
            </a:r>
          </a:p>
        </p:txBody>
      </p:sp>
      <p:sp>
        <p:nvSpPr>
          <p:cNvPr id="2007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32D0C4A-40FC-49CC-A3A4-BD427D77850B}" type="slidenum">
              <a:rPr lang="en-US">
                <a:solidFill>
                  <a:prstClr val="black"/>
                </a:solidFill>
                <a:latin typeface="Times New Roman" pitchFamily="18" charset="0"/>
              </a:rPr>
              <a:pPr eaLnBrk="1" hangingPunct="1"/>
              <a:t>4</a:t>
            </a:fld>
            <a:endParaRPr 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00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070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A551A4-5F03-4833-AC94-B6FCEEEF43FB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389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61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58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65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33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75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58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74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40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15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0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570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9D40939-FF02-453A-AC0F-5194FA86D711}" type="datetime1">
              <a:rPr lang="en-US"/>
              <a:pPr>
                <a:defRPr/>
              </a:pPr>
              <a:t>8/9/2025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srgbClr val="EBDDC3"/>
              </a:solidFill>
            </a:endParaRP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9EF0FB6-25C8-480F-A4EC-7F7AFAB3609B}" type="slidenum">
              <a:rPr lang="en-US">
                <a:solidFill>
                  <a:srgbClr val="EBDDC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118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E1001-E6EA-40B7-A854-245F97795040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DD6B1-58A5-469C-B4BC-5D5E8E523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0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4881-629A-431C-90A8-BD3F828464F0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050686-7FB0-4972-9909-A7F1B9548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844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1BE5CFB-E495-471F-B7D5-7A027AF48EC8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EB3918B-3445-453D-BC43-A76B35E77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750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ABE8CC2-F5A9-4298-A39B-53B38EDA1A9A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21414DA-E69A-452C-9310-546173F069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95295-9D00-4E75-9D3D-337DFF52DAC6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842A8-325D-4AD7-9CBC-0733C8874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28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845EF-3B48-48AD-BC57-B514B9CEF0D1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DAA5D11-D6B1-42BC-A9B7-C85F053CD58E}" type="slidenum">
              <a:rPr lang="en-US">
                <a:solidFill>
                  <a:srgbClr val="775F5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125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D606C-BA71-48DD-8C42-B7C546D739AE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2885E-A8FA-4EEE-9A25-2C4F3211AA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910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563F1F6-60B1-4825-BF25-6E2064BA99CF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54A192EB-1AB4-4A5A-9BF8-F1ABA4B513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26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119A0-A945-43FD-BA00-0630E8D0DB98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9B046-5F11-4CCE-8EF8-CE079FF5E1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0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67D5E-C573-47C2-9216-063FA3733A28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84A6A-FF8E-402D-A5B1-89F5A8E1D6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57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35163"/>
            <a:ext cx="4038600" cy="43894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35163"/>
            <a:ext cx="4038600" cy="43894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2BEE1-F077-4CD5-93AC-9A6254F31711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A87C1-EEE7-40EC-B2D9-307BF69A2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62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35163"/>
            <a:ext cx="8229600" cy="4389437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6AF634-9EED-43ED-904A-E1348806669B}" type="datetime1">
              <a:rPr lang="en-US">
                <a:solidFill>
                  <a:srgbClr val="775F55"/>
                </a:solidFill>
              </a:rPr>
              <a:pPr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3D193-22D0-4793-808E-26D03E1BB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89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61611-6D55-46B4-B0A3-D2CBDCBB60C8}" type="datetimeFigureOut">
              <a:rPr lang="en-GB" smtClean="0"/>
              <a:t>09/08/2025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FD7D-20A0-4C2B-B940-EE881E879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5FA1FB-C7FC-4580-BB1C-4EF06BEF4FBE}" type="datetime1">
              <a:rPr lang="en-US">
                <a:solidFill>
                  <a:srgbClr val="775F55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8/9/2025</a:t>
            </a:fld>
            <a:endParaRPr lang="en-US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775F55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D5ACE17-5BFF-49E9-ABD0-BEDF2E7C869F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1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58200" cy="990600"/>
          </a:xfrm>
        </p:spPr>
        <p:txBody>
          <a:bodyPr/>
          <a:lstStyle/>
          <a:p>
            <a:pPr algn="ctr"/>
            <a:r>
              <a:rPr lang="en-GB" sz="3200" b="1" dirty="0" smtClean="0">
                <a:solidFill>
                  <a:srgbClr val="00B050"/>
                </a:solidFill>
                <a:latin typeface="Visual Geez Unicode" pitchFamily="2" charset="0"/>
              </a:rPr>
              <a:t>በስመ አብ ወወል ወመንፈስ ቅዱስ አሐዱ አምላክ አሜን</a:t>
            </a:r>
            <a:endParaRPr lang="en-GB" sz="3200" b="1" dirty="0">
              <a:solidFill>
                <a:srgbClr val="00B050"/>
              </a:solidFill>
              <a:latin typeface="Visual Geez Unicode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763000" cy="5029200"/>
          </a:xfrm>
        </p:spPr>
        <p:txBody>
          <a:bodyPr/>
          <a:lstStyle/>
          <a:p>
            <a:pPr marL="0" indent="0" algn="ctr">
              <a:buNone/>
            </a:pPr>
            <a:endParaRPr lang="en-GB" sz="3200" b="1" dirty="0" smtClean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በኢትዮጵያ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ኦርቶዶክስ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ተዋሕዶ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ቤ/ክ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በጅማ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ሀገረ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ስብከት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የሰንበት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ት/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ቤቶች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አንድነት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የ2017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ዓ.ም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ተተኪ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</a:p>
          <a:p>
            <a:pPr marL="0" indent="0" algn="ctr">
              <a:buNone/>
            </a:pP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መምህራን </a:t>
            </a:r>
            <a:r>
              <a:rPr lang="en-GB" sz="3200" b="1" dirty="0" err="1" smtClean="0">
                <a:solidFill>
                  <a:srgbClr val="002060"/>
                </a:solidFill>
                <a:latin typeface="Visual Geez Unicode" pitchFamily="2" charset="0"/>
              </a:rPr>
              <a:t>ስልጠና</a:t>
            </a:r>
            <a:r>
              <a:rPr lang="en-GB" sz="3200" b="1" dirty="0" smtClean="0">
                <a:solidFill>
                  <a:srgbClr val="002060"/>
                </a:solidFill>
                <a:latin typeface="Visual Geez Unicode" pitchFamily="2" charset="0"/>
              </a:rPr>
              <a:t> 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                                       </a:t>
            </a:r>
            <a:r>
              <a:rPr lang="en-GB" sz="3200" b="1" dirty="0" err="1" smtClean="0">
                <a:latin typeface="Visual Geez Unicode" pitchFamily="2" charset="0"/>
              </a:rPr>
              <a:t>ነሐሴ</a:t>
            </a:r>
            <a:r>
              <a:rPr lang="en-GB" sz="3200" b="1" dirty="0" smtClean="0">
                <a:latin typeface="Visual Geez Unicode" pitchFamily="2" charset="0"/>
              </a:rPr>
              <a:t> </a:t>
            </a:r>
            <a:r>
              <a:rPr lang="am-ET" sz="3200" b="1" dirty="0" smtClean="0">
                <a:latin typeface="Visual Geez Unicode" pitchFamily="2" charset="0"/>
              </a:rPr>
              <a:t>፳፻፲፯</a:t>
            </a:r>
            <a:r>
              <a:rPr lang="en-US" sz="3200" b="1" dirty="0" smtClean="0">
                <a:latin typeface="Visual Geez Unicode" pitchFamily="2" charset="0"/>
              </a:rPr>
              <a:t> </a:t>
            </a:r>
            <a:r>
              <a:rPr lang="en-US" sz="3200" b="1" dirty="0" err="1" smtClean="0">
                <a:latin typeface="Visual Geez Unicode" pitchFamily="2" charset="0"/>
              </a:rPr>
              <a:t>ዓ.ም</a:t>
            </a:r>
            <a:endParaRPr lang="en-GB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DECDD6B1-58A5-469C-B4BC-5D5E8E52343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          </a:t>
            </a:r>
            <a:endParaRPr lang="en-US" sz="4000" b="1" dirty="0" smtClean="0">
              <a:solidFill>
                <a:srgbClr val="FF0000"/>
              </a:solidFill>
            </a:endParaRPr>
          </a:p>
        </p:txBody>
      </p:sp>
      <p:sp>
        <p:nvSpPr>
          <p:cNvPr id="9220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25780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 </a:t>
            </a:r>
            <a:r>
              <a:rPr lang="en-US" sz="7200" b="1" dirty="0" err="1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የስብከት</a:t>
            </a:r>
            <a:r>
              <a:rPr lang="en-US" sz="7200" b="1" dirty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 </a:t>
            </a:r>
            <a:r>
              <a:rPr lang="en-US" sz="7200" b="1" dirty="0" err="1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ዘዴ</a:t>
            </a:r>
            <a:r>
              <a:rPr lang="en-US" sz="7200" b="1" dirty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 </a:t>
            </a:r>
            <a:r>
              <a:rPr lang="en-US" sz="7200" b="1" dirty="0" err="1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እና</a:t>
            </a:r>
            <a:r>
              <a:rPr lang="en-US" sz="7200" b="1" dirty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 </a:t>
            </a:r>
            <a:r>
              <a:rPr lang="en-US" sz="7200" b="1" dirty="0" smtClean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      </a:t>
            </a:r>
            <a:r>
              <a:rPr lang="en-US" sz="7200" b="1" dirty="0" err="1" smtClean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ሐዋሪያዊ</a:t>
            </a:r>
            <a:r>
              <a:rPr lang="en-US" sz="7200" b="1" dirty="0" smtClean="0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 </a:t>
            </a:r>
            <a:r>
              <a:rPr lang="en-US" sz="7200" b="1" dirty="0" err="1">
                <a:solidFill>
                  <a:srgbClr val="FF0000"/>
                </a:solidFill>
                <a:latin typeface="Visual Geez Unicode" pitchFamily="2" charset="0"/>
                <a:ea typeface="+mj-ea"/>
                <a:cs typeface="+mj-cs"/>
              </a:rPr>
              <a:t>ተልእኮ</a:t>
            </a:r>
            <a:endParaRPr lang="en-GB" sz="5400" dirty="0" smtClean="0">
              <a:latin typeface="Visual Geez Unicode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57ECC69-4669-4891-B158-26FF1D7D2CC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0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010400" cy="792162"/>
          </a:xfrm>
        </p:spPr>
        <p:txBody>
          <a:bodyPr/>
          <a:lstStyle/>
          <a:p>
            <a:r>
              <a:rPr lang="am-ET" dirty="0" smtClean="0">
                <a:solidFill>
                  <a:srgbClr val="FF0000"/>
                </a:solidFill>
              </a:rPr>
              <a:t>መግቢያ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181600"/>
          </a:xfrm>
        </p:spPr>
        <p:txBody>
          <a:bodyPr>
            <a:noAutofit/>
          </a:bodyPr>
          <a:lstStyle/>
          <a:p>
            <a:pPr algn="just">
              <a:buClr>
                <a:srgbClr val="0070C0"/>
              </a:buClr>
              <a:buFont typeface="Wingdings" pitchFamily="2" charset="2"/>
              <a:buChar char="v"/>
            </a:pPr>
            <a:r>
              <a:rPr lang="en-GB" sz="2400" dirty="0" smtClean="0">
                <a:latin typeface="VG2 Main" pitchFamily="34" charset="0"/>
              </a:rPr>
              <a:t> ySBkt wNg@L xgLGlÖT yQDST b@tKRSTÃN êÂW tL:÷Â xgLGlÖT nWÝÝ </a:t>
            </a:r>
          </a:p>
          <a:p>
            <a:pPr algn="just">
              <a:buClr>
                <a:srgbClr val="0070C0"/>
              </a:buClr>
              <a:buFont typeface="Wingdings" pitchFamily="2" charset="2"/>
              <a:buChar char="v"/>
            </a:pPr>
            <a:r>
              <a:rPr lang="en-GB" sz="2400" dirty="0" smtClean="0">
                <a:latin typeface="VG2 Main" pitchFamily="34" charset="0"/>
              </a:rPr>
              <a:t>MKNÃt$M yQDST b@tKRSTÃN êÂW tL:÷ Ã§mn# sãCN ¥úmNÝ Ãmn# M:mÂNN ¥{ÂT XÂ xMnW ynb„ ngR GN btlÃy MKNÃT </a:t>
            </a:r>
            <a:r>
              <a:rPr lang="en-GB" sz="2400" dirty="0" err="1" smtClean="0">
                <a:latin typeface="VG2 Main" pitchFamily="34" charset="0"/>
              </a:rPr>
              <a:t>y‰ቁTN</a:t>
            </a:r>
            <a:r>
              <a:rPr lang="en-GB" sz="2400" dirty="0" smtClean="0">
                <a:latin typeface="VG2 Main" pitchFamily="34" charset="0"/>
              </a:rPr>
              <a:t> ¥QrB s!çN YH xgLGlÖT dGä bên¾nT y¸f[</a:t>
            </a:r>
            <a:r>
              <a:rPr lang="en-GB" sz="2400" dirty="0" err="1" smtClean="0">
                <a:latin typeface="VG2 Main" pitchFamily="34" charset="0"/>
              </a:rPr>
              <a:t>mW</a:t>
            </a:r>
            <a:r>
              <a:rPr lang="en-GB" sz="2400" dirty="0" smtClean="0">
                <a:latin typeface="VG2 Main" pitchFamily="34" charset="0"/>
              </a:rPr>
              <a:t> ”l XGz!x!B/@RN b¥St¥R nWÝ¿ </a:t>
            </a:r>
          </a:p>
          <a:p>
            <a:pPr algn="just">
              <a:buClr>
                <a:srgbClr val="0070C0"/>
              </a:buClr>
              <a:buFont typeface="Wingdings" pitchFamily="2" charset="2"/>
              <a:buChar char="v"/>
            </a:pPr>
            <a:r>
              <a:rPr lang="en-GB" sz="2400" dirty="0" smtClean="0">
                <a:latin typeface="VG2 Main" pitchFamily="34" charset="0"/>
              </a:rPr>
              <a:t>Slz!H SBkt wNg@L yb@tKRSTÃN ên¾WÂ tqÄ¸W tL:÷ê nWÝÝ </a:t>
            </a:r>
          </a:p>
          <a:p>
            <a:pPr algn="just">
              <a:buClr>
                <a:srgbClr val="0070C0"/>
              </a:buClr>
              <a:buFont typeface="Wingdings" pitchFamily="2" charset="2"/>
              <a:buChar char="v"/>
            </a:pPr>
            <a:r>
              <a:rPr lang="en-GB" sz="2400" dirty="0" smtClean="0">
                <a:latin typeface="VG2 Main" pitchFamily="34" charset="0"/>
              </a:rPr>
              <a:t>yz!H ySBkt zÁ TMHRT </a:t>
            </a:r>
            <a:r>
              <a:rPr lang="en-GB" sz="2400" dirty="0">
                <a:latin typeface="VG2 Main" pitchFamily="34" charset="0"/>
              </a:rPr>
              <a:t>›</a:t>
            </a:r>
            <a:r>
              <a:rPr lang="en-GB" sz="2400" dirty="0" smtClean="0">
                <a:latin typeface="VG2 Main" pitchFamily="34" charset="0"/>
              </a:rPr>
              <a:t>§¥M lSBkt wNg@L xgLGlÖT y¸\¥„ </a:t>
            </a:r>
            <a:r>
              <a:rPr lang="en-GB" sz="2400" dirty="0" err="1" smtClean="0">
                <a:latin typeface="VG2 Main" pitchFamily="34" charset="0"/>
              </a:rPr>
              <a:t>sÆKÃN</a:t>
            </a:r>
            <a:r>
              <a:rPr lang="en-GB" sz="2400" dirty="0" smtClean="0">
                <a:latin typeface="VG2 Main" pitchFamily="34" charset="0"/>
              </a:rPr>
              <a:t> </a:t>
            </a:r>
            <a:r>
              <a:rPr lang="en-GB" sz="2400" dirty="0" err="1" smtClean="0">
                <a:latin typeface="VG2 Main" pitchFamily="34" charset="0"/>
              </a:rPr>
              <a:t>lxGLGlÖቱ</a:t>
            </a:r>
            <a:r>
              <a:rPr lang="en-GB" sz="2400" dirty="0" smtClean="0">
                <a:latin typeface="VG2 Main" pitchFamily="34" charset="0"/>
              </a:rPr>
              <a:t>$ </a:t>
            </a:r>
            <a:r>
              <a:rPr lang="en-GB" sz="2400" dirty="0" err="1" smtClean="0">
                <a:latin typeface="VG2 Main" pitchFamily="34" charset="0"/>
              </a:rPr>
              <a:t>Bቁ</a:t>
            </a:r>
            <a:r>
              <a:rPr lang="en-GB" sz="2400" dirty="0" smtClean="0">
                <a:latin typeface="VG2 Main" pitchFamily="34" charset="0"/>
              </a:rPr>
              <a:t> Yçn# zND SlSBkt wNg@L xgLGlÖT GN²b@ lmS-T </a:t>
            </a:r>
            <a:r>
              <a:rPr lang="en-GB" sz="2400" dirty="0" err="1" smtClean="0">
                <a:latin typeface="VG2 Main" pitchFamily="34" charset="0"/>
              </a:rPr>
              <a:t>ytzUj</a:t>
            </a:r>
            <a:r>
              <a:rPr lang="en-GB" sz="2400" dirty="0" smtClean="0">
                <a:latin typeface="VG2 Main" pitchFamily="34" charset="0"/>
              </a:rPr>
              <a:t> mDBL nWÝÝ </a:t>
            </a:r>
            <a:endParaRPr lang="en-GB" sz="2400" dirty="0">
              <a:latin typeface="VG2 Mai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411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077200" cy="10668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6700" b="1" dirty="0" smtClean="0">
                <a:solidFill>
                  <a:srgbClr val="00B0F0"/>
                </a:solidFill>
              </a:rPr>
              <a:t>ይዘት</a:t>
            </a:r>
            <a:r>
              <a:rPr lang="en-US" sz="6700" b="1" dirty="0" smtClean="0"/>
              <a:t/>
            </a:r>
            <a:br>
              <a:rPr lang="en-US" sz="6700" b="1" dirty="0" smtClean="0"/>
            </a:br>
            <a:endParaRPr lang="en-US" sz="2800" b="1" dirty="0" smtClean="0">
              <a:solidFill>
                <a:srgbClr val="FF0000"/>
              </a:solidFill>
            </a:endParaRPr>
          </a:p>
        </p:txBody>
      </p:sp>
      <p:sp>
        <p:nvSpPr>
          <p:cNvPr id="307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CB3FF13-3533-41DA-8032-6FD5C67C8A99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447800"/>
            <a:ext cx="8915400" cy="5410200"/>
          </a:xfrm>
        </p:spPr>
        <p:txBody>
          <a:bodyPr/>
          <a:lstStyle/>
          <a:p>
            <a:r>
              <a:rPr lang="en-GB" sz="2400" dirty="0" smtClean="0"/>
              <a:t>መግብያ</a:t>
            </a:r>
          </a:p>
          <a:p>
            <a:pPr>
              <a:buFont typeface="Wingdings" pitchFamily="2" charset="2"/>
              <a:buNone/>
            </a:pPr>
            <a:r>
              <a:rPr lang="am-ET" sz="2400" dirty="0" smtClean="0"/>
              <a:t>1. ስብከትና የስብከት ታሪክ</a:t>
            </a:r>
            <a:endParaRPr lang="en-GB" sz="2400" dirty="0" smtClean="0"/>
          </a:p>
          <a:p>
            <a:pPr>
              <a:buFont typeface="Wingdings" pitchFamily="2" charset="2"/>
              <a:buNone/>
            </a:pPr>
            <a:r>
              <a:rPr lang="en-GB" sz="2400" dirty="0" smtClean="0"/>
              <a:t>2.ለሰባኪዉ የሚያስፈልገዉ ምንድን ነዉ</a:t>
            </a:r>
            <a:r>
              <a:rPr lang="en-GB" sz="2400" dirty="0" smtClean="0">
                <a:latin typeface="Ge'ez-1" pitchFamily="34" charset="0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/>
              <a:t>3.</a:t>
            </a:r>
            <a:r>
              <a:rPr lang="am-ET" sz="2400" dirty="0" smtClean="0"/>
              <a:t>የስብከት </a:t>
            </a:r>
            <a:r>
              <a:rPr lang="en-GB" sz="2400" dirty="0"/>
              <a:t>ዓ</a:t>
            </a:r>
            <a:r>
              <a:rPr lang="am-ET" sz="2400" dirty="0" smtClean="0"/>
              <a:t>ይነቶች</a:t>
            </a:r>
            <a:r>
              <a:rPr lang="en-GB" sz="2400" dirty="0" smtClean="0"/>
              <a:t> 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/>
              <a:t>4.ስብከት </a:t>
            </a:r>
            <a:r>
              <a:rPr lang="en-GB" sz="2400" dirty="0" err="1" smtClean="0"/>
              <a:t>በሚዘጋጀበት</a:t>
            </a:r>
            <a:r>
              <a:rPr lang="en-GB" sz="2400" dirty="0" smtClean="0"/>
              <a:t> ወቅት ታሳቢ የሚደረጉ ጉዳዮች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/>
              <a:t>5.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 የስብከት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VCAENR+Nyala"/>
                <a:cs typeface="Calibri" pitchFamily="34" charset="0"/>
              </a:rPr>
              <a:t>ዝ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ግጅት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6.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 ሐዋሪያና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ሐዋረያዊነት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ምንነት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7.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 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የ</a:t>
            </a:r>
            <a:r>
              <a:rPr lang="en-GB" sz="2400" dirty="0" smtClean="0">
                <a:solidFill>
                  <a:srgbClr val="000000"/>
                </a:solidFill>
                <a:latin typeface="VCAENR+Nyala"/>
              </a:rPr>
              <a:t>ሐ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ዋ</a:t>
            </a:r>
            <a:r>
              <a:rPr lang="en-GB" sz="2400" dirty="0" smtClean="0">
                <a:solidFill>
                  <a:srgbClr val="000000"/>
                </a:solidFill>
                <a:latin typeface="VCAENR+Nyala"/>
              </a:rPr>
              <a:t>ሪ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ያዊ ተ</a:t>
            </a:r>
            <a:r>
              <a:rPr lang="en-GB" sz="2400" dirty="0">
                <a:solidFill>
                  <a:srgbClr val="000000"/>
                </a:solidFill>
                <a:latin typeface="VCAENR+Nyala"/>
              </a:rPr>
              <a:t>ል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እኮ ታሪክ በመ</a:t>
            </a:r>
            <a:r>
              <a:rPr lang="en-GB" sz="2400" dirty="0" err="1" smtClean="0">
                <a:solidFill>
                  <a:srgbClr val="000000"/>
                </a:solidFill>
                <a:latin typeface="VCAENR+Nyala"/>
              </a:rPr>
              <a:t>ጽሐፍ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 ቅ</a:t>
            </a:r>
            <a:r>
              <a:rPr lang="en-GB" sz="2400" dirty="0">
                <a:solidFill>
                  <a:srgbClr val="000000"/>
                </a:solidFill>
                <a:latin typeface="VCAENR+Nyala"/>
              </a:rPr>
              <a:t>ዱ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ስ</a:t>
            </a:r>
            <a:endParaRPr lang="en-GB" sz="2400" dirty="0" smtClean="0">
              <a:solidFill>
                <a:srgbClr val="000000"/>
              </a:solidFill>
              <a:latin typeface="VCAENR+Nyala"/>
            </a:endParaRP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8. 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የ</a:t>
            </a:r>
            <a:r>
              <a:rPr lang="en-GB" sz="2400" dirty="0" smtClean="0">
                <a:solidFill>
                  <a:srgbClr val="000000"/>
                </a:solidFill>
                <a:latin typeface="VCAENR+Nyala"/>
              </a:rPr>
              <a:t>ሐ</a:t>
            </a:r>
            <a:r>
              <a:rPr lang="am-ET" sz="2400" dirty="0" smtClean="0">
                <a:solidFill>
                  <a:srgbClr val="000000"/>
                </a:solidFill>
                <a:latin typeface="VCAENR+Nyala"/>
              </a:rPr>
              <a:t>ዋሪያዊነት መሰረቶች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9.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ሐዋሪያ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ማን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ነው</a:t>
            </a: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10.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 ሐዋሪያ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ሊጠነቀቅባቸው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የሚገቡ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VCAENR+Nyala"/>
                <a:cs typeface="Calibri" pitchFamily="34" charset="0"/>
              </a:rPr>
              <a:t>ጉዳዮች</a:t>
            </a:r>
            <a:endParaRPr lang="en-GB" sz="2400" dirty="0" smtClean="0">
              <a:solidFill>
                <a:srgbClr val="000000"/>
              </a:solidFill>
              <a:latin typeface="VCAENR+Nyala"/>
            </a:endParaRPr>
          </a:p>
          <a:p>
            <a:pPr>
              <a:buFont typeface="Wingdings" pitchFamily="2" charset="2"/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11.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 ከወ</a:t>
            </a:r>
            <a:r>
              <a:rPr lang="en-GB" sz="2400" dirty="0" smtClean="0">
                <a:solidFill>
                  <a:srgbClr val="000000"/>
                </a:solidFill>
              </a:rPr>
              <a:t>ዴ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en-GB" sz="2400" dirty="0" smtClean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መጣ ይች</a:t>
            </a:r>
            <a:r>
              <a:rPr lang="en-GB" sz="2400" dirty="0" smtClean="0">
                <a:solidFill>
                  <a:srgbClr val="000000"/>
                </a:solidFill>
              </a:rPr>
              <a:t>ላል</a:t>
            </a:r>
            <a:endParaRPr lang="am-ET" sz="2800" dirty="0" smtClean="0">
              <a:solidFill>
                <a:srgbClr val="000000"/>
              </a:solidFill>
              <a:latin typeface="VCAENR+Nyala"/>
            </a:endParaRPr>
          </a:p>
        </p:txBody>
      </p:sp>
    </p:spTree>
    <p:extLst>
      <p:ext uri="{BB962C8B-B14F-4D97-AF65-F5344CB8AC3E}">
        <p14:creationId xmlns:p14="http://schemas.microsoft.com/office/powerpoint/2010/main" val="809301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m-ET" dirty="0" smtClean="0">
                <a:solidFill>
                  <a:schemeClr val="accent2"/>
                </a:solidFill>
              </a:rPr>
              <a:t>1. ስብከትና የስብከት ታሪክ</a:t>
            </a:r>
            <a:endParaRPr lang="en-GB" dirty="0">
              <a:solidFill>
                <a:schemeClr val="accent2"/>
              </a:solidFill>
              <a:latin typeface="VG2 Main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991600" cy="4906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am-ET" sz="2800" dirty="0" smtClean="0">
                <a:solidFill>
                  <a:srgbClr val="00B050"/>
                </a:solidFill>
              </a:rPr>
              <a:t>ሀ. የስብከት ትርጉም</a:t>
            </a:r>
            <a:endParaRPr lang="en-GB" sz="2800" dirty="0" smtClean="0">
              <a:solidFill>
                <a:srgbClr val="00B050"/>
              </a:solidFill>
              <a:latin typeface="VG2 Main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am-ET" sz="2400" dirty="0" smtClean="0"/>
              <a:t> ስብከት የሚ</a:t>
            </a:r>
            <a:r>
              <a:rPr lang="en-GB" sz="2400" dirty="0" smtClean="0">
                <a:latin typeface="VG2 Main" pitchFamily="34" charset="0"/>
              </a:rPr>
              <a:t>ለ</a:t>
            </a:r>
            <a:r>
              <a:rPr lang="am-ET" sz="2400" dirty="0" smtClean="0"/>
              <a:t>ው ቃ</a:t>
            </a:r>
            <a:r>
              <a:rPr lang="en-GB" sz="2400" dirty="0">
                <a:latin typeface="VG2 Main" pitchFamily="34" charset="0"/>
              </a:rPr>
              <a:t>ል</a:t>
            </a:r>
            <a:r>
              <a:rPr lang="am-ET" sz="2400" dirty="0" smtClean="0"/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ሰበከ</a:t>
            </a:r>
            <a:r>
              <a:rPr lang="am-ET" sz="2400" dirty="0" smtClean="0"/>
              <a:t> አስተማረ፣ አዋ</a:t>
            </a:r>
            <a:r>
              <a:rPr lang="en-GB" sz="2400" dirty="0"/>
              <a:t>ጅ</a:t>
            </a:r>
            <a:r>
              <a:rPr lang="am-ET" sz="2400" dirty="0" smtClean="0"/>
              <a:t> ነገረ ከሚ</a:t>
            </a:r>
            <a:r>
              <a:rPr lang="en-GB" sz="2400" dirty="0" smtClean="0">
                <a:latin typeface="VG2 Main" pitchFamily="34" charset="0"/>
              </a:rPr>
              <a:t>ለ</a:t>
            </a:r>
            <a:r>
              <a:rPr lang="am-ET" sz="2400" dirty="0" smtClean="0"/>
              <a:t>ው የግዕ</a:t>
            </a:r>
            <a:r>
              <a:rPr lang="en-GB" sz="2400" dirty="0">
                <a:latin typeface="VG2 Main" pitchFamily="34" charset="0"/>
              </a:rPr>
              <a:t>ዝ</a:t>
            </a:r>
            <a:r>
              <a:rPr lang="am-ET" sz="2400" dirty="0" smtClean="0"/>
              <a:t> ቃ</a:t>
            </a:r>
            <a:r>
              <a:rPr lang="en-GB" sz="2400" dirty="0">
                <a:latin typeface="VG2 Main" pitchFamily="34" charset="0"/>
              </a:rPr>
              <a:t>ል</a:t>
            </a:r>
            <a:r>
              <a:rPr lang="am-ET" sz="2400" dirty="0" smtClean="0"/>
              <a:t> የተገኘ ነው፡፡</a:t>
            </a:r>
            <a:endParaRPr lang="en-GB" sz="2400" dirty="0"/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am-ET" sz="2400" dirty="0" smtClean="0"/>
              <a:t>የቤተክርስቲያን </a:t>
            </a:r>
            <a:r>
              <a:rPr lang="am-ET" sz="2400" dirty="0" smtClean="0">
                <a:solidFill>
                  <a:srgbClr val="00B050"/>
                </a:solidFill>
              </a:rPr>
              <a:t>ዋናው ተ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B050"/>
                </a:solidFill>
              </a:rPr>
              <a:t>ዕኮዋ </a:t>
            </a:r>
            <a:r>
              <a:rPr lang="am-ET" sz="2400" dirty="0" smtClean="0"/>
              <a:t>ሰዎችን </a:t>
            </a:r>
            <a:r>
              <a:rPr lang="en-GB" sz="2400" dirty="0" smtClean="0"/>
              <a:t>ካለ</a:t>
            </a:r>
            <a:r>
              <a:rPr lang="am-ET" sz="2400" dirty="0" smtClean="0"/>
              <a:t>ማመን ወ</a:t>
            </a:r>
            <a:r>
              <a:rPr lang="en-GB" sz="2400" dirty="0" smtClean="0"/>
              <a:t>ደ</a:t>
            </a:r>
            <a:r>
              <a:rPr lang="am-ET" sz="2400" dirty="0" smtClean="0"/>
              <a:t> ማመን ማምጣት፣ ያመኑትን </a:t>
            </a:r>
            <a:r>
              <a:rPr lang="en-GB" sz="2400" dirty="0" smtClean="0"/>
              <a:t>ደ</a:t>
            </a:r>
            <a:r>
              <a:rPr lang="am-ET" sz="2400" dirty="0" smtClean="0"/>
              <a:t>ግሞ በእምነታቸው ማጽናት ነው፡፡</a:t>
            </a:r>
            <a:endParaRPr lang="en-GB" sz="2400" dirty="0"/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am-ET" sz="2400" dirty="0" smtClean="0"/>
              <a:t>ስብከት የቤተክርስቲያን </a:t>
            </a:r>
            <a:r>
              <a:rPr lang="am-ET" sz="2400" dirty="0" smtClean="0">
                <a:solidFill>
                  <a:srgbClr val="0070C0"/>
                </a:solidFill>
              </a:rPr>
              <a:t>ት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ቁ የአገሌግልት ክ</a:t>
            </a:r>
            <a:r>
              <a:rPr lang="en-GB" sz="2400" dirty="0" err="1" smtClean="0">
                <a:solidFill>
                  <a:srgbClr val="0070C0"/>
                </a:solidFill>
              </a:rPr>
              <a:t>ፍል</a:t>
            </a:r>
            <a:r>
              <a:rPr lang="am-ET" sz="2400" dirty="0" smtClean="0">
                <a:solidFill>
                  <a:srgbClr val="0070C0"/>
                </a:solidFill>
              </a:rPr>
              <a:t> ነው</a:t>
            </a:r>
            <a:r>
              <a:rPr lang="am-ET" sz="2400" dirty="0" smtClean="0"/>
              <a:t>፡፡ </a:t>
            </a:r>
            <a:r>
              <a:rPr lang="en-GB" sz="2400" dirty="0" smtClean="0"/>
              <a:t>‹‹</a:t>
            </a:r>
            <a:r>
              <a:rPr lang="am-ET" sz="2400" dirty="0" smtClean="0"/>
              <a:t>በስብከት ሞኝነት የሚያምኑትን </a:t>
            </a:r>
            <a:r>
              <a:rPr lang="en-GB" sz="2400" dirty="0"/>
              <a:t>ሊ</a:t>
            </a:r>
            <a:r>
              <a:rPr lang="am-ET" sz="2400" dirty="0" smtClean="0"/>
              <a:t>ያ</a:t>
            </a:r>
            <a:r>
              <a:rPr lang="en-GB" sz="2400" dirty="0"/>
              <a:t>ድ</a:t>
            </a:r>
            <a:r>
              <a:rPr lang="am-ET" sz="2400" dirty="0" smtClean="0"/>
              <a:t>ን የእግ</a:t>
            </a:r>
            <a:r>
              <a:rPr lang="en-GB" sz="2400" dirty="0"/>
              <a:t>ዚ</a:t>
            </a:r>
            <a:r>
              <a:rPr lang="am-ET" sz="2400" dirty="0" smtClean="0"/>
              <a:t>አብሔር በ</a:t>
            </a:r>
            <a:r>
              <a:rPr lang="en-GB" sz="2400" dirty="0"/>
              <a:t>ጎ</a:t>
            </a:r>
            <a:r>
              <a:rPr lang="am-ET" sz="2400" dirty="0" smtClean="0"/>
              <a:t> </a:t>
            </a:r>
            <a:r>
              <a:rPr lang="en-GB" sz="2400" dirty="0"/>
              <a:t>ፈ</a:t>
            </a:r>
            <a:r>
              <a:rPr lang="am-ET" sz="2400" dirty="0" smtClean="0"/>
              <a:t>ቃ</a:t>
            </a:r>
            <a:r>
              <a:rPr lang="en-GB" sz="2400" dirty="0"/>
              <a:t>ድ</a:t>
            </a:r>
            <a:r>
              <a:rPr lang="am-ET" sz="2400" dirty="0" smtClean="0"/>
              <a:t> ሆኖአ</a:t>
            </a:r>
            <a:r>
              <a:rPr lang="en-GB" sz="2400" dirty="0"/>
              <a:t>ል</a:t>
            </a:r>
            <a:r>
              <a:rPr lang="am-ET" sz="2400" dirty="0" smtClean="0"/>
              <a:t>ና</a:t>
            </a:r>
            <a:r>
              <a:rPr lang="en-GB" sz="2400" dirty="0" smtClean="0"/>
              <a:t>››</a:t>
            </a:r>
            <a:r>
              <a:rPr lang="am-ET" sz="2400" dirty="0" smtClean="0"/>
              <a:t> /1ቆሮ 1፡21/ እን</a:t>
            </a:r>
            <a:r>
              <a:rPr lang="en-GB" sz="2400" dirty="0" err="1" smtClean="0"/>
              <a:t>ዲል</a:t>
            </a:r>
            <a:r>
              <a:rPr lang="am-ET" sz="2400" dirty="0" smtClean="0"/>
              <a:t>፡፡</a:t>
            </a:r>
            <a:endParaRPr lang="en-GB" sz="2400" dirty="0">
              <a:latin typeface="VG2 Mai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43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70C0"/>
                </a:solidFill>
              </a:rPr>
              <a:t>የቀጠለ…..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5334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am-ET" sz="2400" dirty="0" smtClean="0"/>
              <a:t>ከ</a:t>
            </a:r>
            <a:r>
              <a:rPr lang="en-GB" sz="2400" dirty="0" smtClean="0"/>
              <a:t>ዚ</a:t>
            </a:r>
            <a:r>
              <a:rPr lang="am-ET" sz="2400" dirty="0" smtClean="0"/>
              <a:t>ህ ጽንሰ </a:t>
            </a:r>
            <a:r>
              <a:rPr lang="en-GB" sz="2400" dirty="0" smtClean="0"/>
              <a:t>ሀ</a:t>
            </a:r>
            <a:r>
              <a:rPr lang="am-ET" sz="2400" dirty="0" smtClean="0"/>
              <a:t>ሳብ በመነሳት ስብከት</a:t>
            </a:r>
            <a:r>
              <a:rPr lang="en-GB" sz="2400" dirty="0" smtClean="0"/>
              <a:t>፡-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1. የአም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ኮ ክ</a:t>
            </a:r>
            <a:r>
              <a:rPr lang="en-GB" sz="2400" dirty="0" smtClean="0">
                <a:solidFill>
                  <a:srgbClr val="FF0000"/>
                </a:solidFill>
              </a:rPr>
              <a:t>ፍል </a:t>
            </a:r>
            <a:r>
              <a:rPr lang="am-ET" sz="2400" dirty="0" smtClean="0">
                <a:solidFill>
                  <a:srgbClr val="FF0000"/>
                </a:solidFill>
              </a:rPr>
              <a:t>ነው </a:t>
            </a:r>
            <a:endParaRPr lang="en-GB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am-ET" sz="2400" dirty="0" smtClean="0">
                <a:solidFill>
                  <a:srgbClr val="0070C0"/>
                </a:solidFill>
              </a:rPr>
              <a:t>እግ</a:t>
            </a:r>
            <a:r>
              <a:rPr lang="en-GB" sz="2400" dirty="0">
                <a:solidFill>
                  <a:srgbClr val="0070C0"/>
                </a:solidFill>
              </a:rPr>
              <a:t>ዚ</a:t>
            </a:r>
            <a:r>
              <a:rPr lang="am-ET" sz="2400" dirty="0" smtClean="0">
                <a:solidFill>
                  <a:srgbClr val="0070C0"/>
                </a:solidFill>
              </a:rPr>
              <a:t>አብሔር የምናመ</a:t>
            </a:r>
            <a:r>
              <a:rPr lang="en-GB" sz="2400" dirty="0" err="1" smtClean="0">
                <a:solidFill>
                  <a:srgbClr val="0070C0"/>
                </a:solidFill>
              </a:rPr>
              <a:t>ልከ</a:t>
            </a:r>
            <a:r>
              <a:rPr lang="am-ET" sz="2400" dirty="0" smtClean="0">
                <a:solidFill>
                  <a:srgbClr val="0070C0"/>
                </a:solidFill>
              </a:rPr>
              <a:t>ው አም</a:t>
            </a:r>
            <a:r>
              <a:rPr lang="en-GB" sz="2400" dirty="0">
                <a:solidFill>
                  <a:srgbClr val="0070C0"/>
                </a:solidFill>
              </a:rPr>
              <a:t>ላ</a:t>
            </a:r>
            <a:r>
              <a:rPr lang="am-ET" sz="2400" dirty="0" smtClean="0">
                <a:solidFill>
                  <a:srgbClr val="0070C0"/>
                </a:solidFill>
              </a:rPr>
              <a:t>ካችን ነው</a:t>
            </a:r>
            <a:r>
              <a:rPr lang="am-ET" sz="2400" dirty="0" smtClean="0"/>
              <a:t>፡፡ ማም</a:t>
            </a:r>
            <a:r>
              <a:rPr lang="en-GB" sz="2400" dirty="0" smtClean="0"/>
              <a:t>ለ</a:t>
            </a:r>
            <a:r>
              <a:rPr lang="am-ET" sz="2400" dirty="0" smtClean="0"/>
              <a:t>ክ፣ ማመንና መ</a:t>
            </a:r>
            <a:r>
              <a:rPr lang="en-GB" sz="2400" dirty="0"/>
              <a:t>ዳ</a:t>
            </a:r>
            <a:r>
              <a:rPr lang="am-ET" sz="2400" dirty="0" smtClean="0"/>
              <a:t>ን መሠረቱ </a:t>
            </a:r>
            <a:r>
              <a:rPr lang="am-ET" sz="2400" dirty="0" smtClean="0">
                <a:solidFill>
                  <a:srgbClr val="00B050"/>
                </a:solidFill>
              </a:rPr>
              <a:t>መሰማቱ</a:t>
            </a:r>
            <a:r>
              <a:rPr lang="en-GB" sz="2400" dirty="0" smtClean="0"/>
              <a:t> ላይ</a:t>
            </a:r>
            <a:r>
              <a:rPr lang="am-ET" sz="2400" dirty="0" smtClean="0"/>
              <a:t> ነው፡፡ 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am-ET" sz="2400" dirty="0" smtClean="0"/>
              <a:t>ስ</a:t>
            </a:r>
            <a:r>
              <a:rPr lang="en-GB" sz="2400" dirty="0" err="1" smtClean="0"/>
              <a:t>ለሆነ</a:t>
            </a:r>
            <a:r>
              <a:rPr lang="am-ET" sz="2400" dirty="0" smtClean="0"/>
              <a:t>ም</a:t>
            </a:r>
            <a:r>
              <a:rPr lang="en-GB" sz="2400" dirty="0" smtClean="0"/>
              <a:t> </a:t>
            </a:r>
            <a:r>
              <a:rPr lang="en-GB" sz="2400" dirty="0" err="1" smtClean="0"/>
              <a:t>የም</a:t>
            </a:r>
            <a:r>
              <a:rPr lang="am-ET" sz="2400" dirty="0" smtClean="0"/>
              <a:t>ናመ</a:t>
            </a:r>
            <a:r>
              <a:rPr lang="en-GB" sz="2400" dirty="0"/>
              <a:t>ል</a:t>
            </a:r>
            <a:r>
              <a:rPr lang="am-ET" sz="2400" dirty="0" smtClean="0"/>
              <a:t>ከው አም</a:t>
            </a:r>
            <a:r>
              <a:rPr lang="en-GB" sz="2400" dirty="0"/>
              <a:t>ላ</a:t>
            </a:r>
            <a:r>
              <a:rPr lang="am-ET" sz="2400" dirty="0" smtClean="0"/>
              <a:t>ክ ምንነት መስማት፣ ሰምቶም እግ</a:t>
            </a:r>
            <a:r>
              <a:rPr lang="en-GB" sz="2400" dirty="0"/>
              <a:t>ዚ</a:t>
            </a:r>
            <a:r>
              <a:rPr lang="am-ET" sz="2400" dirty="0" smtClean="0"/>
              <a:t>አብሔርነቱን እን</a:t>
            </a:r>
            <a:r>
              <a:rPr lang="en-GB" sz="2400" dirty="0" smtClean="0"/>
              <a:t>ደ</a:t>
            </a:r>
            <a:r>
              <a:rPr lang="am-ET" sz="2400" dirty="0" smtClean="0"/>
              <a:t>ሚገባ መረ</a:t>
            </a:r>
            <a:r>
              <a:rPr lang="en-GB" sz="2400" dirty="0"/>
              <a:t>ዳ</a:t>
            </a:r>
            <a:r>
              <a:rPr lang="am-ET" sz="2400" dirty="0" smtClean="0"/>
              <a:t>ት የምንች</a:t>
            </a:r>
            <a:r>
              <a:rPr lang="en-GB" sz="2400" dirty="0" smtClean="0"/>
              <a:t>ለ</a:t>
            </a:r>
            <a:r>
              <a:rPr lang="am-ET" sz="2400" dirty="0" smtClean="0"/>
              <a:t>ው </a:t>
            </a:r>
            <a:r>
              <a:rPr lang="am-ET" sz="2400" dirty="0" smtClean="0">
                <a:solidFill>
                  <a:srgbClr val="00B050"/>
                </a:solidFill>
              </a:rPr>
              <a:t>በስብከት ነው</a:t>
            </a:r>
            <a:r>
              <a:rPr lang="am-ET" sz="2400" dirty="0" smtClean="0"/>
              <a:t>፡፡ ሮሜ. 10፡10-17</a:t>
            </a:r>
            <a:endParaRPr lang="en-GB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2. ትዕ</a:t>
            </a:r>
            <a:r>
              <a:rPr lang="en-GB" sz="2400" dirty="0" err="1" smtClean="0">
                <a:solidFill>
                  <a:srgbClr val="FF0000"/>
                </a:solidFill>
              </a:rPr>
              <a:t>ዛዘ</a:t>
            </a:r>
            <a:r>
              <a:rPr lang="en-GB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እግ</a:t>
            </a:r>
            <a:r>
              <a:rPr lang="en-GB" sz="2400" dirty="0">
                <a:solidFill>
                  <a:srgbClr val="FF0000"/>
                </a:solidFill>
              </a:rPr>
              <a:t>ዚ</a:t>
            </a:r>
            <a:r>
              <a:rPr lang="am-ET" sz="2400" dirty="0" smtClean="0">
                <a:solidFill>
                  <a:srgbClr val="FF0000"/>
                </a:solidFill>
              </a:rPr>
              <a:t>አብሔር ነው 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 smtClean="0"/>
              <a:t>ጌታችን ኢየሱስ ክርስቶስ </a:t>
            </a:r>
            <a:r>
              <a:rPr lang="en-GB" sz="2400" dirty="0" smtClean="0"/>
              <a:t>ደ</a:t>
            </a:r>
            <a:r>
              <a:rPr lang="am-ET" sz="2400" dirty="0" smtClean="0"/>
              <a:t>ቀ መ</a:t>
            </a:r>
            <a:r>
              <a:rPr lang="en-GB" sz="2400" dirty="0"/>
              <a:t>ዛ</a:t>
            </a:r>
            <a:r>
              <a:rPr lang="am-ET" sz="2400" dirty="0" smtClean="0"/>
              <a:t>ሙርቱን የጠራበትና የመረጠበት </a:t>
            </a:r>
            <a:r>
              <a:rPr lang="en-GB" sz="2400" dirty="0" err="1" smtClean="0"/>
              <a:t>ዓላ</a:t>
            </a:r>
            <a:r>
              <a:rPr lang="am-ET" sz="2400" dirty="0" smtClean="0"/>
              <a:t>ማና የመጨረሻው </a:t>
            </a:r>
            <a:r>
              <a:rPr lang="am-ET" sz="2400" dirty="0" smtClean="0">
                <a:solidFill>
                  <a:srgbClr val="00B050"/>
                </a:solidFill>
              </a:rPr>
              <a:t>ትእ</a:t>
            </a:r>
            <a:r>
              <a:rPr lang="en-GB" sz="2400" dirty="0" err="1" smtClean="0">
                <a:solidFill>
                  <a:srgbClr val="00B050"/>
                </a:solidFill>
              </a:rPr>
              <a:t>ዛዝ</a:t>
            </a:r>
            <a:r>
              <a:rPr lang="am-ET" sz="2400" dirty="0" smtClean="0">
                <a:solidFill>
                  <a:srgbClr val="00B050"/>
                </a:solidFill>
              </a:rPr>
              <a:t> ስብከት ነው</a:t>
            </a:r>
            <a:r>
              <a:rPr lang="am-ET" sz="2400" dirty="0" smtClean="0"/>
              <a:t>፡፡ ማር 16፡15፡፡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3019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የቀጠለ…..</a:t>
            </a:r>
            <a:endParaRPr lang="en-GB" dirty="0">
              <a:latin typeface="VG2 Main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562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am-ET" dirty="0" smtClean="0">
                <a:solidFill>
                  <a:srgbClr val="FF0000"/>
                </a:solidFill>
              </a:rPr>
              <a:t>3. </a:t>
            </a:r>
            <a:r>
              <a:rPr lang="am-ET" sz="2400" dirty="0" smtClean="0">
                <a:solidFill>
                  <a:srgbClr val="FF0000"/>
                </a:solidFill>
              </a:rPr>
              <a:t>ስ</a:t>
            </a:r>
            <a:r>
              <a:rPr lang="en-GB" sz="2400" dirty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እግ</a:t>
            </a:r>
            <a:r>
              <a:rPr lang="en-GB" sz="2400" dirty="0">
                <a:solidFill>
                  <a:srgbClr val="FF0000"/>
                </a:solidFill>
              </a:rPr>
              <a:t>ዚ</a:t>
            </a:r>
            <a:r>
              <a:rPr lang="am-ET" sz="2400" dirty="0" smtClean="0">
                <a:solidFill>
                  <a:srgbClr val="FF0000"/>
                </a:solidFill>
              </a:rPr>
              <a:t>አብሔር የምንመሰክርበት ነው </a:t>
            </a:r>
            <a:endParaRPr lang="en-GB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Ø"/>
            </a:pPr>
            <a:r>
              <a:rPr lang="am-ET" sz="2400" dirty="0" smtClean="0"/>
              <a:t>ምስክርነት ማ</a:t>
            </a:r>
            <a:r>
              <a:rPr lang="en-GB" sz="2400" dirty="0" smtClean="0"/>
              <a:t>ለ</a:t>
            </a:r>
            <a:r>
              <a:rPr lang="am-ET" sz="2400" dirty="0" smtClean="0"/>
              <a:t>ት ያዩትንና የሰሙትን እውነት ያ</a:t>
            </a:r>
            <a:r>
              <a:rPr lang="en-GB" sz="2400" dirty="0"/>
              <a:t>ላ</a:t>
            </a:r>
            <a:r>
              <a:rPr lang="am-ET" sz="2400" dirty="0" smtClean="0"/>
              <a:t>ዩ እን</a:t>
            </a:r>
            <a:r>
              <a:rPr lang="en-GB" sz="2400" dirty="0"/>
              <a:t>ዲ</a:t>
            </a:r>
            <a:r>
              <a:rPr lang="am-ET" sz="2400" dirty="0" smtClean="0"/>
              <a:t>ያዩ፣ </a:t>
            </a:r>
            <a:r>
              <a:rPr lang="am-ET" sz="2400" dirty="0" smtClean="0">
                <a:solidFill>
                  <a:srgbClr val="0070C0"/>
                </a:solidFill>
              </a:rPr>
              <a:t>ያ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ሰሙም እን</a:t>
            </a:r>
            <a:r>
              <a:rPr lang="en-GB" sz="2400" dirty="0">
                <a:solidFill>
                  <a:srgbClr val="0070C0"/>
                </a:solidFill>
              </a:rPr>
              <a:t>ዲ</a:t>
            </a:r>
            <a:r>
              <a:rPr lang="am-ET" sz="2400" dirty="0" smtClean="0">
                <a:solidFill>
                  <a:srgbClr val="0070C0"/>
                </a:solidFill>
              </a:rPr>
              <a:t>ሰሙና እውነት የሆነውን ነገር እን</a:t>
            </a:r>
            <a:r>
              <a:rPr lang="en-GB" sz="2400" dirty="0">
                <a:solidFill>
                  <a:srgbClr val="0070C0"/>
                </a:solidFill>
              </a:rPr>
              <a:t>ዲ</a:t>
            </a:r>
            <a:r>
              <a:rPr lang="am-ET" sz="2400" dirty="0" smtClean="0">
                <a:solidFill>
                  <a:srgbClr val="0070C0"/>
                </a:solidFill>
              </a:rPr>
              <a:t>ያረጋግጡ</a:t>
            </a:r>
            <a:r>
              <a:rPr lang="am-ET" sz="2400" dirty="0" smtClean="0"/>
              <a:t> በሆነው ሁ</a:t>
            </a:r>
            <a:r>
              <a:rPr lang="en-GB" sz="2400" dirty="0"/>
              <a:t>ሉ</a:t>
            </a:r>
            <a:r>
              <a:rPr lang="am-ET" sz="2400" dirty="0" smtClean="0"/>
              <a:t> መናገርና መግ</a:t>
            </a:r>
            <a:r>
              <a:rPr lang="en-GB" sz="2400" dirty="0" smtClean="0"/>
              <a:t>ለ</a:t>
            </a:r>
            <a:r>
              <a:rPr lang="am-ET" sz="2400" dirty="0" smtClean="0"/>
              <a:t>ጽ ነው፡፡ መጥምቀ መ</a:t>
            </a:r>
            <a:r>
              <a:rPr lang="en-GB" sz="2400" dirty="0" smtClean="0"/>
              <a:t>ለ</a:t>
            </a:r>
            <a:r>
              <a:rPr lang="am-ET" sz="2400" dirty="0" smtClean="0"/>
              <a:t>ኮትና ወንጌሊዊው ቅደስ ዮ</a:t>
            </a:r>
            <a:r>
              <a:rPr lang="en-GB" sz="2400" dirty="0" smtClean="0"/>
              <a:t>ሐ</a:t>
            </a:r>
            <a:r>
              <a:rPr lang="am-ET" sz="2400" dirty="0" smtClean="0"/>
              <a:t>ንስ ይህን እውነት መስክ</a:t>
            </a:r>
            <a:r>
              <a:rPr lang="en-GB" sz="2400" dirty="0" smtClean="0"/>
              <a:t>ረ</a:t>
            </a:r>
            <a:r>
              <a:rPr lang="am-ET" sz="2400" dirty="0" smtClean="0"/>
              <a:t>ዋ</a:t>
            </a:r>
            <a:r>
              <a:rPr lang="en-GB" sz="2400" dirty="0"/>
              <a:t>ል</a:t>
            </a:r>
            <a:r>
              <a:rPr lang="am-ET" sz="2400" dirty="0" smtClean="0"/>
              <a:t>፡፡ ጌታም ስ</a:t>
            </a:r>
            <a:r>
              <a:rPr lang="en-GB" sz="2400" dirty="0" smtClean="0"/>
              <a:t>ለ</a:t>
            </a:r>
            <a:r>
              <a:rPr lang="am-ET" sz="2400" dirty="0" smtClean="0"/>
              <a:t> ምስክርነቱ አስተ</a:t>
            </a:r>
            <a:r>
              <a:rPr lang="en-GB" sz="2400" dirty="0" err="1" smtClean="0"/>
              <a:t>ሩዋል</a:t>
            </a:r>
            <a:r>
              <a:rPr lang="am-ET" sz="2400" dirty="0" smtClean="0"/>
              <a:t> ዮ</a:t>
            </a:r>
            <a:r>
              <a:rPr lang="en-GB" sz="2400" dirty="0" smtClean="0"/>
              <a:t>ሐ</a:t>
            </a:r>
            <a:r>
              <a:rPr lang="am-ET" sz="2400" dirty="0" smtClean="0"/>
              <a:t>. 1፡6፣ 1ዮ</a:t>
            </a:r>
            <a:r>
              <a:rPr lang="en-GB" sz="2400" dirty="0" smtClean="0"/>
              <a:t>ሐ</a:t>
            </a:r>
            <a:r>
              <a:rPr lang="am-ET" sz="2400" dirty="0" smtClean="0"/>
              <a:t> 1፡1፣ ማቴ 10፡32/</a:t>
            </a:r>
            <a:endParaRPr lang="en-GB" sz="2400" dirty="0" smtClean="0"/>
          </a:p>
          <a:p>
            <a:pPr marL="0" indent="0"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4. የእግ</a:t>
            </a:r>
            <a:r>
              <a:rPr lang="en-GB" sz="2400" dirty="0">
                <a:solidFill>
                  <a:srgbClr val="FF0000"/>
                </a:solidFill>
              </a:rPr>
              <a:t>ዚ</a:t>
            </a:r>
            <a:r>
              <a:rPr lang="am-ET" sz="2400" dirty="0" smtClean="0">
                <a:solidFill>
                  <a:srgbClr val="FF0000"/>
                </a:solidFill>
              </a:rPr>
              <a:t>አብሔር መንግሥት የምትገ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ጥበት ነው</a:t>
            </a:r>
            <a:r>
              <a:rPr lang="en-GB" sz="2400" dirty="0" smtClean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am-ET" sz="2400" dirty="0" smtClean="0"/>
              <a:t>መንግሥተ ሰማያት እግ</a:t>
            </a:r>
            <a:r>
              <a:rPr lang="en-GB" sz="2400" dirty="0"/>
              <a:t>ዚ</a:t>
            </a:r>
            <a:r>
              <a:rPr lang="am-ET" sz="2400" dirty="0" smtClean="0"/>
              <a:t>አብሔርን </a:t>
            </a:r>
            <a:r>
              <a:rPr lang="en-GB" sz="2400" dirty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ሚወ</a:t>
            </a:r>
            <a:r>
              <a:rPr lang="en-GB" sz="2400" dirty="0">
                <a:solidFill>
                  <a:srgbClr val="00B050"/>
                </a:solidFill>
              </a:rPr>
              <a:t>ዱ</a:t>
            </a:r>
            <a:r>
              <a:rPr lang="am-ET" sz="2400" dirty="0" smtClean="0">
                <a:solidFill>
                  <a:srgbClr val="00B050"/>
                </a:solidFill>
              </a:rPr>
              <a:t>ና እን</a:t>
            </a:r>
            <a:r>
              <a:rPr lang="en-GB" sz="2400" dirty="0" smtClean="0">
                <a:solidFill>
                  <a:srgbClr val="00B050"/>
                </a:solidFill>
              </a:rPr>
              <a:t>ደ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en-GB" sz="2400" dirty="0">
                <a:solidFill>
                  <a:srgbClr val="00B050"/>
                </a:solidFill>
              </a:rPr>
              <a:t>ፈ</a:t>
            </a:r>
            <a:r>
              <a:rPr lang="am-ET" sz="2400" dirty="0" smtClean="0">
                <a:solidFill>
                  <a:srgbClr val="00B050"/>
                </a:solidFill>
              </a:rPr>
              <a:t>ቃ</a:t>
            </a:r>
            <a:r>
              <a:rPr lang="en-GB" sz="2400" dirty="0">
                <a:solidFill>
                  <a:srgbClr val="00B050"/>
                </a:solidFill>
              </a:rPr>
              <a:t>ዱ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en-GB" sz="2400" dirty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ሚኖሩ </a:t>
            </a:r>
            <a:r>
              <a:rPr lang="am-ET" sz="2400" dirty="0" smtClean="0"/>
              <a:t>የተ</a:t>
            </a:r>
            <a:r>
              <a:rPr lang="en-GB" sz="2400" dirty="0" smtClean="0"/>
              <a:t>ዘ</a:t>
            </a:r>
            <a:r>
              <a:rPr lang="am-ET" sz="2400" dirty="0" smtClean="0"/>
              <a:t>ጋጀች ናት፡፡</a:t>
            </a:r>
            <a:endParaRPr lang="en-GB" sz="2400" dirty="0" smtClean="0"/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am-ET" sz="2400" dirty="0" smtClean="0"/>
              <a:t>መንግሥተ ሰማያትም የምትገ</a:t>
            </a:r>
            <a:r>
              <a:rPr lang="en-GB" sz="2400" dirty="0" smtClean="0"/>
              <a:t>ለ</a:t>
            </a:r>
            <a:r>
              <a:rPr lang="am-ET" sz="2400" dirty="0" smtClean="0"/>
              <a:t>ጠው /የመትሰበከው/ በስብከት ብቻ ነው፡፡ማር 1፡21/ </a:t>
            </a:r>
            <a:endParaRPr lang="en-GB" sz="2400" dirty="0"/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§"/>
            </a:pPr>
            <a:r>
              <a:rPr lang="am-ET" sz="2400" dirty="0" smtClean="0"/>
              <a:t>ቅ</a:t>
            </a:r>
            <a:r>
              <a:rPr lang="en-GB" sz="2400" dirty="0"/>
              <a:t>ዱ</a:t>
            </a:r>
            <a:r>
              <a:rPr lang="am-ET" sz="2400" dirty="0" smtClean="0"/>
              <a:t>ስ ጳው</a:t>
            </a:r>
            <a:r>
              <a:rPr lang="en-GB" sz="2400" dirty="0"/>
              <a:t>ሎ</a:t>
            </a:r>
            <a:r>
              <a:rPr lang="am-ET" sz="2400" dirty="0" smtClean="0"/>
              <a:t>ስ ‹ማንም ሳይከ</a:t>
            </a:r>
            <a:r>
              <a:rPr lang="en-GB" sz="2400" dirty="0" smtClean="0"/>
              <a:t>ለ</a:t>
            </a:r>
            <a:r>
              <a:rPr lang="am-ET" sz="2400" dirty="0" smtClean="0"/>
              <a:t>ክ</a:t>
            </a:r>
            <a:r>
              <a:rPr lang="en-GB" sz="2400" dirty="0" smtClean="0"/>
              <a:t>ለ</a:t>
            </a:r>
            <a:r>
              <a:rPr lang="am-ET" sz="2400" dirty="0" smtClean="0"/>
              <a:t>ው</a:t>
            </a:r>
            <a:r>
              <a:rPr lang="en-GB" sz="2400" dirty="0" smtClean="0"/>
              <a:t> </a:t>
            </a:r>
            <a:r>
              <a:rPr lang="am-ET" sz="2400" dirty="0" smtClean="0"/>
              <a:t>የእግ</a:t>
            </a:r>
            <a:r>
              <a:rPr lang="en-GB" sz="2400" dirty="0"/>
              <a:t>ዚ</a:t>
            </a:r>
            <a:r>
              <a:rPr lang="am-ET" sz="2400" dirty="0" smtClean="0"/>
              <a:t>አብሔርን መንግሥት እየሰበከ ስ</a:t>
            </a:r>
            <a:r>
              <a:rPr lang="en-GB" sz="2400" dirty="0" smtClean="0"/>
              <a:t>ለ</a:t>
            </a:r>
            <a:r>
              <a:rPr lang="am-ET" sz="2400" dirty="0" smtClean="0"/>
              <a:t> ጌታ ኢየሱስ ክርሰቶስም እጅግ ገ</a:t>
            </a:r>
            <a:r>
              <a:rPr lang="en-GB" sz="2400" dirty="0"/>
              <a:t>ል</a:t>
            </a:r>
            <a:r>
              <a:rPr lang="am-ET" sz="2400" dirty="0" smtClean="0"/>
              <a:t>ጦ ያስተምር ነበር ተብ</a:t>
            </a:r>
            <a:r>
              <a:rPr lang="en-GB" sz="2400" dirty="0" smtClean="0"/>
              <a:t>ሎ</a:t>
            </a:r>
            <a:r>
              <a:rPr lang="en-GB" sz="2400" dirty="0"/>
              <a:t> </a:t>
            </a:r>
            <a:r>
              <a:rPr lang="am-ET" sz="2400" dirty="0" smtClean="0"/>
              <a:t>ተነግሮ</a:t>
            </a:r>
            <a:r>
              <a:rPr lang="en-GB" sz="2400" dirty="0" smtClean="0"/>
              <a:t>ለ</a:t>
            </a:r>
            <a:r>
              <a:rPr lang="am-ET" sz="2400" dirty="0" smtClean="0"/>
              <a:t>ታ</a:t>
            </a:r>
            <a:r>
              <a:rPr lang="en-GB" sz="2400" dirty="0"/>
              <a:t>ል</a:t>
            </a:r>
            <a:r>
              <a:rPr lang="am-ET" sz="2400" dirty="0" smtClean="0"/>
              <a:t>፡፡ </a:t>
            </a:r>
            <a:r>
              <a:rPr lang="en-GB" sz="2400" dirty="0"/>
              <a:t>ሐ</a:t>
            </a:r>
            <a:r>
              <a:rPr lang="am-ET" sz="2400" dirty="0" smtClean="0"/>
              <a:t>ዋ 28፡41፡፡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526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የቀጠለ…..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5029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en-GB" sz="2400" dirty="0" smtClean="0"/>
              <a:t> </a:t>
            </a:r>
            <a:r>
              <a:rPr lang="am-ET" sz="2400" dirty="0" smtClean="0"/>
              <a:t>ጌታችን ኢየሱስ ክርሰቶስ </a:t>
            </a:r>
            <a:r>
              <a:rPr lang="en-GB" sz="2400" dirty="0" smtClean="0"/>
              <a:t>ደ</a:t>
            </a:r>
            <a:r>
              <a:rPr lang="am-ET" sz="2400" dirty="0" smtClean="0"/>
              <a:t>ቀ መ</a:t>
            </a:r>
            <a:r>
              <a:rPr lang="en-GB" sz="2400" dirty="0"/>
              <a:t>ዛ</a:t>
            </a:r>
            <a:r>
              <a:rPr lang="am-ET" sz="2400" dirty="0" smtClean="0"/>
              <a:t>ሙርቱን በጨ</a:t>
            </a:r>
            <a:r>
              <a:rPr lang="en-GB" sz="2400" dirty="0" smtClean="0"/>
              <a:t>ለ</a:t>
            </a:r>
            <a:r>
              <a:rPr lang="am-ET" sz="2400" dirty="0" smtClean="0"/>
              <a:t>ማ የምንግራችሁን በብርሃን ተናገሩ በጆ</a:t>
            </a:r>
            <a:r>
              <a:rPr lang="en-GB" sz="2400" dirty="0"/>
              <a:t>ሮ</a:t>
            </a:r>
            <a:r>
              <a:rPr lang="am-ET" sz="2400" dirty="0" smtClean="0"/>
              <a:t>ም የምትሰሙትን በሰገነት ስበኩ በማ</a:t>
            </a:r>
            <a:r>
              <a:rPr lang="en-GB" sz="2400" dirty="0" smtClean="0"/>
              <a:t>ለ</a:t>
            </a:r>
            <a:r>
              <a:rPr lang="am-ET" sz="2400" dirty="0" smtClean="0"/>
              <a:t>ት አ</a:t>
            </a:r>
            <a:r>
              <a:rPr lang="en-GB" sz="2400" dirty="0"/>
              <a:t>ዝ</a:t>
            </a:r>
            <a:r>
              <a:rPr lang="am-ET" sz="2400" dirty="0" smtClean="0"/>
              <a:t>ዞቸዋ</a:t>
            </a:r>
            <a:r>
              <a:rPr lang="en-GB" sz="2400" dirty="0"/>
              <a:t>ል</a:t>
            </a:r>
            <a:r>
              <a:rPr lang="am-ET" sz="2400" dirty="0" smtClean="0"/>
              <a:t>፡፡</a:t>
            </a:r>
            <a:r>
              <a:rPr lang="en-US" sz="2400" dirty="0" smtClean="0"/>
              <a:t> </a:t>
            </a:r>
            <a:r>
              <a:rPr lang="en-US" sz="2400" dirty="0" err="1" smtClean="0"/>
              <a:t>ማቴ</a:t>
            </a:r>
            <a:r>
              <a:rPr lang="en-US" sz="2400" dirty="0" smtClean="0"/>
              <a:t> 10</a:t>
            </a:r>
            <a:r>
              <a:rPr lang="en-US" sz="2400" dirty="0" smtClean="0">
                <a:latin typeface="Century Gothic"/>
              </a:rPr>
              <a:t>÷27</a:t>
            </a:r>
            <a:endParaRPr lang="en-GB" sz="2400" dirty="0"/>
          </a:p>
          <a:p>
            <a:pPr algn="just"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am-ET" sz="2400" dirty="0" smtClean="0"/>
              <a:t>በእነ</a:t>
            </a:r>
            <a:r>
              <a:rPr lang="en-GB" sz="2400" dirty="0" smtClean="0"/>
              <a:t>ዚ</a:t>
            </a:r>
            <a:r>
              <a:rPr lang="am-ET" sz="2400" dirty="0" smtClean="0"/>
              <a:t>ህ ነጥቦች መሠረት ስብከት በሦስት የተከ</a:t>
            </a:r>
            <a:r>
              <a:rPr lang="en-GB" sz="2400" dirty="0" err="1" smtClean="0"/>
              <a:t>ፈለ</a:t>
            </a:r>
            <a:r>
              <a:rPr lang="am-ET" sz="2400" dirty="0" smtClean="0"/>
              <a:t> ምሥጢራ</a:t>
            </a:r>
            <a:r>
              <a:rPr lang="en-GB" sz="2400" dirty="0"/>
              <a:t>ዊ</a:t>
            </a:r>
            <a:r>
              <a:rPr lang="am-ET" sz="2400" dirty="0" smtClean="0"/>
              <a:t> ትርጉምን ይ</a:t>
            </a:r>
            <a:r>
              <a:rPr lang="en-GB" sz="2400" dirty="0"/>
              <a:t>ዞ</a:t>
            </a:r>
            <a:r>
              <a:rPr lang="am-ET" sz="2400" dirty="0" smtClean="0"/>
              <a:t> ይገኛ</a:t>
            </a:r>
            <a:r>
              <a:rPr lang="en-GB" sz="2400" dirty="0"/>
              <a:t>ል</a:t>
            </a:r>
            <a:r>
              <a:rPr lang="am-ET" sz="2400" dirty="0" smtClean="0"/>
              <a:t>፡</a:t>
            </a:r>
            <a:r>
              <a:rPr lang="en-GB" sz="2400" dirty="0"/>
              <a:t>፡</a:t>
            </a:r>
            <a:r>
              <a:rPr lang="am-ET" sz="2400" dirty="0" smtClean="0"/>
              <a:t> </a:t>
            </a: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B050"/>
                </a:solidFill>
              </a:rPr>
              <a:t>1. ኬሪግማቲክ </a:t>
            </a:r>
            <a:r>
              <a:rPr lang="am-ET" sz="2400" dirty="0" smtClean="0"/>
              <a:t>፡ የማያምኑ </a:t>
            </a:r>
            <a:r>
              <a:rPr lang="am-ET" sz="2400" dirty="0" smtClean="0">
                <a:solidFill>
                  <a:srgbClr val="FF0000"/>
                </a:solidFill>
              </a:rPr>
              <a:t>አረማውያን</a:t>
            </a:r>
            <a:r>
              <a:rPr lang="am-ET" sz="2400" dirty="0" smtClean="0"/>
              <a:t> ወ</a:t>
            </a:r>
            <a:r>
              <a:rPr lang="en-GB" sz="2400" dirty="0" smtClean="0"/>
              <a:t>ደ</a:t>
            </a:r>
            <a:r>
              <a:rPr lang="am-ET" sz="2400" dirty="0" smtClean="0"/>
              <a:t> እግ</a:t>
            </a:r>
            <a:r>
              <a:rPr lang="en-GB" sz="2400" dirty="0"/>
              <a:t>ዚ</a:t>
            </a:r>
            <a:r>
              <a:rPr lang="am-ET" sz="2400" dirty="0" smtClean="0"/>
              <a:t>አብሔር የምንመ</a:t>
            </a:r>
            <a:r>
              <a:rPr lang="en-GB" sz="2400" dirty="0"/>
              <a:t>ል</a:t>
            </a:r>
            <a:r>
              <a:rPr lang="am-ET" sz="2400" dirty="0" smtClean="0"/>
              <a:t>ስበት</a:t>
            </a: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2. </a:t>
            </a:r>
            <a:r>
              <a:rPr lang="en-GB" sz="2400" dirty="0">
                <a:solidFill>
                  <a:srgbClr val="FF0000"/>
                </a:solidFill>
              </a:rPr>
              <a:t>ዲ</a:t>
            </a:r>
            <a:r>
              <a:rPr lang="am-ET" sz="2400" dirty="0" smtClean="0">
                <a:solidFill>
                  <a:srgbClr val="FF0000"/>
                </a:solidFill>
              </a:rPr>
              <a:t>ያ</a:t>
            </a:r>
            <a:r>
              <a:rPr lang="en-GB" sz="2400" dirty="0">
                <a:solidFill>
                  <a:srgbClr val="FF0000"/>
                </a:solidFill>
              </a:rPr>
              <a:t>ሌ</a:t>
            </a:r>
            <a:r>
              <a:rPr lang="am-ET" sz="2400" dirty="0" smtClean="0">
                <a:solidFill>
                  <a:srgbClr val="FF0000"/>
                </a:solidFill>
              </a:rPr>
              <a:t>ክቴክ</a:t>
            </a:r>
            <a:r>
              <a:rPr lang="am-ET" sz="2400" dirty="0" smtClean="0"/>
              <a:t>፡ </a:t>
            </a:r>
            <a:r>
              <a:rPr lang="am-ET" sz="2400" dirty="0" smtClean="0">
                <a:solidFill>
                  <a:srgbClr val="00B050"/>
                </a:solidFill>
              </a:rPr>
              <a:t>አ</a:t>
            </a:r>
            <a:r>
              <a:rPr lang="en-GB" sz="2400" dirty="0" err="1" smtClean="0">
                <a:solidFill>
                  <a:srgbClr val="00B050"/>
                </a:solidFill>
              </a:rPr>
              <a:t>ዳዲሰ</a:t>
            </a:r>
            <a:r>
              <a:rPr lang="am-ET" sz="2400" dirty="0" smtClean="0">
                <a:solidFill>
                  <a:srgbClr val="00B050"/>
                </a:solidFill>
              </a:rPr>
              <a:t> አማንያንን በእምነት የምናጸናበት </a:t>
            </a:r>
            <a:endParaRPr lang="en-GB" sz="2400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B050"/>
                </a:solidFill>
              </a:rPr>
              <a:t>3. ፕራግማቲክ</a:t>
            </a:r>
            <a:r>
              <a:rPr lang="en-GB" sz="2400" dirty="0" smtClean="0"/>
              <a:t>፡</a:t>
            </a:r>
            <a:r>
              <a:rPr lang="am-ET" sz="2400" dirty="0" smtClean="0"/>
              <a:t> በእምነት፣በእውቀት የበሰ</a:t>
            </a:r>
            <a:r>
              <a:rPr lang="en-GB" sz="2400" dirty="0"/>
              <a:t>ሉ</a:t>
            </a:r>
            <a:r>
              <a:rPr lang="am-ET" sz="2400" dirty="0" smtClean="0"/>
              <a:t>ትን </a:t>
            </a:r>
            <a:r>
              <a:rPr lang="en-GB" sz="2400" dirty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ቅ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ስና ሕይወት የምናበቃበት </a:t>
            </a:r>
            <a:r>
              <a:rPr lang="am-ET" sz="2400" dirty="0" smtClean="0"/>
              <a:t>ስብከት ነው፡፡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3845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prstClr val="black"/>
                </a:solidFill>
              </a:rPr>
              <a:t>የቀጠለ…..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7545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. </a:t>
            </a:r>
            <a:r>
              <a:rPr lang="am-ET" sz="2400" dirty="0">
                <a:solidFill>
                  <a:srgbClr val="FF0000"/>
                </a:solidFill>
              </a:rPr>
              <a:t>የስብከት </a:t>
            </a:r>
            <a:r>
              <a:rPr lang="am-ET" sz="2400" dirty="0" smtClean="0">
                <a:solidFill>
                  <a:srgbClr val="FF0000"/>
                </a:solidFill>
              </a:rPr>
              <a:t>ታሪክ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 smtClean="0"/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ከቅ</a:t>
            </a:r>
            <a:r>
              <a:rPr lang="en-GB" sz="2400" dirty="0" smtClean="0">
                <a:solidFill>
                  <a:srgbClr val="000000"/>
                </a:solidFill>
              </a:rPr>
              <a:t>ዱሳን</a:t>
            </a:r>
            <a:r>
              <a:rPr lang="am-ET" sz="2400" dirty="0" smtClean="0">
                <a:solidFill>
                  <a:srgbClr val="000000"/>
                </a:solidFill>
              </a:rPr>
              <a:t> መጽ</a:t>
            </a:r>
            <a:r>
              <a:rPr lang="en-GB" sz="2400" dirty="0" smtClean="0">
                <a:solidFill>
                  <a:srgbClr val="000000"/>
                </a:solidFill>
              </a:rPr>
              <a:t>ሐፍ</a:t>
            </a:r>
            <a:r>
              <a:rPr lang="am-ET" sz="2400" dirty="0" smtClean="0">
                <a:solidFill>
                  <a:srgbClr val="000000"/>
                </a:solidFill>
              </a:rPr>
              <a:t>ትም </a:t>
            </a:r>
            <a:r>
              <a:rPr lang="am-ET" sz="2400" dirty="0">
                <a:solidFill>
                  <a:srgbClr val="000000"/>
                </a:solidFill>
              </a:rPr>
              <a:t>ሆነ ከታሪክ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ግብት 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ምንረ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የስብከት አጀማመርና </a:t>
            </a:r>
            <a:r>
              <a:rPr lang="am-ET" sz="2400" dirty="0" smtClean="0">
                <a:solidFill>
                  <a:srgbClr val="000000"/>
                </a:solidFill>
              </a:rPr>
              <a:t>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ገት 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r>
              <a:rPr lang="am-ET" sz="2400" dirty="0">
                <a:solidFill>
                  <a:srgbClr val="000000"/>
                </a:solidFill>
              </a:rPr>
              <a:t>፡፡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ሁ </a:t>
            </a:r>
            <a:r>
              <a:rPr lang="am-ET" sz="2400" dirty="0">
                <a:solidFill>
                  <a:srgbClr val="000000"/>
                </a:solidFill>
              </a:rPr>
              <a:t>መሰረት የስብከት አመጣጥ</a:t>
            </a:r>
            <a:r>
              <a:rPr lang="am-ET" sz="2400" dirty="0" smtClean="0">
                <a:solidFill>
                  <a:srgbClr val="000000"/>
                </a:solidFill>
              </a:rPr>
              <a:t>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0070C0"/>
                </a:solidFill>
              </a:rPr>
              <a:t>ከ</a:t>
            </a:r>
            <a:r>
              <a:rPr lang="en-GB" sz="2400" dirty="0" smtClean="0">
                <a:solidFill>
                  <a:srgbClr val="0070C0"/>
                </a:solidFill>
              </a:rPr>
              <a:t>ዓለ</a:t>
            </a:r>
            <a:r>
              <a:rPr lang="am-ET" sz="2400" dirty="0" smtClean="0">
                <a:solidFill>
                  <a:srgbClr val="0070C0"/>
                </a:solidFill>
              </a:rPr>
              <a:t>መ መ</a:t>
            </a:r>
            <a:r>
              <a:rPr lang="en-GB" sz="2400" dirty="0">
                <a:solidFill>
                  <a:srgbClr val="0070C0"/>
                </a:solidFill>
              </a:rPr>
              <a:t>ላ</a:t>
            </a:r>
            <a:r>
              <a:rPr lang="am-ET" sz="2400" dirty="0" smtClean="0">
                <a:solidFill>
                  <a:srgbClr val="0070C0"/>
                </a:solidFill>
              </a:rPr>
              <a:t>እክ</a:t>
            </a:r>
            <a:r>
              <a:rPr lang="en-GB" sz="2400" dirty="0">
                <a:solidFill>
                  <a:srgbClr val="0070C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፡ </a:t>
            </a:r>
            <a:r>
              <a:rPr lang="am-ET" sz="2400" dirty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>
                <a:solidFill>
                  <a:srgbClr val="000000"/>
                </a:solidFill>
              </a:rPr>
              <a:t>እክ</a:t>
            </a:r>
            <a:r>
              <a:rPr lang="en-GB" sz="2400" dirty="0">
                <a:solidFill>
                  <a:srgbClr val="00000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 በተ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ጠሩበት </a:t>
            </a:r>
            <a:r>
              <a:rPr lang="am-ET" sz="2400" dirty="0">
                <a:solidFill>
                  <a:srgbClr val="000000"/>
                </a:solidFill>
              </a:rPr>
              <a:t>በመጀመሪያው ቀን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am-ET" sz="2400" dirty="0">
                <a:solidFill>
                  <a:srgbClr val="000000"/>
                </a:solidFill>
              </a:rPr>
              <a:t> መ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>
                <a:solidFill>
                  <a:srgbClr val="000000"/>
                </a:solidFill>
              </a:rPr>
              <a:t>እክ</a:t>
            </a:r>
            <a:r>
              <a:rPr lang="en-GB" sz="2400" dirty="0">
                <a:solidFill>
                  <a:srgbClr val="00000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 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ቃ </a:t>
            </a:r>
            <a:r>
              <a:rPr lang="am-ET" sz="2400" dirty="0">
                <a:solidFill>
                  <a:srgbClr val="000000"/>
                </a:solidFill>
              </a:rPr>
              <a:t>የነበረው ሳጥናኤሌ </a:t>
            </a:r>
            <a:r>
              <a:rPr lang="am-ET" sz="2400" dirty="0" smtClean="0">
                <a:solidFill>
                  <a:srgbClr val="000000"/>
                </a:solidFill>
              </a:rPr>
              <a:t>የተ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ጠረበትን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am-ET" sz="2400" dirty="0">
                <a:solidFill>
                  <a:srgbClr val="000000"/>
                </a:solidFill>
              </a:rPr>
              <a:t>በመሳት </a:t>
            </a:r>
            <a:r>
              <a:rPr lang="am-ET" sz="2400" dirty="0" smtClean="0">
                <a:solidFill>
                  <a:srgbClr val="000000"/>
                </a:solidFill>
              </a:rPr>
              <a:t>ክህ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ትንና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ሰተኛነትን </a:t>
            </a:r>
            <a:r>
              <a:rPr lang="am-ET" sz="2400" dirty="0">
                <a:solidFill>
                  <a:srgbClr val="000000"/>
                </a:solidFill>
              </a:rPr>
              <a:t>ከራሱ </a:t>
            </a: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 smtClean="0">
                <a:solidFill>
                  <a:srgbClr val="000000"/>
                </a:solidFill>
              </a:rPr>
              <a:t>ፍል</a:t>
            </a:r>
            <a:r>
              <a:rPr lang="am-ET" sz="2400" dirty="0" smtClean="0">
                <a:solidFill>
                  <a:srgbClr val="000000"/>
                </a:solidFill>
              </a:rPr>
              <a:t>ቆ </a:t>
            </a:r>
            <a:r>
              <a:rPr lang="am-ET" sz="2400" dirty="0">
                <a:solidFill>
                  <a:srgbClr val="000000"/>
                </a:solidFill>
              </a:rPr>
              <a:t>እኔ 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ጠርኳችሁ</a:t>
            </a:r>
            <a:r>
              <a:rPr lang="am-ET" sz="2400" dirty="0">
                <a:solidFill>
                  <a:srgbClr val="000000"/>
                </a:solidFill>
              </a:rPr>
              <a:t>› </a:t>
            </a:r>
            <a:r>
              <a:rPr lang="am-ET" sz="2400" dirty="0" smtClean="0">
                <a:solidFill>
                  <a:srgbClr val="FF0000"/>
                </a:solidFill>
              </a:rPr>
              <a:t>ባ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ጊ</a:t>
            </a:r>
            <a:r>
              <a:rPr lang="en-GB" sz="2400" dirty="0">
                <a:solidFill>
                  <a:srgbClr val="FF0000"/>
                </a:solidFill>
              </a:rPr>
              <a:t>ዜ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ቅደስ </a:t>
            </a:r>
            <a:r>
              <a:rPr lang="am-ET" sz="2400" dirty="0" smtClean="0">
                <a:solidFill>
                  <a:srgbClr val="FF0000"/>
                </a:solidFill>
              </a:rPr>
              <a:t>ገብርኤ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‹ንቁም </a:t>
            </a:r>
            <a:r>
              <a:rPr lang="am-ET" sz="2400" dirty="0" smtClean="0">
                <a:solidFill>
                  <a:srgbClr val="FF0000"/>
                </a:solidFill>
              </a:rPr>
              <a:t>በብህ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ዊነ </a:t>
            </a:r>
            <a:r>
              <a:rPr lang="am-ET" sz="2400" dirty="0">
                <a:solidFill>
                  <a:srgbClr val="FF0000"/>
                </a:solidFill>
              </a:rPr>
              <a:t>እስከ </a:t>
            </a:r>
            <a:r>
              <a:rPr lang="am-ET" sz="2400" dirty="0" smtClean="0">
                <a:solidFill>
                  <a:srgbClr val="FF0000"/>
                </a:solidFill>
              </a:rPr>
              <a:t>ንረክ</a:t>
            </a:r>
            <a:r>
              <a:rPr lang="en-GB" sz="2400" dirty="0">
                <a:solidFill>
                  <a:srgbClr val="FF0000"/>
                </a:solidFill>
              </a:rPr>
              <a:t>ቡ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አም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ክነ በማ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ት </a:t>
            </a:r>
            <a:r>
              <a:rPr lang="am-ET" sz="2400" dirty="0">
                <a:solidFill>
                  <a:srgbClr val="FF0000"/>
                </a:solidFill>
              </a:rPr>
              <a:t>መ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>
                <a:solidFill>
                  <a:srgbClr val="FF0000"/>
                </a:solidFill>
              </a:rPr>
              <a:t>እክ</a:t>
            </a:r>
            <a:r>
              <a:rPr lang="en-GB" sz="2400" dirty="0" smtClean="0">
                <a:solidFill>
                  <a:srgbClr val="FF0000"/>
                </a:solidFill>
              </a:rPr>
              <a:t>ት</a:t>
            </a:r>
            <a:r>
              <a:rPr lang="am-ET" sz="2400" dirty="0" smtClean="0">
                <a:solidFill>
                  <a:srgbClr val="FF0000"/>
                </a:solidFill>
              </a:rPr>
              <a:t>ን አጽናንቷ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አረጋግቷ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፡፡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‹ማጽናናት ማረጋጋት› 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ነውና፡፡ ምሳ. 1፡35፣ ኢሳ. 40፡1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3083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prstClr val="black"/>
                </a:solidFill>
              </a:rPr>
              <a:t>የቀጠለ…..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53" y="1143000"/>
            <a:ext cx="9067800" cy="5715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</a:t>
            </a:r>
            <a:r>
              <a:rPr lang="am-ET" sz="2400" dirty="0">
                <a:solidFill>
                  <a:srgbClr val="FF0000"/>
                </a:solidFill>
              </a:rPr>
              <a:t>. በሕገ </a:t>
            </a:r>
            <a:r>
              <a:rPr lang="am-ET" sz="2400" dirty="0" smtClean="0">
                <a:solidFill>
                  <a:srgbClr val="FF0000"/>
                </a:solidFill>
              </a:rPr>
              <a:t>ሌቡና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/>
              <a:t> </a:t>
            </a:r>
            <a:r>
              <a:rPr lang="am-ET" sz="2400" dirty="0"/>
              <a:t>ሕገ ሌቡና </a:t>
            </a:r>
            <a:r>
              <a:rPr lang="am-ET" sz="2400" dirty="0" smtClean="0"/>
              <a:t>የምን</a:t>
            </a:r>
            <a:r>
              <a:rPr lang="en-GB" sz="2400" dirty="0" smtClean="0"/>
              <a:t>ለ</a:t>
            </a:r>
            <a:r>
              <a:rPr lang="am-ET" sz="2400" dirty="0" smtClean="0"/>
              <a:t>ው </a:t>
            </a:r>
            <a:r>
              <a:rPr lang="am-ET" sz="2400" dirty="0" smtClean="0">
                <a:solidFill>
                  <a:srgbClr val="0070C0"/>
                </a:solidFill>
              </a:rPr>
              <a:t>ከአ</a:t>
            </a:r>
            <a:r>
              <a:rPr lang="en-GB" sz="2400" dirty="0" smtClean="0">
                <a:solidFill>
                  <a:srgbClr val="0070C0"/>
                </a:solidFill>
              </a:rPr>
              <a:t>ዳ</a:t>
            </a:r>
            <a:r>
              <a:rPr lang="am-ET" sz="2400" dirty="0" smtClean="0">
                <a:solidFill>
                  <a:srgbClr val="0070C0"/>
                </a:solidFill>
              </a:rPr>
              <a:t>ም </a:t>
            </a:r>
            <a:r>
              <a:rPr lang="am-ET" sz="2400" dirty="0">
                <a:solidFill>
                  <a:srgbClr val="0070C0"/>
                </a:solidFill>
              </a:rPr>
              <a:t>እስከ ሙሴ </a:t>
            </a:r>
            <a:r>
              <a:rPr lang="am-ET" sz="2400" dirty="0" smtClean="0"/>
              <a:t>ያ</a:t>
            </a:r>
            <a:r>
              <a:rPr lang="en-GB" sz="2400" dirty="0" smtClean="0"/>
              <a:t>ለ</a:t>
            </a:r>
            <a:r>
              <a:rPr lang="am-ET" sz="2400" dirty="0" smtClean="0"/>
              <a:t>ው </a:t>
            </a:r>
            <a:r>
              <a:rPr lang="en-GB" sz="2400" dirty="0" smtClean="0"/>
              <a:t>ዘ</a:t>
            </a:r>
            <a:r>
              <a:rPr lang="am-ET" sz="2400" dirty="0" smtClean="0"/>
              <a:t>መነ </a:t>
            </a:r>
            <a:r>
              <a:rPr lang="am-ET" sz="2400" dirty="0"/>
              <a:t>አበው ነው፡፡ </a:t>
            </a:r>
            <a:r>
              <a:rPr lang="am-ET" sz="2400" dirty="0" smtClean="0"/>
              <a:t>በ</a:t>
            </a:r>
            <a:r>
              <a:rPr lang="en-GB" sz="2400" dirty="0"/>
              <a:t>ዚ</a:t>
            </a:r>
            <a:r>
              <a:rPr lang="am-ET" sz="2400" dirty="0" smtClean="0"/>
              <a:t>ህ ጊ</a:t>
            </a:r>
            <a:r>
              <a:rPr lang="en-GB" sz="2400" dirty="0"/>
              <a:t>ዜ</a:t>
            </a:r>
            <a:r>
              <a:rPr lang="am-ET" sz="2400" dirty="0" smtClean="0"/>
              <a:t> </a:t>
            </a:r>
            <a:r>
              <a:rPr lang="am-ET" sz="2400" dirty="0">
                <a:solidFill>
                  <a:srgbClr val="00B050"/>
                </a:solidFill>
              </a:rPr>
              <a:t>ሄኖክ ኃጢአተኞች ከኃጢአታቸው </a:t>
            </a:r>
            <a:r>
              <a:rPr lang="am-ET" sz="2400" dirty="0" smtClean="0">
                <a:solidFill>
                  <a:srgbClr val="00B050"/>
                </a:solidFill>
              </a:rPr>
              <a:t>እን</a:t>
            </a:r>
            <a:r>
              <a:rPr lang="en-GB" sz="2400" dirty="0">
                <a:solidFill>
                  <a:srgbClr val="00B050"/>
                </a:solidFill>
              </a:rPr>
              <a:t>ዲ</a:t>
            </a:r>
            <a:r>
              <a:rPr lang="am-ET" sz="2400" dirty="0" smtClean="0">
                <a:solidFill>
                  <a:srgbClr val="00B050"/>
                </a:solidFill>
              </a:rPr>
              <a:t>መ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ሱ</a:t>
            </a:r>
            <a:r>
              <a:rPr lang="am-ET" sz="2400" dirty="0">
                <a:solidFill>
                  <a:srgbClr val="00B050"/>
                </a:solidFill>
              </a:rPr>
              <a:t>፣ ኖኅም </a:t>
            </a:r>
            <a:r>
              <a:rPr lang="en-GB" sz="2400" dirty="0">
                <a:solidFill>
                  <a:srgbClr val="00B050"/>
                </a:solidFill>
              </a:rPr>
              <a:t>ሊ</a:t>
            </a:r>
            <a:r>
              <a:rPr lang="am-ET" sz="2400" dirty="0" smtClean="0">
                <a:solidFill>
                  <a:srgbClr val="00B050"/>
                </a:solidFill>
              </a:rPr>
              <a:t>መጣ ካ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ው የጥ</a:t>
            </a:r>
            <a:r>
              <a:rPr lang="en-GB" sz="2400" dirty="0">
                <a:solidFill>
                  <a:srgbClr val="00B050"/>
                </a:solidFill>
              </a:rPr>
              <a:t>ፋ</a:t>
            </a:r>
            <a:r>
              <a:rPr lang="am-ET" sz="2400" dirty="0" smtClean="0">
                <a:solidFill>
                  <a:srgbClr val="00B050"/>
                </a:solidFill>
              </a:rPr>
              <a:t>ት ውሃ</a:t>
            </a:r>
            <a:r>
              <a:rPr lang="en-GB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 smtClean="0">
                <a:solidFill>
                  <a:srgbClr val="00B050"/>
                </a:solidFill>
              </a:rPr>
              <a:t>እን</a:t>
            </a:r>
            <a:r>
              <a:rPr lang="en-GB" sz="2400" dirty="0">
                <a:solidFill>
                  <a:srgbClr val="00B050"/>
                </a:solidFill>
              </a:rPr>
              <a:t>ዲ</a:t>
            </a:r>
            <a:r>
              <a:rPr lang="am-ET" sz="2400" dirty="0" smtClean="0">
                <a:solidFill>
                  <a:srgbClr val="00B050"/>
                </a:solidFill>
              </a:rPr>
              <a:t>ያመ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B050"/>
                </a:solidFill>
              </a:rPr>
              <a:t>ጡ</a:t>
            </a:r>
            <a:r>
              <a:rPr lang="am-ET" sz="2400" dirty="0">
                <a:solidFill>
                  <a:srgbClr val="00B050"/>
                </a:solidFill>
              </a:rPr>
              <a:t>፣ አብርሃም </a:t>
            </a:r>
            <a:r>
              <a:rPr lang="am-ET" sz="2400" dirty="0" smtClean="0">
                <a:solidFill>
                  <a:srgbClr val="00B050"/>
                </a:solidFill>
              </a:rPr>
              <a:t>የ</a:t>
            </a:r>
            <a:r>
              <a:rPr lang="en-GB" sz="2400" dirty="0">
                <a:solidFill>
                  <a:srgbClr val="00B050"/>
                </a:solidFill>
              </a:rPr>
              <a:t>ዑ</a:t>
            </a:r>
            <a:r>
              <a:rPr lang="am-ET" sz="2400" dirty="0" smtClean="0">
                <a:solidFill>
                  <a:srgbClr val="00B050"/>
                </a:solidFill>
              </a:rPr>
              <a:t>ር ም</a:t>
            </a:r>
            <a:r>
              <a:rPr lang="en-GB" sz="2400" dirty="0">
                <a:solidFill>
                  <a:srgbClr val="00B050"/>
                </a:solidFill>
              </a:rPr>
              <a:t>ድ</a:t>
            </a:r>
            <a:r>
              <a:rPr lang="am-ET" sz="2400" dirty="0" smtClean="0">
                <a:solidFill>
                  <a:srgbClr val="00B050"/>
                </a:solidFill>
              </a:rPr>
              <a:t>ር </a:t>
            </a:r>
            <a:r>
              <a:rPr lang="am-ET" sz="2400" dirty="0">
                <a:solidFill>
                  <a:srgbClr val="00B050"/>
                </a:solidFill>
              </a:rPr>
              <a:t>ሰዎች ከጣኦት </a:t>
            </a:r>
            <a:r>
              <a:rPr lang="am-ET" sz="2400" dirty="0" smtClean="0">
                <a:solidFill>
                  <a:srgbClr val="00B050"/>
                </a:solidFill>
              </a:rPr>
              <a:t>አም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B050"/>
                </a:solidFill>
              </a:rPr>
              <a:t>ኮ ወ</a:t>
            </a:r>
            <a:r>
              <a:rPr lang="en-GB" sz="2400" dirty="0" smtClean="0">
                <a:solidFill>
                  <a:srgbClr val="00B050"/>
                </a:solidFill>
              </a:rPr>
              <a:t>ደ</a:t>
            </a:r>
            <a:r>
              <a:rPr lang="am-ET" sz="2400" dirty="0" smtClean="0">
                <a:solidFill>
                  <a:srgbClr val="00B050"/>
                </a:solidFill>
              </a:rPr>
              <a:t> እግ</a:t>
            </a:r>
            <a:r>
              <a:rPr lang="en-GB" sz="2400" dirty="0">
                <a:solidFill>
                  <a:srgbClr val="00B050"/>
                </a:solidFill>
              </a:rPr>
              <a:t>ዚ</a:t>
            </a:r>
            <a:r>
              <a:rPr lang="am-ET" sz="2400" dirty="0" smtClean="0">
                <a:solidFill>
                  <a:srgbClr val="00B050"/>
                </a:solidFill>
              </a:rPr>
              <a:t>አብሔር እን</a:t>
            </a:r>
            <a:r>
              <a:rPr lang="en-GB" sz="2400" dirty="0">
                <a:solidFill>
                  <a:srgbClr val="00B050"/>
                </a:solidFill>
              </a:rPr>
              <a:t>ዲ</a:t>
            </a:r>
            <a:r>
              <a:rPr lang="am-ET" sz="2400" dirty="0" smtClean="0">
                <a:solidFill>
                  <a:srgbClr val="00B050"/>
                </a:solidFill>
              </a:rPr>
              <a:t>መ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ሱ ሰብከዋ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smtClean="0">
                <a:solidFill>
                  <a:srgbClr val="00B050"/>
                </a:solidFill>
              </a:rPr>
              <a:t>፡፡ ይሁ </a:t>
            </a:r>
            <a:r>
              <a:rPr lang="am-ET" sz="2400" dirty="0">
                <a:solidFill>
                  <a:srgbClr val="00B050"/>
                </a:solidFill>
              </a:rPr>
              <a:t>14፣ 2ጴጥ 2፡5፣ </a:t>
            </a:r>
            <a:r>
              <a:rPr lang="am-ET" sz="2400" dirty="0" smtClean="0">
                <a:solidFill>
                  <a:srgbClr val="00B050"/>
                </a:solidFill>
              </a:rPr>
              <a:t>ኩ</a:t>
            </a:r>
            <a:r>
              <a:rPr lang="en-GB" sz="2400" dirty="0" smtClean="0">
                <a:solidFill>
                  <a:srgbClr val="00B050"/>
                </a:solidFill>
              </a:rPr>
              <a:t>ፋ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11፡14፡፡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sz="2400" dirty="0">
                <a:solidFill>
                  <a:srgbClr val="FF0000"/>
                </a:solidFill>
              </a:rPr>
              <a:t>3. በሕገ ኦሪት 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ከሙሴ </a:t>
            </a:r>
            <a:r>
              <a:rPr lang="am-ET" sz="2400" dirty="0">
                <a:solidFill>
                  <a:srgbClr val="0070C0"/>
                </a:solidFill>
              </a:rPr>
              <a:t>ጀምሮ እስከ መጥምቀ </a:t>
            </a:r>
            <a:r>
              <a:rPr lang="am-ET" sz="2400" dirty="0" smtClean="0">
                <a:solidFill>
                  <a:srgbClr val="0070C0"/>
                </a:solidFill>
              </a:rPr>
              <a:t>መ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ኮት ቅ</a:t>
            </a:r>
            <a:r>
              <a:rPr lang="en-GB" sz="2400" dirty="0">
                <a:solidFill>
                  <a:srgbClr val="0070C0"/>
                </a:solidFill>
              </a:rPr>
              <a:t>ዱ</a:t>
            </a:r>
            <a:r>
              <a:rPr lang="am-ET" sz="2400" dirty="0" smtClean="0">
                <a:solidFill>
                  <a:srgbClr val="0070C0"/>
                </a:solidFill>
              </a:rPr>
              <a:t>ስ ዮ</a:t>
            </a:r>
            <a:r>
              <a:rPr lang="en-GB" sz="2400" dirty="0" smtClean="0">
                <a:solidFill>
                  <a:srgbClr val="0070C0"/>
                </a:solidFill>
              </a:rPr>
              <a:t>ሐ</a:t>
            </a:r>
            <a:r>
              <a:rPr lang="am-ET" sz="2400" dirty="0" smtClean="0">
                <a:solidFill>
                  <a:srgbClr val="0070C0"/>
                </a:solidFill>
              </a:rPr>
              <a:t>ንስ </a:t>
            </a:r>
            <a:r>
              <a:rPr lang="am-ET" sz="2400" dirty="0" smtClean="0"/>
              <a:t>ያ</a:t>
            </a:r>
            <a:r>
              <a:rPr lang="en-GB" sz="2400" dirty="0" smtClean="0"/>
              <a:t>ለ</a:t>
            </a:r>
            <a:r>
              <a:rPr lang="am-ET" sz="2400" dirty="0" smtClean="0"/>
              <a:t>ው </a:t>
            </a:r>
            <a:r>
              <a:rPr lang="en-GB" sz="2400" dirty="0" smtClean="0"/>
              <a:t>ዘ</a:t>
            </a:r>
            <a:r>
              <a:rPr lang="am-ET" sz="2400" dirty="0" smtClean="0"/>
              <a:t>መን በአጠቃ</a:t>
            </a:r>
            <a:r>
              <a:rPr lang="en-GB" sz="2400" dirty="0"/>
              <a:t>ላ</a:t>
            </a:r>
            <a:r>
              <a:rPr lang="am-ET" sz="2400" dirty="0" smtClean="0"/>
              <a:t>ይ </a:t>
            </a:r>
            <a:r>
              <a:rPr lang="en-GB" sz="2400" dirty="0" smtClean="0"/>
              <a:t>ዘ</a:t>
            </a:r>
            <a:r>
              <a:rPr lang="am-ET" sz="2400" dirty="0" smtClean="0"/>
              <a:t>መነ </a:t>
            </a:r>
            <a:r>
              <a:rPr lang="am-ET" sz="2400" dirty="0"/>
              <a:t>ኦሪት </a:t>
            </a:r>
            <a:r>
              <a:rPr lang="am-ET" sz="2400" dirty="0" smtClean="0"/>
              <a:t>ይባ</a:t>
            </a:r>
            <a:r>
              <a:rPr lang="en-GB" sz="2400" dirty="0" err="1" smtClean="0"/>
              <a:t>ላል</a:t>
            </a:r>
            <a:r>
              <a:rPr lang="am-ET" sz="2400" dirty="0" smtClean="0"/>
              <a:t>፡፡ በ</a:t>
            </a:r>
            <a:r>
              <a:rPr lang="en-GB" sz="2400" dirty="0"/>
              <a:t>ዚ</a:t>
            </a:r>
            <a:r>
              <a:rPr lang="am-ET" sz="2400" dirty="0" smtClean="0"/>
              <a:t>ህ </a:t>
            </a:r>
            <a:r>
              <a:rPr lang="en-GB" sz="2400" dirty="0" smtClean="0"/>
              <a:t>ዘ</a:t>
            </a:r>
            <a:r>
              <a:rPr lang="am-ET" sz="2400" dirty="0" smtClean="0"/>
              <a:t>መን </a:t>
            </a:r>
            <a:r>
              <a:rPr lang="am-ET" sz="2400" dirty="0"/>
              <a:t>የስብከት </a:t>
            </a:r>
            <a:r>
              <a:rPr lang="am-ET" sz="2400" dirty="0" smtClean="0"/>
              <a:t>አገ</a:t>
            </a:r>
            <a:r>
              <a:rPr lang="en-GB" sz="2400" dirty="0"/>
              <a:t>ል</a:t>
            </a:r>
            <a:r>
              <a:rPr lang="am-ET" sz="2400" dirty="0" smtClean="0"/>
              <a:t>ግ</a:t>
            </a:r>
            <a:r>
              <a:rPr lang="en-GB" sz="2400" dirty="0"/>
              <a:t>ሎ</a:t>
            </a:r>
            <a:r>
              <a:rPr lang="am-ET" sz="2400" dirty="0" smtClean="0"/>
              <a:t>ት ያ</a:t>
            </a:r>
            <a:r>
              <a:rPr lang="en-GB" sz="2400" dirty="0" smtClean="0"/>
              <a:t>ደ</a:t>
            </a:r>
            <a:r>
              <a:rPr lang="am-ET" sz="2400" dirty="0" smtClean="0"/>
              <a:t>ገበት</a:t>
            </a:r>
            <a:r>
              <a:rPr lang="am-ET" sz="2400" dirty="0"/>
              <a:t>፣ </a:t>
            </a:r>
            <a:r>
              <a:rPr lang="am-ET" sz="2400" dirty="0" smtClean="0"/>
              <a:t>መጽ</a:t>
            </a:r>
            <a:r>
              <a:rPr lang="en-GB" sz="2400" dirty="0" err="1" smtClean="0"/>
              <a:t>ሐፋ</a:t>
            </a:r>
            <a:r>
              <a:rPr lang="am-ET" sz="2400" dirty="0" smtClean="0"/>
              <a:t>ዊ </a:t>
            </a:r>
            <a:r>
              <a:rPr lang="am-ET" sz="2400" dirty="0"/>
              <a:t>የሆነት </a:t>
            </a:r>
            <a:r>
              <a:rPr lang="am-ET" sz="2400" dirty="0" smtClean="0"/>
              <a:t>እን</a:t>
            </a:r>
            <a:r>
              <a:rPr lang="en-GB" sz="2400" dirty="0" smtClean="0"/>
              <a:t>ደ</a:t>
            </a:r>
            <a:r>
              <a:rPr lang="am-ET" sz="2400" dirty="0" smtClean="0"/>
              <a:t>ሆነ እንገነ</a:t>
            </a:r>
            <a:r>
              <a:rPr lang="en-GB" sz="2400" dirty="0" smtClean="0"/>
              <a:t>ዘ</a:t>
            </a:r>
            <a:r>
              <a:rPr lang="am-ET" sz="2400" dirty="0" smtClean="0"/>
              <a:t>ባ</a:t>
            </a:r>
            <a:r>
              <a:rPr lang="en-GB" sz="2400" dirty="0" smtClean="0"/>
              <a:t>ለ</a:t>
            </a:r>
            <a:r>
              <a:rPr lang="am-ET" sz="2400" dirty="0" smtClean="0"/>
              <a:t>ን</a:t>
            </a:r>
            <a:r>
              <a:rPr lang="am-ET" sz="2400" dirty="0"/>
              <a:t>፡፡ ነቢያት ‹</a:t>
            </a:r>
            <a:r>
              <a:rPr lang="am-ET" sz="2400" dirty="0" smtClean="0"/>
              <a:t>እግ</a:t>
            </a:r>
            <a:r>
              <a:rPr lang="en-GB" sz="2400" dirty="0"/>
              <a:t>ዚ</a:t>
            </a:r>
            <a:r>
              <a:rPr lang="am-ET" sz="2400" dirty="0" smtClean="0"/>
              <a:t>አብሔር እን</a:t>
            </a:r>
            <a:r>
              <a:rPr lang="en-GB" sz="2400" dirty="0"/>
              <a:t>ዲ</a:t>
            </a:r>
            <a:r>
              <a:rPr lang="am-ET" sz="2400" dirty="0" smtClean="0"/>
              <a:t>ህ ይ</a:t>
            </a:r>
            <a:r>
              <a:rPr lang="en-GB" sz="2400" dirty="0" err="1" smtClean="0"/>
              <a:t>ላል</a:t>
            </a:r>
            <a:r>
              <a:rPr lang="am-ET" sz="2400" dirty="0" smtClean="0"/>
              <a:t>› እያ</a:t>
            </a:r>
            <a:r>
              <a:rPr lang="en-GB" sz="2400" dirty="0"/>
              <a:t>ሉ</a:t>
            </a:r>
            <a:r>
              <a:rPr lang="am-ET" sz="2400" dirty="0" smtClean="0"/>
              <a:t> በቃ</a:t>
            </a:r>
            <a:r>
              <a:rPr lang="en-GB" sz="2400" dirty="0"/>
              <a:t>ል</a:t>
            </a:r>
            <a:r>
              <a:rPr lang="am-ET" sz="2400" dirty="0" smtClean="0"/>
              <a:t>ም በጽ</a:t>
            </a:r>
            <a:r>
              <a:rPr lang="en-GB" sz="2400" dirty="0" err="1" smtClean="0"/>
              <a:t>ሑፍ</a:t>
            </a:r>
            <a:r>
              <a:rPr lang="am-ET" sz="2400" dirty="0" smtClean="0"/>
              <a:t>ም ሰብከዋ</a:t>
            </a:r>
            <a:r>
              <a:rPr lang="en-GB" sz="2400" dirty="0"/>
              <a:t>ል</a:t>
            </a:r>
            <a:r>
              <a:rPr lang="am-ET" sz="2400" dirty="0" smtClean="0"/>
              <a:t>፡፡ ሕ</a:t>
            </a:r>
            <a:r>
              <a:rPr lang="en-GB" sz="2400" dirty="0"/>
              <a:t>ዝ</a:t>
            </a:r>
            <a:r>
              <a:rPr lang="am-ET" sz="2400" dirty="0" smtClean="0"/>
              <a:t>በ እስራኤ</a:t>
            </a:r>
            <a:r>
              <a:rPr lang="en-GB" sz="2400" dirty="0"/>
              <a:t>ል</a:t>
            </a:r>
            <a:r>
              <a:rPr lang="am-ET" sz="2400" dirty="0" smtClean="0"/>
              <a:t> </a:t>
            </a:r>
            <a:r>
              <a:rPr lang="am-ET" sz="2400" dirty="0"/>
              <a:t>ከግብጽ ባርነት ነፃ የወጡት በስብከት ነው፡፡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6839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smtClean="0">
                <a:solidFill>
                  <a:prstClr val="black"/>
                </a:solidFill>
              </a:rPr>
              <a:t>የቀጠለ…..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715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  <a:latin typeface="VG2 Main"/>
              </a:rPr>
              <a:t>4</a:t>
            </a:r>
            <a:r>
              <a:rPr lang="am-ET" sz="2400" dirty="0">
                <a:solidFill>
                  <a:srgbClr val="FF0000"/>
                </a:solidFill>
                <a:latin typeface="VG2 Main"/>
              </a:rPr>
              <a:t>. </a:t>
            </a:r>
            <a:r>
              <a:rPr lang="am-ET" sz="2400" dirty="0" smtClean="0">
                <a:solidFill>
                  <a:srgbClr val="FF0000"/>
                </a:solidFill>
              </a:rPr>
              <a:t>በ</a:t>
            </a:r>
            <a:r>
              <a:rPr lang="en-GB" sz="2400" dirty="0" smtClean="0">
                <a:solidFill>
                  <a:srgbClr val="FF0000"/>
                </a:solidFill>
              </a:rPr>
              <a:t>ዘ</a:t>
            </a:r>
            <a:r>
              <a:rPr lang="am-ET" sz="2400" dirty="0" smtClean="0">
                <a:solidFill>
                  <a:srgbClr val="FF0000"/>
                </a:solidFill>
              </a:rPr>
              <a:t>መነ ወንጌ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endParaRPr lang="am-ET" sz="2400" dirty="0">
              <a:solidFill>
                <a:srgbClr val="FF0000"/>
              </a:solidFill>
              <a:latin typeface="VG2 Main"/>
            </a:endParaRPr>
          </a:p>
          <a:p>
            <a:pPr lvl="0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መነ ወንጌ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የምን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 smtClean="0">
                <a:solidFill>
                  <a:srgbClr val="00B050"/>
                </a:solidFill>
              </a:rPr>
              <a:t>የአ</a:t>
            </a:r>
            <a:r>
              <a:rPr lang="en-GB" sz="2400" dirty="0">
                <a:solidFill>
                  <a:srgbClr val="00B050"/>
                </a:solidFill>
              </a:rPr>
              <a:t>ዲ</a:t>
            </a:r>
            <a:r>
              <a:rPr lang="am-ET" sz="2400" dirty="0" smtClean="0">
                <a:solidFill>
                  <a:srgbClr val="00B050"/>
                </a:solidFill>
              </a:rPr>
              <a:t>ስ ኪ</a:t>
            </a:r>
            <a:r>
              <a:rPr lang="en-GB" sz="2400" dirty="0">
                <a:solidFill>
                  <a:srgbClr val="00B050"/>
                </a:solidFill>
              </a:rPr>
              <a:t>ዳ</a:t>
            </a:r>
            <a:r>
              <a:rPr lang="am-ET" sz="2400" dirty="0" smtClean="0">
                <a:solidFill>
                  <a:srgbClr val="00B050"/>
                </a:solidFill>
              </a:rPr>
              <a:t>ንን </a:t>
            </a:r>
            <a:r>
              <a:rPr lang="en-GB" sz="2400" dirty="0">
                <a:solidFill>
                  <a:srgbClr val="00B050"/>
                </a:solidFill>
              </a:rPr>
              <a:t>ዘ</a:t>
            </a:r>
            <a:r>
              <a:rPr lang="am-ET" sz="2400" dirty="0" smtClean="0">
                <a:solidFill>
                  <a:srgbClr val="00B050"/>
                </a:solidFill>
              </a:rPr>
              <a:t>መን </a:t>
            </a:r>
            <a:r>
              <a:rPr lang="am-ET" sz="2400" dirty="0">
                <a:solidFill>
                  <a:srgbClr val="00B050"/>
                </a:solidFill>
              </a:rPr>
              <a:t>ነው</a:t>
            </a:r>
            <a:r>
              <a:rPr lang="am-ET" sz="2400" dirty="0">
                <a:solidFill>
                  <a:srgbClr val="000000"/>
                </a:solidFill>
              </a:rPr>
              <a:t>፡፡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>
                <a:solidFill>
                  <a:srgbClr val="000000"/>
                </a:solidFill>
              </a:rPr>
              <a:t>መነ ወንጌ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የመጀመሪያው </a:t>
            </a:r>
            <a:r>
              <a:rPr lang="am-ET" sz="2400" dirty="0">
                <a:solidFill>
                  <a:srgbClr val="000000"/>
                </a:solidFill>
              </a:rPr>
              <a:t>በር </a:t>
            </a: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ችና መንገ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ጠራጊ ሰባኪ መጥምቀ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ኮት </a:t>
            </a:r>
            <a:r>
              <a:rPr lang="am-ET" sz="2400" dirty="0">
                <a:solidFill>
                  <a:srgbClr val="000000"/>
                </a:solidFill>
              </a:rPr>
              <a:t>ቅደስ </a:t>
            </a: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ንስ </a:t>
            </a:r>
            <a:r>
              <a:rPr lang="am-ET" sz="2400" dirty="0">
                <a:solidFill>
                  <a:srgbClr val="000000"/>
                </a:solidFill>
              </a:rPr>
              <a:t>ነው፡፡ </a:t>
            </a:r>
            <a:r>
              <a:rPr lang="am-ET" sz="2400" dirty="0" smtClean="0">
                <a:solidFill>
                  <a:srgbClr val="000000"/>
                </a:solidFill>
              </a:rPr>
              <a:t>የዮ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ንስ አገ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ግ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ሰማዕትነት </a:t>
            </a:r>
            <a:r>
              <a:rPr lang="am-ET" sz="2400" dirty="0" smtClean="0">
                <a:solidFill>
                  <a:srgbClr val="000000"/>
                </a:solidFill>
              </a:rPr>
              <a:t>ከአ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ስ ኪ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 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ሚቆጠር የመሰከረ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ጌታችን ኢየሱስ ክርስቶስ </a:t>
            </a:r>
            <a:r>
              <a:rPr lang="am-ET" sz="2400" dirty="0" smtClean="0">
                <a:solidFill>
                  <a:srgbClr val="000000"/>
                </a:solidFill>
              </a:rPr>
              <a:t>ነው</a:t>
            </a:r>
            <a:r>
              <a:rPr lang="en-GB" sz="2400" dirty="0" smtClean="0">
                <a:solidFill>
                  <a:srgbClr val="000000"/>
                </a:solidFill>
                <a:latin typeface="VG2 Main"/>
              </a:rPr>
              <a:t>ÝÝ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ማቴ </a:t>
            </a:r>
            <a:r>
              <a:rPr lang="am-ET" sz="2400" dirty="0">
                <a:solidFill>
                  <a:srgbClr val="000000"/>
                </a:solidFill>
                <a:latin typeface="VG2 Main"/>
              </a:rPr>
              <a:t>23</a:t>
            </a:r>
            <a:r>
              <a:rPr lang="am-ET" sz="2400" dirty="0">
                <a:solidFill>
                  <a:srgbClr val="000000"/>
                </a:solidFill>
              </a:rPr>
              <a:t>፡ </a:t>
            </a:r>
            <a:r>
              <a:rPr lang="am-ET" sz="2400" dirty="0" smtClean="0">
                <a:solidFill>
                  <a:srgbClr val="000000"/>
                </a:solidFill>
                <a:latin typeface="VG2 Main"/>
              </a:rPr>
              <a:t>35 </a:t>
            </a:r>
            <a:endParaRPr lang="en-GB" sz="2400" dirty="0">
              <a:solidFill>
                <a:srgbClr val="000000"/>
              </a:solidFill>
              <a:latin typeface="VG2 Main"/>
            </a:endParaRPr>
          </a:p>
          <a:p>
            <a:pPr lvl="0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መንግሥተ </a:t>
            </a:r>
            <a:r>
              <a:rPr lang="am-ET" sz="2400" dirty="0">
                <a:solidFill>
                  <a:srgbClr val="000000"/>
                </a:solidFill>
              </a:rPr>
              <a:t>ሰማያት </a:t>
            </a:r>
            <a:r>
              <a:rPr lang="am-ET" sz="2400" dirty="0" smtClean="0">
                <a:solidFill>
                  <a:srgbClr val="000000"/>
                </a:solidFill>
              </a:rPr>
              <a:t>ቀርባ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ችና ንስ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ግቡ </a:t>
            </a:r>
            <a:r>
              <a:rPr lang="am-ET" sz="2400" dirty="0" smtClean="0">
                <a:solidFill>
                  <a:srgbClr val="000000"/>
                </a:solidFill>
              </a:rPr>
              <a:t>እያ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ክርስቶስንና ክርስትናን ያስተዋወቀ </a:t>
            </a:r>
            <a:r>
              <a:rPr lang="am-ET" sz="2400" dirty="0" smtClean="0">
                <a:solidFill>
                  <a:srgbClr val="FF0000"/>
                </a:solidFill>
              </a:rPr>
              <a:t>ዮ</a:t>
            </a: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ንስ </a:t>
            </a:r>
            <a:r>
              <a:rPr lang="am-ET" sz="2400" dirty="0">
                <a:solidFill>
                  <a:srgbClr val="FF0000"/>
                </a:solidFill>
              </a:rPr>
              <a:t>ነውና፡፡ ማቴ </a:t>
            </a:r>
            <a:r>
              <a:rPr lang="am-ET" sz="2400" dirty="0">
                <a:solidFill>
                  <a:srgbClr val="FF0000"/>
                </a:solidFill>
                <a:latin typeface="VG2 Main"/>
              </a:rPr>
              <a:t>3</a:t>
            </a:r>
            <a:r>
              <a:rPr lang="am-ET" sz="2400" dirty="0">
                <a:solidFill>
                  <a:srgbClr val="FF0000"/>
                </a:solidFill>
              </a:rPr>
              <a:t>፡</a:t>
            </a:r>
            <a:r>
              <a:rPr lang="am-ET" sz="2400" dirty="0">
                <a:solidFill>
                  <a:srgbClr val="FF0000"/>
                </a:solidFill>
                <a:latin typeface="VG2 Main"/>
              </a:rPr>
              <a:t>2</a:t>
            </a:r>
            <a:r>
              <a:rPr lang="am-ET" sz="2400" dirty="0">
                <a:solidFill>
                  <a:srgbClr val="FF0000"/>
                </a:solidFill>
              </a:rPr>
              <a:t> </a:t>
            </a:r>
            <a:endParaRPr lang="en-GB" sz="2400" dirty="0">
              <a:solidFill>
                <a:srgbClr val="FF0000"/>
              </a:solidFill>
            </a:endParaRPr>
          </a:p>
          <a:p>
            <a:pPr lvl="0"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am-ET" sz="2400" dirty="0" smtClean="0"/>
              <a:t>ጌታችን </a:t>
            </a:r>
            <a:r>
              <a:rPr lang="am-ET" sz="2400" dirty="0"/>
              <a:t>ኢየሱስ ክርስቶስ በከተማ በገጠር በተራራ በባሕር </a:t>
            </a:r>
            <a:r>
              <a:rPr lang="en-GB" sz="2400" dirty="0"/>
              <a:t>ዳ</a:t>
            </a:r>
            <a:r>
              <a:rPr lang="am-ET" sz="2400" dirty="0" smtClean="0"/>
              <a:t>ርቻ </a:t>
            </a:r>
            <a:r>
              <a:rPr lang="am-ET" sz="2400" dirty="0"/>
              <a:t>በሠርግና </a:t>
            </a:r>
            <a:r>
              <a:rPr lang="am-ET" sz="2400" dirty="0" smtClean="0"/>
              <a:t>በ</a:t>
            </a:r>
            <a:r>
              <a:rPr lang="en-GB" sz="2400" dirty="0" smtClean="0"/>
              <a:t>ለ</a:t>
            </a:r>
            <a:r>
              <a:rPr lang="am-ET" sz="2400" dirty="0" smtClean="0"/>
              <a:t>ቅሶ </a:t>
            </a:r>
            <a:r>
              <a:rPr lang="am-ET" sz="2400" dirty="0"/>
              <a:t>ቤት </a:t>
            </a:r>
            <a:r>
              <a:rPr lang="am-ET" sz="2400" dirty="0" smtClean="0"/>
              <a:t>በየመንገ</a:t>
            </a:r>
            <a:r>
              <a:rPr lang="en-GB" sz="2400" dirty="0"/>
              <a:t>ዱ</a:t>
            </a:r>
            <a:r>
              <a:rPr lang="am-ET" sz="2400" dirty="0" smtClean="0"/>
              <a:t> ሁ</a:t>
            </a:r>
            <a:r>
              <a:rPr lang="en-GB" sz="2400" dirty="0"/>
              <a:t>ሉ</a:t>
            </a:r>
            <a:r>
              <a:rPr lang="am-ET" sz="2400" dirty="0" smtClean="0"/>
              <a:t> ከሥ</a:t>
            </a:r>
            <a:r>
              <a:rPr lang="en-GB" sz="2400" dirty="0"/>
              <a:t>ፍ</a:t>
            </a:r>
            <a:r>
              <a:rPr lang="am-ET" sz="2400" dirty="0" smtClean="0"/>
              <a:t>ራ ሥ</a:t>
            </a:r>
            <a:r>
              <a:rPr lang="en-GB" sz="2400" dirty="0" err="1" smtClean="0"/>
              <a:t>ፈፍ</a:t>
            </a:r>
            <a:r>
              <a:rPr lang="am-ET" sz="2400" dirty="0" smtClean="0"/>
              <a:t>ራ </a:t>
            </a:r>
            <a:r>
              <a:rPr lang="am-ET" sz="2400" dirty="0"/>
              <a:t>እየተንቀሳቀሰ ‹</a:t>
            </a:r>
            <a:r>
              <a:rPr lang="am-ET" sz="2400" dirty="0" smtClean="0">
                <a:solidFill>
                  <a:srgbClr val="0070C0"/>
                </a:solidFill>
              </a:rPr>
              <a:t>የእግ</a:t>
            </a:r>
            <a:r>
              <a:rPr lang="en-GB" sz="2400" dirty="0">
                <a:solidFill>
                  <a:srgbClr val="0070C0"/>
                </a:solidFill>
              </a:rPr>
              <a:t>ዚ</a:t>
            </a:r>
            <a:r>
              <a:rPr lang="am-ET" sz="2400" dirty="0" smtClean="0">
                <a:solidFill>
                  <a:srgbClr val="0070C0"/>
                </a:solidFill>
              </a:rPr>
              <a:t>አብሔር </a:t>
            </a:r>
            <a:r>
              <a:rPr lang="am-ET" sz="2400" dirty="0">
                <a:solidFill>
                  <a:srgbClr val="0070C0"/>
                </a:solidFill>
              </a:rPr>
              <a:t>መንግሥት </a:t>
            </a:r>
            <a:r>
              <a:rPr lang="am-ET" sz="2400" dirty="0" smtClean="0">
                <a:solidFill>
                  <a:srgbClr val="0070C0"/>
                </a:solidFill>
              </a:rPr>
              <a:t>ወንጌ</a:t>
            </a:r>
            <a:r>
              <a:rPr lang="en-GB" sz="2400" dirty="0" err="1" smtClean="0">
                <a:solidFill>
                  <a:srgbClr val="0070C0"/>
                </a:solidFill>
              </a:rPr>
              <a:t>ልን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 smtClean="0"/>
              <a:t>ሰበከ</a:t>
            </a:r>
            <a:r>
              <a:rPr lang="en-GB" sz="2400" dirty="0" smtClean="0"/>
              <a:t>፡፡ </a:t>
            </a:r>
            <a:r>
              <a:rPr lang="am-ET" sz="2400" dirty="0" smtClean="0"/>
              <a:t>ማር </a:t>
            </a:r>
            <a:r>
              <a:rPr lang="am-ET" sz="2400" dirty="0"/>
              <a:t>1፡14-15)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170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smtClean="0">
                <a:solidFill>
                  <a:srgbClr val="00B050"/>
                </a:solidFill>
              </a:rPr>
              <a:t>የቀጠለ…..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715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ከእርሱ </a:t>
            </a:r>
            <a:r>
              <a:rPr lang="am-ET" sz="2400" dirty="0">
                <a:solidFill>
                  <a:srgbClr val="000000"/>
                </a:solidFill>
              </a:rPr>
              <a:t>ዕርገት </a:t>
            </a:r>
            <a:r>
              <a:rPr lang="am-ET" sz="2400" dirty="0" smtClean="0">
                <a:solidFill>
                  <a:srgbClr val="000000"/>
                </a:solidFill>
              </a:rPr>
              <a:t>በኃ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0000"/>
                </a:solidFill>
              </a:rPr>
              <a:t>ቅደሳን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ዋርያት በተ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ይም </a:t>
            </a:r>
            <a:r>
              <a:rPr lang="am-ET" sz="2400" dirty="0" smtClean="0">
                <a:solidFill>
                  <a:srgbClr val="FF0000"/>
                </a:solidFill>
              </a:rPr>
              <a:t>የተስ</a:t>
            </a:r>
            <a:r>
              <a:rPr lang="en-GB" sz="2400" dirty="0">
                <a:solidFill>
                  <a:srgbClr val="FF0000"/>
                </a:solidFill>
              </a:rPr>
              <a:t>ፋ</a:t>
            </a:r>
            <a:r>
              <a:rPr lang="am-ET" sz="2400" dirty="0" smtClean="0">
                <a:solidFill>
                  <a:srgbClr val="FF0000"/>
                </a:solidFill>
              </a:rPr>
              <a:t>ውን ቃ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ከተቀበ</a:t>
            </a:r>
            <a:r>
              <a:rPr lang="en-GB" sz="2400" dirty="0">
                <a:solidFill>
                  <a:srgbClr val="FF0000"/>
                </a:solidFill>
              </a:rPr>
              <a:t>ሉ</a:t>
            </a:r>
            <a:r>
              <a:rPr lang="am-ET" sz="2400" dirty="0" smtClean="0">
                <a:solidFill>
                  <a:srgbClr val="FF0000"/>
                </a:solidFill>
              </a:rPr>
              <a:t> በኋ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am-ET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በአይሁ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ምኩራብ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በአም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ኮ </a:t>
            </a:r>
            <a:r>
              <a:rPr lang="am-ET" sz="2400" dirty="0">
                <a:solidFill>
                  <a:srgbClr val="000000"/>
                </a:solidFill>
              </a:rPr>
              <a:t>ጣኦታት </a:t>
            </a:r>
            <a:r>
              <a:rPr lang="am-ET" sz="2400" dirty="0" smtClean="0">
                <a:solidFill>
                  <a:srgbClr val="000000"/>
                </a:solidFill>
              </a:rPr>
              <a:t>ቤቶች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 err="1" smtClean="0">
                <a:solidFill>
                  <a:srgbClr val="000000"/>
                </a:solidFill>
              </a:rPr>
              <a:t>ፍልስፍ</a:t>
            </a:r>
            <a:r>
              <a:rPr lang="am-ET" sz="2400" dirty="0" smtClean="0">
                <a:solidFill>
                  <a:srgbClr val="000000"/>
                </a:solidFill>
              </a:rPr>
              <a:t>ና </a:t>
            </a:r>
            <a:r>
              <a:rPr lang="am-ET" sz="2400" dirty="0">
                <a:solidFill>
                  <a:srgbClr val="000000"/>
                </a:solidFill>
              </a:rPr>
              <a:t>ት/ቤቶች እና </a:t>
            </a:r>
            <a:r>
              <a:rPr lang="am-ET" sz="2400" dirty="0" smtClean="0">
                <a:solidFill>
                  <a:srgbClr val="000000"/>
                </a:solidFill>
              </a:rPr>
              <a:t>በየ</a:t>
            </a:r>
            <a:r>
              <a:rPr lang="en-GB" sz="2400" dirty="0" smtClean="0">
                <a:solidFill>
                  <a:srgbClr val="000000"/>
                </a:solidFill>
              </a:rPr>
              <a:t>አደ</a:t>
            </a:r>
            <a:r>
              <a:rPr lang="am-ET" sz="2400" dirty="0" smtClean="0">
                <a:solidFill>
                  <a:srgbClr val="000000"/>
                </a:solidFill>
              </a:rPr>
              <a:t>ባባ</a:t>
            </a:r>
            <a:r>
              <a:rPr lang="en-GB" sz="2400" dirty="0" smtClean="0">
                <a:solidFill>
                  <a:srgbClr val="000000"/>
                </a:solidFill>
              </a:rPr>
              <a:t>ዩ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ቅሶ </a:t>
            </a:r>
            <a:r>
              <a:rPr lang="am-ET" sz="2400" dirty="0">
                <a:solidFill>
                  <a:srgbClr val="000000"/>
                </a:solidFill>
              </a:rPr>
              <a:t>ቤት </a:t>
            </a:r>
            <a:r>
              <a:rPr lang="am-ET" sz="2400" dirty="0" smtClean="0">
                <a:solidFill>
                  <a:srgbClr val="000000"/>
                </a:solidFill>
              </a:rPr>
              <a:t>ከተጋ</a:t>
            </a:r>
            <a:r>
              <a:rPr lang="en-GB" sz="2400" dirty="0" err="1">
                <a:solidFill>
                  <a:srgbClr val="000000"/>
                </a:solidFill>
              </a:rPr>
              <a:t>ድ</a:t>
            </a:r>
            <a:r>
              <a:rPr lang="en-GB" sz="2400" dirty="0" err="1" smtClean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ጋር </a:t>
            </a:r>
            <a:r>
              <a:rPr lang="am-ET" sz="2400" dirty="0" smtClean="0">
                <a:solidFill>
                  <a:srgbClr val="000000"/>
                </a:solidFill>
              </a:rPr>
              <a:t>ሰብከዋ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ዋርያት በኋ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0000"/>
                </a:solidFill>
              </a:rPr>
              <a:t>የእነርሱ ተከታዮች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ዋርያውያን </a:t>
            </a:r>
            <a:r>
              <a:rPr lang="am-ET" sz="2400" dirty="0">
                <a:solidFill>
                  <a:srgbClr val="000000"/>
                </a:solidFill>
              </a:rPr>
              <a:t>አበው ፣ 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መነ </a:t>
            </a:r>
            <a:r>
              <a:rPr lang="am-ET" sz="2400" dirty="0">
                <a:solidFill>
                  <a:srgbClr val="000000"/>
                </a:solidFill>
              </a:rPr>
              <a:t>ሰማዕታት፣ 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መነ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ቃውንትም </a:t>
            </a:r>
            <a:r>
              <a:rPr lang="am-ET" sz="2400" dirty="0">
                <a:solidFill>
                  <a:srgbClr val="000000"/>
                </a:solidFill>
              </a:rPr>
              <a:t>ስብከተ </a:t>
            </a:r>
            <a:r>
              <a:rPr lang="am-ET" sz="2400" dirty="0" smtClean="0">
                <a:solidFill>
                  <a:srgbClr val="000000"/>
                </a:solidFill>
              </a:rPr>
              <a:t>ወንጌ</a:t>
            </a:r>
            <a:r>
              <a:rPr lang="en-GB" sz="2400" dirty="0" smtClean="0">
                <a:solidFill>
                  <a:srgbClr val="000000"/>
                </a:solidFill>
              </a:rPr>
              <a:t>ል፡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  </a:t>
            </a:r>
            <a:r>
              <a:rPr lang="am-ET" sz="2400" dirty="0" smtClean="0">
                <a:solidFill>
                  <a:srgbClr val="00B050"/>
                </a:solidFill>
              </a:rPr>
              <a:t>በቃ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en-GB" sz="2400" dirty="0" smtClean="0">
                <a:solidFill>
                  <a:srgbClr val="00B050"/>
                </a:solidFill>
              </a:rPr>
              <a:t>          </a:t>
            </a:r>
            <a:r>
              <a:rPr lang="am-ET" sz="2400" dirty="0" smtClean="0">
                <a:solidFill>
                  <a:srgbClr val="FF0000"/>
                </a:solidFill>
              </a:rPr>
              <a:t>በጽ</a:t>
            </a:r>
            <a:r>
              <a:rPr lang="en-GB" sz="2400" dirty="0" smtClean="0">
                <a:solidFill>
                  <a:srgbClr val="FF0000"/>
                </a:solidFill>
              </a:rPr>
              <a:t>ሑፍ     </a:t>
            </a:r>
            <a:r>
              <a:rPr lang="am-ET" sz="2400" dirty="0" smtClean="0">
                <a:solidFill>
                  <a:schemeClr val="tx2"/>
                </a:solidFill>
              </a:rPr>
              <a:t>በትርጉም ሥራ</a:t>
            </a:r>
            <a:r>
              <a:rPr lang="en-GB" sz="2400" dirty="0" smtClean="0">
                <a:solidFill>
                  <a:schemeClr val="tx2"/>
                </a:solidFill>
              </a:rPr>
              <a:t>          </a:t>
            </a:r>
            <a:r>
              <a:rPr lang="am-ET" sz="2400" dirty="0" smtClean="0">
                <a:solidFill>
                  <a:srgbClr val="00B0F0"/>
                </a:solidFill>
              </a:rPr>
              <a:t>በ</a:t>
            </a:r>
            <a:r>
              <a:rPr lang="en-GB" sz="2400" dirty="0">
                <a:solidFill>
                  <a:srgbClr val="00B0F0"/>
                </a:solidFill>
              </a:rPr>
              <a:t>ድ</a:t>
            </a:r>
            <a:r>
              <a:rPr lang="am-ET" sz="2400" dirty="0" smtClean="0">
                <a:solidFill>
                  <a:srgbClr val="00B0F0"/>
                </a:solidFill>
              </a:rPr>
              <a:t>ንቃ</a:t>
            </a:r>
            <a:r>
              <a:rPr lang="en-GB" sz="2400" dirty="0" err="1" smtClean="0">
                <a:solidFill>
                  <a:srgbClr val="00B0F0"/>
                </a:solidFill>
              </a:rPr>
              <a:t>ድን</a:t>
            </a:r>
            <a:r>
              <a:rPr lang="am-ET" sz="2400" dirty="0" smtClean="0">
                <a:solidFill>
                  <a:srgbClr val="00B0F0"/>
                </a:solidFill>
              </a:rPr>
              <a:t>ቅ </a:t>
            </a:r>
            <a:r>
              <a:rPr lang="am-ET" sz="2400" dirty="0">
                <a:solidFill>
                  <a:srgbClr val="00B0F0"/>
                </a:solidFill>
              </a:rPr>
              <a:t>ተአምራት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2060"/>
                </a:solidFill>
              </a:rPr>
              <a:t>በክርስቲያኖች የአን</a:t>
            </a:r>
            <a:r>
              <a:rPr lang="en-GB" sz="2400" dirty="0">
                <a:solidFill>
                  <a:srgbClr val="002060"/>
                </a:solidFill>
              </a:rPr>
              <a:t>ድ</a:t>
            </a:r>
            <a:r>
              <a:rPr lang="am-ET" sz="2400" dirty="0" smtClean="0">
                <a:solidFill>
                  <a:srgbClr val="002060"/>
                </a:solidFill>
              </a:rPr>
              <a:t>ነትና የ</a:t>
            </a:r>
            <a:r>
              <a:rPr lang="en-GB" sz="2400" dirty="0">
                <a:solidFill>
                  <a:srgbClr val="002060"/>
                </a:solidFill>
              </a:rPr>
              <a:t>ፍ</a:t>
            </a:r>
            <a:r>
              <a:rPr lang="am-ET" sz="2400" dirty="0" smtClean="0">
                <a:solidFill>
                  <a:srgbClr val="002060"/>
                </a:solidFill>
              </a:rPr>
              <a:t>ቅር ኑሮ</a:t>
            </a:r>
            <a:r>
              <a:rPr lang="en-GB" sz="2400" dirty="0" smtClean="0">
                <a:solidFill>
                  <a:srgbClr val="002060"/>
                </a:solidFill>
              </a:rPr>
              <a:t>                </a:t>
            </a:r>
            <a:r>
              <a:rPr lang="am-ET" sz="2400" dirty="0" smtClean="0">
                <a:solidFill>
                  <a:srgbClr val="FF0000"/>
                </a:solidFill>
              </a:rPr>
              <a:t>በተ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ያዩ ተጋ</a:t>
            </a:r>
            <a:r>
              <a:rPr lang="en-GB" sz="2400" dirty="0">
                <a:solidFill>
                  <a:srgbClr val="FF0000"/>
                </a:solidFill>
              </a:rPr>
              <a:t>ድ</a:t>
            </a:r>
            <a:r>
              <a:rPr lang="am-ET" sz="2400" dirty="0" smtClean="0">
                <a:solidFill>
                  <a:srgbClr val="FF0000"/>
                </a:solidFill>
              </a:rPr>
              <a:t>ልዎች </a:t>
            </a:r>
            <a:r>
              <a:rPr lang="en-GB" sz="2400" dirty="0" smtClean="0">
                <a:solidFill>
                  <a:srgbClr val="FF0000"/>
                </a:solidFill>
              </a:rPr>
              <a:t>ማስፋፋት ችለዋል</a:t>
            </a:r>
            <a:r>
              <a:rPr lang="am-ET" sz="2400" dirty="0" smtClean="0">
                <a:solidFill>
                  <a:srgbClr val="FF0000"/>
                </a:solidFill>
              </a:rPr>
              <a:t>፡፡</a:t>
            </a:r>
            <a:endParaRPr lang="am-ET" sz="2400" dirty="0">
              <a:solidFill>
                <a:srgbClr val="FF0000"/>
              </a:solidFill>
              <a:latin typeface="VG2 Main"/>
            </a:endParaRPr>
          </a:p>
        </p:txBody>
      </p:sp>
    </p:spTree>
    <p:extLst>
      <p:ext uri="{BB962C8B-B14F-4D97-AF65-F5344CB8AC3E}">
        <p14:creationId xmlns:p14="http://schemas.microsoft.com/office/powerpoint/2010/main" val="398684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smtClean="0">
                <a:solidFill>
                  <a:srgbClr val="0070C0"/>
                </a:solidFill>
              </a:rPr>
              <a:t>የቀጠለ…..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715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. </a:t>
            </a:r>
            <a:r>
              <a:rPr lang="am-ET" sz="2400" dirty="0">
                <a:solidFill>
                  <a:srgbClr val="FF0000"/>
                </a:solidFill>
              </a:rPr>
              <a:t>ስብከተ </a:t>
            </a:r>
            <a:r>
              <a:rPr lang="am-ET" sz="2400" dirty="0" smtClean="0">
                <a:solidFill>
                  <a:srgbClr val="FF0000"/>
                </a:solidFill>
              </a:rPr>
              <a:t>ወንጌ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>
                <a:solidFill>
                  <a:srgbClr val="FF0000"/>
                </a:solidFill>
              </a:rPr>
              <a:t> በኢትዮጵያ</a:t>
            </a:r>
            <a:r>
              <a:rPr lang="am-ET" sz="2400" dirty="0" smtClean="0">
                <a:solidFill>
                  <a:srgbClr val="000000"/>
                </a:solidFill>
              </a:rPr>
              <a:t>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ክርስትና 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ኢትዮጵያ የገባው </a:t>
            </a:r>
            <a:r>
              <a:rPr lang="am-ET" sz="2400" dirty="0" smtClean="0">
                <a:solidFill>
                  <a:srgbClr val="000000"/>
                </a:solidFill>
              </a:rPr>
              <a:t>በጀን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ረባው </a:t>
            </a:r>
            <a:r>
              <a:rPr lang="am-ET" sz="2400" dirty="0">
                <a:solidFill>
                  <a:srgbClr val="000000"/>
                </a:solidFill>
              </a:rPr>
              <a:t>አማካይነት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ሆነ </a:t>
            </a:r>
            <a:r>
              <a:rPr lang="am-ET" sz="2400" dirty="0">
                <a:solidFill>
                  <a:srgbClr val="000000"/>
                </a:solidFill>
              </a:rPr>
              <a:t>የታወቀ እውነት ነው፡፡ </a:t>
            </a:r>
            <a:r>
              <a:rPr lang="am-ET" sz="2400" dirty="0" smtClean="0">
                <a:solidFill>
                  <a:srgbClr val="000000"/>
                </a:solidFill>
              </a:rPr>
              <a:t>ይህ 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ግን </a:t>
            </a:r>
            <a:r>
              <a:rPr lang="am-ET" sz="2400" dirty="0" smtClean="0">
                <a:solidFill>
                  <a:srgbClr val="000000"/>
                </a:solidFill>
              </a:rPr>
              <a:t>ቅ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መ </a:t>
            </a:r>
            <a:r>
              <a:rPr lang="am-ET" sz="2400" dirty="0">
                <a:solidFill>
                  <a:srgbClr val="000000"/>
                </a:solidFill>
              </a:rPr>
              <a:t>ክርስትና </a:t>
            </a:r>
            <a:r>
              <a:rPr lang="am-ET" sz="2400" dirty="0" smtClean="0">
                <a:solidFill>
                  <a:srgbClr val="000000"/>
                </a:solidFill>
              </a:rPr>
              <a:t>የብ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ይ ኪ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 ሥር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ተ አም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ኮ 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ኢትዮጵያ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ገባና </a:t>
            </a:r>
            <a:r>
              <a:rPr lang="am-ET" sz="2400" dirty="0">
                <a:solidFill>
                  <a:srgbClr val="000000"/>
                </a:solidFill>
              </a:rPr>
              <a:t>የኦሪት </a:t>
            </a:r>
            <a:r>
              <a:rPr lang="am-ET" sz="2400" dirty="0" smtClean="0">
                <a:solidFill>
                  <a:srgbClr val="000000"/>
                </a:solidFill>
              </a:rPr>
              <a:t>ሥር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ተ አም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ኮ መስ</a:t>
            </a:r>
            <a:r>
              <a:rPr lang="en-GB" sz="2400" dirty="0" err="1" smtClean="0">
                <a:solidFill>
                  <a:srgbClr val="000000"/>
                </a:solidFill>
              </a:rPr>
              <a:t>ፋፋ</a:t>
            </a:r>
            <a:r>
              <a:rPr lang="am-ET" sz="2400" dirty="0" smtClean="0">
                <a:solidFill>
                  <a:srgbClr val="000000"/>
                </a:solidFill>
              </a:rPr>
              <a:t>ቱን ሳን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ነጋ </a:t>
            </a:r>
            <a:r>
              <a:rPr lang="am-ET" sz="2400" dirty="0">
                <a:solidFill>
                  <a:srgbClr val="000000"/>
                </a:solidFill>
              </a:rPr>
              <a:t>ነው፡፡ 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ጃን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ረባው </a:t>
            </a:r>
            <a:r>
              <a:rPr lang="am-ET" sz="2400" dirty="0">
                <a:solidFill>
                  <a:srgbClr val="000000"/>
                </a:solidFill>
              </a:rPr>
              <a:t>ባኮስ </a:t>
            </a:r>
            <a:r>
              <a:rPr lang="am-ET" sz="2400" dirty="0">
                <a:solidFill>
                  <a:srgbClr val="FF0000"/>
                </a:solidFill>
              </a:rPr>
              <a:t>በ35 </a:t>
            </a:r>
            <a:r>
              <a:rPr lang="en-GB" sz="2400" dirty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.ም </a:t>
            </a:r>
            <a:r>
              <a:rPr lang="am-ET" sz="2400" dirty="0">
                <a:solidFill>
                  <a:srgbClr val="FF0000"/>
                </a:solidFill>
              </a:rPr>
              <a:t>ያሰገባውን የምሥራች </a:t>
            </a:r>
            <a:r>
              <a:rPr lang="am-ET" sz="2400" dirty="0" smtClean="0">
                <a:solidFill>
                  <a:srgbClr val="FF0000"/>
                </a:solidFill>
              </a:rPr>
              <a:t>ወንጌ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ያቀጣጠ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ውና ወ</a:t>
            </a:r>
            <a:r>
              <a:rPr lang="en-GB" sz="2400" dirty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ብሔራዊነት 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ረጃ ከ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 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ረገው </a:t>
            </a:r>
            <a:r>
              <a:rPr lang="am-ET" sz="2400" dirty="0">
                <a:solidFill>
                  <a:srgbClr val="000000"/>
                </a:solidFill>
              </a:rPr>
              <a:t>የሥነ </a:t>
            </a:r>
            <a:r>
              <a:rPr lang="am-ET" sz="2400" dirty="0" smtClean="0">
                <a:solidFill>
                  <a:srgbClr val="000000"/>
                </a:solidFill>
              </a:rPr>
              <a:t>ጽ</a:t>
            </a:r>
            <a:r>
              <a:rPr lang="en-GB" sz="2400" dirty="0" smtClean="0">
                <a:solidFill>
                  <a:srgbClr val="000000"/>
                </a:solidFill>
              </a:rPr>
              <a:t>ሑፍ</a:t>
            </a:r>
            <a:r>
              <a:rPr lang="am-ET" sz="2400" dirty="0" smtClean="0">
                <a:solidFill>
                  <a:srgbClr val="000000"/>
                </a:solidFill>
              </a:rPr>
              <a:t> ይ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ት የ</a:t>
            </a:r>
            <a:r>
              <a:rPr lang="en-GB" sz="2400" dirty="0" err="1" smtClean="0">
                <a:solidFill>
                  <a:srgbClr val="000000"/>
                </a:solidFill>
              </a:rPr>
              <a:t>ፊደል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ቅርጽና ሆሄ አሁን </a:t>
            </a:r>
            <a:r>
              <a:rPr lang="am-ET" sz="2400" dirty="0" smtClean="0">
                <a:solidFill>
                  <a:srgbClr val="000000"/>
                </a:solidFill>
              </a:rPr>
              <a:t>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በት 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ረጃ አገሌግ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ት እን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ሰጥ 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ረገው </a:t>
            </a:r>
            <a:r>
              <a:rPr lang="am-ET" sz="2400" dirty="0" smtClean="0">
                <a:solidFill>
                  <a:schemeClr val="tx2"/>
                </a:solidFill>
              </a:rPr>
              <a:t>ቅ</a:t>
            </a:r>
            <a:r>
              <a:rPr lang="en-GB" sz="2400" dirty="0">
                <a:solidFill>
                  <a:schemeClr val="tx2"/>
                </a:solidFill>
              </a:rPr>
              <a:t>ዱ</a:t>
            </a:r>
            <a:r>
              <a:rPr lang="am-ET" sz="2400" dirty="0" smtClean="0">
                <a:solidFill>
                  <a:schemeClr val="tx2"/>
                </a:solidFill>
              </a:rPr>
              <a:t>ስ </a:t>
            </a:r>
            <a:r>
              <a:rPr lang="am-ET" sz="2400" dirty="0">
                <a:solidFill>
                  <a:schemeClr val="tx2"/>
                </a:solidFill>
              </a:rPr>
              <a:t>ፌሬምናጦስ </a:t>
            </a:r>
            <a:r>
              <a:rPr lang="am-ET" sz="2400" dirty="0">
                <a:solidFill>
                  <a:srgbClr val="000000"/>
                </a:solidFill>
              </a:rPr>
              <a:t>ከነገሥታቱ ጋር በመሆን ነው፡፡ እስከ </a:t>
            </a: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መነሣት 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ረስ </a:t>
            </a:r>
            <a:r>
              <a:rPr lang="am-ET" sz="2400" dirty="0">
                <a:solidFill>
                  <a:srgbClr val="000000"/>
                </a:solidFill>
              </a:rPr>
              <a:t>ነገሥታቱ፣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ጠኙ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ሳን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ያሬ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መጻሕ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ትን በመተር</a:t>
            </a:r>
            <a:r>
              <a:rPr lang="en-GB" sz="2400" dirty="0">
                <a:solidFill>
                  <a:srgbClr val="000000"/>
                </a:solidFill>
              </a:rPr>
              <a:t>ጎ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70C0"/>
                </a:solidFill>
              </a:rPr>
              <a:t>ስብከተ </a:t>
            </a:r>
            <a:r>
              <a:rPr lang="am-ET" sz="2400" dirty="0" smtClean="0">
                <a:solidFill>
                  <a:srgbClr val="0070C0"/>
                </a:solidFill>
              </a:rPr>
              <a:t>ወንጌ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ና </a:t>
            </a:r>
            <a:r>
              <a:rPr lang="am-ET" sz="2400" dirty="0">
                <a:solidFill>
                  <a:srgbClr val="0070C0"/>
                </a:solidFill>
              </a:rPr>
              <a:t>የምንኩስና ሕይወት </a:t>
            </a:r>
            <a:r>
              <a:rPr lang="am-ET" sz="2400" dirty="0" smtClean="0">
                <a:solidFill>
                  <a:srgbClr val="0070C0"/>
                </a:solidFill>
              </a:rPr>
              <a:t>እን</a:t>
            </a:r>
            <a:r>
              <a:rPr lang="en-GB" sz="2400" dirty="0">
                <a:solidFill>
                  <a:srgbClr val="0070C0"/>
                </a:solidFill>
              </a:rPr>
              <a:t>ዲ</a:t>
            </a:r>
            <a:r>
              <a:rPr lang="am-ET" sz="2400" dirty="0" smtClean="0">
                <a:solidFill>
                  <a:srgbClr val="0070C0"/>
                </a:solidFill>
              </a:rPr>
              <a:t>ሰ</a:t>
            </a:r>
            <a:r>
              <a:rPr lang="en-GB" sz="2400" dirty="0">
                <a:solidFill>
                  <a:srgbClr val="0070C0"/>
                </a:solidFill>
              </a:rPr>
              <a:t>ፋ</a:t>
            </a:r>
            <a:r>
              <a:rPr lang="am-ET" sz="2400" dirty="0" smtClean="0">
                <a:solidFill>
                  <a:srgbClr val="0070C0"/>
                </a:solidFill>
              </a:rPr>
              <a:t> አ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ርገዋ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2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smtClean="0">
                <a:solidFill>
                  <a:srgbClr val="0070C0"/>
                </a:solidFill>
              </a:rPr>
              <a:t>የቀጠለ…..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4" y="914400"/>
            <a:ext cx="9144000" cy="5943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ከዮ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መነሣት </a:t>
            </a:r>
            <a:r>
              <a:rPr lang="am-ET" sz="2400" dirty="0" smtClean="0">
                <a:solidFill>
                  <a:srgbClr val="000000"/>
                </a:solidFill>
              </a:rPr>
              <a:t>በኃ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FF0000"/>
                </a:solidFill>
              </a:rPr>
              <a:t>ደ</a:t>
            </a:r>
            <a:r>
              <a:rPr lang="am-ET" sz="2400" dirty="0" smtClean="0">
                <a:solidFill>
                  <a:srgbClr val="FF0000"/>
                </a:solidFill>
              </a:rPr>
              <a:t>ብ</a:t>
            </a:r>
            <a:r>
              <a:rPr lang="en-GB" sz="2400" dirty="0" err="1" smtClean="0">
                <a:solidFill>
                  <a:srgbClr val="FF0000"/>
                </a:solidFill>
              </a:rPr>
              <a:t>ዝዞ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የነበረው የስብከተ </a:t>
            </a:r>
            <a:r>
              <a:rPr lang="am-ET" sz="2400" dirty="0" smtClean="0">
                <a:solidFill>
                  <a:srgbClr val="FF0000"/>
                </a:solidFill>
              </a:rPr>
              <a:t>ወንጌ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እንቅስቃሴ ትንሣኤ ያገኘው </a:t>
            </a:r>
            <a:r>
              <a:rPr lang="am-ET" sz="2400" dirty="0">
                <a:solidFill>
                  <a:srgbClr val="00B050"/>
                </a:solidFill>
              </a:rPr>
              <a:t>ወርቃማው </a:t>
            </a:r>
            <a:r>
              <a:rPr lang="am-ET" sz="2400" dirty="0" smtClean="0">
                <a:solidFill>
                  <a:srgbClr val="00B050"/>
                </a:solidFill>
              </a:rPr>
              <a:t>ከሚባ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ው </a:t>
            </a:r>
            <a:r>
              <a:rPr lang="am-ET" sz="2400" dirty="0">
                <a:solidFill>
                  <a:srgbClr val="00B050"/>
                </a:solidFill>
              </a:rPr>
              <a:t>ከ11ኛው እስከ 14ኛው</a:t>
            </a:r>
            <a:r>
              <a:rPr lang="am-ET" sz="2400" dirty="0">
                <a:solidFill>
                  <a:srgbClr val="000000"/>
                </a:solidFill>
              </a:rPr>
              <a:t> በነበረው </a:t>
            </a:r>
            <a:r>
              <a:rPr lang="am-ET" sz="2400" dirty="0" smtClean="0">
                <a:solidFill>
                  <a:srgbClr val="000000"/>
                </a:solidFill>
              </a:rPr>
              <a:t>ክ</a:t>
            </a:r>
            <a:r>
              <a:rPr lang="en-GB" sz="2400" dirty="0" err="1" smtClean="0">
                <a:solidFill>
                  <a:srgbClr val="000000"/>
                </a:solidFill>
              </a:rPr>
              <a:t>ፍለ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መን </a:t>
            </a:r>
            <a:r>
              <a:rPr lang="am-ET" sz="2400" dirty="0">
                <a:solidFill>
                  <a:srgbClr val="000000"/>
                </a:solidFill>
              </a:rPr>
              <a:t>ውስጥ ነው፡፡ 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 </a:t>
            </a:r>
            <a:r>
              <a:rPr lang="en-GB" sz="2400" dirty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መን</a:t>
            </a:r>
            <a:r>
              <a:rPr lang="am-ET" sz="2400" dirty="0">
                <a:solidFill>
                  <a:srgbClr val="000000"/>
                </a:solidFill>
              </a:rPr>
              <a:t>፡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በዮ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ምክንያት </a:t>
            </a:r>
            <a:r>
              <a:rPr lang="am-ET" sz="2400" dirty="0" smtClean="0">
                <a:solidFill>
                  <a:srgbClr val="000000"/>
                </a:solidFill>
              </a:rPr>
              <a:t>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አረማዊነት </a:t>
            </a:r>
            <a:r>
              <a:rPr lang="am-ET" sz="2400" dirty="0" smtClean="0">
                <a:solidFill>
                  <a:srgbClr val="00B050"/>
                </a:solidFill>
              </a:rPr>
              <a:t>ሂ</a:t>
            </a:r>
            <a:r>
              <a:rPr lang="en-GB" sz="2400" dirty="0">
                <a:solidFill>
                  <a:srgbClr val="00B050"/>
                </a:solidFill>
              </a:rPr>
              <a:t>ዶ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የነበረው </a:t>
            </a:r>
            <a:r>
              <a:rPr lang="am-ET" sz="2400" dirty="0" smtClean="0">
                <a:solidFill>
                  <a:srgbClr val="00B050"/>
                </a:solidFill>
              </a:rPr>
              <a:t>ወ</a:t>
            </a:r>
            <a:r>
              <a:rPr lang="en-GB" sz="2400" dirty="0" smtClean="0">
                <a:solidFill>
                  <a:srgbClr val="00B050"/>
                </a:solidFill>
              </a:rPr>
              <a:t>ደ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ክርስትና </a:t>
            </a:r>
            <a:r>
              <a:rPr lang="am-ET" sz="2400" dirty="0" smtClean="0">
                <a:solidFill>
                  <a:srgbClr val="00B050"/>
                </a:solidFill>
              </a:rPr>
              <a:t>ተመ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B050"/>
                </a:solidFill>
              </a:rPr>
              <a:t>ሷ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በርካታ </a:t>
            </a:r>
            <a:r>
              <a:rPr lang="am-ET" sz="2400" dirty="0" smtClean="0">
                <a:solidFill>
                  <a:srgbClr val="0070C0"/>
                </a:solidFill>
              </a:rPr>
              <a:t>መጻሕ</a:t>
            </a:r>
            <a:r>
              <a:rPr lang="en-GB" sz="2400" dirty="0">
                <a:solidFill>
                  <a:srgbClr val="0070C0"/>
                </a:solidFill>
              </a:rPr>
              <a:t>ፍ</a:t>
            </a:r>
            <a:r>
              <a:rPr lang="am-ET" sz="2400" dirty="0" smtClean="0">
                <a:solidFill>
                  <a:srgbClr val="0070C0"/>
                </a:solidFill>
              </a:rPr>
              <a:t>ት ተጽ</a:t>
            </a:r>
            <a:r>
              <a:rPr lang="en-GB" sz="2400" dirty="0" smtClean="0">
                <a:solidFill>
                  <a:srgbClr val="0070C0"/>
                </a:solidFill>
              </a:rPr>
              <a:t>ፈ</a:t>
            </a:r>
            <a:r>
              <a:rPr lang="am-ET" sz="2400" dirty="0" smtClean="0">
                <a:solidFill>
                  <a:srgbClr val="0070C0"/>
                </a:solidFill>
              </a:rPr>
              <a:t>ዋ</a:t>
            </a:r>
            <a:r>
              <a:rPr lang="en-GB" sz="2400" dirty="0" smtClean="0">
                <a:solidFill>
                  <a:srgbClr val="0070C0"/>
                </a:solidFill>
              </a:rPr>
              <a:t>ል</a:t>
            </a:r>
            <a:endParaRPr lang="en-GB" sz="24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ዙ</a:t>
            </a:r>
            <a:r>
              <a:rPr lang="am-ET" sz="2400" dirty="0" smtClean="0">
                <a:solidFill>
                  <a:srgbClr val="000000"/>
                </a:solidFill>
              </a:rPr>
              <a:t> ገ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ማት </a:t>
            </a:r>
            <a:r>
              <a:rPr lang="am-ET" sz="2400" dirty="0" smtClean="0">
                <a:solidFill>
                  <a:srgbClr val="FF0000"/>
                </a:solidFill>
              </a:rPr>
              <a:t>ተገ</a:t>
            </a:r>
            <a:r>
              <a:rPr lang="en-GB" sz="2400" dirty="0">
                <a:solidFill>
                  <a:srgbClr val="FF0000"/>
                </a:solidFill>
              </a:rPr>
              <a:t>ድ</a:t>
            </a:r>
            <a:r>
              <a:rPr lang="am-ET" sz="2400" dirty="0" smtClean="0">
                <a:solidFill>
                  <a:srgbClr val="FF0000"/>
                </a:solidFill>
              </a:rPr>
              <a:t>መዋ</a:t>
            </a:r>
            <a:r>
              <a:rPr lang="en-GB" sz="2400" dirty="0" smtClean="0">
                <a:solidFill>
                  <a:srgbClr val="FF0000"/>
                </a:solidFill>
              </a:rPr>
              <a:t>ል</a:t>
            </a:r>
            <a:endParaRPr lang="en-GB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ሥር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ተ </a:t>
            </a:r>
            <a:r>
              <a:rPr lang="am-ET" sz="2400" dirty="0">
                <a:solidFill>
                  <a:srgbClr val="00B050"/>
                </a:solidFill>
              </a:rPr>
              <a:t>ምንኩስና</a:t>
            </a:r>
            <a:r>
              <a:rPr lang="am-ET" sz="2400" dirty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ተስ</a:t>
            </a:r>
            <a:r>
              <a:rPr lang="en-GB" sz="2400" dirty="0" err="1" smtClean="0">
                <a:solidFill>
                  <a:srgbClr val="000000"/>
                </a:solidFill>
              </a:rPr>
              <a:t>ፋፍ</a:t>
            </a:r>
            <a:r>
              <a:rPr lang="am-ET" sz="2400" dirty="0" smtClean="0">
                <a:solidFill>
                  <a:srgbClr val="000000"/>
                </a:solidFill>
              </a:rPr>
              <a:t>ቷ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ዙ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2060"/>
                </a:solidFill>
              </a:rPr>
              <a:t>የአብነት ትምህርት ቤቶች </a:t>
            </a:r>
            <a:r>
              <a:rPr lang="am-ET" sz="2400" dirty="0" smtClean="0">
                <a:solidFill>
                  <a:srgbClr val="000000"/>
                </a:solidFill>
              </a:rPr>
              <a:t>ተከ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ተው </a:t>
            </a:r>
            <a:r>
              <a:rPr lang="am-ET" sz="2400" dirty="0">
                <a:solidFill>
                  <a:srgbClr val="000000"/>
                </a:solidFill>
              </a:rPr>
              <a:t>የስብከተ </a:t>
            </a:r>
            <a:r>
              <a:rPr lang="am-ET" sz="2400" dirty="0" smtClean="0">
                <a:solidFill>
                  <a:srgbClr val="000000"/>
                </a:solidFill>
              </a:rPr>
              <a:t>ወንጌ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ማዕከ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በመሆን </a:t>
            </a:r>
            <a:r>
              <a:rPr lang="am-ET" sz="2400" dirty="0" smtClean="0">
                <a:solidFill>
                  <a:srgbClr val="000000"/>
                </a:solidFill>
              </a:rPr>
              <a:t>አገ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ግ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ዋ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ንቅ </a:t>
            </a:r>
            <a:r>
              <a:rPr lang="am-ET" sz="2400" dirty="0">
                <a:solidFill>
                  <a:srgbClr val="000000"/>
                </a:solidFill>
              </a:rPr>
              <a:t>የሆነው </a:t>
            </a:r>
            <a:r>
              <a:rPr lang="am-ET" sz="2400" dirty="0" smtClean="0">
                <a:solidFill>
                  <a:srgbClr val="00B050"/>
                </a:solidFill>
              </a:rPr>
              <a:t>የቅ</a:t>
            </a:r>
            <a:r>
              <a:rPr lang="en-GB" sz="2400" dirty="0">
                <a:solidFill>
                  <a:srgbClr val="00B050"/>
                </a:solidFill>
              </a:rPr>
              <a:t>ዱ</a:t>
            </a:r>
            <a:r>
              <a:rPr lang="am-ET" sz="2400" dirty="0" smtClean="0">
                <a:solidFill>
                  <a:srgbClr val="00B050"/>
                </a:solidFill>
              </a:rPr>
              <a:t>ስ </a:t>
            </a:r>
            <a:r>
              <a:rPr lang="en-GB" sz="2400" dirty="0" smtClean="0">
                <a:solidFill>
                  <a:srgbClr val="00B050"/>
                </a:solidFill>
              </a:rPr>
              <a:t>ላሊበላ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ሥራዎች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 err="1" smtClean="0">
                <a:solidFill>
                  <a:srgbClr val="000000"/>
                </a:solidFill>
              </a:rPr>
              <a:t>ዚህ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መን </a:t>
            </a:r>
            <a:r>
              <a:rPr lang="am-ET" sz="2400" dirty="0">
                <a:solidFill>
                  <a:srgbClr val="000000"/>
                </a:solidFill>
              </a:rPr>
              <a:t>ውጤቶች ናቸው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r>
              <a:rPr lang="en-GB" sz="2400" dirty="0" smtClean="0">
                <a:solidFill>
                  <a:srgbClr val="000000"/>
                </a:solidFill>
              </a:rPr>
              <a:t>ወዘተ</a:t>
            </a:r>
          </a:p>
        </p:txBody>
      </p:sp>
    </p:spTree>
    <p:extLst>
      <p:ext uri="{BB962C8B-B14F-4D97-AF65-F5344CB8AC3E}">
        <p14:creationId xmlns:p14="http://schemas.microsoft.com/office/powerpoint/2010/main" val="17539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GB" dirty="0" smtClean="0">
                <a:solidFill>
                  <a:srgbClr val="00B050"/>
                </a:solidFill>
              </a:rPr>
              <a:t>የቀጠለ…..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19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የግራኝ መ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መነሣት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ስብከተ ወንጌ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፣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ክርስትና መ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ከም </a:t>
            </a:r>
            <a:r>
              <a:rPr lang="am-ET" sz="2400" dirty="0">
                <a:solidFill>
                  <a:srgbClr val="000000"/>
                </a:solidFill>
              </a:rPr>
              <a:t>ዋና ምክንያት ነው፡፡ 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መን </a:t>
            </a:r>
            <a:r>
              <a:rPr lang="en-GB" sz="2400" dirty="0" smtClean="0">
                <a:solidFill>
                  <a:srgbClr val="000000"/>
                </a:solidFill>
              </a:rPr>
              <a:t>ብዙ </a:t>
            </a:r>
            <a:r>
              <a:rPr lang="am-ET" sz="2400" dirty="0" smtClean="0">
                <a:solidFill>
                  <a:srgbClr val="000000"/>
                </a:solidFill>
              </a:rPr>
              <a:t>ጥ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FF0000"/>
                </a:solidFill>
              </a:rPr>
              <a:t>በቤተክርስቲያን እና በሀገሪቱ </a:t>
            </a:r>
            <a:r>
              <a:rPr lang="en-GB" sz="2400" dirty="0" smtClean="0">
                <a:solidFill>
                  <a:srgbClr val="FF0000"/>
                </a:solidFill>
              </a:rPr>
              <a:t>ላይ ደ</a:t>
            </a:r>
            <a:r>
              <a:rPr lang="am-ET" sz="2400" dirty="0" smtClean="0">
                <a:solidFill>
                  <a:srgbClr val="FF0000"/>
                </a:solidFill>
              </a:rPr>
              <a:t>ርሷ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 </a:t>
            </a:r>
            <a:r>
              <a:rPr lang="am-ET" sz="2400" dirty="0">
                <a:solidFill>
                  <a:srgbClr val="000000"/>
                </a:solidFill>
              </a:rPr>
              <a:t>አሻራዎቹም 500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መናት </a:t>
            </a:r>
            <a:r>
              <a:rPr lang="am-ET" sz="2400" dirty="0">
                <a:solidFill>
                  <a:srgbClr val="000000"/>
                </a:solidFill>
              </a:rPr>
              <a:t>ተሻግረው 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ሬም 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ረስ </a:t>
            </a:r>
            <a:r>
              <a:rPr lang="am-ET" sz="2400" dirty="0">
                <a:solidFill>
                  <a:srgbClr val="000000"/>
                </a:solidFill>
              </a:rPr>
              <a:t>ተጽእኖ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err="1" smtClean="0">
                <a:solidFill>
                  <a:srgbClr val="000000"/>
                </a:solidFill>
              </a:rPr>
              <a:t>ደፈ</a:t>
            </a:r>
            <a:r>
              <a:rPr lang="am-ET" sz="2400" dirty="0" smtClean="0">
                <a:solidFill>
                  <a:srgbClr val="000000"/>
                </a:solidFill>
              </a:rPr>
              <a:t>ጠሩ </a:t>
            </a:r>
            <a:r>
              <a:rPr lang="am-ET" sz="2400" dirty="0">
                <a:solidFill>
                  <a:srgbClr val="000000"/>
                </a:solidFill>
              </a:rPr>
              <a:t>ነው፡፡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ለምሳሌ</a:t>
            </a:r>
            <a:r>
              <a:rPr lang="am-ET" sz="2400" dirty="0" smtClean="0">
                <a:solidFill>
                  <a:srgbClr val="000000"/>
                </a:solidFill>
              </a:rPr>
              <a:t>፡</a:t>
            </a:r>
            <a:endParaRPr lang="am-ET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70C0"/>
                </a:solidFill>
              </a:rPr>
              <a:t>ሙስ</a:t>
            </a:r>
            <a:r>
              <a:rPr lang="en-GB" sz="2400" dirty="0">
                <a:solidFill>
                  <a:srgbClr val="0070C0"/>
                </a:solidFill>
              </a:rPr>
              <a:t>ሊ</a:t>
            </a:r>
            <a:r>
              <a:rPr lang="am-ET" sz="2400" dirty="0" smtClean="0">
                <a:solidFill>
                  <a:srgbClr val="0070C0"/>
                </a:solidFill>
              </a:rPr>
              <a:t>ምና </a:t>
            </a:r>
            <a:r>
              <a:rPr lang="am-ET" sz="2400" dirty="0">
                <a:solidFill>
                  <a:srgbClr val="0070C0"/>
                </a:solidFill>
              </a:rPr>
              <a:t>ክርስቲያን </a:t>
            </a:r>
            <a:r>
              <a:rPr lang="am-ET" sz="2400" dirty="0" smtClean="0">
                <a:solidFill>
                  <a:srgbClr val="0070C0"/>
                </a:solidFill>
              </a:rPr>
              <a:t>መጋባት</a:t>
            </a:r>
            <a:endParaRPr lang="en-GB" sz="2400" dirty="0" smtClean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የቤተ </a:t>
            </a:r>
            <a:r>
              <a:rPr lang="am-ET" sz="2400" dirty="0">
                <a:solidFill>
                  <a:srgbClr val="000000"/>
                </a:solidFill>
              </a:rPr>
              <a:t>ክህነት የሙያ 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ረጃ 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ቅ 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የአረማዊነት </a:t>
            </a:r>
            <a:r>
              <a:rPr lang="am-ET" sz="2400" dirty="0" smtClean="0">
                <a:solidFill>
                  <a:srgbClr val="FF0000"/>
                </a:solidFill>
              </a:rPr>
              <a:t>ባሕ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መቀ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ቀ</a:t>
            </a:r>
            <a:r>
              <a:rPr lang="en-GB" sz="2400" dirty="0" smtClean="0">
                <a:solidFill>
                  <a:srgbClr val="FF0000"/>
                </a:solidFill>
              </a:rPr>
              <a:t>ል</a:t>
            </a:r>
            <a:endParaRPr lang="en-GB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ንስ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አባት </a:t>
            </a:r>
            <a:r>
              <a:rPr lang="am-ET" sz="2400" dirty="0" smtClean="0">
                <a:solidFill>
                  <a:srgbClr val="000000"/>
                </a:solidFill>
              </a:rPr>
              <a:t>መኖር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ምክረ ካህን ፣ </a:t>
            </a:r>
            <a:r>
              <a:rPr lang="am-ET" sz="2400" dirty="0" smtClean="0">
                <a:solidFill>
                  <a:srgbClr val="FF0000"/>
                </a:solidFill>
              </a:rPr>
              <a:t>ያ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ሥር</a:t>
            </a:r>
            <a:r>
              <a:rPr lang="en-GB" sz="2400" dirty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ተ ተክ</a:t>
            </a:r>
            <a:r>
              <a:rPr lang="en-GB" sz="2400" dirty="0" err="1" smtClean="0">
                <a:solidFill>
                  <a:srgbClr val="FF0000"/>
                </a:solidFill>
              </a:rPr>
              <a:t>ሊል</a:t>
            </a:r>
            <a:r>
              <a:rPr lang="am-ET" sz="2400" dirty="0" smtClean="0">
                <a:solidFill>
                  <a:srgbClr val="FF0000"/>
                </a:solidFill>
              </a:rPr>
              <a:t> መጋባት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B050"/>
                </a:solidFill>
              </a:rPr>
              <a:t>ብ</a:t>
            </a:r>
            <a:r>
              <a:rPr lang="en-GB" sz="2400" dirty="0">
                <a:solidFill>
                  <a:srgbClr val="00B050"/>
                </a:solidFill>
              </a:rPr>
              <a:t>ዙ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ሚስቶች ማግባት፣ ዕቁባት ማስቀመጥና </a:t>
            </a:r>
            <a:r>
              <a:rPr lang="am-ET" sz="2400" dirty="0" smtClean="0">
                <a:solidFill>
                  <a:srgbClr val="00B050"/>
                </a:solidFill>
              </a:rPr>
              <a:t>የ</a:t>
            </a:r>
            <a:r>
              <a:rPr lang="en-GB" sz="2400" dirty="0" err="1" smtClean="0">
                <a:solidFill>
                  <a:srgbClr val="00B050"/>
                </a:solidFill>
              </a:rPr>
              <a:t>ዝሙ</a:t>
            </a:r>
            <a:r>
              <a:rPr lang="am-ET" sz="2400" dirty="0" smtClean="0">
                <a:solidFill>
                  <a:srgbClr val="00B050"/>
                </a:solidFill>
              </a:rPr>
              <a:t>ት መስ</a:t>
            </a:r>
            <a:r>
              <a:rPr lang="en-GB" sz="2400" dirty="0" smtClean="0">
                <a:solidFill>
                  <a:srgbClr val="00B050"/>
                </a:solidFill>
              </a:rPr>
              <a:t>ፋፋ</a:t>
            </a:r>
            <a:r>
              <a:rPr lang="am-ET" sz="2400" dirty="0" smtClean="0">
                <a:solidFill>
                  <a:srgbClr val="00B050"/>
                </a:solidFill>
              </a:rPr>
              <a:t>ት </a:t>
            </a:r>
            <a:r>
              <a:rPr lang="am-ET" sz="2400" dirty="0">
                <a:solidFill>
                  <a:srgbClr val="00B050"/>
                </a:solidFill>
              </a:rPr>
              <a:t>፡፡</a:t>
            </a:r>
            <a:endParaRPr lang="en-GB" sz="24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am-ET" sz="4900" dirty="0" smtClean="0">
                <a:solidFill>
                  <a:srgbClr val="00B0F0"/>
                </a:solidFill>
              </a:rPr>
              <a:t>2</a:t>
            </a:r>
            <a:r>
              <a:rPr lang="am-ET" sz="4900" dirty="0">
                <a:solidFill>
                  <a:srgbClr val="00B0F0"/>
                </a:solidFill>
              </a:rPr>
              <a:t>. </a:t>
            </a:r>
            <a:r>
              <a:rPr lang="en-GB" dirty="0">
                <a:solidFill>
                  <a:srgbClr val="00B0F0"/>
                </a:solidFill>
              </a:rPr>
              <a:t>ለ</a:t>
            </a:r>
            <a:r>
              <a:rPr lang="am-ET" dirty="0" smtClean="0">
                <a:solidFill>
                  <a:srgbClr val="00B0F0"/>
                </a:solidFill>
              </a:rPr>
              <a:t>ሰባኪው የሚያስ</a:t>
            </a:r>
            <a:r>
              <a:rPr lang="en-GB" dirty="0" smtClean="0">
                <a:solidFill>
                  <a:srgbClr val="00B0F0"/>
                </a:solidFill>
              </a:rPr>
              <a:t>ፈል</a:t>
            </a:r>
            <a:r>
              <a:rPr lang="am-ET" dirty="0" smtClean="0">
                <a:solidFill>
                  <a:srgbClr val="00B0F0"/>
                </a:solidFill>
              </a:rPr>
              <a:t>ገው ምን</a:t>
            </a:r>
            <a:r>
              <a:rPr lang="en-GB" dirty="0">
                <a:solidFill>
                  <a:srgbClr val="00B0F0"/>
                </a:solidFill>
              </a:rPr>
              <a:t>ድ</a:t>
            </a:r>
            <a:r>
              <a:rPr lang="am-ET" dirty="0" smtClean="0">
                <a:solidFill>
                  <a:srgbClr val="00B0F0"/>
                </a:solidFill>
              </a:rPr>
              <a:t>ን </a:t>
            </a:r>
            <a:r>
              <a:rPr lang="am-ET" dirty="0">
                <a:solidFill>
                  <a:srgbClr val="00B0F0"/>
                </a:solidFill>
              </a:rPr>
              <a:t>ነው </a:t>
            </a:r>
            <a:r>
              <a:rPr lang="am-ET" dirty="0" smtClean="0">
                <a:solidFill>
                  <a:srgbClr val="00B0F0"/>
                </a:solidFill>
              </a:rPr>
              <a:t>?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943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ነቢያት 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ሕ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ቡ ከመ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ካቸው በ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 smtClean="0">
                <a:solidFill>
                  <a:srgbClr val="FF0000"/>
                </a:solidFill>
              </a:rPr>
              <a:t>ስ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ሚሄ</a:t>
            </a:r>
            <a:r>
              <a:rPr lang="en-GB" sz="2400" dirty="0">
                <a:solidFill>
                  <a:srgbClr val="FF0000"/>
                </a:solidFill>
              </a:rPr>
              <a:t>ዱ</a:t>
            </a:r>
            <a:r>
              <a:rPr lang="am-ET" sz="2400" dirty="0" smtClean="0">
                <a:solidFill>
                  <a:srgbClr val="FF0000"/>
                </a:solidFill>
              </a:rPr>
              <a:t>በት ጉ</a:t>
            </a:r>
            <a:r>
              <a:rPr lang="en-GB" sz="2400" dirty="0">
                <a:solidFill>
                  <a:srgbClr val="FF0000"/>
                </a:solidFill>
              </a:rPr>
              <a:t>ዳ</a:t>
            </a:r>
            <a:r>
              <a:rPr lang="am-ET" sz="2400" dirty="0" smtClean="0">
                <a:solidFill>
                  <a:srgbClr val="FF0000"/>
                </a:solidFill>
              </a:rPr>
              <a:t>ይ </a:t>
            </a:r>
            <a:r>
              <a:rPr lang="am-ET" sz="2400" dirty="0" smtClean="0">
                <a:solidFill>
                  <a:srgbClr val="000000"/>
                </a:solidFill>
              </a:rPr>
              <a:t>በሕ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0000"/>
                </a:solidFill>
              </a:rPr>
              <a:t>በራዕይ </a:t>
            </a:r>
            <a:r>
              <a:rPr lang="am-ET" sz="2400" dirty="0" smtClean="0">
                <a:solidFill>
                  <a:srgbClr val="000000"/>
                </a:solidFill>
              </a:rPr>
              <a:t>በተ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ያዩ መንገ</a:t>
            </a:r>
            <a:r>
              <a:rPr lang="en-GB" sz="2400" dirty="0">
                <a:solidFill>
                  <a:srgbClr val="000000"/>
                </a:solidFill>
              </a:rPr>
              <a:t>ዶ</a:t>
            </a:r>
            <a:r>
              <a:rPr lang="am-ET" sz="2400" dirty="0" smtClean="0">
                <a:solidFill>
                  <a:srgbClr val="000000"/>
                </a:solidFill>
              </a:rPr>
              <a:t>ች ተገ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ጦ 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am-ET" sz="2400" dirty="0">
                <a:solidFill>
                  <a:srgbClr val="000000"/>
                </a:solidFill>
              </a:rPr>
              <a:t>ያነጋግራቸውና </a:t>
            </a:r>
            <a:r>
              <a:rPr lang="am-ET" sz="2400" dirty="0" smtClean="0">
                <a:solidFill>
                  <a:srgbClr val="000000"/>
                </a:solidFill>
              </a:rPr>
              <a:t>ተ</a:t>
            </a:r>
            <a:r>
              <a:rPr lang="en-US" sz="2400" dirty="0" smtClean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ኳቸውን ይ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ጽሙ </a:t>
            </a:r>
            <a:r>
              <a:rPr lang="am-ET" sz="2400" dirty="0">
                <a:solidFill>
                  <a:srgbClr val="000000"/>
                </a:solidFill>
              </a:rPr>
              <a:t>ነበር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ዋርያትም 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ዓለ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0000"/>
                </a:solidFill>
              </a:rPr>
              <a:t>የምሥራቹን </a:t>
            </a:r>
            <a:r>
              <a:rPr lang="am-ET" sz="2400" dirty="0" smtClean="0">
                <a:solidFill>
                  <a:srgbClr val="000000"/>
                </a:solidFill>
              </a:rPr>
              <a:t>ወንጌ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ይ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ው ከመሄ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ቸው በ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70C0"/>
                </a:solidFill>
              </a:rPr>
              <a:t>ሦስት </a:t>
            </a:r>
            <a:r>
              <a:rPr lang="en-GB" sz="2400" dirty="0">
                <a:solidFill>
                  <a:srgbClr val="0070C0"/>
                </a:solidFill>
              </a:rPr>
              <a:t>ዓ</a:t>
            </a:r>
            <a:r>
              <a:rPr lang="am-ET" sz="2400" dirty="0" smtClean="0">
                <a:solidFill>
                  <a:srgbClr val="0070C0"/>
                </a:solidFill>
              </a:rPr>
              <a:t>መት ተምረዋ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፡፡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ስለዚህ ሰባኪዉ፡-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B050"/>
                </a:solidFill>
              </a:rPr>
              <a:t>ሀ</a:t>
            </a:r>
            <a:r>
              <a:rPr lang="am-ET" sz="2400" dirty="0">
                <a:solidFill>
                  <a:srgbClr val="00B050"/>
                </a:solidFill>
              </a:rPr>
              <a:t>. </a:t>
            </a:r>
            <a:r>
              <a:rPr lang="am-ET" sz="2400" dirty="0" smtClean="0">
                <a:solidFill>
                  <a:srgbClr val="00B050"/>
                </a:solidFill>
              </a:rPr>
              <a:t>ትምህርት</a:t>
            </a:r>
            <a:r>
              <a:rPr lang="en-US" sz="2400" dirty="0" smtClean="0">
                <a:solidFill>
                  <a:srgbClr val="00B050"/>
                </a:solidFill>
              </a:rPr>
              <a:t>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err="1"/>
              <a:t>ዮሐንስ</a:t>
            </a:r>
            <a:r>
              <a:rPr lang="en-US" sz="2400" dirty="0"/>
              <a:t> </a:t>
            </a:r>
            <a:r>
              <a:rPr lang="en-US" sz="2400" dirty="0" err="1"/>
              <a:t>ደቀ</a:t>
            </a:r>
            <a:r>
              <a:rPr lang="en-US" sz="2400" dirty="0"/>
              <a:t> </a:t>
            </a:r>
            <a:r>
              <a:rPr lang="en-US" sz="2400" dirty="0" err="1"/>
              <a:t>መዛሙርቱን</a:t>
            </a:r>
            <a:r>
              <a:rPr lang="en-US" sz="2400" dirty="0"/>
              <a:t> </a:t>
            </a:r>
            <a:r>
              <a:rPr lang="en-US" sz="2400" dirty="0" err="1"/>
              <a:t>እንዳስተማረ</a:t>
            </a:r>
            <a:r>
              <a:rPr lang="en-US" sz="2400" dirty="0"/>
              <a:t> ‹</a:t>
            </a:r>
            <a:r>
              <a:rPr lang="en-US" sz="2400" dirty="0" err="1"/>
              <a:t>እንጸልይ</a:t>
            </a:r>
            <a:r>
              <a:rPr lang="en-US" sz="2400" dirty="0"/>
              <a:t> </a:t>
            </a:r>
            <a:r>
              <a:rPr lang="en-US" sz="2400" dirty="0" err="1"/>
              <a:t>ዘንድ</a:t>
            </a:r>
            <a:r>
              <a:rPr lang="en-US" sz="2400" dirty="0"/>
              <a:t> </a:t>
            </a:r>
            <a:r>
              <a:rPr lang="en-US" sz="2400" dirty="0" err="1"/>
              <a:t>አስተምረን</a:t>
            </a:r>
            <a:r>
              <a:rPr lang="en-US" sz="2400" dirty="0"/>
              <a:t>› </a:t>
            </a:r>
            <a:r>
              <a:rPr lang="en-US" sz="2400" dirty="0" err="1"/>
              <a:t>ብለው</a:t>
            </a:r>
            <a:r>
              <a:rPr lang="en-US" sz="2400" dirty="0"/>
              <a:t> </a:t>
            </a:r>
            <a:r>
              <a:rPr lang="en-US" sz="2400" dirty="0" err="1"/>
              <a:t>ለጠየቁት</a:t>
            </a:r>
            <a:r>
              <a:rPr lang="en-US" sz="2400" dirty="0"/>
              <a:t> ሉቃ.11፡1 </a:t>
            </a:r>
            <a:r>
              <a:rPr lang="en-US" sz="2400" dirty="0" err="1"/>
              <a:t>የተሰጣቸው</a:t>
            </a:r>
            <a:r>
              <a:rPr lang="en-US" sz="2400" dirty="0"/>
              <a:t> </a:t>
            </a:r>
            <a:r>
              <a:rPr lang="en-US" sz="2400" dirty="0" err="1"/>
              <a:t>መልስ</a:t>
            </a:r>
            <a:r>
              <a:rPr lang="en-US" sz="2400" dirty="0"/>
              <a:t> </a:t>
            </a:r>
            <a:r>
              <a:rPr lang="en-US" sz="2400" dirty="0" err="1"/>
              <a:t>አባታችን</a:t>
            </a:r>
            <a:r>
              <a:rPr lang="en-US" sz="2400" dirty="0"/>
              <a:t> </a:t>
            </a:r>
            <a:r>
              <a:rPr lang="en-US" sz="2400" dirty="0" err="1"/>
              <a:t>ሆይ</a:t>
            </a:r>
            <a:r>
              <a:rPr lang="en-US" sz="2400" dirty="0"/>
              <a:t> </a:t>
            </a:r>
            <a:r>
              <a:rPr lang="en-US" sz="2400" dirty="0" err="1"/>
              <a:t>በሰማያት</a:t>
            </a:r>
            <a:r>
              <a:rPr lang="en-US" sz="2400" dirty="0"/>
              <a:t> </a:t>
            </a:r>
            <a:r>
              <a:rPr lang="en-US" sz="2400" dirty="0" err="1"/>
              <a:t>የምትኖር</a:t>
            </a:r>
            <a:r>
              <a:rPr lang="en-US" sz="2400" dirty="0"/>
              <a:t> </a:t>
            </a:r>
            <a:r>
              <a:rPr lang="en-US" sz="2400" dirty="0" err="1"/>
              <a:t>የሚለው</a:t>
            </a:r>
            <a:r>
              <a:rPr lang="en-US" sz="2400" dirty="0"/>
              <a:t> </a:t>
            </a:r>
            <a:r>
              <a:rPr lang="en-US" sz="2400" dirty="0" err="1"/>
              <a:t>የዘውትር</a:t>
            </a:r>
            <a:r>
              <a:rPr lang="en-US" sz="2400" dirty="0"/>
              <a:t> </a:t>
            </a:r>
            <a:r>
              <a:rPr lang="en-US" sz="2400" dirty="0" err="1"/>
              <a:t>ጸሎት</a:t>
            </a:r>
            <a:r>
              <a:rPr lang="en-US" sz="2400" dirty="0"/>
              <a:t> </a:t>
            </a:r>
            <a:r>
              <a:rPr lang="en-US" sz="2400" dirty="0" err="1"/>
              <a:t>ነው</a:t>
            </a:r>
            <a:r>
              <a:rPr lang="en-US" sz="2400" dirty="0"/>
              <a:t>፡፡</a:t>
            </a:r>
            <a:r>
              <a:rPr lang="en-US" sz="2400" dirty="0" err="1"/>
              <a:t>ይህም</a:t>
            </a:r>
            <a:r>
              <a:rPr lang="en-US" sz="2400" dirty="0"/>
              <a:t> </a:t>
            </a:r>
            <a:r>
              <a:rPr lang="en-US" sz="2400" dirty="0" err="1"/>
              <a:t>ማለት</a:t>
            </a:r>
            <a:r>
              <a:rPr lang="en-US" sz="2400" dirty="0"/>
              <a:t> </a:t>
            </a:r>
            <a:r>
              <a:rPr lang="en-US" sz="2400" dirty="0" err="1"/>
              <a:t>ሰባኪው</a:t>
            </a:r>
            <a:r>
              <a:rPr lang="en-US" sz="2400" dirty="0"/>
              <a:t> </a:t>
            </a:r>
            <a:r>
              <a:rPr lang="en-US" sz="2400" dirty="0" err="1"/>
              <a:t>በየትኛውም</a:t>
            </a:r>
            <a:r>
              <a:rPr lang="en-US" sz="2400" dirty="0"/>
              <a:t> </a:t>
            </a:r>
            <a:r>
              <a:rPr lang="en-US" sz="2400" dirty="0" err="1"/>
              <a:t>ደረጃና</a:t>
            </a:r>
            <a:r>
              <a:rPr lang="en-US" sz="2400" dirty="0"/>
              <a:t> </a:t>
            </a:r>
            <a:r>
              <a:rPr lang="en-US" sz="2400" dirty="0" err="1"/>
              <a:t>ሁኔታ</a:t>
            </a:r>
            <a:r>
              <a:rPr lang="en-US" sz="2400" dirty="0"/>
              <a:t> </a:t>
            </a:r>
            <a:r>
              <a:rPr lang="en-US" sz="2400" dirty="0" err="1"/>
              <a:t>ውስጥ</a:t>
            </a:r>
            <a:r>
              <a:rPr lang="en-US" sz="2400" dirty="0"/>
              <a:t> </a:t>
            </a:r>
            <a:r>
              <a:rPr lang="en-US" sz="2400" dirty="0" err="1"/>
              <a:t>ቢሆን</a:t>
            </a:r>
            <a:r>
              <a:rPr lang="en-US" sz="2400" dirty="0"/>
              <a:t> </a:t>
            </a:r>
            <a:r>
              <a:rPr lang="en-US" sz="2400" dirty="0" err="1"/>
              <a:t>በሁሉም</a:t>
            </a:r>
            <a:r>
              <a:rPr lang="en-US" sz="2400" dirty="0"/>
              <a:t> </a:t>
            </a:r>
            <a:r>
              <a:rPr lang="en-US" sz="2400" dirty="0" err="1"/>
              <a:t>መንገድ</a:t>
            </a:r>
            <a:r>
              <a:rPr lang="en-US" sz="2400" dirty="0"/>
              <a:t> </a:t>
            </a:r>
            <a:r>
              <a:rPr lang="en-US" sz="2400" dirty="0" err="1"/>
              <a:t>ቃለ</a:t>
            </a:r>
            <a:r>
              <a:rPr lang="en-US" sz="2400" dirty="0"/>
              <a:t> </a:t>
            </a:r>
            <a:r>
              <a:rPr lang="en-US" sz="2400" dirty="0" err="1"/>
              <a:t>እግዚአብሔር</a:t>
            </a:r>
            <a:r>
              <a:rPr lang="en-US" sz="2400" dirty="0"/>
              <a:t> </a:t>
            </a:r>
            <a:r>
              <a:rPr lang="en-US" sz="2400" dirty="0" err="1"/>
              <a:t>የተማረ</a:t>
            </a:r>
            <a:r>
              <a:rPr lang="en-US" sz="2400" dirty="0"/>
              <a:t>፣ </a:t>
            </a:r>
            <a:r>
              <a:rPr lang="en-US" sz="2400" dirty="0" err="1"/>
              <a:t>ለመማር</a:t>
            </a:r>
            <a:r>
              <a:rPr lang="en-US" sz="2400" dirty="0"/>
              <a:t> </a:t>
            </a:r>
            <a:r>
              <a:rPr lang="en-US" sz="2400" dirty="0" err="1"/>
              <a:t>የተዘጋጀ</a:t>
            </a:r>
            <a:r>
              <a:rPr lang="en-US" sz="2400" dirty="0"/>
              <a:t>፣ </a:t>
            </a:r>
            <a:r>
              <a:rPr lang="en-US" sz="2400" dirty="0" err="1"/>
              <a:t>ሊሆን</a:t>
            </a:r>
            <a:r>
              <a:rPr lang="en-US" sz="2400" dirty="0"/>
              <a:t> </a:t>
            </a:r>
            <a:r>
              <a:rPr lang="en-US" sz="2400" dirty="0" err="1"/>
              <a:t>ይገባል</a:t>
            </a:r>
            <a:r>
              <a:rPr lang="en-US" sz="2400" dirty="0"/>
              <a:t>፡፡ </a:t>
            </a:r>
            <a:endParaRPr lang="en-GB" sz="24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3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15400" cy="5867400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GB" dirty="0">
                <a:solidFill>
                  <a:srgbClr val="00B050"/>
                </a:solidFill>
              </a:rPr>
              <a:t>ለ</a:t>
            </a:r>
            <a:r>
              <a:rPr lang="am-ET" sz="4500" dirty="0">
                <a:solidFill>
                  <a:srgbClr val="00B050"/>
                </a:solidFill>
              </a:rPr>
              <a:t>. </a:t>
            </a:r>
            <a:r>
              <a:rPr lang="am-ET" sz="5900" dirty="0">
                <a:solidFill>
                  <a:srgbClr val="00B050"/>
                </a:solidFill>
              </a:rPr>
              <a:t>በክርስቲያናዊ ሕይወት </a:t>
            </a:r>
            <a:r>
              <a:rPr lang="am-ET" sz="5900" dirty="0" smtClean="0">
                <a:solidFill>
                  <a:srgbClr val="00B050"/>
                </a:solidFill>
              </a:rPr>
              <a:t>መኖር</a:t>
            </a:r>
            <a:r>
              <a:rPr lang="en-US" sz="5900" dirty="0" smtClean="0">
                <a:solidFill>
                  <a:srgbClr val="00B050"/>
                </a:solidFill>
              </a:rPr>
              <a:t>፡-</a:t>
            </a:r>
            <a:r>
              <a:rPr lang="en-US" sz="5900" dirty="0"/>
              <a:t>1ጢሞ 3፡5 </a:t>
            </a:r>
            <a:r>
              <a:rPr lang="en-US" sz="5900" dirty="0" err="1" smtClean="0"/>
              <a:t>ሰው</a:t>
            </a:r>
            <a:r>
              <a:rPr lang="en-US" sz="5900" dirty="0" smtClean="0"/>
              <a:t> </a:t>
            </a:r>
            <a:r>
              <a:rPr lang="en-US" sz="5900" dirty="0" err="1" smtClean="0"/>
              <a:t>ግን</a:t>
            </a:r>
            <a:r>
              <a:rPr lang="en-US" sz="5900" dirty="0" smtClean="0"/>
              <a:t> </a:t>
            </a:r>
            <a:r>
              <a:rPr lang="en-US" sz="5900" dirty="0" err="1" smtClean="0"/>
              <a:t>የራሱን</a:t>
            </a:r>
            <a:r>
              <a:rPr lang="en-US" sz="5900" dirty="0" smtClean="0"/>
              <a:t> </a:t>
            </a:r>
            <a:r>
              <a:rPr lang="en-US" sz="5900" dirty="0" err="1" smtClean="0"/>
              <a:t>ቤት</a:t>
            </a:r>
            <a:r>
              <a:rPr lang="en-US" sz="5900" dirty="0" smtClean="0"/>
              <a:t> </a:t>
            </a:r>
            <a:r>
              <a:rPr lang="en-US" sz="5900" dirty="0" err="1" smtClean="0"/>
              <a:t>እንዲያስተዳድር</a:t>
            </a:r>
            <a:r>
              <a:rPr lang="en-US" sz="5900" dirty="0" smtClean="0"/>
              <a:t> </a:t>
            </a:r>
            <a:r>
              <a:rPr lang="en-US" sz="5900" dirty="0" err="1" smtClean="0"/>
              <a:t>ባያውቅ</a:t>
            </a:r>
            <a:r>
              <a:rPr lang="en-US" sz="5900" dirty="0" smtClean="0"/>
              <a:t> </a:t>
            </a:r>
            <a:r>
              <a:rPr lang="en-US" sz="5900" dirty="0" err="1" smtClean="0"/>
              <a:t>የእግዚአብሔርን</a:t>
            </a:r>
            <a:r>
              <a:rPr lang="en-US" sz="5900" dirty="0" smtClean="0"/>
              <a:t> </a:t>
            </a:r>
            <a:r>
              <a:rPr lang="en-US" sz="5900" dirty="0" err="1" smtClean="0"/>
              <a:t>ቤተ</a:t>
            </a:r>
            <a:r>
              <a:rPr lang="en-US" sz="5900" dirty="0" smtClean="0"/>
              <a:t> </a:t>
            </a:r>
            <a:r>
              <a:rPr lang="en-US" sz="5900" dirty="0" err="1" smtClean="0"/>
              <a:t>ክርስቲያን</a:t>
            </a:r>
            <a:r>
              <a:rPr lang="en-US" sz="5900" dirty="0" smtClean="0"/>
              <a:t> </a:t>
            </a:r>
            <a:r>
              <a:rPr lang="en-US" sz="5900" dirty="0" err="1" smtClean="0"/>
              <a:t>እንዴት</a:t>
            </a:r>
            <a:r>
              <a:rPr lang="en-US" sz="5900" dirty="0" smtClean="0"/>
              <a:t> </a:t>
            </a:r>
            <a:r>
              <a:rPr lang="en-US" sz="5900" dirty="0" err="1" smtClean="0"/>
              <a:t>ይጠብቃታል</a:t>
            </a:r>
            <a:r>
              <a:rPr lang="en-US" sz="5900" dirty="0" smtClean="0">
                <a:latin typeface="Century Gothic"/>
              </a:rPr>
              <a:t>? </a:t>
            </a:r>
            <a:r>
              <a:rPr lang="en-US" sz="5900" dirty="0" err="1" smtClean="0"/>
              <a:t>እንደተባለ</a:t>
            </a:r>
            <a:r>
              <a:rPr lang="en-US" sz="5900" dirty="0" smtClean="0"/>
              <a:t> </a:t>
            </a:r>
            <a:r>
              <a:rPr lang="en-US" sz="5900" dirty="0" err="1"/>
              <a:t>የእግዚአብሔር</a:t>
            </a:r>
            <a:r>
              <a:rPr lang="en-US" sz="5900" dirty="0"/>
              <a:t> </a:t>
            </a:r>
            <a:r>
              <a:rPr lang="en-US" sz="5900" dirty="0" err="1"/>
              <a:t>ሕዝብ</a:t>
            </a:r>
            <a:r>
              <a:rPr lang="en-US" sz="5900" dirty="0"/>
              <a:t> </a:t>
            </a:r>
            <a:r>
              <a:rPr lang="en-US" sz="5900" dirty="0" err="1"/>
              <a:t>የሚያገለግል</a:t>
            </a:r>
            <a:r>
              <a:rPr lang="en-US" sz="5900" dirty="0"/>
              <a:t> ፣ </a:t>
            </a:r>
            <a:r>
              <a:rPr lang="en-US" sz="5900" dirty="0" err="1"/>
              <a:t>ክርስቶስ</a:t>
            </a:r>
            <a:r>
              <a:rPr lang="en-US" sz="5900" dirty="0"/>
              <a:t> </a:t>
            </a:r>
            <a:r>
              <a:rPr lang="en-US" sz="5900" dirty="0" err="1"/>
              <a:t>የሰበከውን</a:t>
            </a:r>
            <a:r>
              <a:rPr lang="en-US" sz="5900" dirty="0"/>
              <a:t> </a:t>
            </a:r>
            <a:r>
              <a:rPr lang="en-US" sz="5900" dirty="0" err="1"/>
              <a:t>ቅዱስ</a:t>
            </a:r>
            <a:r>
              <a:rPr lang="en-US" sz="5900" dirty="0"/>
              <a:t> </a:t>
            </a:r>
            <a:r>
              <a:rPr lang="en-US" sz="5900" dirty="0" err="1"/>
              <a:t>ወንጌል</a:t>
            </a:r>
            <a:r>
              <a:rPr lang="en-US" sz="5900" dirty="0"/>
              <a:t> </a:t>
            </a:r>
            <a:r>
              <a:rPr lang="en-US" sz="5900" dirty="0" err="1"/>
              <a:t>የሚናገር</a:t>
            </a:r>
            <a:r>
              <a:rPr lang="en-US" sz="5900" dirty="0"/>
              <a:t> </a:t>
            </a:r>
            <a:r>
              <a:rPr lang="en-US" sz="5900" dirty="0" err="1"/>
              <a:t>አባቶች</a:t>
            </a:r>
            <a:r>
              <a:rPr lang="en-US" sz="5900" dirty="0"/>
              <a:t> </a:t>
            </a:r>
            <a:r>
              <a:rPr lang="en-US" sz="5900" dirty="0" err="1"/>
              <a:t>በቆሙበት</a:t>
            </a:r>
            <a:r>
              <a:rPr lang="en-US" sz="5900" dirty="0"/>
              <a:t> </a:t>
            </a:r>
            <a:r>
              <a:rPr lang="en-US" sz="5900" dirty="0" err="1"/>
              <a:t>የሰብከት</a:t>
            </a:r>
            <a:r>
              <a:rPr lang="en-US" sz="5900" dirty="0"/>
              <a:t> </a:t>
            </a:r>
            <a:r>
              <a:rPr lang="en-US" sz="5900" dirty="0" err="1"/>
              <a:t>ሰገነት</a:t>
            </a:r>
            <a:r>
              <a:rPr lang="en-US" sz="5900" dirty="0"/>
              <a:t> </a:t>
            </a:r>
            <a:r>
              <a:rPr lang="en-US" sz="5900" dirty="0" err="1"/>
              <a:t>የሚቆምና</a:t>
            </a:r>
            <a:r>
              <a:rPr lang="en-US" sz="5900" dirty="0"/>
              <a:t> </a:t>
            </a:r>
            <a:r>
              <a:rPr lang="en-US" sz="5900" dirty="0" err="1"/>
              <a:t>ምእመናንን</a:t>
            </a:r>
            <a:r>
              <a:rPr lang="en-US" sz="5900" dirty="0"/>
              <a:t> </a:t>
            </a:r>
            <a:r>
              <a:rPr lang="en-US" sz="5900" dirty="0" err="1"/>
              <a:t>ወደ</a:t>
            </a:r>
            <a:r>
              <a:rPr lang="en-US" sz="5900" dirty="0"/>
              <a:t> </a:t>
            </a:r>
            <a:r>
              <a:rPr lang="en-US" sz="5900" dirty="0" err="1"/>
              <a:t>እግዚአብሔር</a:t>
            </a:r>
            <a:r>
              <a:rPr lang="en-US" sz="5900" dirty="0"/>
              <a:t> </a:t>
            </a:r>
            <a:r>
              <a:rPr lang="en-US" sz="5900" dirty="0" err="1"/>
              <a:t>የሚጠራ</a:t>
            </a:r>
            <a:r>
              <a:rPr lang="en-US" sz="5900" dirty="0"/>
              <a:t> </a:t>
            </a:r>
            <a:r>
              <a:rPr lang="en-US" sz="5900" dirty="0" err="1"/>
              <a:t>ሰባኪ</a:t>
            </a:r>
            <a:r>
              <a:rPr lang="en-US" sz="5900" dirty="0"/>
              <a:t> </a:t>
            </a:r>
            <a:r>
              <a:rPr lang="en-US" sz="5900" dirty="0" err="1"/>
              <a:t>ሃይማኖቱ</a:t>
            </a:r>
            <a:r>
              <a:rPr lang="en-US" sz="5900" dirty="0"/>
              <a:t> </a:t>
            </a:r>
            <a:r>
              <a:rPr lang="en-US" sz="5900" dirty="0" err="1"/>
              <a:t>የቀና</a:t>
            </a:r>
            <a:r>
              <a:rPr lang="en-US" sz="5900" dirty="0"/>
              <a:t>፣ </a:t>
            </a:r>
            <a:r>
              <a:rPr lang="en-US" sz="5900" dirty="0" err="1"/>
              <a:t>ስነ</a:t>
            </a:r>
            <a:r>
              <a:rPr lang="en-US" sz="5900" dirty="0"/>
              <a:t> </a:t>
            </a:r>
            <a:r>
              <a:rPr lang="en-US" sz="5900" dirty="0" err="1"/>
              <a:t>ምግባሩ</a:t>
            </a:r>
            <a:r>
              <a:rPr lang="en-US" sz="5900" dirty="0"/>
              <a:t> </a:t>
            </a:r>
            <a:r>
              <a:rPr lang="en-US" sz="5900" dirty="0" err="1"/>
              <a:t>የተስተካከለ</a:t>
            </a:r>
            <a:r>
              <a:rPr lang="en-US" sz="5900" dirty="0"/>
              <a:t> </a:t>
            </a:r>
            <a:r>
              <a:rPr lang="en-US" sz="5900" dirty="0" err="1"/>
              <a:t>መሆን</a:t>
            </a:r>
            <a:r>
              <a:rPr lang="en-US" sz="5900" dirty="0"/>
              <a:t> </a:t>
            </a:r>
            <a:r>
              <a:rPr lang="en-US" sz="5900" dirty="0" err="1"/>
              <a:t>ይጠበቅበታል</a:t>
            </a:r>
            <a:r>
              <a:rPr lang="en-US" sz="5900" dirty="0" smtClean="0"/>
              <a:t>፡፡</a:t>
            </a:r>
            <a:endParaRPr lang="en-GB" sz="5900" dirty="0">
              <a:solidFill>
                <a:srgbClr val="00B050"/>
              </a:solidFill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GB" sz="5900" dirty="0">
                <a:solidFill>
                  <a:srgbClr val="000000"/>
                </a:solidFill>
              </a:rPr>
              <a:t>   </a:t>
            </a:r>
            <a:r>
              <a:rPr lang="am-ET" sz="5900" dirty="0">
                <a:solidFill>
                  <a:srgbClr val="000000"/>
                </a:solidFill>
              </a:rPr>
              <a:t>ጌታችን ኢየሱስ ክርስቶስ እን</a:t>
            </a:r>
            <a:r>
              <a:rPr lang="en-GB" sz="5900" dirty="0">
                <a:solidFill>
                  <a:srgbClr val="000000"/>
                </a:solidFill>
              </a:rPr>
              <a:t>ደ</a:t>
            </a:r>
            <a:r>
              <a:rPr lang="am-ET" sz="5900" dirty="0">
                <a:solidFill>
                  <a:srgbClr val="000000"/>
                </a:solidFill>
              </a:rPr>
              <a:t>ተናገረው ሰባኪው፡</a:t>
            </a:r>
          </a:p>
          <a:p>
            <a:pPr algn="just">
              <a:lnSpc>
                <a:spcPct val="17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5900" dirty="0">
                <a:solidFill>
                  <a:srgbClr val="000000"/>
                </a:solidFill>
              </a:rPr>
              <a:t>የሚጣ</a:t>
            </a:r>
            <a:r>
              <a:rPr lang="en-GB" sz="5900" dirty="0">
                <a:solidFill>
                  <a:srgbClr val="000000"/>
                </a:solidFill>
              </a:rPr>
              <a:t>ፍ</a:t>
            </a:r>
            <a:r>
              <a:rPr lang="am-ET" sz="5900" dirty="0">
                <a:solidFill>
                  <a:srgbClr val="000000"/>
                </a:solidFill>
              </a:rPr>
              <a:t>ጥ </a:t>
            </a:r>
            <a:r>
              <a:rPr lang="am-ET" sz="5900" dirty="0">
                <a:solidFill>
                  <a:srgbClr val="00B050"/>
                </a:solidFill>
              </a:rPr>
              <a:t>ጨው</a:t>
            </a:r>
            <a:endParaRPr lang="en-GB" sz="5900" dirty="0">
              <a:solidFill>
                <a:srgbClr val="00B050"/>
              </a:solidFill>
            </a:endParaRPr>
          </a:p>
          <a:p>
            <a:pPr algn="just">
              <a:lnSpc>
                <a:spcPct val="17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5900" dirty="0">
                <a:solidFill>
                  <a:srgbClr val="000000"/>
                </a:solidFill>
              </a:rPr>
              <a:t>የሚያበራ </a:t>
            </a:r>
            <a:r>
              <a:rPr lang="am-ET" sz="5900" dirty="0">
                <a:solidFill>
                  <a:srgbClr val="0070C0"/>
                </a:solidFill>
              </a:rPr>
              <a:t>መብራት</a:t>
            </a:r>
            <a:endParaRPr lang="en-GB" sz="5900" dirty="0">
              <a:solidFill>
                <a:srgbClr val="0070C0"/>
              </a:solidFill>
            </a:endParaRPr>
          </a:p>
          <a:p>
            <a:pPr algn="just">
              <a:lnSpc>
                <a:spcPct val="17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5900" dirty="0">
                <a:solidFill>
                  <a:srgbClr val="000000"/>
                </a:solidFill>
              </a:rPr>
              <a:t>መሌካም </a:t>
            </a:r>
            <a:r>
              <a:rPr lang="am-ET" sz="5900" dirty="0">
                <a:solidFill>
                  <a:srgbClr val="FF0000"/>
                </a:solidFill>
              </a:rPr>
              <a:t>መ</a:t>
            </a:r>
            <a:r>
              <a:rPr lang="en-GB" sz="5900" dirty="0" err="1">
                <a:solidFill>
                  <a:srgbClr val="FF0000"/>
                </a:solidFill>
              </a:rPr>
              <a:t>ዓዛ</a:t>
            </a:r>
            <a:r>
              <a:rPr lang="am-ET" sz="5900" dirty="0">
                <a:solidFill>
                  <a:srgbClr val="FF0000"/>
                </a:solidFill>
              </a:rPr>
              <a:t> </a:t>
            </a:r>
            <a:r>
              <a:rPr lang="am-ET" sz="5900" dirty="0">
                <a:solidFill>
                  <a:srgbClr val="000000"/>
                </a:solidFill>
              </a:rPr>
              <a:t>ያ</a:t>
            </a:r>
            <a:r>
              <a:rPr lang="en-GB" sz="5900" dirty="0">
                <a:solidFill>
                  <a:srgbClr val="000000"/>
                </a:solidFill>
              </a:rPr>
              <a:t>ለ</a:t>
            </a:r>
            <a:r>
              <a:rPr lang="am-ET" sz="5900" dirty="0">
                <a:solidFill>
                  <a:srgbClr val="000000"/>
                </a:solidFill>
              </a:rPr>
              <a:t>ው መሆን አ</a:t>
            </a:r>
            <a:r>
              <a:rPr lang="en-GB" sz="5900" dirty="0">
                <a:solidFill>
                  <a:srgbClr val="000000"/>
                </a:solidFill>
              </a:rPr>
              <a:t>ለ</a:t>
            </a:r>
            <a:r>
              <a:rPr lang="am-ET" sz="5900" dirty="0">
                <a:solidFill>
                  <a:srgbClr val="000000"/>
                </a:solidFill>
              </a:rPr>
              <a:t>በት፡፡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 err="1" smtClean="0"/>
              <a:t>ማቴ</a:t>
            </a:r>
            <a:r>
              <a:rPr lang="en-US" sz="2600" dirty="0" smtClean="0"/>
              <a:t> 5</a:t>
            </a:r>
            <a:r>
              <a:rPr lang="en-US" sz="2600" dirty="0" smtClean="0">
                <a:latin typeface="Century Gothic"/>
              </a:rPr>
              <a:t>÷16 </a:t>
            </a:r>
            <a:r>
              <a:rPr lang="en-US" sz="2600" dirty="0" err="1" smtClean="0">
                <a:latin typeface="Century Gothic"/>
              </a:rPr>
              <a:t>መልካሙን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ስራችሁን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አይተው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በሰማያት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ያለውን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አባታችሁን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እንዲከብሩ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ብርሃናችሁ</a:t>
            </a:r>
            <a:r>
              <a:rPr lang="en-US" sz="2600" dirty="0" smtClean="0">
                <a:latin typeface="Century Gothic"/>
              </a:rPr>
              <a:t>  </a:t>
            </a:r>
            <a:r>
              <a:rPr lang="en-US" sz="2600" dirty="0" err="1" smtClean="0">
                <a:latin typeface="Century Gothic"/>
              </a:rPr>
              <a:t>እንዲሁ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በሰው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ፊት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ይብራ</a:t>
            </a:r>
            <a:r>
              <a:rPr lang="en-US" sz="2600" dirty="0" smtClean="0">
                <a:latin typeface="Century Gothic"/>
              </a:rPr>
              <a:t>፡፡</a:t>
            </a:r>
            <a:endParaRPr lang="en-US" sz="2600" dirty="0" smtClean="0"/>
          </a:p>
          <a:p>
            <a:pPr>
              <a:lnSpc>
                <a:spcPct val="150000"/>
              </a:lnSpc>
            </a:pPr>
            <a:r>
              <a:rPr lang="en-US" sz="2600" dirty="0" err="1" smtClean="0"/>
              <a:t>ከእውቀት</a:t>
            </a:r>
            <a:r>
              <a:rPr lang="en-US" sz="2600" dirty="0" smtClean="0"/>
              <a:t> </a:t>
            </a:r>
            <a:r>
              <a:rPr lang="en-US" sz="2600" dirty="0" err="1"/>
              <a:t>ይልቅ</a:t>
            </a:r>
            <a:r>
              <a:rPr lang="en-US" sz="2600" dirty="0"/>
              <a:t> </a:t>
            </a:r>
            <a:r>
              <a:rPr lang="en-US" sz="2600" dirty="0" err="1"/>
              <a:t>ተግባር</a:t>
            </a:r>
            <a:r>
              <a:rPr lang="en-US" sz="2600" dirty="0"/>
              <a:t> </a:t>
            </a:r>
            <a:r>
              <a:rPr lang="en-US" sz="2600" dirty="0" err="1"/>
              <a:t>ይስብካልና</a:t>
            </a:r>
            <a:r>
              <a:rPr lang="en-US" sz="2600" dirty="0" smtClean="0"/>
              <a:t>፡፡ </a:t>
            </a:r>
            <a:r>
              <a:rPr lang="en-US" sz="2600" dirty="0" err="1"/>
              <a:t>በመድረክ</a:t>
            </a:r>
            <a:r>
              <a:rPr lang="en-US" sz="2600" dirty="0"/>
              <a:t> </a:t>
            </a:r>
            <a:r>
              <a:rPr lang="en-US" sz="2600" dirty="0" err="1"/>
              <a:t>የሚያሰገርምና</a:t>
            </a:r>
            <a:r>
              <a:rPr lang="en-US" sz="2600" dirty="0"/>
              <a:t> </a:t>
            </a:r>
            <a:r>
              <a:rPr lang="en-US" sz="2600" dirty="0" err="1"/>
              <a:t>የሚያስደነቅ</a:t>
            </a:r>
            <a:r>
              <a:rPr lang="en-US" sz="2600" dirty="0"/>
              <a:t> </a:t>
            </a:r>
            <a:r>
              <a:rPr lang="en-US" sz="2600" dirty="0" err="1"/>
              <a:t>ስብከት</a:t>
            </a:r>
            <a:r>
              <a:rPr lang="en-US" sz="2600" dirty="0"/>
              <a:t> </a:t>
            </a:r>
            <a:r>
              <a:rPr lang="en-US" sz="2600" dirty="0" err="1"/>
              <a:t>እየሰበኩ</a:t>
            </a:r>
            <a:r>
              <a:rPr lang="en-US" sz="2600" dirty="0"/>
              <a:t> </a:t>
            </a:r>
            <a:r>
              <a:rPr lang="en-US" sz="2600" dirty="0" err="1"/>
              <a:t>ከመድረክ</a:t>
            </a:r>
            <a:r>
              <a:rPr lang="en-US" sz="2600" dirty="0"/>
              <a:t> </a:t>
            </a:r>
            <a:r>
              <a:rPr lang="en-US" sz="2600" dirty="0" err="1"/>
              <a:t>ጀርባ</a:t>
            </a:r>
            <a:r>
              <a:rPr lang="en-US" sz="2600" dirty="0"/>
              <a:t> </a:t>
            </a:r>
            <a:r>
              <a:rPr lang="en-US" sz="2600" dirty="0" err="1"/>
              <a:t>ተራ</a:t>
            </a:r>
            <a:r>
              <a:rPr lang="en-US" sz="2600" dirty="0"/>
              <a:t> </a:t>
            </a:r>
            <a:r>
              <a:rPr lang="en-US" sz="2600" dirty="0" err="1"/>
              <a:t>ምእመን</a:t>
            </a:r>
            <a:r>
              <a:rPr lang="en-US" sz="2600" dirty="0"/>
              <a:t> </a:t>
            </a:r>
            <a:r>
              <a:rPr lang="en-US" sz="2600" dirty="0" err="1"/>
              <a:t>የማይደፈረውን</a:t>
            </a:r>
            <a:r>
              <a:rPr lang="en-US" sz="2600" dirty="0"/>
              <a:t> </a:t>
            </a:r>
            <a:r>
              <a:rPr lang="en-US" sz="2600" dirty="0" err="1"/>
              <a:t>የደፍረት</a:t>
            </a:r>
            <a:r>
              <a:rPr lang="en-US" sz="2600" dirty="0"/>
              <a:t> </a:t>
            </a:r>
            <a:r>
              <a:rPr lang="en-US" sz="2600" dirty="0" err="1"/>
              <a:t>ኃጢአት</a:t>
            </a:r>
            <a:r>
              <a:rPr lang="en-US" sz="2600" dirty="0"/>
              <a:t> </a:t>
            </a:r>
            <a:r>
              <a:rPr lang="en-US" sz="2600" dirty="0" err="1"/>
              <a:t>የሚያደርግና</a:t>
            </a:r>
            <a:r>
              <a:rPr lang="en-US" sz="2600" dirty="0"/>
              <a:t> </a:t>
            </a:r>
            <a:r>
              <a:rPr lang="en-US" sz="2600" dirty="0" err="1"/>
              <a:t>በወረደ</a:t>
            </a:r>
            <a:r>
              <a:rPr lang="en-US" sz="2600" dirty="0"/>
              <a:t> </a:t>
            </a:r>
            <a:r>
              <a:rPr lang="en-US" sz="2600" dirty="0" err="1"/>
              <a:t>የክርስትና</a:t>
            </a:r>
            <a:r>
              <a:rPr lang="en-US" sz="2600" dirty="0"/>
              <a:t> </a:t>
            </a:r>
            <a:r>
              <a:rPr lang="en-US" sz="2600" dirty="0" err="1"/>
              <a:t>ሕይወት</a:t>
            </a:r>
            <a:r>
              <a:rPr lang="en-US" sz="2600" dirty="0"/>
              <a:t> </a:t>
            </a:r>
            <a:r>
              <a:rPr lang="en-US" sz="2600" dirty="0" err="1"/>
              <a:t>የሚኖር</a:t>
            </a:r>
            <a:r>
              <a:rPr lang="en-US" sz="2600" dirty="0"/>
              <a:t> </a:t>
            </a:r>
            <a:r>
              <a:rPr lang="en-US" sz="2600" dirty="0" err="1"/>
              <a:t>ከሆነ</a:t>
            </a:r>
            <a:r>
              <a:rPr lang="en-US" sz="2600" dirty="0"/>
              <a:t> </a:t>
            </a:r>
            <a:r>
              <a:rPr lang="en-US" sz="2600" dirty="0" err="1"/>
              <a:t>እርሱም</a:t>
            </a:r>
            <a:r>
              <a:rPr lang="en-US" sz="2600" dirty="0"/>
              <a:t> </a:t>
            </a:r>
            <a:r>
              <a:rPr lang="en-US" sz="2600" dirty="0" err="1"/>
              <a:t>ትምህርቱም</a:t>
            </a:r>
            <a:r>
              <a:rPr lang="en-US" sz="2600" dirty="0"/>
              <a:t> </a:t>
            </a:r>
            <a:r>
              <a:rPr lang="en-US" sz="2600" dirty="0" err="1"/>
              <a:t>ይናቃል</a:t>
            </a:r>
            <a:r>
              <a:rPr lang="en-US" sz="2600" dirty="0"/>
              <a:t>፡፡ </a:t>
            </a:r>
            <a:r>
              <a:rPr lang="en-US" sz="2600" dirty="0" err="1"/>
              <a:t>ሰባኪው</a:t>
            </a:r>
            <a:r>
              <a:rPr lang="en-US" sz="2600" dirty="0"/>
              <a:t> </a:t>
            </a:r>
            <a:r>
              <a:rPr lang="en-US" sz="2600" dirty="0" err="1"/>
              <a:t>በክርስትና</a:t>
            </a:r>
            <a:r>
              <a:rPr lang="en-US" sz="2600" dirty="0"/>
              <a:t> </a:t>
            </a:r>
            <a:r>
              <a:rPr lang="en-US" sz="2600" dirty="0" err="1"/>
              <a:t>ሕይወት</a:t>
            </a:r>
            <a:r>
              <a:rPr lang="en-US" sz="2600" dirty="0"/>
              <a:t> </a:t>
            </a:r>
            <a:r>
              <a:rPr lang="en-US" sz="2600" dirty="0" err="1"/>
              <a:t>እየኖረ</a:t>
            </a:r>
            <a:r>
              <a:rPr lang="en-US" sz="2600" dirty="0"/>
              <a:t> </a:t>
            </a:r>
            <a:r>
              <a:rPr lang="en-US" sz="2600" dirty="0" err="1"/>
              <a:t>ሌላውን</a:t>
            </a:r>
            <a:r>
              <a:rPr lang="en-US" sz="2600" dirty="0"/>
              <a:t> </a:t>
            </a:r>
            <a:r>
              <a:rPr lang="en-US" sz="2600" dirty="0" err="1"/>
              <a:t>ኑሩና</a:t>
            </a:r>
            <a:r>
              <a:rPr lang="en-US" sz="2600" dirty="0"/>
              <a:t> </a:t>
            </a:r>
            <a:r>
              <a:rPr lang="en-US" sz="2600" dirty="0" err="1"/>
              <a:t>እንደ</a:t>
            </a:r>
            <a:r>
              <a:rPr lang="en-US" sz="2600" dirty="0"/>
              <a:t> </a:t>
            </a:r>
            <a:r>
              <a:rPr lang="en-US" sz="2600" dirty="0" err="1"/>
              <a:t>እኔ</a:t>
            </a:r>
            <a:r>
              <a:rPr lang="en-US" sz="2600" dirty="0"/>
              <a:t> </a:t>
            </a:r>
            <a:r>
              <a:rPr lang="en-US" sz="2600" dirty="0" err="1"/>
              <a:t>ሁኑ</a:t>
            </a:r>
            <a:r>
              <a:rPr lang="en-US" sz="2600" dirty="0"/>
              <a:t> </a:t>
            </a:r>
            <a:r>
              <a:rPr lang="en-US" sz="2600" dirty="0" err="1"/>
              <a:t>የሚል</a:t>
            </a:r>
            <a:r>
              <a:rPr lang="en-US" sz="2600" dirty="0"/>
              <a:t> </a:t>
            </a:r>
            <a:r>
              <a:rPr lang="en-US" sz="2600" dirty="0" err="1"/>
              <a:t>ስለሆነ</a:t>
            </a:r>
            <a:r>
              <a:rPr lang="en-US" sz="2600" dirty="0"/>
              <a:t> </a:t>
            </a:r>
            <a:endParaRPr lang="en-US" sz="2600" dirty="0" smtClean="0"/>
          </a:p>
          <a:p>
            <a:pPr>
              <a:lnSpc>
                <a:spcPct val="150000"/>
              </a:lnSpc>
            </a:pPr>
            <a:r>
              <a:rPr lang="en-US" sz="2600" dirty="0" smtClean="0"/>
              <a:t>/</a:t>
            </a:r>
            <a:r>
              <a:rPr lang="en-US" sz="2600" dirty="0"/>
              <a:t>1ቆሮ 11፡1/ </a:t>
            </a:r>
            <a:r>
              <a:rPr lang="en-US" sz="2600" dirty="0" smtClean="0"/>
              <a:t> </a:t>
            </a:r>
            <a:r>
              <a:rPr lang="en-US" sz="2600" dirty="0" err="1" smtClean="0"/>
              <a:t>እኔ</a:t>
            </a:r>
            <a:r>
              <a:rPr lang="en-US" sz="2600" dirty="0" smtClean="0"/>
              <a:t> </a:t>
            </a:r>
            <a:r>
              <a:rPr lang="en-US" sz="2600" dirty="0" err="1" smtClean="0"/>
              <a:t>ክርስቶስን</a:t>
            </a:r>
            <a:r>
              <a:rPr lang="en-US" sz="2600" dirty="0" smtClean="0"/>
              <a:t> </a:t>
            </a:r>
            <a:r>
              <a:rPr lang="en-US" sz="2600" dirty="0" err="1" smtClean="0"/>
              <a:t>እንደምመስል</a:t>
            </a:r>
            <a:r>
              <a:rPr lang="en-US" sz="2600" dirty="0" smtClean="0"/>
              <a:t> </a:t>
            </a:r>
            <a:r>
              <a:rPr lang="en-US" sz="2600" dirty="0" err="1" smtClean="0"/>
              <a:t>እናንተ</a:t>
            </a:r>
            <a:r>
              <a:rPr lang="en-US" sz="2600" dirty="0" smtClean="0"/>
              <a:t> </a:t>
            </a:r>
            <a:r>
              <a:rPr lang="en-US" sz="2600" dirty="0" err="1" smtClean="0"/>
              <a:t>ደግሞ</a:t>
            </a:r>
            <a:r>
              <a:rPr lang="en-US" sz="2600" dirty="0" smtClean="0"/>
              <a:t> </a:t>
            </a:r>
            <a:r>
              <a:rPr lang="en-US" sz="2600" dirty="0" err="1" smtClean="0"/>
              <a:t>እኔን</a:t>
            </a:r>
            <a:r>
              <a:rPr lang="en-US" sz="2600" dirty="0" smtClean="0"/>
              <a:t> </a:t>
            </a:r>
            <a:r>
              <a:rPr lang="en-US" sz="2600" dirty="0" err="1" smtClean="0"/>
              <a:t>ምሰሉ</a:t>
            </a:r>
            <a:r>
              <a:rPr lang="en-US" sz="2600" dirty="0" smtClean="0"/>
              <a:t>፡፡</a:t>
            </a:r>
          </a:p>
          <a:p>
            <a:pPr>
              <a:lnSpc>
                <a:spcPct val="150000"/>
              </a:lnSpc>
            </a:pPr>
            <a:r>
              <a:rPr lang="en-US" sz="2600" dirty="0" smtClean="0"/>
              <a:t>1ጢሞ 4</a:t>
            </a:r>
            <a:r>
              <a:rPr lang="en-US" sz="2600" dirty="0" smtClean="0">
                <a:latin typeface="Century Gothic"/>
              </a:rPr>
              <a:t>÷11 </a:t>
            </a:r>
            <a:r>
              <a:rPr lang="en-US" sz="2600" dirty="0" err="1" smtClean="0">
                <a:latin typeface="Century Gothic"/>
              </a:rPr>
              <a:t>ይህን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እዘዝና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አስተምር</a:t>
            </a:r>
            <a:r>
              <a:rPr lang="en-US" sz="2600" dirty="0" smtClean="0">
                <a:latin typeface="Century Gothic"/>
              </a:rPr>
              <a:t>፡፡ </a:t>
            </a:r>
            <a:r>
              <a:rPr lang="en-US" sz="2600" dirty="0" err="1" smtClean="0">
                <a:latin typeface="Century Gothic"/>
              </a:rPr>
              <a:t>በቃልና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በኑሮ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በፍቅርም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በእዉነትም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በንህጽናም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ለሚያምኑቱ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ምሳሌ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ሁን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እንጂ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ማንም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ታናሽነትህን</a:t>
            </a:r>
            <a:r>
              <a:rPr lang="en-US" sz="2600" dirty="0" smtClean="0">
                <a:latin typeface="Century Gothic"/>
              </a:rPr>
              <a:t> </a:t>
            </a:r>
            <a:r>
              <a:rPr lang="en-US" sz="2600" dirty="0" err="1" smtClean="0">
                <a:latin typeface="Century Gothic"/>
              </a:rPr>
              <a:t>አይናቀው</a:t>
            </a:r>
            <a:r>
              <a:rPr lang="en-US" sz="2600" dirty="0" smtClean="0">
                <a:latin typeface="Century Gothic"/>
              </a:rPr>
              <a:t>፡፡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46919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የቀመለ…….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7" y="838200"/>
            <a:ext cx="8991600" cy="5943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ሰባኪዉ </a:t>
            </a:r>
            <a:r>
              <a:rPr lang="am-ET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በሁለም </a:t>
            </a:r>
            <a:r>
              <a:rPr lang="am-ET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ነገር አርአያ መሆን </a:t>
            </a:r>
            <a:r>
              <a:rPr lang="am-ET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አ</a:t>
            </a:r>
            <a:r>
              <a:rPr lang="en-GB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ለ</a:t>
            </a:r>
            <a:r>
              <a:rPr lang="am-ET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በት</a:t>
            </a:r>
            <a:r>
              <a:rPr lang="am-ET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፡</a:t>
            </a: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አን</a:t>
            </a:r>
            <a:r>
              <a:rPr lang="en-GB" sz="2400" dirty="0" smtClean="0">
                <a:solidFill>
                  <a:srgbClr val="FF0000"/>
                </a:solidFill>
              </a:rPr>
              <a:t>ደ</a:t>
            </a:r>
            <a:r>
              <a:rPr lang="am-ET" sz="2400" dirty="0" smtClean="0">
                <a:solidFill>
                  <a:srgbClr val="FF0000"/>
                </a:solidFill>
              </a:rPr>
              <a:t>በቱ </a:t>
            </a:r>
            <a:r>
              <a:rPr lang="am-ET" sz="2400" dirty="0">
                <a:solidFill>
                  <a:srgbClr val="FF0000"/>
                </a:solidFill>
              </a:rPr>
              <a:t>የታረመ </a:t>
            </a:r>
            <a:r>
              <a:rPr lang="am-ET" sz="2400" dirty="0">
                <a:solidFill>
                  <a:srgbClr val="000000"/>
                </a:solidFill>
              </a:rPr>
              <a:t>እጁ ንፁሕ </a:t>
            </a:r>
            <a:r>
              <a:rPr lang="am-ET" sz="2400" dirty="0" smtClean="0">
                <a:solidFill>
                  <a:srgbClr val="000000"/>
                </a:solidFill>
              </a:rPr>
              <a:t>የሆነ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B050"/>
                </a:solidFill>
              </a:rPr>
              <a:t>በጾምና በ</a:t>
            </a:r>
            <a:r>
              <a:rPr lang="en-GB" sz="2400" dirty="0">
                <a:solidFill>
                  <a:srgbClr val="00B050"/>
                </a:solidFill>
              </a:rPr>
              <a:t>ሎ</a:t>
            </a:r>
            <a:r>
              <a:rPr lang="am-ET" sz="2400" dirty="0" smtClean="0">
                <a:solidFill>
                  <a:srgbClr val="00B05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 የሚታወቅ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 err="1" smtClean="0">
                <a:solidFill>
                  <a:srgbClr val="000000"/>
                </a:solidFill>
              </a:rPr>
              <a:t>ዉል</a:t>
            </a:r>
            <a:r>
              <a:rPr lang="am-ET" sz="2400" dirty="0" smtClean="0">
                <a:solidFill>
                  <a:srgbClr val="000000"/>
                </a:solidFill>
              </a:rPr>
              <a:t>በትና የሚያ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ርበት </a:t>
            </a:r>
            <a:r>
              <a:rPr lang="am-ET" sz="2400" dirty="0">
                <a:solidFill>
                  <a:srgbClr val="000000"/>
                </a:solidFill>
              </a:rPr>
              <a:t>የተወሰነና </a:t>
            </a:r>
            <a:r>
              <a:rPr lang="am-ET" sz="2400" dirty="0" smtClean="0">
                <a:solidFill>
                  <a:schemeClr val="tx2"/>
                </a:solidFill>
              </a:rPr>
              <a:t>የሚታወቅ</a:t>
            </a:r>
            <a:endParaRPr lang="en-GB" sz="2400" dirty="0" smtClean="0">
              <a:solidFill>
                <a:schemeClr val="tx2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የሚገናኛቸው የ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ወትር ጓ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ኞች </a:t>
            </a:r>
            <a:r>
              <a:rPr lang="am-ET" sz="2400" dirty="0">
                <a:solidFill>
                  <a:srgbClr val="000000"/>
                </a:solidFill>
              </a:rPr>
              <a:t>ማንነት </a:t>
            </a:r>
            <a:r>
              <a:rPr lang="am-ET" sz="2400" dirty="0" smtClean="0">
                <a:solidFill>
                  <a:srgbClr val="000000"/>
                </a:solidFill>
              </a:rPr>
              <a:t>የታወቀ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70C0"/>
                </a:solidFill>
              </a:rPr>
              <a:t>በቅ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ስና </a:t>
            </a:r>
            <a:r>
              <a:rPr lang="am-ET" sz="2400" dirty="0">
                <a:solidFill>
                  <a:srgbClr val="0070C0"/>
                </a:solidFill>
              </a:rPr>
              <a:t>ሕይወቱ </a:t>
            </a:r>
            <a:r>
              <a:rPr lang="am-ET" sz="2400" dirty="0" smtClean="0">
                <a:solidFill>
                  <a:srgbClr val="0070C0"/>
                </a:solidFill>
              </a:rPr>
              <a:t>የተመሰከረ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ት</a:t>
            </a:r>
            <a:endParaRPr lang="en-GB" sz="24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ቅርና </a:t>
            </a:r>
            <a:r>
              <a:rPr lang="am-ET" sz="2400" dirty="0">
                <a:solidFill>
                  <a:srgbClr val="000000"/>
                </a:solidFill>
              </a:rPr>
              <a:t>በትሕትናው </a:t>
            </a:r>
            <a:r>
              <a:rPr lang="am-ET" sz="2400" dirty="0" smtClean="0">
                <a:solidFill>
                  <a:srgbClr val="000000"/>
                </a:solidFill>
              </a:rPr>
              <a:t>የሚታወቅ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ትእግስትን የተ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በሰ </a:t>
            </a:r>
            <a:r>
              <a:rPr lang="am-ET" sz="2400" dirty="0">
                <a:solidFill>
                  <a:srgbClr val="000000"/>
                </a:solidFill>
              </a:rPr>
              <a:t>ጨዋ፣ ቁጥብና አስተዋይ </a:t>
            </a:r>
            <a:r>
              <a:rPr lang="am-ET" sz="2400" dirty="0" smtClean="0">
                <a:solidFill>
                  <a:srgbClr val="000000"/>
                </a:solidFill>
              </a:rPr>
              <a:t>የሚባ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የምሥጢራት ተሳታ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 የሆነ</a:t>
            </a:r>
            <a:r>
              <a:rPr lang="en-GB" sz="2400" dirty="0" smtClean="0">
                <a:solidFill>
                  <a:srgbClr val="000000"/>
                </a:solidFill>
              </a:rPr>
              <a:t> ወዘተ</a:t>
            </a:r>
            <a:r>
              <a:rPr lang="en-GB" sz="2400" dirty="0">
                <a:solidFill>
                  <a:srgbClr val="000000"/>
                </a:solidFill>
              </a:rPr>
              <a:t>.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7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የቀመለ…….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220200" cy="6248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0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FF0000"/>
                </a:solidFill>
              </a:rPr>
              <a:t>ሐ.</a:t>
            </a:r>
            <a:r>
              <a:rPr lang="am-ET" sz="2400" dirty="0" smtClean="0">
                <a:solidFill>
                  <a:srgbClr val="FF0000"/>
                </a:solidFill>
              </a:rPr>
              <a:t> በአርአያ </a:t>
            </a:r>
            <a:r>
              <a:rPr lang="am-ET" sz="2400" dirty="0">
                <a:solidFill>
                  <a:srgbClr val="FF0000"/>
                </a:solidFill>
              </a:rPr>
              <a:t>ክህነት መኖር (</a:t>
            </a:r>
            <a:r>
              <a:rPr lang="am-ET" sz="2400" dirty="0" smtClean="0">
                <a:solidFill>
                  <a:srgbClr val="FF0000"/>
                </a:solidFill>
              </a:rPr>
              <a:t>መቀበ</a:t>
            </a:r>
            <a:r>
              <a:rPr lang="en-GB" sz="2400" dirty="0" smtClean="0">
                <a:solidFill>
                  <a:srgbClr val="FF0000"/>
                </a:solidFill>
              </a:rPr>
              <a:t>ል)</a:t>
            </a:r>
            <a:r>
              <a:rPr lang="am-ET" sz="2400" dirty="0">
                <a:solidFill>
                  <a:srgbClr val="FF0000"/>
                </a:solidFill>
              </a:rPr>
              <a:t> 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ክህነት ከእግ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am-ET" sz="2400" dirty="0">
                <a:solidFill>
                  <a:srgbClr val="000000"/>
                </a:solidFill>
              </a:rPr>
              <a:t>የተሰጠ </a:t>
            </a:r>
            <a:r>
              <a:rPr lang="am-ET" sz="2400" dirty="0" smtClean="0">
                <a:solidFill>
                  <a:srgbClr val="000000"/>
                </a:solidFill>
              </a:rPr>
              <a:t>የአገ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ግ</a:t>
            </a:r>
            <a:r>
              <a:rPr lang="en-GB" sz="2400" dirty="0" smtClean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ፀጋ ነው፡፡በሕገ 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ቡና </a:t>
            </a:r>
            <a:r>
              <a:rPr lang="am-ET" sz="2400" dirty="0">
                <a:solidFill>
                  <a:srgbClr val="000000"/>
                </a:solidFill>
              </a:rPr>
              <a:t>የነበሩ አበው </a:t>
            </a:r>
            <a:r>
              <a:rPr lang="am-ET" sz="2400" dirty="0" smtClean="0">
                <a:solidFill>
                  <a:srgbClr val="000000"/>
                </a:solidFill>
              </a:rPr>
              <a:t>በእግ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am-ET" sz="2400" dirty="0">
                <a:solidFill>
                  <a:srgbClr val="000000"/>
                </a:solidFill>
              </a:rPr>
              <a:t>ቸርነት ከህነትን </a:t>
            </a:r>
            <a:r>
              <a:rPr lang="am-ET" sz="2400" dirty="0" smtClean="0">
                <a:solidFill>
                  <a:srgbClr val="000000"/>
                </a:solidFill>
              </a:rPr>
              <a:t>እየተቀበ</a:t>
            </a:r>
            <a:r>
              <a:rPr lang="en-GB" sz="2400" dirty="0" smtClean="0">
                <a:solidFill>
                  <a:srgbClr val="000000"/>
                </a:solidFill>
              </a:rPr>
              <a:t>ሉ </a:t>
            </a:r>
            <a:r>
              <a:rPr lang="am-ET" sz="2400" dirty="0" smtClean="0">
                <a:solidFill>
                  <a:srgbClr val="000000"/>
                </a:solidFill>
              </a:rPr>
              <a:t>መሥዋዕት </a:t>
            </a:r>
            <a:r>
              <a:rPr lang="am-ET" sz="2400" dirty="0">
                <a:solidFill>
                  <a:srgbClr val="000000"/>
                </a:solidFill>
              </a:rPr>
              <a:t>ይሰዉ ፣ 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ሥራት ይቀበ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ነበር </a:t>
            </a:r>
            <a:r>
              <a:rPr lang="en-GB" sz="2400" dirty="0" err="1" smtClean="0">
                <a:solidFill>
                  <a:srgbClr val="000000"/>
                </a:solidFill>
              </a:rPr>
              <a:t>ዘፍ</a:t>
            </a:r>
            <a:r>
              <a:rPr lang="am-ET" sz="2400" dirty="0" smtClean="0">
                <a:solidFill>
                  <a:srgbClr val="000000"/>
                </a:solidFill>
              </a:rPr>
              <a:t> 4፡17፡፡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ሕገ </a:t>
            </a:r>
            <a:r>
              <a:rPr lang="am-ET" sz="2400" dirty="0">
                <a:solidFill>
                  <a:srgbClr val="000000"/>
                </a:solidFill>
              </a:rPr>
              <a:t>ኦሪት ስትመሰረትም </a:t>
            </a: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ዊ ነገ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የሆነው አሮን ካህን ሆኖ ተሹሟሌ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r>
              <a:rPr lang="en-US" sz="2400" dirty="0" err="1"/>
              <a:t>እርሱና</a:t>
            </a:r>
            <a:r>
              <a:rPr lang="en-US" sz="2400" dirty="0"/>
              <a:t> </a:t>
            </a:r>
            <a:r>
              <a:rPr lang="en-US" sz="2400" dirty="0" err="1"/>
              <a:t>ልጆቹ</a:t>
            </a:r>
            <a:r>
              <a:rPr lang="en-US" sz="2400" dirty="0"/>
              <a:t> </a:t>
            </a:r>
            <a:r>
              <a:rPr lang="en-US" sz="2400" dirty="0" err="1"/>
              <a:t>የቤተክርስቲያን</a:t>
            </a:r>
            <a:r>
              <a:rPr lang="en-US" sz="2400" dirty="0"/>
              <a:t> </a:t>
            </a:r>
            <a:r>
              <a:rPr lang="en-US" sz="2400" dirty="0" err="1"/>
              <a:t>ምሳሌ</a:t>
            </a:r>
            <a:r>
              <a:rPr lang="en-US" sz="2400" dirty="0"/>
              <a:t> </a:t>
            </a:r>
            <a:r>
              <a:rPr lang="en-US" sz="2400" dirty="0" err="1"/>
              <a:t>በነበራቸው</a:t>
            </a:r>
            <a:r>
              <a:rPr lang="en-US" sz="2400" dirty="0"/>
              <a:t> </a:t>
            </a:r>
            <a:r>
              <a:rPr lang="en-US" sz="2400" dirty="0" err="1"/>
              <a:t>ደብተራ</a:t>
            </a:r>
            <a:r>
              <a:rPr lang="en-US" sz="2400" dirty="0"/>
              <a:t> </a:t>
            </a:r>
            <a:r>
              <a:rPr lang="en-US" sz="2400" dirty="0" err="1"/>
              <a:t>ኦሪት</a:t>
            </a:r>
            <a:r>
              <a:rPr lang="en-US" sz="2400" dirty="0"/>
              <a:t> </a:t>
            </a:r>
            <a:r>
              <a:rPr lang="en-US" sz="2400" dirty="0" err="1"/>
              <a:t>አገልግሎታቸውን</a:t>
            </a:r>
            <a:r>
              <a:rPr lang="en-US" sz="2400" dirty="0"/>
              <a:t> </a:t>
            </a:r>
            <a:r>
              <a:rPr lang="en-US" sz="2400" dirty="0" err="1"/>
              <a:t>አከናውነዋል</a:t>
            </a:r>
            <a:r>
              <a:rPr lang="en-US" sz="2400" dirty="0"/>
              <a:t>፡፡/</a:t>
            </a:r>
            <a:r>
              <a:rPr lang="en-US" sz="2400" dirty="0" err="1"/>
              <a:t>ዘዳ</a:t>
            </a:r>
            <a:r>
              <a:rPr lang="en-US" sz="2400" dirty="0"/>
              <a:t> 28፡1-30፣ </a:t>
            </a:r>
            <a:r>
              <a:rPr lang="en-US" sz="2400" dirty="0" err="1"/>
              <a:t>ዕብ</a:t>
            </a:r>
            <a:r>
              <a:rPr lang="en-US" sz="2400" dirty="0"/>
              <a:t> 9፡1/ 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ዘዳ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28፡1.30፣ ዕብ 9፡1 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የጌታችን የመ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ኃኒታችን </a:t>
            </a:r>
            <a:r>
              <a:rPr lang="am-ET" sz="2400" dirty="0">
                <a:solidFill>
                  <a:srgbClr val="000000"/>
                </a:solidFill>
              </a:rPr>
              <a:t>የኢየሱስ ክርስቶስ </a:t>
            </a:r>
            <a:r>
              <a:rPr lang="am-ET" sz="2400" dirty="0" smtClean="0">
                <a:solidFill>
                  <a:srgbClr val="000000"/>
                </a:solidFill>
              </a:rPr>
              <a:t>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የሆነው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ከጼ</a:t>
            </a:r>
            <a:r>
              <a:rPr lang="en-GB" sz="2400" dirty="0">
                <a:solidFill>
                  <a:srgbClr val="000000"/>
                </a:solidFill>
              </a:rPr>
              <a:t>ዴ</a:t>
            </a:r>
            <a:r>
              <a:rPr lang="am-ET" sz="2400" dirty="0" smtClean="0">
                <a:solidFill>
                  <a:srgbClr val="000000"/>
                </a:solidFill>
              </a:rPr>
              <a:t>ቅም በ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መነ </a:t>
            </a:r>
            <a:r>
              <a:rPr lang="en-GB" sz="2400" dirty="0" err="1" smtClean="0">
                <a:solidFill>
                  <a:srgbClr val="000000"/>
                </a:solidFill>
              </a:rPr>
              <a:t>ሐዲ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ጌታችን ኢየሱስ ክርሰቶስ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መሠረተው </a:t>
            </a:r>
            <a:r>
              <a:rPr lang="am-ET" sz="2400" dirty="0">
                <a:solidFill>
                  <a:srgbClr val="000000"/>
                </a:solidFill>
              </a:rPr>
              <a:t>አማናዊ ክህነት ታሪካዊ ነው፡፡ ዕብ 7፡20 ቤተክርስቲያን በምሥረታ </a:t>
            </a:r>
            <a:r>
              <a:rPr lang="am-ET" sz="2400" dirty="0" smtClean="0">
                <a:solidFill>
                  <a:srgbClr val="000000"/>
                </a:solidFill>
              </a:rPr>
              <a:t>ዋ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</a:t>
            </a:r>
            <a:r>
              <a:rPr lang="am-ET" sz="2400" dirty="0">
                <a:solidFill>
                  <a:srgbClr val="000000"/>
                </a:solidFill>
              </a:rPr>
              <a:t>በነበረችበት </a:t>
            </a:r>
            <a:r>
              <a:rPr lang="am-ET" sz="2400" dirty="0" smtClean="0">
                <a:solidFill>
                  <a:srgbClr val="000000"/>
                </a:solidFill>
              </a:rPr>
              <a:t>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ጌታችን ኢየሱስ ክርስቶስ </a:t>
            </a:r>
            <a:r>
              <a:rPr lang="am-ET" sz="2400" dirty="0" smtClean="0">
                <a:solidFill>
                  <a:srgbClr val="FF0000"/>
                </a:solidFill>
              </a:rPr>
              <a:t>አስቀ</a:t>
            </a:r>
            <a:r>
              <a:rPr lang="en-GB" sz="2400" dirty="0">
                <a:solidFill>
                  <a:srgbClr val="FF0000"/>
                </a:solidFill>
              </a:rPr>
              <a:t>ድ</a:t>
            </a:r>
            <a:r>
              <a:rPr lang="am-ET" sz="2400" dirty="0" smtClean="0">
                <a:solidFill>
                  <a:srgbClr val="FF0000"/>
                </a:solidFill>
              </a:rPr>
              <a:t>ሞ </a:t>
            </a:r>
            <a:r>
              <a:rPr lang="am-ET" sz="2400" dirty="0">
                <a:solidFill>
                  <a:srgbClr val="FF0000"/>
                </a:solidFill>
              </a:rPr>
              <a:t>የሠራው </a:t>
            </a:r>
            <a:r>
              <a:rPr lang="en-GB" sz="2400" dirty="0" err="1" smtClean="0">
                <a:solidFill>
                  <a:srgbClr val="FF0000"/>
                </a:solidFill>
              </a:rPr>
              <a:t>ለደ</a:t>
            </a:r>
            <a:r>
              <a:rPr lang="am-ET" sz="2400" dirty="0" smtClean="0">
                <a:solidFill>
                  <a:srgbClr val="FF0000"/>
                </a:solidFill>
              </a:rPr>
              <a:t>ቀ መ</a:t>
            </a:r>
            <a:r>
              <a:rPr lang="en-GB" sz="2400" dirty="0">
                <a:solidFill>
                  <a:srgbClr val="FF0000"/>
                </a:solidFill>
              </a:rPr>
              <a:t>ዛ</a:t>
            </a:r>
            <a:r>
              <a:rPr lang="am-ET" sz="2400" dirty="0" smtClean="0">
                <a:solidFill>
                  <a:srgbClr val="FF0000"/>
                </a:solidFill>
              </a:rPr>
              <a:t>ሙርቱ ሥ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ጣነ </a:t>
            </a:r>
            <a:r>
              <a:rPr lang="am-ET" sz="2400" dirty="0">
                <a:solidFill>
                  <a:srgbClr val="FF0000"/>
                </a:solidFill>
              </a:rPr>
              <a:t>ክህነት መስጠት ነበር፡፡ </a:t>
            </a:r>
            <a:r>
              <a:rPr lang="am-ET" sz="2400" dirty="0" smtClean="0">
                <a:solidFill>
                  <a:srgbClr val="FF0000"/>
                </a:solidFill>
              </a:rPr>
              <a:t>ዮ</a:t>
            </a: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20፡23</a:t>
            </a:r>
          </a:p>
        </p:txBody>
      </p:sp>
    </p:spTree>
    <p:extLst>
      <p:ext uri="{BB962C8B-B14F-4D97-AF65-F5344CB8AC3E}">
        <p14:creationId xmlns:p14="http://schemas.microsoft.com/office/powerpoint/2010/main" val="345233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ሐዋርያትም</a:t>
            </a:r>
            <a:r>
              <a:rPr lang="en-US" sz="2400" dirty="0"/>
              <a:t> </a:t>
            </a:r>
            <a:r>
              <a:rPr lang="en-US" sz="2400" dirty="0" err="1"/>
              <a:t>ወደ</a:t>
            </a:r>
            <a:r>
              <a:rPr lang="en-US" sz="2400" dirty="0"/>
              <a:t> </a:t>
            </a:r>
            <a:r>
              <a:rPr lang="en-US" sz="2400" dirty="0" err="1"/>
              <a:t>አገልግሎት</a:t>
            </a:r>
            <a:r>
              <a:rPr lang="en-US" sz="2400" dirty="0"/>
              <a:t> </a:t>
            </a:r>
            <a:r>
              <a:rPr lang="en-US" sz="2400" dirty="0" err="1"/>
              <a:t>በተሰማሩ</a:t>
            </a:r>
            <a:r>
              <a:rPr lang="en-US" sz="2400" dirty="0"/>
              <a:t> </a:t>
            </a:r>
            <a:r>
              <a:rPr lang="en-US" sz="2400" dirty="0" err="1"/>
              <a:t>ጊዜ</a:t>
            </a:r>
            <a:r>
              <a:rPr lang="en-US" sz="2400" dirty="0"/>
              <a:t> </a:t>
            </a:r>
            <a:r>
              <a:rPr lang="en-US" sz="2400" dirty="0" err="1"/>
              <a:t>በየሥፍራው</a:t>
            </a:r>
            <a:r>
              <a:rPr lang="en-US" sz="2400" dirty="0"/>
              <a:t> </a:t>
            </a:r>
            <a:r>
              <a:rPr lang="en-US" sz="2400" dirty="0" err="1"/>
              <a:t>ካህናትን</a:t>
            </a:r>
            <a:r>
              <a:rPr lang="en-US" sz="2400" dirty="0"/>
              <a:t> </a:t>
            </a:r>
            <a:r>
              <a:rPr lang="en-US" sz="2400" dirty="0" err="1"/>
              <a:t>ዲያቆናትን</a:t>
            </a:r>
            <a:r>
              <a:rPr lang="en-US" sz="2400" dirty="0"/>
              <a:t> </a:t>
            </a:r>
            <a:r>
              <a:rPr lang="en-US" sz="2400" dirty="0" err="1"/>
              <a:t>እየሹሙ</a:t>
            </a:r>
            <a:r>
              <a:rPr lang="en-US" sz="2400" dirty="0"/>
              <a:t> </a:t>
            </a:r>
            <a:r>
              <a:rPr lang="en-US" sz="2400" dirty="0" err="1"/>
              <a:t>አገልግሎቱን</a:t>
            </a:r>
            <a:r>
              <a:rPr lang="en-US" sz="2400" dirty="0"/>
              <a:t> </a:t>
            </a:r>
            <a:r>
              <a:rPr lang="en-US" sz="2400" dirty="0" err="1"/>
              <a:t>ወደ</a:t>
            </a:r>
            <a:r>
              <a:rPr lang="en-US" sz="2400" dirty="0"/>
              <a:t> </a:t>
            </a:r>
            <a:r>
              <a:rPr lang="en-US" sz="2400" dirty="0" err="1"/>
              <a:t>ላቀ</a:t>
            </a:r>
            <a:r>
              <a:rPr lang="en-US" sz="2400" dirty="0"/>
              <a:t> </a:t>
            </a:r>
            <a:r>
              <a:rPr lang="en-US" sz="2400" dirty="0" err="1"/>
              <a:t>ደረጃ</a:t>
            </a:r>
            <a:r>
              <a:rPr lang="en-US" sz="2400" dirty="0"/>
              <a:t> </a:t>
            </a:r>
            <a:r>
              <a:rPr lang="en-US" sz="2400" dirty="0" err="1"/>
              <a:t>አድርሰውታል</a:t>
            </a:r>
            <a:r>
              <a:rPr lang="en-US" sz="2400" dirty="0"/>
              <a:t>፡፡ </a:t>
            </a:r>
            <a:r>
              <a:rPr lang="en-US" sz="2400" dirty="0" err="1"/>
              <a:t>ሐዋ</a:t>
            </a:r>
            <a:r>
              <a:rPr lang="en-US" sz="2400" dirty="0"/>
              <a:t> 6፡1-6፣ሐዋ 20፡28፡፡ </a:t>
            </a:r>
            <a:r>
              <a:rPr lang="en-US" sz="2400" dirty="0" err="1"/>
              <a:t>ሥልጣነ</a:t>
            </a:r>
            <a:r>
              <a:rPr lang="en-US" sz="2400" dirty="0"/>
              <a:t> </a:t>
            </a:r>
            <a:r>
              <a:rPr lang="en-US" sz="2400" dirty="0" err="1"/>
              <a:t>ክህነት</a:t>
            </a:r>
            <a:r>
              <a:rPr lang="en-US" sz="2400" dirty="0"/>
              <a:t> </a:t>
            </a:r>
            <a:r>
              <a:rPr lang="en-US" sz="2400" dirty="0" err="1"/>
              <a:t>ለስብከተ</a:t>
            </a:r>
            <a:r>
              <a:rPr lang="en-US" sz="2400" dirty="0"/>
              <a:t> </a:t>
            </a:r>
            <a:r>
              <a:rPr lang="en-US" sz="2400" dirty="0" err="1"/>
              <a:t>ወንጌል</a:t>
            </a:r>
            <a:r>
              <a:rPr lang="en-US" sz="2400" dirty="0"/>
              <a:t> </a:t>
            </a:r>
            <a:r>
              <a:rPr lang="en-US" sz="2400" dirty="0" err="1"/>
              <a:t>መስፋፋት</a:t>
            </a:r>
            <a:r>
              <a:rPr lang="en-US" sz="2400" dirty="0"/>
              <a:t> </a:t>
            </a:r>
            <a:r>
              <a:rPr lang="en-US" sz="2400" dirty="0" err="1"/>
              <a:t>ትልቅና</a:t>
            </a:r>
            <a:r>
              <a:rPr lang="en-US" sz="2400" dirty="0"/>
              <a:t> </a:t>
            </a:r>
            <a:r>
              <a:rPr lang="en-US" sz="2400" dirty="0" err="1"/>
              <a:t>ሰፊ</a:t>
            </a:r>
            <a:r>
              <a:rPr lang="en-US" sz="2400" dirty="0"/>
              <a:t> </a:t>
            </a:r>
            <a:r>
              <a:rPr lang="en-US" sz="2400" dirty="0" err="1"/>
              <a:t>ድረሻ</a:t>
            </a:r>
            <a:r>
              <a:rPr lang="en-US" sz="2400" dirty="0"/>
              <a:t> </a:t>
            </a:r>
            <a:r>
              <a:rPr lang="en-US" sz="2400" dirty="0" err="1"/>
              <a:t>አለው</a:t>
            </a:r>
            <a:r>
              <a:rPr lang="en-US" sz="2400" dirty="0"/>
              <a:t>፡፡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በኢትዮጵያ</a:t>
            </a:r>
            <a:r>
              <a:rPr lang="en-US" sz="2400" dirty="0"/>
              <a:t> </a:t>
            </a:r>
            <a:r>
              <a:rPr lang="en-US" sz="2400" dirty="0" err="1"/>
              <a:t>ቤተክርስቲያን</a:t>
            </a:r>
            <a:r>
              <a:rPr lang="en-US" sz="2400" dirty="0"/>
              <a:t> </a:t>
            </a:r>
            <a:r>
              <a:rPr lang="en-US" sz="2400" dirty="0" err="1"/>
              <a:t>የስብከተ</a:t>
            </a:r>
            <a:r>
              <a:rPr lang="en-US" sz="2400" dirty="0"/>
              <a:t> </a:t>
            </a:r>
            <a:r>
              <a:rPr lang="en-US" sz="2400" dirty="0" err="1"/>
              <a:t>ወንጌል</a:t>
            </a:r>
            <a:r>
              <a:rPr lang="en-US" sz="2400" dirty="0"/>
              <a:t> </a:t>
            </a:r>
            <a:r>
              <a:rPr lang="en-US" sz="2400" dirty="0" err="1"/>
              <a:t>ታሪክ</a:t>
            </a:r>
            <a:r>
              <a:rPr lang="en-US" sz="2400" dirty="0"/>
              <a:t> </a:t>
            </a:r>
            <a:r>
              <a:rPr lang="en-US" sz="2400" dirty="0" err="1"/>
              <a:t>በጃንደረባው</a:t>
            </a:r>
            <a:r>
              <a:rPr lang="en-US" sz="2400" dirty="0"/>
              <a:t> </a:t>
            </a:r>
            <a:r>
              <a:rPr lang="en-US" sz="2400" dirty="0" err="1"/>
              <a:t>ቢጀመርም</a:t>
            </a:r>
            <a:r>
              <a:rPr lang="en-US" sz="2400" dirty="0"/>
              <a:t> </a:t>
            </a:r>
            <a:r>
              <a:rPr lang="en-US" sz="2400" dirty="0" err="1"/>
              <a:t>የተሟላ</a:t>
            </a:r>
            <a:r>
              <a:rPr lang="en-US" sz="2400" dirty="0"/>
              <a:t> </a:t>
            </a:r>
            <a:r>
              <a:rPr lang="en-US" sz="2400" dirty="0" err="1"/>
              <a:t>ሆኖ</a:t>
            </a:r>
            <a:r>
              <a:rPr lang="en-US" sz="2400" dirty="0"/>
              <a:t> </a:t>
            </a:r>
            <a:r>
              <a:rPr lang="en-US" sz="2400" dirty="0" err="1"/>
              <a:t>የተፈጸመውና</a:t>
            </a:r>
            <a:r>
              <a:rPr lang="en-US" sz="2400" dirty="0"/>
              <a:t> </a:t>
            </a:r>
            <a:r>
              <a:rPr lang="en-US" sz="2400" dirty="0" err="1"/>
              <a:t>በተግባራዊነት</a:t>
            </a:r>
            <a:r>
              <a:rPr lang="en-US" sz="2400" dirty="0"/>
              <a:t> </a:t>
            </a:r>
            <a:r>
              <a:rPr lang="en-US" sz="2400" dirty="0" err="1"/>
              <a:t>ዕድገት</a:t>
            </a:r>
            <a:r>
              <a:rPr lang="en-US" sz="2400" dirty="0"/>
              <a:t> </a:t>
            </a:r>
            <a:r>
              <a:rPr lang="en-US" sz="2400" dirty="0" err="1"/>
              <a:t>ያሳየው</a:t>
            </a:r>
            <a:r>
              <a:rPr lang="en-US" sz="2400" dirty="0"/>
              <a:t> </a:t>
            </a:r>
            <a:r>
              <a:rPr lang="en-US" sz="2400" dirty="0" err="1"/>
              <a:t>ከፍሬምናጦስ</a:t>
            </a:r>
            <a:r>
              <a:rPr lang="en-US" sz="2400" dirty="0"/>
              <a:t> </a:t>
            </a:r>
            <a:r>
              <a:rPr lang="en-US" sz="2400" dirty="0" err="1"/>
              <a:t>የክህነት</a:t>
            </a:r>
            <a:r>
              <a:rPr lang="en-US" sz="2400" dirty="0"/>
              <a:t> </a:t>
            </a:r>
            <a:r>
              <a:rPr lang="en-US" sz="2400" dirty="0" err="1"/>
              <a:t>አገልግሎት</a:t>
            </a:r>
            <a:r>
              <a:rPr lang="en-US" sz="2400" dirty="0"/>
              <a:t> </a:t>
            </a:r>
            <a:r>
              <a:rPr lang="en-US" sz="2400" dirty="0" err="1"/>
              <a:t>በኃላ</a:t>
            </a:r>
            <a:r>
              <a:rPr lang="en-US" sz="2400" dirty="0"/>
              <a:t> </a:t>
            </a:r>
            <a:r>
              <a:rPr lang="en-US" sz="2400" dirty="0" err="1"/>
              <a:t>ነው</a:t>
            </a:r>
            <a:r>
              <a:rPr lang="en-US" sz="2400" dirty="0"/>
              <a:t>፡፡ </a:t>
            </a:r>
            <a:r>
              <a:rPr lang="en-US" sz="2400" dirty="0" err="1"/>
              <a:t>ከዚያ</a:t>
            </a:r>
            <a:r>
              <a:rPr lang="en-US" sz="2400" dirty="0"/>
              <a:t> </a:t>
            </a:r>
            <a:r>
              <a:rPr lang="en-US" sz="2400" dirty="0" err="1"/>
              <a:t>በፊት</a:t>
            </a:r>
            <a:r>
              <a:rPr lang="en-US" sz="2400" dirty="0"/>
              <a:t> </a:t>
            </a:r>
            <a:r>
              <a:rPr lang="en-US" sz="2400" dirty="0" err="1"/>
              <a:t>የክህነት</a:t>
            </a:r>
            <a:r>
              <a:rPr lang="en-US" sz="2400" dirty="0"/>
              <a:t> </a:t>
            </a:r>
            <a:r>
              <a:rPr lang="en-US" sz="2400" dirty="0" err="1"/>
              <a:t>አገልግሎት</a:t>
            </a:r>
            <a:r>
              <a:rPr lang="en-US" sz="2400" dirty="0"/>
              <a:t> </a:t>
            </a:r>
            <a:r>
              <a:rPr lang="en-US" sz="2400" dirty="0" err="1"/>
              <a:t>ባለመኖሩ</a:t>
            </a:r>
            <a:r>
              <a:rPr lang="en-US" sz="2400" dirty="0"/>
              <a:t> </a:t>
            </a:r>
            <a:r>
              <a:rPr lang="en-US" sz="2400" dirty="0" err="1"/>
              <a:t>ክርስትና</a:t>
            </a:r>
            <a:r>
              <a:rPr lang="en-US" sz="2400" dirty="0"/>
              <a:t> </a:t>
            </a:r>
            <a:r>
              <a:rPr lang="en-US" sz="2400" dirty="0" err="1"/>
              <a:t>ከገባበት</a:t>
            </a:r>
            <a:r>
              <a:rPr lang="en-US" sz="2400" dirty="0"/>
              <a:t> ከ35 </a:t>
            </a:r>
            <a:r>
              <a:rPr lang="en-US" sz="2400" dirty="0" err="1"/>
              <a:t>እስከ</a:t>
            </a:r>
            <a:r>
              <a:rPr lang="en-US" sz="2400" dirty="0"/>
              <a:t> 330 </a:t>
            </a:r>
            <a:r>
              <a:rPr lang="en-US" sz="2400" dirty="0" err="1"/>
              <a:t>ድረስ</a:t>
            </a:r>
            <a:r>
              <a:rPr lang="en-US" sz="2400" dirty="0"/>
              <a:t> </a:t>
            </a:r>
            <a:r>
              <a:rPr lang="en-US" sz="2400" dirty="0" err="1"/>
              <a:t>የክርስትናው</a:t>
            </a:r>
            <a:r>
              <a:rPr lang="en-US" sz="2400" dirty="0"/>
              <a:t> </a:t>
            </a:r>
            <a:r>
              <a:rPr lang="en-US" sz="2400" dirty="0" err="1"/>
              <a:t>ታሪክ</a:t>
            </a:r>
            <a:r>
              <a:rPr lang="en-US" sz="2400" dirty="0"/>
              <a:t> </a:t>
            </a:r>
            <a:r>
              <a:rPr lang="en-US" sz="2400" dirty="0" err="1"/>
              <a:t>የደበዘዘ</a:t>
            </a:r>
            <a:r>
              <a:rPr lang="en-US" sz="2400" dirty="0"/>
              <a:t> </a:t>
            </a:r>
            <a:r>
              <a:rPr lang="en-US" sz="2400" dirty="0" err="1"/>
              <a:t>ነው</a:t>
            </a:r>
            <a:r>
              <a:rPr lang="en-US" sz="2400" dirty="0"/>
              <a:t> </a:t>
            </a:r>
            <a:r>
              <a:rPr lang="en-US" sz="2400" dirty="0" err="1"/>
              <a:t>የክህነት</a:t>
            </a:r>
            <a:r>
              <a:rPr lang="en-US" sz="2400" dirty="0"/>
              <a:t> </a:t>
            </a:r>
            <a:r>
              <a:rPr lang="en-US" sz="2400" dirty="0" err="1"/>
              <a:t>አገልግሎት</a:t>
            </a:r>
            <a:r>
              <a:rPr lang="en-US" sz="2400" dirty="0"/>
              <a:t> </a:t>
            </a:r>
            <a:r>
              <a:rPr lang="en-US" sz="2400" dirty="0" err="1"/>
              <a:t>አልነበረምና</a:t>
            </a:r>
            <a:r>
              <a:rPr lang="en-US" sz="2400" dirty="0" smtClean="0"/>
              <a:t>፡፡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1783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የቀመለ…….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943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መ. ራስን </a:t>
            </a:r>
            <a:r>
              <a:rPr lang="am-ET" sz="2400" dirty="0" smtClean="0">
                <a:solidFill>
                  <a:srgbClr val="FF0000"/>
                </a:solidFill>
              </a:rPr>
              <a:t>አ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መስበክ 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Courier New" pitchFamily="49" charset="0"/>
              <a:buChar char="o"/>
            </a:pPr>
            <a:r>
              <a:rPr lang="am-ET" sz="2400" dirty="0" smtClean="0">
                <a:solidFill>
                  <a:srgbClr val="000000"/>
                </a:solidFill>
              </a:rPr>
              <a:t>ምንም </a:t>
            </a:r>
            <a:r>
              <a:rPr lang="am-ET" sz="2400" dirty="0">
                <a:solidFill>
                  <a:srgbClr val="000000"/>
                </a:solidFill>
              </a:rPr>
              <a:t>እንኳን </a:t>
            </a:r>
            <a:r>
              <a:rPr lang="am-ET" sz="2400" dirty="0" smtClean="0">
                <a:solidFill>
                  <a:srgbClr val="000000"/>
                </a:solidFill>
              </a:rPr>
              <a:t>በሥ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ጣን</a:t>
            </a:r>
            <a:r>
              <a:rPr lang="am-ET" sz="2400" dirty="0">
                <a:solidFill>
                  <a:srgbClr val="000000"/>
                </a:solidFill>
              </a:rPr>
              <a:t>፣ 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፣ በሕ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ውና</a:t>
            </a:r>
            <a:r>
              <a:rPr lang="am-ET" sz="2400" dirty="0">
                <a:solidFill>
                  <a:srgbClr val="000000"/>
                </a:solidFill>
              </a:rPr>
              <a:t>፣ በባሕርይ ከአብና </a:t>
            </a:r>
            <a:r>
              <a:rPr lang="am-ET" sz="2400" dirty="0" smtClean="0">
                <a:solidFill>
                  <a:srgbClr val="000000"/>
                </a:solidFill>
              </a:rPr>
              <a:t>ከመን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ስ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ጋር </a:t>
            </a:r>
            <a:r>
              <a:rPr lang="am-ET" sz="2400" dirty="0" smtClean="0">
                <a:solidFill>
                  <a:srgbClr val="000000"/>
                </a:solidFill>
              </a:rPr>
              <a:t>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ትክክ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ቢሆንም </a:t>
            </a:r>
            <a:r>
              <a:rPr lang="am-ET" sz="2400" dirty="0" smtClean="0">
                <a:solidFill>
                  <a:srgbClr val="000000"/>
                </a:solidFill>
              </a:rPr>
              <a:t>በተዋ</a:t>
            </a:r>
            <a:r>
              <a:rPr lang="en-GB" sz="2400" dirty="0" err="1" smtClean="0">
                <a:solidFill>
                  <a:srgbClr val="000000"/>
                </a:solidFill>
              </a:rPr>
              <a:t>ሐደ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ሥጋ ምክንያት </a:t>
            </a:r>
            <a:r>
              <a:rPr lang="am-ET" sz="2400" dirty="0" smtClean="0">
                <a:solidFill>
                  <a:srgbClr val="000000"/>
                </a:solidFill>
              </a:rPr>
              <a:t>ወ</a:t>
            </a:r>
            <a:r>
              <a:rPr lang="en-GB" sz="2400" dirty="0" err="1" smtClean="0">
                <a:solidFill>
                  <a:srgbClr val="000000"/>
                </a:solidFill>
              </a:rPr>
              <a:t>ልድ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ከአብ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የተ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ከና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አብ የታ</a:t>
            </a:r>
            <a:r>
              <a:rPr lang="en-GB" sz="2400" dirty="0" err="1" smtClean="0">
                <a:solidFill>
                  <a:srgbClr val="000000"/>
                </a:solidFill>
              </a:rPr>
              <a:t>ዘዘ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ነው፡፡ </a:t>
            </a:r>
            <a:r>
              <a:rPr lang="am-ET" sz="2400" dirty="0" smtClean="0">
                <a:solidFill>
                  <a:srgbClr val="0070C0"/>
                </a:solidFill>
              </a:rPr>
              <a:t>የ</a:t>
            </a:r>
            <a:r>
              <a:rPr lang="en-GB" sz="2400" dirty="0">
                <a:solidFill>
                  <a:srgbClr val="0070C0"/>
                </a:solidFill>
              </a:rPr>
              <a:t>ላ</a:t>
            </a:r>
            <a:r>
              <a:rPr lang="am-ET" sz="2400" dirty="0" smtClean="0">
                <a:solidFill>
                  <a:srgbClr val="0070C0"/>
                </a:solidFill>
              </a:rPr>
              <a:t>ከኝን </a:t>
            </a:r>
            <a:r>
              <a:rPr lang="en-GB" sz="2400" dirty="0">
                <a:solidFill>
                  <a:srgbClr val="0070C0"/>
                </a:solidFill>
              </a:rPr>
              <a:t>ፍ</a:t>
            </a:r>
            <a:r>
              <a:rPr lang="am-ET" sz="2400" dirty="0" smtClean="0">
                <a:solidFill>
                  <a:srgbClr val="0070C0"/>
                </a:solidFill>
              </a:rPr>
              <a:t>ቃ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እንጂ </a:t>
            </a:r>
            <a:r>
              <a:rPr lang="en-GB" sz="2400" dirty="0">
                <a:solidFill>
                  <a:srgbClr val="0070C0"/>
                </a:solidFill>
              </a:rPr>
              <a:t>ፍ</a:t>
            </a:r>
            <a:r>
              <a:rPr lang="am-ET" sz="2400" dirty="0" smtClean="0">
                <a:solidFill>
                  <a:srgbClr val="0070C0"/>
                </a:solidFill>
              </a:rPr>
              <a:t>ቃ</a:t>
            </a:r>
            <a:r>
              <a:rPr lang="en-GB" sz="2400" dirty="0">
                <a:solidFill>
                  <a:srgbClr val="0070C0"/>
                </a:solidFill>
              </a:rPr>
              <a:t>ዴ</a:t>
            </a:r>
            <a:r>
              <a:rPr lang="am-ET" sz="2400" dirty="0" smtClean="0">
                <a:solidFill>
                  <a:srgbClr val="0070C0"/>
                </a:solidFill>
              </a:rPr>
              <a:t>ን </a:t>
            </a:r>
            <a:r>
              <a:rPr lang="en-GB" sz="2400" dirty="0" err="1" smtClean="0">
                <a:solidFill>
                  <a:srgbClr val="0070C0"/>
                </a:solidFill>
              </a:rPr>
              <a:t>ላደ</a:t>
            </a:r>
            <a:r>
              <a:rPr lang="am-ET" sz="2400" dirty="0" smtClean="0">
                <a:solidFill>
                  <a:srgbClr val="0070C0"/>
                </a:solidFill>
              </a:rPr>
              <a:t>ርግ አ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ሻምና በማ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ት እን</a:t>
            </a:r>
            <a:r>
              <a:rPr lang="en-GB" sz="2400" dirty="0" smtClean="0">
                <a:solidFill>
                  <a:srgbClr val="0070C0"/>
                </a:solidFill>
              </a:rPr>
              <a:t>ደ</a:t>
            </a:r>
            <a:r>
              <a:rPr lang="am-ET" sz="2400" dirty="0" smtClean="0">
                <a:solidFill>
                  <a:srgbClr val="0070C0"/>
                </a:solidFill>
              </a:rPr>
              <a:t>ተናገርው</a:t>
            </a:r>
            <a:r>
              <a:rPr lang="am-ET" sz="2400" dirty="0">
                <a:solidFill>
                  <a:srgbClr val="0070C0"/>
                </a:solidFill>
              </a:rPr>
              <a:t>፡፡ </a:t>
            </a:r>
            <a:r>
              <a:rPr lang="am-ET" sz="2400" dirty="0" smtClean="0">
                <a:solidFill>
                  <a:srgbClr val="0070C0"/>
                </a:solidFill>
              </a:rPr>
              <a:t>ዮ</a:t>
            </a:r>
            <a:r>
              <a:rPr lang="en-GB" sz="2400" dirty="0">
                <a:solidFill>
                  <a:srgbClr val="0070C0"/>
                </a:solidFill>
              </a:rPr>
              <a:t>ሐ</a:t>
            </a:r>
            <a:r>
              <a:rPr lang="am-ET" sz="2400" dirty="0">
                <a:solidFill>
                  <a:srgbClr val="0070C0"/>
                </a:solidFill>
              </a:rPr>
              <a:t> </a:t>
            </a:r>
            <a:r>
              <a:rPr lang="am-ET" sz="2400" dirty="0" smtClean="0">
                <a:solidFill>
                  <a:srgbClr val="0070C0"/>
                </a:solidFill>
              </a:rPr>
              <a:t>5፡30</a:t>
            </a:r>
            <a:endParaRPr lang="en-GB" sz="24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Courier New" pitchFamily="49" charset="0"/>
              <a:buChar char="o"/>
            </a:pPr>
            <a:r>
              <a:rPr lang="am-ET" sz="2400" dirty="0" smtClean="0">
                <a:solidFill>
                  <a:srgbClr val="000000"/>
                </a:solidFill>
              </a:rPr>
              <a:t>መጥምቀ 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ኮት 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ንስም </a:t>
            </a:r>
            <a:r>
              <a:rPr lang="am-ET" sz="2400" dirty="0" smtClean="0">
                <a:solidFill>
                  <a:srgbClr val="FF0000"/>
                </a:solidFill>
              </a:rPr>
              <a:t>ስ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ራስህ ምን </a:t>
            </a:r>
            <a:r>
              <a:rPr lang="am-ET" sz="2400" dirty="0" smtClean="0">
                <a:solidFill>
                  <a:srgbClr val="FF0000"/>
                </a:solidFill>
              </a:rPr>
              <a:t>ት</a:t>
            </a:r>
            <a:r>
              <a:rPr lang="en-GB" sz="2400" dirty="0" err="1" smtClean="0">
                <a:solidFill>
                  <a:srgbClr val="FF0000"/>
                </a:solidFill>
              </a:rPr>
              <a:t>ላለ</a:t>
            </a:r>
            <a:r>
              <a:rPr lang="am-ET" sz="2400" dirty="0" smtClean="0">
                <a:solidFill>
                  <a:srgbClr val="FF0000"/>
                </a:solidFill>
              </a:rPr>
              <a:t>ህ</a:t>
            </a:r>
            <a:r>
              <a:rPr lang="am-ET" sz="2400" dirty="0" smtClean="0">
                <a:solidFill>
                  <a:srgbClr val="000000"/>
                </a:solidFill>
              </a:rPr>
              <a:t> ብ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ጠየቁት </a:t>
            </a:r>
            <a:r>
              <a:rPr lang="am-ET" sz="2400" dirty="0">
                <a:solidFill>
                  <a:srgbClr val="000000"/>
                </a:solidFill>
              </a:rPr>
              <a:t>የሰጠው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70C0"/>
                </a:solidFill>
              </a:rPr>
              <a:t>የጌታን </a:t>
            </a:r>
            <a:r>
              <a:rPr lang="am-ET" sz="2400" dirty="0" smtClean="0">
                <a:solidFill>
                  <a:srgbClr val="0070C0"/>
                </a:solidFill>
              </a:rPr>
              <a:t>መንገ</a:t>
            </a:r>
            <a:r>
              <a:rPr lang="en-GB" sz="2400" dirty="0" smtClean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አቅኑ </a:t>
            </a:r>
            <a:r>
              <a:rPr lang="am-ET" sz="2400" dirty="0" smtClean="0">
                <a:solidFill>
                  <a:srgbClr val="0070C0"/>
                </a:solidFill>
              </a:rPr>
              <a:t>ብ</a:t>
            </a:r>
            <a:r>
              <a:rPr lang="en-GB" sz="2400" dirty="0">
                <a:solidFill>
                  <a:srgbClr val="0070C0"/>
                </a:solidFill>
              </a:rPr>
              <a:t>ሎ</a:t>
            </a:r>
            <a:r>
              <a:rPr lang="am-ET" sz="2400" dirty="0" smtClean="0">
                <a:solidFill>
                  <a:srgbClr val="0070C0"/>
                </a:solidFill>
              </a:rPr>
              <a:t> በም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ረ በ</a:t>
            </a:r>
            <a:r>
              <a:rPr lang="en-GB" sz="2400" dirty="0">
                <a:solidFill>
                  <a:srgbClr val="0070C0"/>
                </a:solidFill>
              </a:rPr>
              <a:t>ዳ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የሚጮህ ሰው 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ምጽ </a:t>
            </a:r>
            <a:r>
              <a:rPr lang="am-ET" sz="2400" dirty="0">
                <a:solidFill>
                  <a:srgbClr val="0070C0"/>
                </a:solidFill>
              </a:rPr>
              <a:t>እኔ ነኝ</a:t>
            </a:r>
            <a:r>
              <a:rPr lang="am-ET" sz="2400" dirty="0">
                <a:solidFill>
                  <a:srgbClr val="000000"/>
                </a:solidFill>
              </a:rPr>
              <a:t> ብቻ ነበር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r>
              <a:rPr lang="am-ET" sz="2400" dirty="0">
                <a:solidFill>
                  <a:srgbClr val="000000"/>
                </a:solidFill>
              </a:rPr>
              <a:t>፡፡ </a:t>
            </a: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1፡23 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Courier New" pitchFamily="49" charset="0"/>
              <a:buChar char="o"/>
            </a:pP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ንስ </a:t>
            </a:r>
            <a:r>
              <a:rPr lang="am-ET" sz="2400" dirty="0">
                <a:solidFill>
                  <a:srgbClr val="000000"/>
                </a:solidFill>
              </a:rPr>
              <a:t>የክርስቶስን 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እንጂ የራሱን </a:t>
            </a:r>
            <a:r>
              <a:rPr lang="am-ET" sz="2400" dirty="0">
                <a:solidFill>
                  <a:srgbClr val="00B050"/>
                </a:solidFill>
              </a:rPr>
              <a:t>የሚያውቀውን እውነተኛ ታሪኩን እንኳን መናገር </a:t>
            </a:r>
            <a:r>
              <a:rPr lang="am-ET" sz="2400" dirty="0" smtClean="0">
                <a:solidFill>
                  <a:srgbClr val="00B050"/>
                </a:solidFill>
              </a:rPr>
              <a:t>አ</a:t>
            </a:r>
            <a:r>
              <a:rPr lang="en-GB" sz="2400" dirty="0" err="1">
                <a:solidFill>
                  <a:srgbClr val="00B050"/>
                </a:solidFill>
              </a:rPr>
              <a:t>ል</a:t>
            </a:r>
            <a:r>
              <a:rPr lang="en-GB" sz="2400" dirty="0" err="1" smtClean="0">
                <a:solidFill>
                  <a:srgbClr val="00B050"/>
                </a:solidFill>
              </a:rPr>
              <a:t>ፈለ</a:t>
            </a:r>
            <a:r>
              <a:rPr lang="am-ET" sz="2400" dirty="0" smtClean="0">
                <a:solidFill>
                  <a:srgbClr val="00B050"/>
                </a:solidFill>
              </a:rPr>
              <a:t>ገም</a:t>
            </a:r>
            <a:r>
              <a:rPr lang="am-ET" sz="2400" dirty="0">
                <a:solidFill>
                  <a:srgbClr val="00B050"/>
                </a:solidFill>
              </a:rPr>
              <a:t>፡፡</a:t>
            </a:r>
            <a:endParaRPr lang="en-GB" sz="24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54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1722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/>
              <a:t>ሐዋርያው</a:t>
            </a:r>
            <a:r>
              <a:rPr lang="en-US" sz="2000" dirty="0"/>
              <a:t> </a:t>
            </a:r>
            <a:r>
              <a:rPr lang="en-US" sz="2000" dirty="0" err="1"/>
              <a:t>ዮሐንስም</a:t>
            </a:r>
            <a:r>
              <a:rPr lang="en-US" sz="2000" dirty="0"/>
              <a:t> </a:t>
            </a:r>
            <a:r>
              <a:rPr lang="en-US" sz="2000" dirty="0" err="1"/>
              <a:t>በፍጥሞ</a:t>
            </a:r>
            <a:r>
              <a:rPr lang="en-US" sz="2000" dirty="0"/>
              <a:t> </a:t>
            </a:r>
            <a:r>
              <a:rPr lang="en-US" sz="2000" dirty="0" err="1"/>
              <a:t>ደሴት</a:t>
            </a:r>
            <a:r>
              <a:rPr lang="en-US" sz="2000" dirty="0"/>
              <a:t> </a:t>
            </a:r>
            <a:r>
              <a:rPr lang="en-US" sz="2000" dirty="0" err="1"/>
              <a:t>ታስሯል</a:t>
            </a:r>
            <a:r>
              <a:rPr lang="en-US" sz="2000" dirty="0"/>
              <a:t>፡፡ </a:t>
            </a:r>
            <a:r>
              <a:rPr lang="en-US" sz="2000" dirty="0" err="1"/>
              <a:t>የታሰረበት</a:t>
            </a:r>
            <a:r>
              <a:rPr lang="en-US" sz="2000" dirty="0"/>
              <a:t> </a:t>
            </a:r>
            <a:r>
              <a:rPr lang="en-US" sz="2000" dirty="0" err="1"/>
              <a:t>ቦታና</a:t>
            </a:r>
            <a:r>
              <a:rPr lang="en-US" sz="2000" dirty="0"/>
              <a:t> </a:t>
            </a:r>
            <a:r>
              <a:rPr lang="en-US" sz="2000" dirty="0" err="1"/>
              <a:t>ምክንያትም</a:t>
            </a:r>
            <a:r>
              <a:rPr lang="en-US" sz="2000" dirty="0"/>
              <a:t> </a:t>
            </a:r>
            <a:r>
              <a:rPr lang="en-US" sz="2000" dirty="0" err="1"/>
              <a:t>እንደ</a:t>
            </a:r>
            <a:r>
              <a:rPr lang="en-US" sz="2000" dirty="0"/>
              <a:t> </a:t>
            </a:r>
            <a:r>
              <a:rPr lang="en-US" sz="2000" dirty="0" err="1"/>
              <a:t>ሮማ</a:t>
            </a:r>
            <a:r>
              <a:rPr lang="en-US" sz="2000" dirty="0"/>
              <a:t> </a:t>
            </a:r>
            <a:r>
              <a:rPr lang="en-US" sz="2000" dirty="0" err="1"/>
              <a:t>ምክር</a:t>
            </a:r>
            <a:r>
              <a:rPr lang="en-US" sz="2000" dirty="0"/>
              <a:t> </a:t>
            </a:r>
            <a:r>
              <a:rPr lang="en-US" sz="2000" dirty="0" err="1"/>
              <a:t>ቤት</a:t>
            </a:r>
            <a:r>
              <a:rPr lang="en-US" sz="2000" dirty="0"/>
              <a:t> </a:t>
            </a:r>
            <a:r>
              <a:rPr lang="en-US" sz="2000" dirty="0" err="1"/>
              <a:t>ከባድ</a:t>
            </a:r>
            <a:r>
              <a:rPr lang="en-US" sz="2000" dirty="0"/>
              <a:t> </a:t>
            </a:r>
            <a:r>
              <a:rPr lang="en-US" sz="2000" dirty="0" err="1"/>
              <a:t>ነበር</a:t>
            </a:r>
            <a:r>
              <a:rPr lang="en-US" sz="2000" dirty="0"/>
              <a:t>፡፡ </a:t>
            </a:r>
            <a:r>
              <a:rPr lang="en-US" sz="2000" dirty="0" err="1"/>
              <a:t>ነገር</a:t>
            </a:r>
            <a:r>
              <a:rPr lang="en-US" sz="2000" dirty="0"/>
              <a:t> </a:t>
            </a:r>
            <a:r>
              <a:rPr lang="en-US" sz="2000" dirty="0" err="1"/>
              <a:t>ግን</a:t>
            </a:r>
            <a:r>
              <a:rPr lang="en-US" sz="2000" dirty="0"/>
              <a:t> ‹ </a:t>
            </a:r>
            <a:r>
              <a:rPr lang="en-US" sz="2000" dirty="0" err="1"/>
              <a:t>ስለ</a:t>
            </a:r>
            <a:r>
              <a:rPr lang="en-US" sz="2000" dirty="0"/>
              <a:t> </a:t>
            </a:r>
            <a:r>
              <a:rPr lang="en-US" sz="2000" dirty="0" err="1"/>
              <a:t>እግዚአብሔር</a:t>
            </a:r>
            <a:r>
              <a:rPr lang="en-US" sz="2000" dirty="0"/>
              <a:t> </a:t>
            </a:r>
            <a:r>
              <a:rPr lang="en-US" sz="2000" dirty="0" err="1"/>
              <a:t>ቃልና</a:t>
            </a:r>
            <a:r>
              <a:rPr lang="en-US" sz="2000" dirty="0"/>
              <a:t> </a:t>
            </a:r>
            <a:r>
              <a:rPr lang="en-US" sz="2000" dirty="0" err="1"/>
              <a:t>ስለ</a:t>
            </a:r>
            <a:r>
              <a:rPr lang="en-US" sz="2000" dirty="0"/>
              <a:t> </a:t>
            </a:r>
            <a:r>
              <a:rPr lang="en-US" sz="2000" dirty="0" err="1"/>
              <a:t>ኢየሱስ</a:t>
            </a:r>
            <a:r>
              <a:rPr lang="en-US" sz="2000" dirty="0"/>
              <a:t> </a:t>
            </a:r>
            <a:r>
              <a:rPr lang="en-US" sz="2000" dirty="0" err="1"/>
              <a:t>ክርሰቶሰ</a:t>
            </a:r>
            <a:r>
              <a:rPr lang="en-US" sz="2000" dirty="0"/>
              <a:t> </a:t>
            </a:r>
            <a:r>
              <a:rPr lang="en-US" sz="2000" dirty="0" err="1"/>
              <a:t>ምስክር</a:t>
            </a:r>
            <a:r>
              <a:rPr lang="en-US" sz="2000" dirty="0"/>
              <a:t> </a:t>
            </a:r>
            <a:r>
              <a:rPr lang="en-US" sz="2000" dirty="0" err="1"/>
              <a:t>ፍጥሞ</a:t>
            </a:r>
            <a:r>
              <a:rPr lang="en-US" sz="2000" dirty="0"/>
              <a:t> </a:t>
            </a:r>
            <a:r>
              <a:rPr lang="en-US" sz="2000" dirty="0" err="1"/>
              <a:t>በምትባል</a:t>
            </a:r>
            <a:r>
              <a:rPr lang="en-US" sz="2000" dirty="0"/>
              <a:t> </a:t>
            </a:r>
            <a:r>
              <a:rPr lang="en-US" sz="2000" dirty="0" err="1"/>
              <a:t>ደሴት</a:t>
            </a:r>
            <a:r>
              <a:rPr lang="en-US" sz="2000" dirty="0"/>
              <a:t> </a:t>
            </a:r>
            <a:r>
              <a:rPr lang="en-US" sz="2000" dirty="0" err="1"/>
              <a:t>ነበርኩ</a:t>
            </a:r>
            <a:r>
              <a:rPr lang="en-US" sz="2000" dirty="0"/>
              <a:t>› </a:t>
            </a:r>
            <a:r>
              <a:rPr lang="en-US" sz="2000" dirty="0" err="1"/>
              <a:t>በማለት</a:t>
            </a:r>
            <a:r>
              <a:rPr lang="en-US" sz="2000" dirty="0"/>
              <a:t> </a:t>
            </a:r>
            <a:r>
              <a:rPr lang="en-US" sz="2000" dirty="0" err="1"/>
              <a:t>ብቻ</a:t>
            </a:r>
            <a:r>
              <a:rPr lang="en-US" sz="2000" dirty="0"/>
              <a:t> </a:t>
            </a:r>
            <a:r>
              <a:rPr lang="en-US" sz="2000" dirty="0" err="1"/>
              <a:t>ነበር</a:t>
            </a:r>
            <a:r>
              <a:rPr lang="en-US" sz="2000" dirty="0"/>
              <a:t> </a:t>
            </a:r>
            <a:r>
              <a:rPr lang="en-US" sz="2000" dirty="0" err="1" smtClean="0"/>
              <a:t>ራዕዩን</a:t>
            </a:r>
            <a:r>
              <a:rPr lang="en-US" sz="2000" dirty="0" smtClean="0"/>
              <a:t> </a:t>
            </a:r>
            <a:r>
              <a:rPr lang="en-US" sz="2000" dirty="0" err="1"/>
              <a:t>የጻፈው</a:t>
            </a:r>
            <a:r>
              <a:rPr lang="en-US" sz="2000" dirty="0"/>
              <a:t> / </a:t>
            </a:r>
            <a:r>
              <a:rPr lang="en-US" sz="2000" dirty="0" err="1"/>
              <a:t>ራዕ</a:t>
            </a:r>
            <a:r>
              <a:rPr lang="en-US" sz="2000" dirty="0"/>
              <a:t> 1፡19</a:t>
            </a:r>
            <a:r>
              <a:rPr lang="en-US" sz="2000" dirty="0" smtClean="0"/>
              <a:t>/</a:t>
            </a:r>
          </a:p>
          <a:p>
            <a:pPr lvl="0">
              <a:lnSpc>
                <a:spcPct val="150000"/>
              </a:lnSpc>
            </a:pPr>
            <a:r>
              <a:rPr lang="en-US" sz="2000" dirty="0" err="1"/>
              <a:t>የእግዚአብሔርን</a:t>
            </a:r>
            <a:r>
              <a:rPr lang="en-US" sz="2000" dirty="0"/>
              <a:t> </a:t>
            </a:r>
            <a:r>
              <a:rPr lang="en-US" sz="2000" dirty="0" err="1"/>
              <a:t>መንግስት</a:t>
            </a:r>
            <a:r>
              <a:rPr lang="en-US" sz="2000" dirty="0"/>
              <a:t> </a:t>
            </a:r>
            <a:r>
              <a:rPr lang="en-US" sz="2000" dirty="0" err="1"/>
              <a:t>ወንጌል</a:t>
            </a:r>
            <a:r>
              <a:rPr lang="en-US" sz="2000" dirty="0"/>
              <a:t> </a:t>
            </a:r>
            <a:r>
              <a:rPr lang="en-US" sz="2000" dirty="0" err="1"/>
              <a:t>የሚሰብክ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en-US" sz="2000" dirty="0" err="1"/>
              <a:t>ሐዋርያት</a:t>
            </a:r>
            <a:r>
              <a:rPr lang="en-US" sz="2000" dirty="0"/>
              <a:t> </a:t>
            </a:r>
            <a:r>
              <a:rPr lang="en-US" sz="2000" dirty="0" err="1"/>
              <a:t>የሰበኩትን</a:t>
            </a:r>
            <a:r>
              <a:rPr lang="en-US" sz="2000" dirty="0"/>
              <a:t> </a:t>
            </a:r>
            <a:r>
              <a:rPr lang="en-US" sz="2000" dirty="0" err="1"/>
              <a:t>የተጋደሉለትን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en-US" sz="2000" dirty="0" err="1"/>
              <a:t>ሊቀውንት</a:t>
            </a:r>
            <a:r>
              <a:rPr lang="en-US" sz="2000" dirty="0"/>
              <a:t> </a:t>
            </a:r>
            <a:r>
              <a:rPr lang="en-US" sz="2000" dirty="0" err="1"/>
              <a:t>የተረጐሙትንና</a:t>
            </a:r>
            <a:r>
              <a:rPr lang="en-US" sz="2000" dirty="0"/>
              <a:t> </a:t>
            </a:r>
            <a:r>
              <a:rPr lang="en-US" sz="2000" dirty="0" err="1"/>
              <a:t>ያመሰጠሩትን</a:t>
            </a:r>
            <a:endParaRPr lang="en-US" sz="2000" dirty="0"/>
          </a:p>
          <a:p>
            <a:pPr lvl="0">
              <a:lnSpc>
                <a:spcPct val="150000"/>
              </a:lnSpc>
            </a:pPr>
            <a:r>
              <a:rPr lang="en-US" sz="2000" dirty="0" err="1"/>
              <a:t>ሰማዕታት</a:t>
            </a:r>
            <a:r>
              <a:rPr lang="en-US" sz="2000" dirty="0"/>
              <a:t> </a:t>
            </a:r>
            <a:r>
              <a:rPr lang="en-US" sz="2000" dirty="0" err="1"/>
              <a:t>የተለያዩ</a:t>
            </a:r>
            <a:r>
              <a:rPr lang="en-US" sz="2000" dirty="0"/>
              <a:t> </a:t>
            </a:r>
            <a:r>
              <a:rPr lang="en-US" sz="2000" dirty="0" err="1"/>
              <a:t>ፀዋተው</a:t>
            </a:r>
            <a:r>
              <a:rPr lang="en-US" sz="2000" dirty="0"/>
              <a:t> </a:t>
            </a:r>
            <a:r>
              <a:rPr lang="en-US" sz="2000" dirty="0" err="1"/>
              <a:t>መከራዎችን</a:t>
            </a:r>
            <a:r>
              <a:rPr lang="en-US" sz="2000" dirty="0"/>
              <a:t> </a:t>
            </a:r>
            <a:r>
              <a:rPr lang="en-US" sz="2000" dirty="0" err="1"/>
              <a:t>የተቀበሉበትን</a:t>
            </a:r>
            <a:r>
              <a:rPr lang="en-US" sz="2000" dirty="0"/>
              <a:t> </a:t>
            </a:r>
            <a:r>
              <a:rPr lang="en-US" sz="2000" dirty="0" err="1"/>
              <a:t>ክርስቶስን</a:t>
            </a:r>
            <a:r>
              <a:rPr lang="en-US" sz="2000" dirty="0"/>
              <a:t>  </a:t>
            </a:r>
            <a:r>
              <a:rPr lang="en-US" sz="2000" dirty="0" err="1"/>
              <a:t>የሚሰብክ</a:t>
            </a:r>
            <a:r>
              <a:rPr lang="en-US" sz="2000" dirty="0"/>
              <a:t> </a:t>
            </a:r>
            <a:r>
              <a:rPr lang="en-US" sz="2000" dirty="0" err="1"/>
              <a:t>ሰባኪ</a:t>
            </a:r>
            <a:r>
              <a:rPr lang="en-US" sz="2000" dirty="0"/>
              <a:t> </a:t>
            </a:r>
            <a:r>
              <a:rPr lang="en-US" sz="2000" dirty="0" err="1"/>
              <a:t>የራሱን</a:t>
            </a:r>
            <a:r>
              <a:rPr lang="en-US" sz="2000" dirty="0"/>
              <a:t> </a:t>
            </a:r>
            <a:r>
              <a:rPr lang="en-US" sz="2000" dirty="0" err="1"/>
              <a:t>ነገር</a:t>
            </a:r>
            <a:r>
              <a:rPr lang="en-US" sz="2000" dirty="0"/>
              <a:t> </a:t>
            </a:r>
            <a:r>
              <a:rPr lang="en-US" sz="2000" dirty="0" err="1"/>
              <a:t>መናገር</a:t>
            </a:r>
            <a:r>
              <a:rPr lang="en-US" sz="2000" dirty="0"/>
              <a:t> </a:t>
            </a:r>
            <a:r>
              <a:rPr lang="en-US" sz="2000" dirty="0" err="1"/>
              <a:t>የለበትም</a:t>
            </a:r>
            <a:r>
              <a:rPr lang="en-US" sz="2000" dirty="0" smtClean="0"/>
              <a:t>፡፡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‹</a:t>
            </a:r>
            <a:r>
              <a:rPr lang="en-US" sz="2000" dirty="0" err="1">
                <a:solidFill>
                  <a:srgbClr val="0070C0"/>
                </a:solidFill>
              </a:rPr>
              <a:t>ብዙ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ሰዎች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ቸርነታቸውን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ያወራሉ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የታመነውን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ሰው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ግን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ማን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ያገኘዋል</a:t>
            </a:r>
            <a:r>
              <a:rPr lang="en-US" sz="2000" dirty="0">
                <a:solidFill>
                  <a:srgbClr val="0070C0"/>
                </a:solidFill>
              </a:rPr>
              <a:t>› </a:t>
            </a:r>
            <a:r>
              <a:rPr lang="en-US" sz="2000" dirty="0" err="1">
                <a:solidFill>
                  <a:srgbClr val="0070C0"/>
                </a:solidFill>
              </a:rPr>
              <a:t>ምሳ</a:t>
            </a:r>
            <a:r>
              <a:rPr lang="en-US" sz="2000" dirty="0">
                <a:solidFill>
                  <a:srgbClr val="0070C0"/>
                </a:solidFill>
              </a:rPr>
              <a:t> 20፡6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‹</a:t>
            </a:r>
            <a:r>
              <a:rPr lang="en-US" sz="2000" dirty="0" err="1">
                <a:solidFill>
                  <a:srgbClr val="0070C0"/>
                </a:solidFill>
              </a:rPr>
              <a:t>እግዚአብሔር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የላክው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የእግዚአብሔር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ቃለ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ይናገራል</a:t>
            </a:r>
            <a:r>
              <a:rPr lang="en-US" sz="2000" dirty="0">
                <a:solidFill>
                  <a:srgbClr val="0070C0"/>
                </a:solidFill>
              </a:rPr>
              <a:t>› </a:t>
            </a:r>
            <a:r>
              <a:rPr lang="en-US" sz="2000" dirty="0" err="1">
                <a:solidFill>
                  <a:srgbClr val="0070C0"/>
                </a:solidFill>
              </a:rPr>
              <a:t>ዮሐ</a:t>
            </a:r>
            <a:r>
              <a:rPr lang="en-US" sz="2000" dirty="0">
                <a:solidFill>
                  <a:srgbClr val="0070C0"/>
                </a:solidFill>
              </a:rPr>
              <a:t>. 3፡34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‹ </a:t>
            </a:r>
            <a:r>
              <a:rPr lang="en-US" sz="2000" dirty="0" err="1">
                <a:solidFill>
                  <a:srgbClr val="0070C0"/>
                </a:solidFill>
              </a:rPr>
              <a:t>ልቡናዬ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መልካም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ነገርን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አፈለቀ</a:t>
            </a:r>
            <a:r>
              <a:rPr lang="en-US" sz="2000" dirty="0">
                <a:solidFill>
                  <a:srgbClr val="0070C0"/>
                </a:solidFill>
              </a:rPr>
              <a:t> /</a:t>
            </a:r>
            <a:r>
              <a:rPr lang="en-US" sz="2000" dirty="0" err="1">
                <a:solidFill>
                  <a:srgbClr val="0070C0"/>
                </a:solidFill>
              </a:rPr>
              <a:t>አወጣ</a:t>
            </a:r>
            <a:r>
              <a:rPr lang="en-US" sz="2000" dirty="0">
                <a:solidFill>
                  <a:srgbClr val="0070C0"/>
                </a:solidFill>
              </a:rPr>
              <a:t>/ </a:t>
            </a:r>
            <a:r>
              <a:rPr lang="en-US" sz="2000" dirty="0" err="1">
                <a:solidFill>
                  <a:srgbClr val="0070C0"/>
                </a:solidFill>
              </a:rPr>
              <a:t>ዳዊት</a:t>
            </a:r>
            <a:r>
              <a:rPr lang="en-US" sz="2000" dirty="0">
                <a:solidFill>
                  <a:srgbClr val="0070C0"/>
                </a:solidFill>
              </a:rPr>
              <a:t> ፣</a:t>
            </a:r>
            <a:r>
              <a:rPr lang="en-US" sz="2000" dirty="0" err="1">
                <a:solidFill>
                  <a:srgbClr val="0070C0"/>
                </a:solidFill>
              </a:rPr>
              <a:t>ሕርያቆስ</a:t>
            </a:r>
            <a:r>
              <a:rPr lang="en-US" sz="2000" dirty="0">
                <a:solidFill>
                  <a:srgbClr val="0070C0"/>
                </a:solidFill>
              </a:rPr>
              <a:t>›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‹</a:t>
            </a:r>
            <a:r>
              <a:rPr lang="en-US" sz="2000" dirty="0" err="1">
                <a:solidFill>
                  <a:srgbClr val="0070C0"/>
                </a:solidFill>
              </a:rPr>
              <a:t>እኛ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ግን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የተሰቀለውን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ክርስቶስን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እንሰብካለን</a:t>
            </a:r>
            <a:r>
              <a:rPr lang="en-US" sz="2000" dirty="0">
                <a:solidFill>
                  <a:srgbClr val="0070C0"/>
                </a:solidFill>
              </a:rPr>
              <a:t>› 1ቆሮ 1፡23 </a:t>
            </a:r>
            <a:r>
              <a:rPr lang="en-US" sz="2000" dirty="0" err="1">
                <a:solidFill>
                  <a:srgbClr val="0070C0"/>
                </a:solidFill>
              </a:rPr>
              <a:t>እንዲል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እንደተባለ</a:t>
            </a:r>
            <a:r>
              <a:rPr lang="en-US" sz="2000" dirty="0">
                <a:solidFill>
                  <a:srgbClr val="0070C0"/>
                </a:solidFill>
              </a:rPr>
              <a:t>፡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0070C0"/>
                </a:solidFill>
              </a:rPr>
              <a:t>እንዲሁም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ቅዱስ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ጳውሎስ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ለጢሞቲዎስ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በላከው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መልእክቱ</a:t>
            </a:r>
            <a:r>
              <a:rPr lang="en-US" sz="2000" dirty="0">
                <a:solidFill>
                  <a:srgbClr val="0070C0"/>
                </a:solidFill>
              </a:rPr>
              <a:t> 1ኛ </a:t>
            </a:r>
            <a:r>
              <a:rPr lang="en-US" sz="2000" dirty="0" err="1">
                <a:solidFill>
                  <a:srgbClr val="0070C0"/>
                </a:solidFill>
              </a:rPr>
              <a:t>ጢሞ</a:t>
            </a:r>
            <a:r>
              <a:rPr lang="en-US" sz="2000" dirty="0">
                <a:solidFill>
                  <a:srgbClr val="0070C0"/>
                </a:solidFill>
              </a:rPr>
              <a:t> 4፡12 </a:t>
            </a:r>
            <a:r>
              <a:rPr lang="en-US" sz="2000" dirty="0" err="1">
                <a:solidFill>
                  <a:srgbClr val="0070C0"/>
                </a:solidFill>
              </a:rPr>
              <a:t>ላይ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ለሚያምኑቱ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ምሳሌ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ሁን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እንዳለን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አንድ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ሰባኪ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እራሱን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እየሰበከ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መኖር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እንደሌለበት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ተምረናል</a:t>
            </a:r>
            <a:r>
              <a:rPr lang="en-US" sz="2000" dirty="0" smtClean="0">
                <a:solidFill>
                  <a:srgbClr val="0070C0"/>
                </a:solidFill>
              </a:rPr>
              <a:t>፡፡</a:t>
            </a:r>
          </a:p>
        </p:txBody>
      </p:sp>
    </p:spTree>
    <p:extLst>
      <p:ext uri="{BB962C8B-B14F-4D97-AF65-F5344CB8AC3E}">
        <p14:creationId xmlns:p14="http://schemas.microsoft.com/office/powerpoint/2010/main" val="256414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የቀመለ…….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943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000" dirty="0" smtClean="0">
                <a:solidFill>
                  <a:srgbClr val="FF0000"/>
                </a:solidFill>
              </a:rPr>
              <a:t>ሠ</a:t>
            </a:r>
            <a:r>
              <a:rPr lang="am-ET" sz="2000" dirty="0">
                <a:solidFill>
                  <a:srgbClr val="FF0000"/>
                </a:solidFill>
              </a:rPr>
              <a:t>. </a:t>
            </a:r>
            <a:r>
              <a:rPr lang="am-ET" sz="2000" dirty="0" smtClean="0">
                <a:solidFill>
                  <a:srgbClr val="FF0000"/>
                </a:solidFill>
              </a:rPr>
              <a:t>የተሰባክያንን </a:t>
            </a:r>
            <a:r>
              <a:rPr lang="am-ET" sz="2000" dirty="0">
                <a:solidFill>
                  <a:srgbClr val="FF0000"/>
                </a:solidFill>
              </a:rPr>
              <a:t>ሥነ ሌቡና </a:t>
            </a:r>
            <a:r>
              <a:rPr lang="am-ET" sz="2000" dirty="0" smtClean="0">
                <a:solidFill>
                  <a:srgbClr val="FF0000"/>
                </a:solidFill>
              </a:rPr>
              <a:t>መረ</a:t>
            </a:r>
            <a:r>
              <a:rPr lang="en-GB" sz="2000" dirty="0">
                <a:solidFill>
                  <a:srgbClr val="FF0000"/>
                </a:solidFill>
              </a:rPr>
              <a:t>ዳ</a:t>
            </a:r>
            <a:r>
              <a:rPr lang="am-ET" sz="2000" dirty="0" smtClean="0">
                <a:solidFill>
                  <a:srgbClr val="FF0000"/>
                </a:solidFill>
              </a:rPr>
              <a:t>ት</a:t>
            </a:r>
            <a:endParaRPr lang="am-ET" sz="2000" dirty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 err="1"/>
              <a:t>በመማር</a:t>
            </a:r>
            <a:r>
              <a:rPr lang="en-US" sz="1800" dirty="0"/>
              <a:t> </a:t>
            </a:r>
            <a:r>
              <a:rPr lang="en-US" sz="1800" dirty="0" err="1"/>
              <a:t>ማስተማር</a:t>
            </a:r>
            <a:r>
              <a:rPr lang="en-US" sz="1800" dirty="0"/>
              <a:t> </a:t>
            </a:r>
            <a:r>
              <a:rPr lang="en-US" sz="1800" dirty="0" err="1"/>
              <a:t>ሂደት</a:t>
            </a:r>
            <a:r>
              <a:rPr lang="en-US" sz="1800" dirty="0"/>
              <a:t> </a:t>
            </a:r>
            <a:r>
              <a:rPr lang="en-US" sz="1800" dirty="0" err="1"/>
              <a:t>ውስጥ</a:t>
            </a:r>
            <a:r>
              <a:rPr lang="en-US" sz="1800" dirty="0"/>
              <a:t> </a:t>
            </a:r>
            <a:r>
              <a:rPr lang="en-US" sz="1800" dirty="0" err="1"/>
              <a:t>የተሰባክያንን</a:t>
            </a:r>
            <a:r>
              <a:rPr lang="en-US" sz="1800" dirty="0"/>
              <a:t> </a:t>
            </a:r>
            <a:r>
              <a:rPr lang="en-US" sz="1800" dirty="0" err="1"/>
              <a:t>ስነ</a:t>
            </a:r>
            <a:r>
              <a:rPr lang="en-US" sz="1800" dirty="0"/>
              <a:t> </a:t>
            </a:r>
            <a:r>
              <a:rPr lang="en-US" sz="1800" dirty="0" err="1"/>
              <a:t>ልቡና</a:t>
            </a:r>
            <a:r>
              <a:rPr lang="en-US" sz="1800" dirty="0"/>
              <a:t> </a:t>
            </a:r>
            <a:r>
              <a:rPr lang="en-US" sz="1800" dirty="0" err="1"/>
              <a:t>ማወቅ</a:t>
            </a:r>
            <a:r>
              <a:rPr lang="en-US" sz="1800" dirty="0"/>
              <a:t> </a:t>
            </a:r>
            <a:r>
              <a:rPr lang="en-US" sz="1800" dirty="0" err="1"/>
              <a:t>ለስበከተ</a:t>
            </a:r>
            <a:r>
              <a:rPr lang="en-US" sz="1800" dirty="0"/>
              <a:t> </a:t>
            </a:r>
            <a:r>
              <a:rPr lang="en-US" sz="1800" dirty="0" err="1"/>
              <a:t>ወንጌል</a:t>
            </a:r>
            <a:r>
              <a:rPr lang="en-US" sz="1800" dirty="0"/>
              <a:t> </a:t>
            </a:r>
            <a:r>
              <a:rPr lang="en-US" sz="1800" dirty="0" err="1"/>
              <a:t>መስፋፋትና</a:t>
            </a:r>
            <a:r>
              <a:rPr lang="en-US" sz="1800" dirty="0"/>
              <a:t> </a:t>
            </a:r>
            <a:r>
              <a:rPr lang="en-US" sz="1800" dirty="0" err="1"/>
              <a:t>ውጤታማነት</a:t>
            </a:r>
            <a:r>
              <a:rPr lang="en-US" sz="1800" dirty="0"/>
              <a:t> </a:t>
            </a:r>
            <a:r>
              <a:rPr lang="en-US" sz="1800" dirty="0" err="1"/>
              <a:t>የላቀ</a:t>
            </a:r>
            <a:r>
              <a:rPr lang="en-US" sz="1800" dirty="0"/>
              <a:t> </a:t>
            </a:r>
            <a:r>
              <a:rPr lang="en-US" sz="1800" dirty="0" err="1"/>
              <a:t>አስተዋጽኦ</a:t>
            </a:r>
            <a:r>
              <a:rPr lang="en-US" sz="1800" dirty="0"/>
              <a:t> </a:t>
            </a:r>
            <a:r>
              <a:rPr lang="en-US" sz="1800" dirty="0" err="1"/>
              <a:t>አለው</a:t>
            </a:r>
            <a:r>
              <a:rPr lang="en-US" sz="1800" dirty="0"/>
              <a:t>፡፡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am-ET" sz="1800" dirty="0" smtClean="0">
                <a:solidFill>
                  <a:srgbClr val="000000"/>
                </a:solidFill>
              </a:rPr>
              <a:t>ጌታችን በ</a:t>
            </a:r>
            <a:r>
              <a:rPr lang="en-GB" sz="1800" dirty="0">
                <a:solidFill>
                  <a:srgbClr val="000000"/>
                </a:solidFill>
              </a:rPr>
              <a:t>ዚ</a:t>
            </a:r>
            <a:r>
              <a:rPr lang="am-ET" sz="1800" dirty="0" smtClean="0">
                <a:solidFill>
                  <a:srgbClr val="000000"/>
                </a:solidFill>
              </a:rPr>
              <a:t>ህ ም</a:t>
            </a:r>
            <a:r>
              <a:rPr lang="en-GB" sz="1800" dirty="0">
                <a:solidFill>
                  <a:srgbClr val="000000"/>
                </a:solidFill>
              </a:rPr>
              <a:t>ድ</a:t>
            </a:r>
            <a:r>
              <a:rPr lang="am-ET" sz="1800" dirty="0" smtClean="0">
                <a:solidFill>
                  <a:srgbClr val="000000"/>
                </a:solidFill>
              </a:rPr>
              <a:t>ር </a:t>
            </a:r>
            <a:r>
              <a:rPr lang="am-ET" sz="1800" dirty="0">
                <a:solidFill>
                  <a:srgbClr val="000000"/>
                </a:solidFill>
              </a:rPr>
              <a:t>በነበረበት </a:t>
            </a:r>
            <a:r>
              <a:rPr lang="am-ET" sz="1800" dirty="0" smtClean="0">
                <a:solidFill>
                  <a:srgbClr val="000000"/>
                </a:solidFill>
              </a:rPr>
              <a:t>ጊ</a:t>
            </a:r>
            <a:r>
              <a:rPr lang="en-GB" sz="1800" dirty="0">
                <a:solidFill>
                  <a:srgbClr val="000000"/>
                </a:solidFill>
              </a:rPr>
              <a:t>ዜ</a:t>
            </a:r>
            <a:r>
              <a:rPr lang="am-ET" sz="1800" dirty="0" smtClean="0">
                <a:solidFill>
                  <a:srgbClr val="000000"/>
                </a:solidFill>
              </a:rPr>
              <a:t> የተጠቀመበት </a:t>
            </a:r>
            <a:r>
              <a:rPr lang="en-GB" sz="1800" dirty="0" smtClean="0">
                <a:solidFill>
                  <a:srgbClr val="000000"/>
                </a:solidFill>
              </a:rPr>
              <a:t>ዘዴ </a:t>
            </a:r>
            <a:r>
              <a:rPr lang="am-ET" sz="1800" dirty="0" smtClean="0">
                <a:solidFill>
                  <a:srgbClr val="00B050"/>
                </a:solidFill>
              </a:rPr>
              <a:t>የአ</a:t>
            </a:r>
            <a:r>
              <a:rPr lang="en-GB" sz="1800" dirty="0">
                <a:solidFill>
                  <a:srgbClr val="00B050"/>
                </a:solidFill>
              </a:rPr>
              <a:t>ድ</a:t>
            </a:r>
            <a:r>
              <a:rPr lang="am-ET" sz="1800" dirty="0" smtClean="0">
                <a:solidFill>
                  <a:srgbClr val="00B050"/>
                </a:solidFill>
              </a:rPr>
              <a:t>ማጮችን የ</a:t>
            </a:r>
            <a:r>
              <a:rPr lang="en-US" sz="1800" dirty="0">
                <a:solidFill>
                  <a:srgbClr val="00B050"/>
                </a:solidFill>
              </a:rPr>
              <a:t>ል</a:t>
            </a:r>
            <a:r>
              <a:rPr lang="am-ET" sz="1800" dirty="0" smtClean="0">
                <a:solidFill>
                  <a:srgbClr val="00B050"/>
                </a:solidFill>
              </a:rPr>
              <a:t>ብ </a:t>
            </a:r>
            <a:r>
              <a:rPr lang="en-GB" sz="1800" dirty="0" err="1" smtClean="0">
                <a:solidFill>
                  <a:srgbClr val="00B050"/>
                </a:solidFill>
              </a:rPr>
              <a:t>ፍላ</a:t>
            </a:r>
            <a:r>
              <a:rPr lang="am-ET" sz="1800" dirty="0" smtClean="0">
                <a:solidFill>
                  <a:srgbClr val="00B050"/>
                </a:solidFill>
              </a:rPr>
              <a:t>ጏት  መረ</a:t>
            </a:r>
            <a:r>
              <a:rPr lang="en-GB" sz="1800" dirty="0">
                <a:solidFill>
                  <a:srgbClr val="00B050"/>
                </a:solidFill>
              </a:rPr>
              <a:t>ዳ</a:t>
            </a:r>
            <a:r>
              <a:rPr lang="am-ET" sz="1800" dirty="0" smtClean="0">
                <a:solidFill>
                  <a:srgbClr val="00B050"/>
                </a:solidFill>
              </a:rPr>
              <a:t>ት </a:t>
            </a:r>
            <a:r>
              <a:rPr lang="am-ET" sz="1800" dirty="0">
                <a:solidFill>
                  <a:srgbClr val="00B050"/>
                </a:solidFill>
              </a:rPr>
              <a:t>ነበር</a:t>
            </a:r>
            <a:r>
              <a:rPr lang="am-ET" sz="2000" dirty="0">
                <a:solidFill>
                  <a:srgbClr val="00B050"/>
                </a:solidFill>
              </a:rPr>
              <a:t>፡፡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000" dirty="0" smtClean="0">
                <a:solidFill>
                  <a:srgbClr val="000000"/>
                </a:solidFill>
              </a:rPr>
              <a:t> </a:t>
            </a:r>
            <a:r>
              <a:rPr lang="en-GB" sz="2000" dirty="0">
                <a:solidFill>
                  <a:srgbClr val="000000"/>
                </a:solidFill>
              </a:rPr>
              <a:t>ሊ</a:t>
            </a:r>
            <a:r>
              <a:rPr lang="am-ET" sz="2000" dirty="0" smtClean="0">
                <a:solidFill>
                  <a:srgbClr val="000000"/>
                </a:solidFill>
              </a:rPr>
              <a:t>ጠይቁት እን</a:t>
            </a:r>
            <a:r>
              <a:rPr lang="en-GB" sz="2000" dirty="0" err="1" smtClean="0">
                <a:solidFill>
                  <a:srgbClr val="000000"/>
                </a:solidFill>
              </a:rPr>
              <a:t>ደሚፈል</a:t>
            </a:r>
            <a:r>
              <a:rPr lang="am-ET" sz="2000" dirty="0" smtClean="0">
                <a:solidFill>
                  <a:srgbClr val="000000"/>
                </a:solidFill>
              </a:rPr>
              <a:t>ጉ </a:t>
            </a:r>
            <a:r>
              <a:rPr lang="am-ET" sz="2000" dirty="0">
                <a:solidFill>
                  <a:srgbClr val="000000"/>
                </a:solidFill>
              </a:rPr>
              <a:t>ማውቀና </a:t>
            </a:r>
            <a:r>
              <a:rPr lang="am-ET" sz="2000" dirty="0" smtClean="0">
                <a:solidFill>
                  <a:srgbClr val="000000"/>
                </a:solidFill>
              </a:rPr>
              <a:t>መረ</a:t>
            </a:r>
            <a:r>
              <a:rPr lang="en-GB" sz="2000" dirty="0">
                <a:solidFill>
                  <a:srgbClr val="000000"/>
                </a:solidFill>
              </a:rPr>
              <a:t>ዳ</a:t>
            </a:r>
            <a:r>
              <a:rPr lang="am-ET" sz="2000" dirty="0" smtClean="0">
                <a:solidFill>
                  <a:srgbClr val="000000"/>
                </a:solidFill>
              </a:rPr>
              <a:t>ት</a:t>
            </a:r>
            <a:endParaRPr lang="en-GB" sz="20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000" dirty="0" smtClean="0">
                <a:solidFill>
                  <a:srgbClr val="000000"/>
                </a:solidFill>
              </a:rPr>
              <a:t>መ</a:t>
            </a:r>
            <a:r>
              <a:rPr lang="en-GB" sz="2000" dirty="0">
                <a:solidFill>
                  <a:srgbClr val="000000"/>
                </a:solidFill>
              </a:rPr>
              <a:t>ዳ</a:t>
            </a:r>
            <a:r>
              <a:rPr lang="am-ET" sz="2000" dirty="0" smtClean="0">
                <a:solidFill>
                  <a:srgbClr val="000000"/>
                </a:solidFill>
              </a:rPr>
              <a:t>ን እን</a:t>
            </a:r>
            <a:r>
              <a:rPr lang="en-GB" sz="2000" dirty="0" err="1" smtClean="0">
                <a:solidFill>
                  <a:srgbClr val="000000"/>
                </a:solidFill>
              </a:rPr>
              <a:t>ደሚ</a:t>
            </a:r>
            <a:r>
              <a:rPr lang="am-ET" sz="2000" dirty="0" smtClean="0">
                <a:solidFill>
                  <a:srgbClr val="000000"/>
                </a:solidFill>
              </a:rPr>
              <a:t>ወ</a:t>
            </a:r>
            <a:r>
              <a:rPr lang="en-GB" sz="2000" dirty="0">
                <a:solidFill>
                  <a:srgbClr val="000000"/>
                </a:solidFill>
              </a:rPr>
              <a:t>ዱ</a:t>
            </a:r>
            <a:r>
              <a:rPr lang="am-ET" sz="2000" dirty="0" smtClean="0">
                <a:solidFill>
                  <a:srgbClr val="000000"/>
                </a:solidFill>
              </a:rPr>
              <a:t> </a:t>
            </a:r>
            <a:r>
              <a:rPr lang="am-ET" sz="2000" dirty="0">
                <a:solidFill>
                  <a:srgbClr val="000000"/>
                </a:solidFill>
              </a:rPr>
              <a:t>ማወቅ፣ ጠይቆ </a:t>
            </a:r>
            <a:r>
              <a:rPr lang="am-ET" sz="2000" dirty="0" smtClean="0">
                <a:solidFill>
                  <a:srgbClr val="000000"/>
                </a:solidFill>
              </a:rPr>
              <a:t>መረ</a:t>
            </a:r>
            <a:r>
              <a:rPr lang="en-GB" sz="2000" dirty="0">
                <a:solidFill>
                  <a:srgbClr val="000000"/>
                </a:solidFill>
              </a:rPr>
              <a:t>ዳ</a:t>
            </a:r>
            <a:r>
              <a:rPr lang="am-ET" sz="2000" dirty="0" smtClean="0">
                <a:solidFill>
                  <a:srgbClr val="000000"/>
                </a:solidFill>
              </a:rPr>
              <a:t>ት</a:t>
            </a:r>
            <a:endParaRPr lang="en-GB" sz="20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000" dirty="0" smtClean="0">
                <a:solidFill>
                  <a:srgbClr val="000000"/>
                </a:solidFill>
              </a:rPr>
              <a:t>እን</a:t>
            </a:r>
            <a:r>
              <a:rPr lang="en-GB" sz="2000" dirty="0" smtClean="0">
                <a:solidFill>
                  <a:srgbClr val="000000"/>
                </a:solidFill>
              </a:rPr>
              <a:t>ደ</a:t>
            </a:r>
            <a:r>
              <a:rPr lang="am-ET" sz="2000" dirty="0" smtClean="0">
                <a:solidFill>
                  <a:srgbClr val="000000"/>
                </a:solidFill>
              </a:rPr>
              <a:t>ራባቸውና </a:t>
            </a:r>
            <a:r>
              <a:rPr lang="am-ET" sz="2000" dirty="0">
                <a:solidFill>
                  <a:srgbClr val="000000"/>
                </a:solidFill>
              </a:rPr>
              <a:t>ምግብ </a:t>
            </a:r>
            <a:r>
              <a:rPr lang="am-ET" sz="2000" dirty="0" smtClean="0">
                <a:solidFill>
                  <a:srgbClr val="000000"/>
                </a:solidFill>
              </a:rPr>
              <a:t>እን</a:t>
            </a:r>
            <a:r>
              <a:rPr lang="en-GB" sz="2000" dirty="0" smtClean="0">
                <a:solidFill>
                  <a:srgbClr val="000000"/>
                </a:solidFill>
              </a:rPr>
              <a:t>ደ</a:t>
            </a:r>
            <a:r>
              <a:rPr lang="am-ET" sz="2000" dirty="0" smtClean="0">
                <a:solidFill>
                  <a:srgbClr val="000000"/>
                </a:solidFill>
              </a:rPr>
              <a:t>ሚያስ</a:t>
            </a:r>
            <a:r>
              <a:rPr lang="en-GB" sz="2000" dirty="0" smtClean="0">
                <a:solidFill>
                  <a:srgbClr val="000000"/>
                </a:solidFill>
              </a:rPr>
              <a:t>ፈል</a:t>
            </a:r>
            <a:r>
              <a:rPr lang="am-ET" sz="2000" dirty="0" smtClean="0">
                <a:solidFill>
                  <a:srgbClr val="000000"/>
                </a:solidFill>
              </a:rPr>
              <a:t>ጋቸው መ</a:t>
            </a:r>
            <a:r>
              <a:rPr lang="en-GB" sz="2000" dirty="0" smtClean="0">
                <a:solidFill>
                  <a:srgbClr val="000000"/>
                </a:solidFill>
              </a:rPr>
              <a:t>ገ</a:t>
            </a:r>
            <a:r>
              <a:rPr lang="am-ET" sz="2000" dirty="0" smtClean="0">
                <a:solidFill>
                  <a:srgbClr val="000000"/>
                </a:solidFill>
              </a:rPr>
              <a:t>ን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ብ</a:t>
            </a:r>
            <a:endParaRPr lang="en-GB" sz="20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en-GB" sz="2000" dirty="0" err="1" smtClean="0">
                <a:solidFill>
                  <a:srgbClr val="000000"/>
                </a:solidFill>
              </a:rPr>
              <a:t>ሊፈ</a:t>
            </a:r>
            <a:r>
              <a:rPr lang="am-ET" sz="2000" dirty="0" smtClean="0">
                <a:solidFill>
                  <a:srgbClr val="000000"/>
                </a:solidFill>
              </a:rPr>
              <a:t>ትኑት እን</a:t>
            </a:r>
            <a:r>
              <a:rPr lang="en-GB" sz="2000" dirty="0" smtClean="0">
                <a:solidFill>
                  <a:srgbClr val="000000"/>
                </a:solidFill>
              </a:rPr>
              <a:t>ደ</a:t>
            </a:r>
            <a:r>
              <a:rPr lang="am-ET" sz="2000" dirty="0" smtClean="0">
                <a:solidFill>
                  <a:srgbClr val="000000"/>
                </a:solidFill>
              </a:rPr>
              <a:t>ሚጠየቁት </a:t>
            </a:r>
            <a:r>
              <a:rPr lang="am-ET" sz="2000" dirty="0">
                <a:solidFill>
                  <a:srgbClr val="000000"/>
                </a:solidFill>
              </a:rPr>
              <a:t>ማወቅ </a:t>
            </a:r>
            <a:r>
              <a:rPr lang="am-ET" sz="2000" dirty="0" smtClean="0">
                <a:solidFill>
                  <a:srgbClr val="000000"/>
                </a:solidFill>
              </a:rPr>
              <a:t>ወ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ተ</a:t>
            </a:r>
            <a:r>
              <a:rPr lang="am-ET" sz="2000" dirty="0">
                <a:solidFill>
                  <a:srgbClr val="000000"/>
                </a:solidFill>
              </a:rPr>
              <a:t>… </a:t>
            </a:r>
            <a:endParaRPr lang="en-GB" sz="2000" dirty="0" smtClean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000" dirty="0" smtClean="0">
                <a:solidFill>
                  <a:srgbClr val="0070C0"/>
                </a:solidFill>
              </a:rPr>
              <a:t>ተሰባኪን </a:t>
            </a:r>
            <a:r>
              <a:rPr lang="am-ET" sz="2000" dirty="0">
                <a:solidFill>
                  <a:srgbClr val="0070C0"/>
                </a:solidFill>
              </a:rPr>
              <a:t>ወይም </a:t>
            </a:r>
            <a:r>
              <a:rPr lang="am-ET" sz="2000" dirty="0" smtClean="0">
                <a:solidFill>
                  <a:srgbClr val="0070C0"/>
                </a:solidFill>
              </a:rPr>
              <a:t>አ</a:t>
            </a:r>
            <a:r>
              <a:rPr lang="en-GB" sz="2000" dirty="0">
                <a:solidFill>
                  <a:srgbClr val="0070C0"/>
                </a:solidFill>
              </a:rPr>
              <a:t>ድ</a:t>
            </a:r>
            <a:r>
              <a:rPr lang="am-ET" sz="2000" dirty="0" smtClean="0">
                <a:solidFill>
                  <a:srgbClr val="0070C0"/>
                </a:solidFill>
              </a:rPr>
              <a:t>ማጭን </a:t>
            </a:r>
            <a:r>
              <a:rPr lang="am-ET" sz="2000" dirty="0">
                <a:solidFill>
                  <a:srgbClr val="0070C0"/>
                </a:solidFill>
              </a:rPr>
              <a:t>የማወቅ ጠቀሜታው፡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am-ET" sz="2000" dirty="0">
                <a:solidFill>
                  <a:srgbClr val="000000"/>
                </a:solidFill>
              </a:rPr>
              <a:t>1. የትምህርቱን </a:t>
            </a:r>
            <a:r>
              <a:rPr lang="en-GB" sz="2000" dirty="0">
                <a:solidFill>
                  <a:srgbClr val="000000"/>
                </a:solidFill>
              </a:rPr>
              <a:t>ዓ</a:t>
            </a:r>
            <a:r>
              <a:rPr lang="am-ET" sz="2000" dirty="0" smtClean="0">
                <a:solidFill>
                  <a:srgbClr val="000000"/>
                </a:solidFill>
              </a:rPr>
              <a:t>ይነት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መምረጥ</a:t>
            </a:r>
            <a:r>
              <a:rPr lang="en-GB" sz="2000" dirty="0" smtClean="0">
                <a:solidFill>
                  <a:srgbClr val="000000"/>
                </a:solidFill>
              </a:rPr>
              <a:t>            </a:t>
            </a:r>
            <a:r>
              <a:rPr lang="am-ET" sz="2000" dirty="0" smtClean="0">
                <a:solidFill>
                  <a:srgbClr val="000000"/>
                </a:solidFill>
              </a:rPr>
              <a:t>2</a:t>
            </a:r>
            <a:r>
              <a:rPr lang="am-ET" sz="2000" dirty="0">
                <a:solidFill>
                  <a:srgbClr val="000000"/>
                </a:solidFill>
              </a:rPr>
              <a:t>. የትምህርቱን </a:t>
            </a:r>
            <a:r>
              <a:rPr lang="am-ET" sz="2000" dirty="0" smtClean="0">
                <a:solidFill>
                  <a:srgbClr val="000000"/>
                </a:solidFill>
              </a:rPr>
              <a:t>ይ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ት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መወሰን</a:t>
            </a:r>
            <a:endParaRPr lang="am-ET" sz="2000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000" dirty="0">
                <a:solidFill>
                  <a:srgbClr val="000000"/>
                </a:solidFill>
              </a:rPr>
              <a:t>3. የትምህርቱን መጠን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መወሰን</a:t>
            </a:r>
            <a:r>
              <a:rPr lang="en-GB" sz="2000" dirty="0" smtClean="0">
                <a:solidFill>
                  <a:srgbClr val="000000"/>
                </a:solidFill>
              </a:rPr>
              <a:t>             </a:t>
            </a:r>
            <a:r>
              <a:rPr lang="am-ET" sz="2000" dirty="0" smtClean="0">
                <a:solidFill>
                  <a:srgbClr val="000000"/>
                </a:solidFill>
              </a:rPr>
              <a:t>4</a:t>
            </a:r>
            <a:r>
              <a:rPr lang="am-ET" sz="2000" dirty="0">
                <a:solidFill>
                  <a:srgbClr val="000000"/>
                </a:solidFill>
              </a:rPr>
              <a:t>. የትምህርቱን </a:t>
            </a:r>
            <a:r>
              <a:rPr lang="am-ET" sz="2000" dirty="0" smtClean="0">
                <a:solidFill>
                  <a:srgbClr val="000000"/>
                </a:solidFill>
              </a:rPr>
              <a:t>ጊ</a:t>
            </a:r>
            <a:r>
              <a:rPr lang="en-GB" sz="2000" dirty="0">
                <a:solidFill>
                  <a:srgbClr val="000000"/>
                </a:solidFill>
              </a:rPr>
              <a:t>ዜ</a:t>
            </a:r>
            <a:r>
              <a:rPr lang="am-ET" sz="2000" dirty="0" smtClean="0">
                <a:solidFill>
                  <a:srgbClr val="000000"/>
                </a:solidFill>
              </a:rPr>
              <a:t>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መወሰን</a:t>
            </a:r>
            <a:endParaRPr lang="en-GB" sz="2000" dirty="0" smtClean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am-ET" sz="2000" dirty="0" smtClean="0">
                <a:solidFill>
                  <a:srgbClr val="000000"/>
                </a:solidFill>
              </a:rPr>
              <a:t>5</a:t>
            </a:r>
            <a:r>
              <a:rPr lang="am-ET" sz="2000" dirty="0">
                <a:solidFill>
                  <a:srgbClr val="000000"/>
                </a:solidFill>
              </a:rPr>
              <a:t>. የትምህርቱን አቀራረብ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መወሰን</a:t>
            </a:r>
            <a:r>
              <a:rPr lang="en-GB" sz="2000" dirty="0" smtClean="0">
                <a:solidFill>
                  <a:srgbClr val="000000"/>
                </a:solidFill>
              </a:rPr>
              <a:t>        </a:t>
            </a:r>
            <a:r>
              <a:rPr lang="am-ET" sz="2000" dirty="0" smtClean="0">
                <a:solidFill>
                  <a:srgbClr val="000000"/>
                </a:solidFill>
              </a:rPr>
              <a:t>6</a:t>
            </a:r>
            <a:r>
              <a:rPr lang="am-ET" sz="2000" dirty="0">
                <a:solidFill>
                  <a:srgbClr val="000000"/>
                </a:solidFill>
              </a:rPr>
              <a:t>. የምናስተምረበትን </a:t>
            </a:r>
            <a:r>
              <a:rPr lang="en-GB" sz="2000" dirty="0" err="1" smtClean="0">
                <a:solidFill>
                  <a:srgbClr val="000000"/>
                </a:solidFill>
              </a:rPr>
              <a:t>ዘዴ</a:t>
            </a:r>
            <a:r>
              <a:rPr lang="en-GB" sz="2000" dirty="0" smtClean="0">
                <a:solidFill>
                  <a:srgbClr val="000000"/>
                </a:solidFill>
              </a:rPr>
              <a:t> ለ</a:t>
            </a:r>
            <a:r>
              <a:rPr lang="am-ET" sz="2000" dirty="0" smtClean="0">
                <a:solidFill>
                  <a:srgbClr val="000000"/>
                </a:solidFill>
              </a:rPr>
              <a:t>መምረጥ</a:t>
            </a:r>
            <a:r>
              <a:rPr lang="en-GB" sz="2000" dirty="0" smtClean="0">
                <a:solidFill>
                  <a:srgbClr val="000000"/>
                </a:solidFill>
              </a:rPr>
              <a:t> ወዘተ</a:t>
            </a:r>
          </a:p>
        </p:txBody>
      </p:sp>
    </p:spTree>
    <p:extLst>
      <p:ext uri="{BB962C8B-B14F-4D97-AF65-F5344CB8AC3E}">
        <p14:creationId xmlns:p14="http://schemas.microsoft.com/office/powerpoint/2010/main" val="306831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B0F0"/>
                </a:solidFill>
              </a:rPr>
              <a:t>የቀመለ…….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20" y="838200"/>
            <a:ext cx="8991600" cy="6019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 ረ</a:t>
            </a:r>
            <a:r>
              <a:rPr lang="am-ET" sz="2400" dirty="0">
                <a:solidFill>
                  <a:srgbClr val="FF0000"/>
                </a:solidFill>
              </a:rPr>
              <a:t>. የስብከት </a:t>
            </a:r>
            <a:r>
              <a:rPr lang="am-ET" sz="2400" dirty="0" smtClean="0">
                <a:solidFill>
                  <a:srgbClr val="FF0000"/>
                </a:solidFill>
              </a:rPr>
              <a:t>ሰ</a:t>
            </a:r>
            <a:r>
              <a:rPr lang="en-GB" sz="2400" dirty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ትን </a:t>
            </a:r>
            <a:r>
              <a:rPr lang="am-ET" sz="2400" dirty="0">
                <a:solidFill>
                  <a:srgbClr val="FF0000"/>
                </a:solidFill>
              </a:rPr>
              <a:t>መጠበቅ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ሰባኪው ሰብከቱን ወጤታማ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ረግ </a:t>
            </a:r>
            <a:r>
              <a:rPr lang="am-ET" sz="2400" dirty="0" smtClean="0">
                <a:solidFill>
                  <a:schemeClr val="tx2"/>
                </a:solidFill>
              </a:rPr>
              <a:t>በጊ</a:t>
            </a:r>
            <a:r>
              <a:rPr lang="en-GB" sz="2400" dirty="0">
                <a:solidFill>
                  <a:schemeClr val="tx2"/>
                </a:solidFill>
              </a:rPr>
              <a:t>ዜ</a:t>
            </a:r>
            <a:r>
              <a:rPr lang="am-ET" sz="2400" dirty="0" smtClean="0">
                <a:solidFill>
                  <a:schemeClr val="tx2"/>
                </a:solidFill>
              </a:rPr>
              <a:t> </a:t>
            </a:r>
            <a:r>
              <a:rPr lang="am-ET" sz="2400" dirty="0">
                <a:solidFill>
                  <a:schemeClr val="tx2"/>
                </a:solidFill>
              </a:rPr>
              <a:t>መወሰን </a:t>
            </a:r>
            <a:r>
              <a:rPr lang="am-ET" sz="2400" dirty="0" smtClean="0">
                <a:solidFill>
                  <a:schemeClr val="tx2"/>
                </a:solidFill>
              </a:rPr>
              <a:t>ግ</a:t>
            </a:r>
            <a:r>
              <a:rPr lang="en-GB" sz="2400" dirty="0">
                <a:solidFill>
                  <a:schemeClr val="tx2"/>
                </a:solidFill>
              </a:rPr>
              <a:t>ድ</a:t>
            </a:r>
            <a:r>
              <a:rPr lang="am-ET" sz="2400" dirty="0" smtClean="0">
                <a:solidFill>
                  <a:schemeClr val="tx2"/>
                </a:solidFill>
              </a:rPr>
              <a:t> ይ</a:t>
            </a:r>
            <a:r>
              <a:rPr lang="en-GB" sz="2400" dirty="0" smtClean="0">
                <a:solidFill>
                  <a:schemeClr val="tx2"/>
                </a:solidFill>
              </a:rPr>
              <a:t>ለ</a:t>
            </a:r>
            <a:r>
              <a:rPr lang="am-ET" sz="2400" dirty="0" smtClean="0">
                <a:solidFill>
                  <a:schemeClr val="tx2"/>
                </a:solidFill>
              </a:rPr>
              <a:t>ዋ</a:t>
            </a:r>
            <a:r>
              <a:rPr lang="en-GB" sz="2400" dirty="0">
                <a:solidFill>
                  <a:schemeClr val="tx2"/>
                </a:solidFill>
              </a:rPr>
              <a:t>ል</a:t>
            </a:r>
            <a:r>
              <a:rPr lang="am-ET" sz="2400" dirty="0" smtClean="0">
                <a:solidFill>
                  <a:schemeClr val="tx2"/>
                </a:solidFill>
              </a:rPr>
              <a:t>፡፡ </a:t>
            </a:r>
            <a:r>
              <a:rPr lang="am-ET" sz="2400" dirty="0">
                <a:solidFill>
                  <a:srgbClr val="000000"/>
                </a:solidFill>
              </a:rPr>
              <a:t>የሚጠቀምባቸውን </a:t>
            </a:r>
            <a:r>
              <a:rPr lang="am-ET" sz="2400" dirty="0" smtClean="0">
                <a:solidFill>
                  <a:srgbClr val="000000"/>
                </a:solidFill>
              </a:rPr>
              <a:t>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ያት </a:t>
            </a:r>
            <a:r>
              <a:rPr lang="am-ET" sz="2400" dirty="0">
                <a:solidFill>
                  <a:srgbClr val="000000"/>
                </a:solidFill>
              </a:rPr>
              <a:t>ወስኖ ማክበርና በአገባቡ ሥራ 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ማዋ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 ሰ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ት ከረ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 </a:t>
            </a:r>
            <a:r>
              <a:rPr lang="en-GB" sz="2400" dirty="0" err="1" smtClean="0">
                <a:solidFill>
                  <a:srgbClr val="FF0000"/>
                </a:solidFill>
              </a:rPr>
              <a:t>ስብ</a:t>
            </a:r>
            <a:r>
              <a:rPr lang="am-ET" sz="2400" dirty="0" smtClean="0">
                <a:solidFill>
                  <a:srgbClr val="FF0000"/>
                </a:solidFill>
              </a:rPr>
              <a:t>ከቱ </a:t>
            </a:r>
            <a:r>
              <a:rPr lang="en-GB" sz="2400" dirty="0">
                <a:solidFill>
                  <a:srgbClr val="FF0000"/>
                </a:solidFill>
              </a:rPr>
              <a:t>ሊ</a:t>
            </a:r>
            <a:r>
              <a:rPr lang="am-ET" sz="2400" dirty="0" smtClean="0">
                <a:solidFill>
                  <a:srgbClr val="FF0000"/>
                </a:solidFill>
              </a:rPr>
              <a:t>ን</a:t>
            </a:r>
            <a:r>
              <a:rPr lang="en-GB" sz="2400" dirty="0" err="1" smtClean="0">
                <a:solidFill>
                  <a:srgbClr val="FF0000"/>
                </a:solidFill>
              </a:rPr>
              <a:t>ዛዛ</a:t>
            </a:r>
            <a:r>
              <a:rPr lang="am-ET" sz="2400" dirty="0" smtClean="0">
                <a:solidFill>
                  <a:srgbClr val="FF0000"/>
                </a:solidFill>
              </a:rPr>
              <a:t>ና አ</a:t>
            </a:r>
            <a:r>
              <a:rPr lang="en-GB" sz="2400" dirty="0" err="1" smtClean="0">
                <a:solidFill>
                  <a:srgbClr val="FF0000"/>
                </a:solidFill>
              </a:rPr>
              <a:t>ሰል</a:t>
            </a:r>
            <a:r>
              <a:rPr lang="am-ET" sz="2400" dirty="0" smtClean="0">
                <a:solidFill>
                  <a:srgbClr val="FF0000"/>
                </a:solidFill>
              </a:rPr>
              <a:t>ቺ </a:t>
            </a:r>
            <a:r>
              <a:rPr lang="en-GB" sz="2400" dirty="0">
                <a:solidFill>
                  <a:srgbClr val="FF0000"/>
                </a:solidFill>
              </a:rPr>
              <a:t>ሊ</a:t>
            </a:r>
            <a:r>
              <a:rPr lang="am-ET" sz="2400" dirty="0" smtClean="0">
                <a:solidFill>
                  <a:srgbClr val="FF0000"/>
                </a:solidFill>
              </a:rPr>
              <a:t>ሆን ይች</a:t>
            </a:r>
            <a:r>
              <a:rPr lang="en-GB" sz="2400" dirty="0" err="1" smtClean="0">
                <a:solidFill>
                  <a:srgbClr val="FF0000"/>
                </a:solidFill>
              </a:rPr>
              <a:t>ላል</a:t>
            </a:r>
            <a:r>
              <a:rPr lang="am-ET" sz="2400" dirty="0" smtClean="0">
                <a:solidFill>
                  <a:srgbClr val="FF0000"/>
                </a:solidFill>
              </a:rPr>
              <a:t>፡፡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የስብከት ሰ</a:t>
            </a:r>
            <a:r>
              <a:rPr lang="en-GB" sz="2400" dirty="0" smtClean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ት 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የሁኔታው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መወሰን</a:t>
            </a:r>
            <a:r>
              <a:rPr lang="am-ET" sz="2400" dirty="0">
                <a:solidFill>
                  <a:srgbClr val="000000"/>
                </a:solidFill>
              </a:rPr>
              <a:t>፡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000000"/>
                </a:solidFill>
              </a:rPr>
              <a:t>ትምህርቱ </a:t>
            </a:r>
            <a:r>
              <a:rPr lang="am-ET" sz="2400" dirty="0">
                <a:solidFill>
                  <a:srgbClr val="000000"/>
                </a:solidFill>
              </a:rPr>
              <a:t>የሚሰጥበት </a:t>
            </a:r>
            <a:r>
              <a:rPr lang="am-ET" sz="2400" dirty="0">
                <a:solidFill>
                  <a:srgbClr val="00B050"/>
                </a:solidFill>
              </a:rPr>
              <a:t>ቦታ</a:t>
            </a:r>
            <a:r>
              <a:rPr lang="am-ET" sz="2400" dirty="0">
                <a:solidFill>
                  <a:srgbClr val="000000"/>
                </a:solidFill>
              </a:rPr>
              <a:t>፡ </a:t>
            </a:r>
            <a:r>
              <a:rPr lang="am-ET" sz="2400" dirty="0" smtClean="0">
                <a:solidFill>
                  <a:srgbClr val="000000"/>
                </a:solidFill>
              </a:rPr>
              <a:t>ቀ</a:t>
            </a:r>
            <a:r>
              <a:rPr lang="en-GB" sz="2400" dirty="0" err="1" smtClean="0">
                <a:solidFill>
                  <a:srgbClr val="000000"/>
                </a:solidFill>
              </a:rPr>
              <a:t>ዝቃዛ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፣ሞቃታማ፣ </a:t>
            </a:r>
            <a:r>
              <a:rPr lang="en-US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ናብ የሚበ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በት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2.</a:t>
            </a:r>
            <a:r>
              <a:rPr lang="am-ET" sz="2400" dirty="0" smtClean="0">
                <a:solidFill>
                  <a:srgbClr val="000000"/>
                </a:solidFill>
              </a:rPr>
              <a:t>ትምህርቱ የሚሰጠ</a:t>
            </a:r>
            <a:r>
              <a:rPr lang="en-GB" sz="2400" dirty="0" err="1" smtClean="0">
                <a:solidFill>
                  <a:srgbClr val="000000"/>
                </a:solidFill>
              </a:rPr>
              <a:t>በት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chemeClr val="accent1"/>
                </a:solidFill>
              </a:rPr>
              <a:t>ሰዓት</a:t>
            </a:r>
            <a:r>
              <a:rPr lang="en-GB" sz="2400" dirty="0" smtClean="0">
                <a:solidFill>
                  <a:srgbClr val="000000"/>
                </a:solidFill>
              </a:rPr>
              <a:t>                3</a:t>
            </a:r>
            <a:r>
              <a:rPr lang="am-ET" sz="2400" dirty="0" smtClean="0">
                <a:solidFill>
                  <a:srgbClr val="000000"/>
                </a:solidFill>
              </a:rPr>
              <a:t>. </a:t>
            </a:r>
            <a:r>
              <a:rPr lang="am-ET" sz="2400" dirty="0">
                <a:solidFill>
                  <a:srgbClr val="000000"/>
                </a:solidFill>
              </a:rPr>
              <a:t>በአካባቢው </a:t>
            </a:r>
            <a:r>
              <a:rPr lang="am-ET" sz="2400" dirty="0" smtClean="0">
                <a:solidFill>
                  <a:srgbClr val="FF0000"/>
                </a:solidFill>
              </a:rPr>
              <a:t>የተ</a:t>
            </a:r>
            <a:r>
              <a:rPr lang="en-GB" sz="2400" dirty="0" err="1" smtClean="0">
                <a:solidFill>
                  <a:srgbClr val="FF0000"/>
                </a:solidFill>
              </a:rPr>
              <a:t>ለመደ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ምቹ </a:t>
            </a:r>
            <a:r>
              <a:rPr lang="am-ET" sz="2400" dirty="0" smtClean="0">
                <a:solidFill>
                  <a:srgbClr val="FF0000"/>
                </a:solidFill>
              </a:rPr>
              <a:t>ሰ</a:t>
            </a:r>
            <a:r>
              <a:rPr lang="en-GB" sz="2400" dirty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ት</a:t>
            </a:r>
            <a:endParaRPr lang="am-ET" sz="2400" dirty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rgbClr val="000000"/>
                </a:solidFill>
              </a:rPr>
              <a:t>4</a:t>
            </a:r>
            <a:r>
              <a:rPr lang="am-ET" sz="2400" dirty="0" smtClean="0">
                <a:solidFill>
                  <a:srgbClr val="000000"/>
                </a:solidFill>
              </a:rPr>
              <a:t>. በአካባቢ</a:t>
            </a:r>
            <a:r>
              <a:rPr lang="en-GB" sz="2400" dirty="0">
                <a:solidFill>
                  <a:srgbClr val="000000"/>
                </a:solidFill>
              </a:rPr>
              <a:t>ዉ</a:t>
            </a:r>
            <a:r>
              <a:rPr lang="am-ET" sz="2400" dirty="0" smtClean="0">
                <a:solidFill>
                  <a:srgbClr val="000000"/>
                </a:solidFill>
              </a:rPr>
              <a:t> ያ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ሌሎ</a:t>
            </a:r>
            <a:r>
              <a:rPr lang="am-ET" sz="2400" dirty="0" smtClean="0">
                <a:solidFill>
                  <a:srgbClr val="000000"/>
                </a:solidFill>
              </a:rPr>
              <a:t>ች </a:t>
            </a:r>
            <a:r>
              <a:rPr lang="am-ET" sz="2400" dirty="0">
                <a:solidFill>
                  <a:srgbClr val="00B050"/>
                </a:solidFill>
              </a:rPr>
              <a:t>ተጽእኖዎች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የአሕ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 smtClean="0">
                <a:solidFill>
                  <a:srgbClr val="000000"/>
                </a:solidFill>
              </a:rPr>
              <a:t>             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የመና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ቃን</a:t>
            </a:r>
            <a:r>
              <a:rPr lang="en-GB" sz="2400" dirty="0" smtClean="0">
                <a:solidFill>
                  <a:srgbClr val="000000"/>
                </a:solidFill>
              </a:rPr>
              <a:t>       - </a:t>
            </a:r>
            <a:r>
              <a:rPr lang="am-ET" sz="2400" dirty="0" smtClean="0">
                <a:solidFill>
                  <a:srgbClr val="000000"/>
                </a:solidFill>
              </a:rPr>
              <a:t>የፖ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ቲከኞች</a:t>
            </a:r>
            <a:r>
              <a:rPr lang="en-GB" sz="2400" dirty="0" smtClean="0">
                <a:solidFill>
                  <a:srgbClr val="000000"/>
                </a:solidFill>
              </a:rPr>
              <a:t>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የኅብረተሰቡ አመ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ካከት እነ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 ሁ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ታሳቢ </a:t>
            </a:r>
            <a:r>
              <a:rPr lang="en-GB" sz="2400" dirty="0" err="1" smtClean="0">
                <a:solidFill>
                  <a:srgbClr val="000000"/>
                </a:solidFill>
              </a:rPr>
              <a:t>ሊደ</a:t>
            </a:r>
            <a:r>
              <a:rPr lang="am-ET" sz="2400" dirty="0" smtClean="0">
                <a:solidFill>
                  <a:srgbClr val="000000"/>
                </a:solidFill>
              </a:rPr>
              <a:t>ረጉ ይገባቸዋ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93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የቀመለ…….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00165"/>
            <a:ext cx="8991600" cy="5943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ሰ</a:t>
            </a:r>
            <a:r>
              <a:rPr lang="am-ET" sz="2400" dirty="0">
                <a:solidFill>
                  <a:srgbClr val="FF0000"/>
                </a:solidFill>
              </a:rPr>
              <a:t>. የስብከት ርዕስ </a:t>
            </a:r>
            <a:r>
              <a:rPr lang="am-ET" sz="2400" dirty="0" smtClean="0">
                <a:solidFill>
                  <a:srgbClr val="FF0000"/>
                </a:solidFill>
              </a:rPr>
              <a:t>መጠ</a:t>
            </a:r>
            <a:r>
              <a:rPr lang="en-GB" sz="2400" dirty="0" smtClean="0">
                <a:solidFill>
                  <a:srgbClr val="FF0000"/>
                </a:solidFill>
              </a:rPr>
              <a:t>በ</a:t>
            </a:r>
            <a:r>
              <a:rPr lang="am-ET" sz="2400" dirty="0" smtClean="0">
                <a:solidFill>
                  <a:srgbClr val="FF0000"/>
                </a:solidFill>
              </a:rPr>
              <a:t>ቅ 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ስብከት </a:t>
            </a:r>
            <a:r>
              <a:rPr lang="am-ET" sz="2400" dirty="0">
                <a:solidFill>
                  <a:srgbClr val="000000"/>
                </a:solidFill>
              </a:rPr>
              <a:t>ርዕሱ </a:t>
            </a:r>
            <a:r>
              <a:rPr lang="am-ET" sz="2400" dirty="0" smtClean="0">
                <a:solidFill>
                  <a:srgbClr val="000000"/>
                </a:solidFill>
              </a:rPr>
              <a:t>ካ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ተጠበቀ </a:t>
            </a:r>
            <a:r>
              <a:rPr lang="am-ET" sz="2400" dirty="0">
                <a:solidFill>
                  <a:srgbClr val="000000"/>
                </a:solidFill>
              </a:rPr>
              <a:t>ውጤታማ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ሆን አይች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r>
              <a:rPr lang="am-ET" sz="2400" dirty="0">
                <a:solidFill>
                  <a:srgbClr val="000000"/>
                </a:solidFill>
              </a:rPr>
              <a:t>፤ ምእመናኑ የሚጨብጡት ነገር አይኖራቸውም ሰባኪውም 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ብት </a:t>
            </a:r>
            <a:r>
              <a:rPr lang="am-ET" sz="2400" dirty="0">
                <a:solidFill>
                  <a:srgbClr val="000000"/>
                </a:solidFill>
              </a:rPr>
              <a:t>ውስጥ </a:t>
            </a:r>
            <a:r>
              <a:rPr lang="am-ET" sz="2400" dirty="0" smtClean="0">
                <a:solidFill>
                  <a:srgbClr val="000000"/>
                </a:solidFill>
              </a:rPr>
              <a:t>ይወ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ርዕስ </a:t>
            </a:r>
            <a:r>
              <a:rPr lang="am-ET" sz="2400" dirty="0">
                <a:solidFill>
                  <a:srgbClr val="0070C0"/>
                </a:solidFill>
              </a:rPr>
              <a:t>መጠበቅ የሚሰጠው ትምህርት ወጥና </a:t>
            </a:r>
            <a:r>
              <a:rPr lang="am-ET" sz="2400" dirty="0" smtClean="0">
                <a:solidFill>
                  <a:srgbClr val="0070C0"/>
                </a:solidFill>
              </a:rPr>
              <a:t>ያ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ተ</a:t>
            </a:r>
            <a:r>
              <a:rPr lang="en-GB" sz="2400" dirty="0" smtClean="0">
                <a:solidFill>
                  <a:srgbClr val="0070C0"/>
                </a:solidFill>
              </a:rPr>
              <a:t>ደ</a:t>
            </a:r>
            <a:r>
              <a:rPr lang="am-ET" sz="2400" dirty="0" smtClean="0">
                <a:solidFill>
                  <a:srgbClr val="0070C0"/>
                </a:solidFill>
              </a:rPr>
              <a:t>ባ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ቀ ያ</a:t>
            </a:r>
            <a:r>
              <a:rPr lang="en-GB" sz="2400" dirty="0" smtClean="0">
                <a:solidFill>
                  <a:srgbClr val="0070C0"/>
                </a:solidFill>
              </a:rPr>
              <a:t>ደ</a:t>
            </a:r>
            <a:r>
              <a:rPr lang="am-ET" sz="2400" dirty="0" smtClean="0">
                <a:solidFill>
                  <a:srgbClr val="0070C0"/>
                </a:solidFill>
              </a:rPr>
              <a:t>ርገዋ</a:t>
            </a:r>
            <a:r>
              <a:rPr lang="en-GB" sz="2400" dirty="0" smtClean="0">
                <a:solidFill>
                  <a:srgbClr val="0070C0"/>
                </a:solidFill>
              </a:rPr>
              <a:t>ል፡፡</a:t>
            </a:r>
            <a:endParaRPr lang="am-ET" sz="24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፡- 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- </a:t>
            </a:r>
            <a:r>
              <a:rPr lang="am-ET" sz="2400" dirty="0" smtClean="0">
                <a:solidFill>
                  <a:srgbClr val="FF0000"/>
                </a:solidFill>
              </a:rPr>
              <a:t>ስ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ምሥጢረ </a:t>
            </a:r>
            <a:r>
              <a:rPr lang="am-ET" sz="2400" dirty="0" smtClean="0">
                <a:solidFill>
                  <a:srgbClr val="FF0000"/>
                </a:solidFill>
              </a:rPr>
              <a:t>ሥ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ሴ </a:t>
            </a:r>
            <a:r>
              <a:rPr lang="am-ET" sz="2400" dirty="0">
                <a:solidFill>
                  <a:srgbClr val="FF0000"/>
                </a:solidFill>
              </a:rPr>
              <a:t>ጀምሮ </a:t>
            </a:r>
            <a:r>
              <a:rPr lang="am-ET" sz="2400" dirty="0" smtClean="0">
                <a:solidFill>
                  <a:srgbClr val="FF0000"/>
                </a:solidFill>
              </a:rPr>
              <a:t>ስ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ጾም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70C0"/>
                </a:solidFill>
              </a:rPr>
              <a:t>- </a:t>
            </a:r>
            <a:r>
              <a:rPr lang="am-ET" sz="2400" dirty="0" smtClean="0">
                <a:solidFill>
                  <a:srgbClr val="0070C0"/>
                </a:solidFill>
              </a:rPr>
              <a:t>ስ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 ቅ</a:t>
            </a:r>
            <a:r>
              <a:rPr lang="en-GB" sz="2400" dirty="0">
                <a:solidFill>
                  <a:srgbClr val="0070C0"/>
                </a:solidFill>
              </a:rPr>
              <a:t>ዱ</a:t>
            </a:r>
            <a:r>
              <a:rPr lang="am-ET" sz="2400" dirty="0" smtClean="0">
                <a:solidFill>
                  <a:srgbClr val="0070C0"/>
                </a:solidFill>
              </a:rPr>
              <a:t>ስ </a:t>
            </a:r>
            <a:r>
              <a:rPr lang="am-ET" sz="2400" dirty="0">
                <a:solidFill>
                  <a:srgbClr val="0070C0"/>
                </a:solidFill>
              </a:rPr>
              <a:t>ቁርባን ጀምሮ </a:t>
            </a:r>
            <a:r>
              <a:rPr lang="am-ET" sz="2400" dirty="0" smtClean="0">
                <a:solidFill>
                  <a:srgbClr val="0070C0"/>
                </a:solidFill>
              </a:rPr>
              <a:t>ስ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 ሥዕ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endParaRPr lang="am-ET" sz="24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B050"/>
                </a:solidFill>
              </a:rPr>
              <a:t>- </a:t>
            </a:r>
            <a:r>
              <a:rPr lang="am-ET" sz="2400" dirty="0" smtClean="0">
                <a:solidFill>
                  <a:srgbClr val="00B050"/>
                </a:solidFill>
              </a:rPr>
              <a:t>ስ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ክርስቶስ የባሕርይ </a:t>
            </a:r>
            <a:r>
              <a:rPr lang="am-ET" sz="2400" dirty="0" smtClean="0">
                <a:solidFill>
                  <a:srgbClr val="00B050"/>
                </a:solidFill>
              </a:rPr>
              <a:t>አም</a:t>
            </a:r>
            <a:r>
              <a:rPr lang="en-GB" sz="2400" dirty="0">
                <a:solidFill>
                  <a:srgbClr val="00B050"/>
                </a:solidFill>
              </a:rPr>
              <a:t>ላ</a:t>
            </a:r>
            <a:r>
              <a:rPr lang="am-ET" sz="2400" dirty="0" smtClean="0">
                <a:solidFill>
                  <a:srgbClr val="00B050"/>
                </a:solidFill>
              </a:rPr>
              <a:t>ክነት </a:t>
            </a:r>
            <a:r>
              <a:rPr lang="am-ET" sz="2400" dirty="0">
                <a:solidFill>
                  <a:srgbClr val="00B050"/>
                </a:solidFill>
              </a:rPr>
              <a:t>ጀምሮ </a:t>
            </a:r>
            <a:r>
              <a:rPr lang="am-ET" sz="2400" dirty="0" smtClean="0">
                <a:solidFill>
                  <a:srgbClr val="00B050"/>
                </a:solidFill>
              </a:rPr>
              <a:t>ስ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ታቦት </a:t>
            </a: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ከሆነ አርባ 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 err="1" smtClean="0">
                <a:solidFill>
                  <a:srgbClr val="000000"/>
                </a:solidFill>
              </a:rPr>
              <a:t>ህተት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ይሆና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 ሰ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ትና </a:t>
            </a:r>
            <a:r>
              <a:rPr lang="am-ET" sz="2400" dirty="0">
                <a:solidFill>
                  <a:srgbClr val="000000"/>
                </a:solidFill>
              </a:rPr>
              <a:t>ርዕስ መጠበቅ </a:t>
            </a:r>
            <a:r>
              <a:rPr lang="am-ET" sz="2400" dirty="0" smtClean="0">
                <a:solidFill>
                  <a:srgbClr val="000000"/>
                </a:solidFill>
              </a:rPr>
              <a:t>የአን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ሰባኪ </a:t>
            </a:r>
            <a:r>
              <a:rPr lang="am-ET" sz="2400" dirty="0" smtClean="0">
                <a:solidFill>
                  <a:srgbClr val="000000"/>
                </a:solidFill>
              </a:rPr>
              <a:t>መታወ</a:t>
            </a:r>
            <a:r>
              <a:rPr lang="en-GB" sz="2400" dirty="0">
                <a:solidFill>
                  <a:srgbClr val="000000"/>
                </a:solidFill>
              </a:rPr>
              <a:t>ቅ</a:t>
            </a:r>
            <a:r>
              <a:rPr lang="am-ET" sz="2400" dirty="0" smtClean="0">
                <a:solidFill>
                  <a:srgbClr val="000000"/>
                </a:solidFill>
              </a:rPr>
              <a:t>ያዎች </a:t>
            </a:r>
            <a:r>
              <a:rPr lang="am-ET" sz="2400" dirty="0">
                <a:solidFill>
                  <a:srgbClr val="000000"/>
                </a:solidFill>
              </a:rPr>
              <a:t>ናቸው፡፡</a:t>
            </a:r>
          </a:p>
        </p:txBody>
      </p:sp>
    </p:spTree>
    <p:extLst>
      <p:ext uri="{BB962C8B-B14F-4D97-AF65-F5344CB8AC3E}">
        <p14:creationId xmlns:p14="http://schemas.microsoft.com/office/powerpoint/2010/main" val="42335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am-ET" dirty="0">
                <a:solidFill>
                  <a:prstClr val="black"/>
                </a:solidFill>
              </a:rPr>
              <a:t> </a:t>
            </a:r>
            <a:r>
              <a:rPr lang="en-GB" dirty="0" smtClean="0">
                <a:solidFill>
                  <a:srgbClr val="0070C0"/>
                </a:solidFill>
              </a:rPr>
              <a:t>3.</a:t>
            </a:r>
            <a:r>
              <a:rPr lang="am-ET" dirty="0" smtClean="0">
                <a:solidFill>
                  <a:srgbClr val="0070C0"/>
                </a:solidFill>
              </a:rPr>
              <a:t>የስብከት </a:t>
            </a:r>
            <a:r>
              <a:rPr lang="en-GB" dirty="0">
                <a:solidFill>
                  <a:srgbClr val="0070C0"/>
                </a:solidFill>
              </a:rPr>
              <a:t>ዓ</a:t>
            </a:r>
            <a:r>
              <a:rPr lang="am-ET" dirty="0" smtClean="0">
                <a:solidFill>
                  <a:srgbClr val="0070C0"/>
                </a:solidFill>
              </a:rPr>
              <a:t>ይነቶች</a:t>
            </a:r>
            <a:r>
              <a:rPr lang="am-ET" dirty="0">
                <a:solidFill>
                  <a:srgbClr val="0070C0"/>
                </a:solidFill>
              </a:rPr>
              <a:t>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3" y="762000"/>
            <a:ext cx="8991600" cy="6172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C00000"/>
                </a:solidFill>
              </a:rPr>
              <a:t>ሀ.</a:t>
            </a:r>
            <a:r>
              <a:rPr lang="am-ET" sz="2400" dirty="0" smtClean="0">
                <a:solidFill>
                  <a:srgbClr val="C00000"/>
                </a:solidFill>
              </a:rPr>
              <a:t>ይ</a:t>
            </a:r>
            <a:r>
              <a:rPr lang="en-GB" sz="2400" dirty="0" smtClean="0">
                <a:solidFill>
                  <a:srgbClr val="C00000"/>
                </a:solidFill>
              </a:rPr>
              <a:t>ዘ</a:t>
            </a:r>
            <a:r>
              <a:rPr lang="am-ET" sz="2400" dirty="0" smtClean="0">
                <a:solidFill>
                  <a:srgbClr val="C00000"/>
                </a:solidFill>
              </a:rPr>
              <a:t>ትን </a:t>
            </a:r>
            <a:r>
              <a:rPr lang="am-ET" sz="2400" dirty="0">
                <a:solidFill>
                  <a:srgbClr val="C00000"/>
                </a:solidFill>
              </a:rPr>
              <a:t>መሠረት </a:t>
            </a:r>
            <a:r>
              <a:rPr lang="am-ET" sz="2400" dirty="0" smtClean="0">
                <a:solidFill>
                  <a:srgbClr val="C00000"/>
                </a:solidFill>
              </a:rPr>
              <a:t>ያ</a:t>
            </a:r>
            <a:r>
              <a:rPr lang="en-GB" sz="2400" dirty="0" smtClean="0">
                <a:solidFill>
                  <a:srgbClr val="C00000"/>
                </a:solidFill>
              </a:rPr>
              <a:t>ደ</a:t>
            </a:r>
            <a:r>
              <a:rPr lang="am-ET" sz="2400" dirty="0" smtClean="0">
                <a:solidFill>
                  <a:srgbClr val="C00000"/>
                </a:solidFill>
              </a:rPr>
              <a:t>ረገ አከ</a:t>
            </a:r>
            <a:r>
              <a:rPr lang="en-GB" sz="2400" dirty="0" err="1" smtClean="0">
                <a:solidFill>
                  <a:srgbClr val="C00000"/>
                </a:solidFill>
              </a:rPr>
              <a:t>ፋፈል</a:t>
            </a:r>
            <a:r>
              <a:rPr lang="am-ET" sz="2400" dirty="0" smtClean="0">
                <a:solidFill>
                  <a:srgbClr val="C00000"/>
                </a:solidFill>
              </a:rPr>
              <a:t>፡፡</a:t>
            </a:r>
            <a:endParaRPr lang="am-ET" sz="2400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የስብከት 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ይነት በይ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ታቸው </a:t>
            </a:r>
            <a:r>
              <a:rPr lang="am-ET" sz="2400" dirty="0">
                <a:solidFill>
                  <a:srgbClr val="00B050"/>
                </a:solidFill>
              </a:rPr>
              <a:t>በሦስት </a:t>
            </a:r>
            <a:r>
              <a:rPr lang="am-ET" sz="2400" dirty="0" smtClean="0">
                <a:solidFill>
                  <a:srgbClr val="00B050"/>
                </a:solidFill>
              </a:rPr>
              <a:t>ይከ</a:t>
            </a:r>
            <a:r>
              <a:rPr lang="en-GB" sz="2400" dirty="0" err="1" smtClean="0">
                <a:solidFill>
                  <a:srgbClr val="00B050"/>
                </a:solidFill>
              </a:rPr>
              <a:t>ፈላሉ</a:t>
            </a:r>
            <a:r>
              <a:rPr lang="am-ET" sz="2400" dirty="0" smtClean="0">
                <a:solidFill>
                  <a:srgbClr val="000000"/>
                </a:solidFill>
              </a:rPr>
              <a:t>፡፡ </a:t>
            </a:r>
            <a:r>
              <a:rPr lang="am-ET" sz="2400" dirty="0">
                <a:solidFill>
                  <a:srgbClr val="000000"/>
                </a:solidFill>
              </a:rPr>
              <a:t>እነርሱም 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1</a:t>
            </a:r>
            <a:r>
              <a:rPr lang="am-ET" sz="2400" dirty="0">
                <a:solidFill>
                  <a:srgbClr val="FF0000"/>
                </a:solidFill>
              </a:rPr>
              <a:t>. ትምህርት ፡</a:t>
            </a: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በእውቀት 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የተመሠረተ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ተከታታይነት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በማስረጃ የተ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ገ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</a:t>
            </a:r>
            <a:r>
              <a:rPr lang="am-ET" sz="2400" dirty="0">
                <a:solidFill>
                  <a:srgbClr val="FF0000"/>
                </a:solidFill>
              </a:rPr>
              <a:t>. ትምህርታዊ ስብከት፡</a:t>
            </a:r>
          </a:p>
          <a:p>
            <a:pPr algn="just">
              <a:lnSpc>
                <a:spcPct val="150000"/>
              </a:lnSpc>
              <a:buClr>
                <a:srgbClr val="7030A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በጥምረት የሚስጥ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7030A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መነሻው </a:t>
            </a:r>
            <a:r>
              <a:rPr lang="am-ET" sz="2400" dirty="0">
                <a:solidFill>
                  <a:srgbClr val="000000"/>
                </a:solidFill>
              </a:rPr>
              <a:t>ትምህርት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ርሻው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የሆነ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7030A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ማስረጃ </a:t>
            </a:r>
            <a:r>
              <a:rPr lang="am-ET" sz="2400" dirty="0">
                <a:solidFill>
                  <a:srgbClr val="000000"/>
                </a:solidFill>
              </a:rPr>
              <a:t>በመስጠት ሰውን </a:t>
            </a:r>
            <a:r>
              <a:rPr lang="am-ET" sz="2400" dirty="0" smtClean="0">
                <a:solidFill>
                  <a:srgbClr val="000000"/>
                </a:solidFill>
              </a:rPr>
              <a:t>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ጣሪው </a:t>
            </a:r>
            <a:r>
              <a:rPr lang="am-ET" sz="2400" dirty="0">
                <a:solidFill>
                  <a:srgbClr val="000000"/>
                </a:solidFill>
              </a:rPr>
              <a:t>የሚያቀርብ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3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am-ET" dirty="0">
                <a:solidFill>
                  <a:srgbClr val="00B0F0"/>
                </a:solidFill>
              </a:rPr>
              <a:t> </a:t>
            </a:r>
            <a:r>
              <a:rPr lang="en-GB" dirty="0" smtClean="0">
                <a:solidFill>
                  <a:srgbClr val="00B0F0"/>
                </a:solidFill>
              </a:rPr>
              <a:t>የቀጠለ….</a:t>
            </a:r>
            <a:endParaRPr lang="am-ET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6172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3</a:t>
            </a:r>
            <a:r>
              <a:rPr lang="am-ET" sz="2400" dirty="0">
                <a:solidFill>
                  <a:srgbClr val="FF0000"/>
                </a:solidFill>
              </a:rPr>
              <a:t>. ስብከት ፡</a:t>
            </a: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ቀ</a:t>
            </a:r>
            <a:r>
              <a:rPr lang="en-GB" sz="2400" dirty="0" err="1" smtClean="0">
                <a:solidFill>
                  <a:srgbClr val="000000"/>
                </a:solidFill>
              </a:rPr>
              <a:t>ለል</a:t>
            </a:r>
            <a:r>
              <a:rPr lang="am-ET" sz="2400" dirty="0" smtClean="0">
                <a:solidFill>
                  <a:srgbClr val="000000"/>
                </a:solidFill>
              </a:rPr>
              <a:t> 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አገ</a:t>
            </a:r>
            <a:r>
              <a:rPr lang="en-GB" sz="2400" dirty="0" err="1" smtClean="0">
                <a:solidFill>
                  <a:srgbClr val="000000"/>
                </a:solidFill>
              </a:rPr>
              <a:t>ላለ</a:t>
            </a:r>
            <a:r>
              <a:rPr lang="am-ET" sz="2400" dirty="0" smtClean="0">
                <a:solidFill>
                  <a:srgbClr val="000000"/>
                </a:solidFill>
              </a:rPr>
              <a:t>ጽ የሚቀርብ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ማስረ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ትና </a:t>
            </a:r>
            <a:r>
              <a:rPr lang="am-ET" sz="2400" dirty="0">
                <a:solidFill>
                  <a:srgbClr val="000000"/>
                </a:solidFill>
              </a:rPr>
              <a:t>ማሳየት 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የሚያተኮር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የሰውን 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ቡናና </a:t>
            </a:r>
            <a:r>
              <a:rPr lang="am-ET" sz="2400" dirty="0">
                <a:solidFill>
                  <a:srgbClr val="000000"/>
                </a:solidFill>
              </a:rPr>
              <a:t>አእምሮ መማረክ እና </a:t>
            </a:r>
            <a:r>
              <a:rPr lang="am-ET" sz="2400" dirty="0" smtClean="0">
                <a:solidFill>
                  <a:srgbClr val="000000"/>
                </a:solidFill>
              </a:rPr>
              <a:t>መግ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ት የሚች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ሁ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ንተናዊ </a:t>
            </a:r>
            <a:r>
              <a:rPr lang="am-ET" sz="2400" dirty="0">
                <a:solidFill>
                  <a:srgbClr val="000000"/>
                </a:solidFill>
              </a:rPr>
              <a:t>ስሜቱን </a:t>
            </a:r>
            <a:r>
              <a:rPr lang="am-ET" sz="2400" dirty="0" smtClean="0">
                <a:solidFill>
                  <a:srgbClr val="000000"/>
                </a:solidFill>
              </a:rPr>
              <a:t>የሚቆጣጠር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ምእመናን </a:t>
            </a:r>
            <a:r>
              <a:rPr lang="am-ET" sz="2400" dirty="0">
                <a:solidFill>
                  <a:srgbClr val="000000"/>
                </a:solidFill>
              </a:rPr>
              <a:t>በሰሩት ኅጢአት ተጸጽተው </a:t>
            </a:r>
            <a:r>
              <a:rPr lang="am-ET" sz="2400" dirty="0" smtClean="0">
                <a:solidFill>
                  <a:srgbClr val="000000"/>
                </a:solidFill>
              </a:rPr>
              <a:t>ንስ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 እን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ገቡ የሚያ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ርግ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206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አብሔርን </a:t>
            </a:r>
            <a:r>
              <a:rPr lang="am-ET" sz="2400" dirty="0">
                <a:solidFill>
                  <a:srgbClr val="000000"/>
                </a:solidFill>
              </a:rPr>
              <a:t>ቁጣውን፣ ቸርነቱንና 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ቅሩን በአን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ጊ</a:t>
            </a:r>
            <a:r>
              <a:rPr lang="en-GB" sz="2400" dirty="0" smtClean="0">
                <a:solidFill>
                  <a:srgbClr val="000000"/>
                </a:solidFill>
              </a:rPr>
              <a:t>ዜ</a:t>
            </a:r>
            <a:r>
              <a:rPr lang="am-ET" sz="2400" dirty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የሚያሳይ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ጥያቄ</a:t>
            </a:r>
            <a:endParaRPr lang="am-ET" sz="2400" dirty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000" dirty="0" smtClean="0">
                <a:solidFill>
                  <a:srgbClr val="000000"/>
                </a:solidFill>
              </a:rPr>
              <a:t>ከ</a:t>
            </a:r>
            <a:r>
              <a:rPr lang="en-GB" sz="2000" dirty="0">
                <a:solidFill>
                  <a:srgbClr val="000000"/>
                </a:solidFill>
              </a:rPr>
              <a:t>ላ</a:t>
            </a:r>
            <a:r>
              <a:rPr lang="am-ET" sz="2000" dirty="0" smtClean="0">
                <a:solidFill>
                  <a:srgbClr val="000000"/>
                </a:solidFill>
              </a:rPr>
              <a:t>ይ ከተ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ረ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ሩት </a:t>
            </a:r>
            <a:r>
              <a:rPr lang="am-ET" sz="2000" dirty="0">
                <a:solidFill>
                  <a:srgbClr val="000000"/>
                </a:solidFill>
              </a:rPr>
              <a:t>ሦስት የስብከት </a:t>
            </a:r>
            <a:r>
              <a:rPr lang="en-GB" sz="2000" dirty="0">
                <a:solidFill>
                  <a:srgbClr val="000000"/>
                </a:solidFill>
              </a:rPr>
              <a:t>ዓ</a:t>
            </a:r>
            <a:r>
              <a:rPr lang="am-ET" sz="2000" dirty="0" smtClean="0">
                <a:solidFill>
                  <a:srgbClr val="000000"/>
                </a:solidFill>
              </a:rPr>
              <a:t>ይነቶች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ማ</a:t>
            </a:r>
            <a:r>
              <a:rPr lang="en-GB" sz="2000" dirty="0" smtClean="0">
                <a:solidFill>
                  <a:srgbClr val="000000"/>
                </a:solidFill>
              </a:rPr>
              <a:t>ዘ</a:t>
            </a:r>
            <a:r>
              <a:rPr lang="am-ET" sz="2000" dirty="0" smtClean="0">
                <a:solidFill>
                  <a:srgbClr val="000000"/>
                </a:solidFill>
              </a:rPr>
              <a:t>ጋጀትና </a:t>
            </a:r>
            <a:r>
              <a:rPr lang="en-GB" sz="2000" dirty="0" smtClean="0">
                <a:solidFill>
                  <a:srgbClr val="000000"/>
                </a:solidFill>
              </a:rPr>
              <a:t>ለ</a:t>
            </a:r>
            <a:r>
              <a:rPr lang="am-ET" sz="2000" dirty="0" smtClean="0">
                <a:solidFill>
                  <a:srgbClr val="000000"/>
                </a:solidFill>
              </a:rPr>
              <a:t>ማቅረብ የሚከብ</a:t>
            </a:r>
            <a:r>
              <a:rPr lang="en-GB" sz="2000" dirty="0" smtClean="0">
                <a:solidFill>
                  <a:srgbClr val="000000"/>
                </a:solidFill>
              </a:rPr>
              <a:t>ደ</a:t>
            </a:r>
            <a:r>
              <a:rPr lang="am-ET" sz="2000" dirty="0" smtClean="0">
                <a:solidFill>
                  <a:srgbClr val="000000"/>
                </a:solidFill>
              </a:rPr>
              <a:t>ው </a:t>
            </a:r>
            <a:r>
              <a:rPr lang="am-ET" sz="2000" dirty="0">
                <a:solidFill>
                  <a:srgbClr val="000000"/>
                </a:solidFill>
              </a:rPr>
              <a:t>የትኛው </a:t>
            </a:r>
            <a:r>
              <a:rPr lang="am-ET" sz="2000" dirty="0" smtClean="0">
                <a:solidFill>
                  <a:srgbClr val="000000"/>
                </a:solidFill>
              </a:rPr>
              <a:t>ይመስ</a:t>
            </a:r>
            <a:r>
              <a:rPr lang="en-GB" sz="2000" dirty="0">
                <a:solidFill>
                  <a:srgbClr val="000000"/>
                </a:solidFill>
              </a:rPr>
              <a:t>ላ</a:t>
            </a:r>
            <a:r>
              <a:rPr lang="am-ET" sz="2000" dirty="0" smtClean="0">
                <a:solidFill>
                  <a:srgbClr val="000000"/>
                </a:solidFill>
              </a:rPr>
              <a:t>ችሁዋ</a:t>
            </a:r>
            <a:r>
              <a:rPr lang="en-GB" sz="20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?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63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0070C0"/>
                </a:solidFill>
              </a:rPr>
              <a:t>3.1 የ</a:t>
            </a:r>
            <a:r>
              <a:rPr lang="am-ET" dirty="0" smtClean="0">
                <a:solidFill>
                  <a:srgbClr val="0070C0"/>
                </a:solidFill>
              </a:rPr>
              <a:t>ትምህርት </a:t>
            </a:r>
            <a:r>
              <a:rPr lang="am-ET" dirty="0">
                <a:solidFill>
                  <a:srgbClr val="0070C0"/>
                </a:solidFill>
              </a:rPr>
              <a:t>አቀራረብ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61722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FF0000"/>
                </a:solidFill>
              </a:rPr>
              <a:t>ታሪካዊ </a:t>
            </a:r>
            <a:r>
              <a:rPr lang="am-ET" sz="2400" dirty="0">
                <a:solidFill>
                  <a:srgbClr val="FF0000"/>
                </a:solidFill>
              </a:rPr>
              <a:t>/</a:t>
            </a:r>
            <a:r>
              <a:rPr lang="en-GB" sz="2400" dirty="0" smtClean="0">
                <a:solidFill>
                  <a:srgbClr val="FF0000"/>
                </a:solidFill>
              </a:rPr>
              <a:t>Historical/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ይህ </a:t>
            </a:r>
            <a:r>
              <a:rPr lang="en-GB" sz="2400" dirty="0" err="1" smtClean="0">
                <a:solidFill>
                  <a:srgbClr val="000000"/>
                </a:solidFill>
              </a:rPr>
              <a:t>ዘዴ</a:t>
            </a:r>
            <a:r>
              <a:rPr lang="am-ET" sz="2400" dirty="0" smtClean="0">
                <a:solidFill>
                  <a:srgbClr val="000000"/>
                </a:solidFill>
              </a:rPr>
              <a:t> አብ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ኛውን 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B050"/>
                </a:solidFill>
              </a:rPr>
              <a:t>በበ</a:t>
            </a:r>
            <a:r>
              <a:rPr lang="en-GB" sz="2400" dirty="0" err="1" smtClean="0">
                <a:solidFill>
                  <a:srgbClr val="00B050"/>
                </a:solidFill>
              </a:rPr>
              <a:t>ዓላ</a:t>
            </a:r>
            <a:r>
              <a:rPr lang="am-ET" sz="2400" dirty="0" smtClean="0">
                <a:solidFill>
                  <a:srgbClr val="00B05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ቀን የምናስተምርበት </a:t>
            </a:r>
            <a:r>
              <a:rPr lang="am-ET" sz="2400" dirty="0" smtClean="0">
                <a:solidFill>
                  <a:srgbClr val="000000"/>
                </a:solidFill>
              </a:rPr>
              <a:t>መንገ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ነው፡፡ </a:t>
            </a:r>
            <a:r>
              <a:rPr lang="am-ET" sz="2400" dirty="0" smtClean="0">
                <a:solidFill>
                  <a:srgbClr val="000000"/>
                </a:solidFill>
              </a:rPr>
              <a:t>በየበ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ቱ የዕ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ቱ </a:t>
            </a:r>
            <a:r>
              <a:rPr lang="am-ET" sz="2400" dirty="0">
                <a:solidFill>
                  <a:srgbClr val="000000"/>
                </a:solidFill>
              </a:rPr>
              <a:t>ስንክሳር፣ </a:t>
            </a:r>
            <a:r>
              <a:rPr lang="am-ET" sz="2400" dirty="0" smtClean="0">
                <a:solidFill>
                  <a:srgbClr val="000000"/>
                </a:solidFill>
              </a:rPr>
              <a:t>ገ</a:t>
            </a:r>
            <a:r>
              <a:rPr lang="en-GB" sz="2400" dirty="0" err="1" smtClean="0">
                <a:solidFill>
                  <a:srgbClr val="000000"/>
                </a:solidFill>
              </a:rPr>
              <a:t>ድል</a:t>
            </a:r>
            <a:r>
              <a:rPr lang="am-ET" sz="2400" dirty="0" smtClean="0">
                <a:solidFill>
                  <a:srgbClr val="000000"/>
                </a:solidFill>
              </a:rPr>
              <a:t>፣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ርሳን ይነበባ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፣ ይተረካ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 </a:t>
            </a:r>
            <a:r>
              <a:rPr lang="am-ET" sz="2400" dirty="0">
                <a:solidFill>
                  <a:srgbClr val="000000"/>
                </a:solidFill>
              </a:rPr>
              <a:t>ሰባኪውና የስብከቱ ቦታ የኦርቶድክስ ቤተክርስቲያን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መሆኑ እነ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ህን አስቀ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ሞ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አንብቦና </a:t>
            </a:r>
            <a:r>
              <a:rPr lang="am-ET" sz="2400" dirty="0">
                <a:solidFill>
                  <a:srgbClr val="000000"/>
                </a:solidFill>
              </a:rPr>
              <a:t>አጥንቶ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ምእመናን </a:t>
            </a:r>
            <a:r>
              <a:rPr lang="am-ET" sz="2400" dirty="0">
                <a:solidFill>
                  <a:srgbClr val="000000"/>
                </a:solidFill>
              </a:rPr>
              <a:t>ማስተማር </a:t>
            </a:r>
            <a:r>
              <a:rPr lang="am-ET" sz="2400" dirty="0" smtClean="0">
                <a:solidFill>
                  <a:srgbClr val="000000"/>
                </a:solidFill>
              </a:rPr>
              <a:t>ይጠ</a:t>
            </a:r>
            <a:r>
              <a:rPr lang="en-US" sz="2400" dirty="0" smtClean="0">
                <a:solidFill>
                  <a:srgbClr val="000000"/>
                </a:solidFill>
              </a:rPr>
              <a:t>በ</a:t>
            </a:r>
            <a:r>
              <a:rPr lang="am-ET" sz="2400" dirty="0" smtClean="0">
                <a:solidFill>
                  <a:srgbClr val="000000"/>
                </a:solidFill>
              </a:rPr>
              <a:t>ቅበታ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 </a:t>
            </a:r>
            <a:r>
              <a:rPr lang="am-ET" sz="2400" dirty="0">
                <a:solidFill>
                  <a:srgbClr val="FF0000"/>
                </a:solidFill>
              </a:rPr>
              <a:t>ነገረ ሃይማኖት /</a:t>
            </a:r>
            <a:r>
              <a:rPr lang="en-GB" sz="2400" dirty="0">
                <a:solidFill>
                  <a:srgbClr val="FF0000"/>
                </a:solidFill>
              </a:rPr>
              <a:t>Dogmatic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ከስብከቶች </a:t>
            </a:r>
            <a:r>
              <a:rPr lang="am-ET" sz="2400" dirty="0" smtClean="0">
                <a:solidFill>
                  <a:srgbClr val="000000"/>
                </a:solidFill>
              </a:rPr>
              <a:t>ሁ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ጠጣርና </a:t>
            </a:r>
            <a:r>
              <a:rPr lang="am-ET" sz="2400" dirty="0" smtClean="0">
                <a:solidFill>
                  <a:srgbClr val="0070C0"/>
                </a:solidFill>
              </a:rPr>
              <a:t>ከባ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የሚባ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የስብከት 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ይነት </a:t>
            </a:r>
            <a:r>
              <a:rPr lang="am-ET" sz="2400" dirty="0">
                <a:solidFill>
                  <a:srgbClr val="000000"/>
                </a:solidFill>
              </a:rPr>
              <a:t>ነው፡፡ ይህን ትምህርት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ማስተማር ሰባኪው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የሚከተለትን </a:t>
            </a:r>
            <a:r>
              <a:rPr lang="am-ET" sz="2400" dirty="0">
                <a:solidFill>
                  <a:srgbClr val="000000"/>
                </a:solidFill>
              </a:rPr>
              <a:t>ነጠቦች </a:t>
            </a:r>
            <a:r>
              <a:rPr lang="am-ET" sz="2400" dirty="0" smtClean="0">
                <a:solidFill>
                  <a:srgbClr val="000000"/>
                </a:solidFill>
              </a:rPr>
              <a:t>ማስታዋ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ይጠበቅበታ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ሀ</a:t>
            </a:r>
            <a:r>
              <a:rPr lang="am-ET" sz="2400" dirty="0">
                <a:solidFill>
                  <a:srgbClr val="0070C0"/>
                </a:solidFill>
              </a:rPr>
              <a:t>. </a:t>
            </a:r>
            <a:r>
              <a:rPr lang="am-ET" sz="2400" dirty="0" smtClean="0">
                <a:solidFill>
                  <a:srgbClr val="0070C0"/>
                </a:solidFill>
              </a:rPr>
              <a:t>አን</a:t>
            </a:r>
            <a:r>
              <a:rPr lang="en-GB" sz="2400" dirty="0">
                <a:solidFill>
                  <a:srgbClr val="0070C0"/>
                </a:solidFill>
              </a:rPr>
              <a:t>ድ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ነጥብ </a:t>
            </a:r>
            <a:r>
              <a:rPr lang="en-GB" sz="2400" dirty="0">
                <a:solidFill>
                  <a:srgbClr val="0070C0"/>
                </a:solidFill>
              </a:rPr>
              <a:t>ላ</a:t>
            </a:r>
            <a:r>
              <a:rPr lang="am-ET" sz="2400" dirty="0" smtClean="0">
                <a:solidFill>
                  <a:srgbClr val="0070C0"/>
                </a:solidFill>
              </a:rPr>
              <a:t>ይ </a:t>
            </a:r>
            <a:r>
              <a:rPr lang="am-ET" sz="2400" dirty="0">
                <a:solidFill>
                  <a:srgbClr val="0070C0"/>
                </a:solidFill>
              </a:rPr>
              <a:t>ብቻ ማተኮር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፡ ሀ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ዎተ 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am-ET" sz="2400" dirty="0">
                <a:solidFill>
                  <a:srgbClr val="000000"/>
                </a:solidFill>
              </a:rPr>
              <a:t>፣ ምሥጢረ </a:t>
            </a:r>
            <a:r>
              <a:rPr lang="am-ET" sz="2400" dirty="0" smtClean="0">
                <a:solidFill>
                  <a:srgbClr val="000000"/>
                </a:solidFill>
              </a:rPr>
              <a:t>ሥ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ሴ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00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71596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የቀጠለ…….</a:t>
            </a:r>
            <a:endParaRPr lang="am-ET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6172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. </a:t>
            </a:r>
            <a:r>
              <a:rPr lang="am-ET" sz="2400" dirty="0">
                <a:solidFill>
                  <a:srgbClr val="0070C0"/>
                </a:solidFill>
              </a:rPr>
              <a:t>በሚገባ ማብራራት፡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ያስተምር የ</a:t>
            </a:r>
            <a:r>
              <a:rPr lang="en-GB" sz="2400" dirty="0" err="1" smtClean="0">
                <a:solidFill>
                  <a:srgbClr val="000000"/>
                </a:solidFill>
              </a:rPr>
              <a:t>ፈለ</a:t>
            </a:r>
            <a:r>
              <a:rPr lang="am-ET" sz="2400" dirty="0" smtClean="0">
                <a:solidFill>
                  <a:srgbClr val="000000"/>
                </a:solidFill>
              </a:rPr>
              <a:t>ገውን </a:t>
            </a:r>
            <a:r>
              <a:rPr lang="am-ET" sz="2400" dirty="0">
                <a:solidFill>
                  <a:srgbClr val="000000"/>
                </a:solidFill>
              </a:rPr>
              <a:t>ነጥብ በሚገባ ማብራራት </a:t>
            </a:r>
            <a:r>
              <a:rPr lang="am-ET" sz="2400" dirty="0" smtClean="0">
                <a:solidFill>
                  <a:srgbClr val="000000"/>
                </a:solidFill>
              </a:rPr>
              <a:t>ይኖርበታ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 የሚያበራራባቸው</a:t>
            </a:r>
            <a:r>
              <a:rPr lang="en-GB" sz="2400" dirty="0" smtClean="0">
                <a:solidFill>
                  <a:srgbClr val="000000"/>
                </a:solidFill>
              </a:rPr>
              <a:t> ዘዴ</a:t>
            </a:r>
            <a:r>
              <a:rPr lang="am-ET" sz="2400" dirty="0" smtClean="0">
                <a:solidFill>
                  <a:srgbClr val="000000"/>
                </a:solidFill>
              </a:rPr>
              <a:t>ዎችም፡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FF0000"/>
                </a:solidFill>
              </a:rPr>
              <a:t>ምሳ</a:t>
            </a:r>
            <a:r>
              <a:rPr lang="en-GB" sz="2400" dirty="0">
                <a:solidFill>
                  <a:srgbClr val="FF0000"/>
                </a:solidFill>
              </a:rPr>
              <a:t>ሌ</a:t>
            </a:r>
            <a:r>
              <a:rPr lang="am-ET" sz="2400" dirty="0" smtClean="0">
                <a:solidFill>
                  <a:srgbClr val="FF0000"/>
                </a:solidFill>
              </a:rPr>
              <a:t>ዎችን </a:t>
            </a:r>
            <a:r>
              <a:rPr lang="am-ET" sz="2400" dirty="0">
                <a:solidFill>
                  <a:srgbClr val="000000"/>
                </a:solidFill>
              </a:rPr>
              <a:t>በማንሳት፡ ምሥጢረ </a:t>
            </a:r>
            <a:r>
              <a:rPr lang="am-ET" sz="2400" dirty="0" smtClean="0">
                <a:solidFill>
                  <a:srgbClr val="000000"/>
                </a:solidFill>
              </a:rPr>
              <a:t>ሥ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ሴን </a:t>
            </a:r>
            <a:r>
              <a:rPr lang="am-ET" sz="2400" dirty="0">
                <a:solidFill>
                  <a:srgbClr val="000000"/>
                </a:solidFill>
              </a:rPr>
              <a:t>ማስተማር </a:t>
            </a:r>
            <a:r>
              <a:rPr lang="am-ET" sz="2400" dirty="0" smtClean="0">
                <a:solidFill>
                  <a:srgbClr val="000000"/>
                </a:solidFill>
              </a:rPr>
              <a:t>ቢ</a:t>
            </a:r>
            <a:r>
              <a:rPr lang="en-GB" sz="2400" dirty="0" err="1" smtClean="0">
                <a:solidFill>
                  <a:srgbClr val="000000"/>
                </a:solidFill>
              </a:rPr>
              <a:t>ፈል</a:t>
            </a:r>
            <a:r>
              <a:rPr lang="am-ET" sz="2400" dirty="0" smtClean="0">
                <a:solidFill>
                  <a:srgbClr val="000000"/>
                </a:solidFill>
              </a:rPr>
              <a:t>ግ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70C0"/>
                </a:solidFill>
              </a:rPr>
              <a:t>በፀ</a:t>
            </a:r>
            <a:r>
              <a:rPr lang="en-GB" sz="2400" dirty="0" smtClean="0">
                <a:solidFill>
                  <a:srgbClr val="0070C0"/>
                </a:solidFill>
              </a:rPr>
              <a:t>ሐ</a:t>
            </a:r>
            <a:r>
              <a:rPr lang="am-ET" sz="2400" dirty="0" smtClean="0">
                <a:solidFill>
                  <a:srgbClr val="0070C0"/>
                </a:solidFill>
              </a:rPr>
              <a:t>ይ</a:t>
            </a:r>
            <a:r>
              <a:rPr lang="am-ET" sz="2400" dirty="0">
                <a:solidFill>
                  <a:srgbClr val="0070C0"/>
                </a:solidFill>
              </a:rPr>
              <a:t>፣ በእሳት፣ በሰው </a:t>
            </a:r>
            <a:r>
              <a:rPr lang="am-ET" sz="2400" dirty="0" smtClean="0">
                <a:solidFill>
                  <a:srgbClr val="000000"/>
                </a:solidFill>
              </a:rPr>
              <a:t>መስ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ማስተማር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2. 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እመቤታችን </a:t>
            </a:r>
            <a:r>
              <a:rPr lang="am-ET" sz="2400" dirty="0" smtClean="0">
                <a:solidFill>
                  <a:srgbClr val="000000"/>
                </a:solidFill>
              </a:rPr>
              <a:t>አማ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ጅነት</a:t>
            </a:r>
            <a:r>
              <a:rPr lang="am-ET" sz="2400" dirty="0">
                <a:solidFill>
                  <a:srgbClr val="000000"/>
                </a:solidFill>
              </a:rPr>
              <a:t>፡ </a:t>
            </a:r>
            <a:r>
              <a:rPr lang="am-ET" sz="2400" dirty="0" smtClean="0">
                <a:solidFill>
                  <a:srgbClr val="0070C0"/>
                </a:solidFill>
              </a:rPr>
              <a:t>የበ</a:t>
            </a:r>
            <a:r>
              <a:rPr lang="en-GB" sz="2400" dirty="0">
                <a:solidFill>
                  <a:srgbClr val="0070C0"/>
                </a:solidFill>
              </a:rPr>
              <a:t>ላ</a:t>
            </a:r>
            <a:r>
              <a:rPr lang="am-ET" sz="2400" dirty="0" smtClean="0">
                <a:solidFill>
                  <a:srgbClr val="0070C0"/>
                </a:solidFill>
              </a:rPr>
              <a:t>ኤሰብን </a:t>
            </a:r>
            <a:r>
              <a:rPr lang="am-ET" sz="2400" dirty="0">
                <a:solidFill>
                  <a:srgbClr val="000000"/>
                </a:solidFill>
              </a:rPr>
              <a:t>ታሪክ በማስታወስ መተረክ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3.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ትምህርት </a:t>
            </a:r>
            <a:r>
              <a:rPr lang="am-ET" sz="2400" dirty="0">
                <a:solidFill>
                  <a:srgbClr val="000000"/>
                </a:solidFill>
              </a:rPr>
              <a:t>አስረጂ ጥቅሶችን በማንሳት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4.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ቃውንትን </a:t>
            </a:r>
            <a:r>
              <a:rPr lang="am-ET" sz="2400" dirty="0" smtClean="0">
                <a:solidFill>
                  <a:srgbClr val="FF0000"/>
                </a:solidFill>
              </a:rPr>
              <a:t>ብ</a:t>
            </a:r>
            <a:r>
              <a:rPr lang="en-GB" sz="2400" dirty="0" err="1" smtClean="0">
                <a:solidFill>
                  <a:srgbClr val="FF0000"/>
                </a:solidFill>
              </a:rPr>
              <a:t>ሒል</a:t>
            </a:r>
            <a:r>
              <a:rPr lang="am-ET" sz="2400" dirty="0">
                <a:solidFill>
                  <a:srgbClr val="FF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በመጠቀም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ሐ.</a:t>
            </a:r>
            <a:r>
              <a:rPr lang="am-ET" sz="2400" dirty="0" smtClean="0">
                <a:solidFill>
                  <a:srgbClr val="000000"/>
                </a:solidFill>
              </a:rPr>
              <a:t>የአባቶችን 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መጠቀም፡ ሰባኪው በሚያስተምርበት </a:t>
            </a:r>
            <a:r>
              <a:rPr lang="am-ET" sz="2400" dirty="0" smtClean="0">
                <a:solidFill>
                  <a:srgbClr val="000000"/>
                </a:solidFill>
              </a:rPr>
              <a:t>ሰ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የማይገቡ 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ተጠቅሞ </a:t>
            </a:r>
            <a:r>
              <a:rPr lang="am-ET" sz="2400" dirty="0" smtClean="0">
                <a:solidFill>
                  <a:srgbClr val="00B050"/>
                </a:solidFill>
              </a:rPr>
              <a:t>ምሥጢራትን</a:t>
            </a:r>
            <a:r>
              <a:rPr lang="en-GB" sz="2400" dirty="0" smtClean="0">
                <a:solidFill>
                  <a:srgbClr val="00B050"/>
                </a:solidFill>
              </a:rPr>
              <a:t> </a:t>
            </a:r>
            <a:r>
              <a:rPr lang="am-ET" sz="2400" dirty="0" smtClean="0">
                <a:solidFill>
                  <a:srgbClr val="00B050"/>
                </a:solidFill>
              </a:rPr>
              <a:t>እን</a:t>
            </a:r>
            <a:r>
              <a:rPr lang="en-GB" sz="2400" dirty="0">
                <a:solidFill>
                  <a:srgbClr val="00B050"/>
                </a:solidFill>
              </a:rPr>
              <a:t>ዳ</a:t>
            </a:r>
            <a:r>
              <a:rPr lang="am-ET" sz="2400" dirty="0" smtClean="0">
                <a:solidFill>
                  <a:srgbClr val="00B050"/>
                </a:solidFill>
              </a:rPr>
              <a:t>ያ</a:t>
            </a:r>
            <a:r>
              <a:rPr lang="en-GB" sz="2400" dirty="0" err="1" smtClean="0">
                <a:solidFill>
                  <a:srgbClr val="00B050"/>
                </a:solidFill>
              </a:rPr>
              <a:t>ፋል</a:t>
            </a:r>
            <a:r>
              <a:rPr lang="am-ET" sz="2400" dirty="0" smtClean="0">
                <a:solidFill>
                  <a:srgbClr val="00B05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የአባቶችን </a:t>
            </a:r>
            <a:r>
              <a:rPr lang="am-ET" sz="2400" dirty="0" smtClean="0">
                <a:solidFill>
                  <a:srgbClr val="000000"/>
                </a:solidFill>
              </a:rPr>
              <a:t>አባባ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በሚገባ መጠቀም፡፡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4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rmAutofit fontScale="90000"/>
          </a:bodyPr>
          <a:lstStyle/>
          <a:p>
            <a:r>
              <a:rPr lang="am-ET" dirty="0" smtClean="0">
                <a:solidFill>
                  <a:srgbClr val="00B0F0"/>
                </a:solidFill>
              </a:rPr>
              <a:t>ባ</a:t>
            </a:r>
            <a:r>
              <a:rPr lang="en-GB" dirty="0" smtClean="0">
                <a:solidFill>
                  <a:srgbClr val="00B0F0"/>
                </a:solidFill>
              </a:rPr>
              <a:t>ለ</a:t>
            </a:r>
            <a:r>
              <a:rPr lang="am-ET" dirty="0" smtClean="0">
                <a:solidFill>
                  <a:srgbClr val="00B0F0"/>
                </a:solidFill>
              </a:rPr>
              <a:t> አን</a:t>
            </a:r>
            <a:r>
              <a:rPr lang="en-GB" dirty="0">
                <a:solidFill>
                  <a:srgbClr val="00B0F0"/>
                </a:solidFill>
              </a:rPr>
              <a:t>ድ</a:t>
            </a:r>
            <a:r>
              <a:rPr lang="am-ET" dirty="0" smtClean="0">
                <a:solidFill>
                  <a:srgbClr val="00B0F0"/>
                </a:solidFill>
              </a:rPr>
              <a:t> </a:t>
            </a:r>
            <a:r>
              <a:rPr lang="en-GB" dirty="0" smtClean="0">
                <a:solidFill>
                  <a:srgbClr val="00B0F0"/>
                </a:solidFill>
              </a:rPr>
              <a:t>ሐ</a:t>
            </a:r>
            <a:r>
              <a:rPr lang="am-ET" dirty="0" smtClean="0">
                <a:solidFill>
                  <a:srgbClr val="00B0F0"/>
                </a:solidFill>
              </a:rPr>
              <a:t>ረግ ስብከት</a:t>
            </a:r>
            <a:endParaRPr lang="am-ET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ረግ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የሚባ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ሰባኪው </a:t>
            </a:r>
            <a:r>
              <a:rPr lang="am-ET" sz="2400" dirty="0" smtClean="0">
                <a:solidFill>
                  <a:srgbClr val="000000"/>
                </a:solidFill>
              </a:rPr>
              <a:t>ከመጽ</a:t>
            </a:r>
            <a:r>
              <a:rPr lang="en-GB" sz="2400" dirty="0" err="1" smtClean="0">
                <a:solidFill>
                  <a:srgbClr val="000000"/>
                </a:solidFill>
              </a:rPr>
              <a:t>ሐፍ</a:t>
            </a:r>
            <a:r>
              <a:rPr lang="am-ET" sz="2400" dirty="0" smtClean="0">
                <a:solidFill>
                  <a:srgbClr val="000000"/>
                </a:solidFill>
              </a:rPr>
              <a:t> ቅ</a:t>
            </a:r>
            <a:r>
              <a:rPr lang="en-GB" sz="2400" dirty="0" err="1" smtClean="0">
                <a:solidFill>
                  <a:srgbClr val="000000"/>
                </a:solidFill>
              </a:rPr>
              <a:t>ዱስ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አን</a:t>
            </a:r>
            <a:r>
              <a:rPr lang="en-GB" sz="2400" dirty="0">
                <a:solidFill>
                  <a:srgbClr val="FF0000"/>
                </a:solidFill>
              </a:rPr>
              <a:t>ድ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ረግ መዝ</a:t>
            </a:r>
            <a:r>
              <a:rPr lang="en-GB" sz="2400" dirty="0">
                <a:solidFill>
                  <a:srgbClr val="FF0000"/>
                </a:solidFill>
              </a:rPr>
              <a:t>ዞ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ያንን </a:t>
            </a:r>
            <a:r>
              <a:rPr lang="am-ET" sz="2400" dirty="0" smtClean="0">
                <a:solidFill>
                  <a:srgbClr val="000000"/>
                </a:solidFill>
              </a:rPr>
              <a:t>ተመርኩ</a:t>
            </a:r>
            <a:r>
              <a:rPr lang="en-GB" sz="2400" dirty="0">
                <a:solidFill>
                  <a:srgbClr val="000000"/>
                </a:solidFill>
              </a:rPr>
              <a:t>ዞ</a:t>
            </a:r>
            <a:r>
              <a:rPr lang="am-ET" sz="2400" dirty="0" smtClean="0">
                <a:solidFill>
                  <a:srgbClr val="000000"/>
                </a:solidFill>
              </a:rPr>
              <a:t> የሚሰጥ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ትምህርት </a:t>
            </a:r>
            <a:r>
              <a:rPr lang="am-ET" sz="2400" dirty="0">
                <a:solidFill>
                  <a:srgbClr val="000000"/>
                </a:solidFill>
              </a:rPr>
              <a:t>ነው፡፡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B050"/>
                </a:solidFill>
              </a:rPr>
              <a:t>‹</a:t>
            </a:r>
            <a:r>
              <a:rPr lang="am-ET" sz="2400" dirty="0" smtClean="0">
                <a:solidFill>
                  <a:srgbClr val="00B050"/>
                </a:solidFill>
              </a:rPr>
              <a:t>በ</a:t>
            </a:r>
            <a:r>
              <a:rPr lang="en-GB" sz="2400" dirty="0" smtClean="0">
                <a:solidFill>
                  <a:srgbClr val="00B050"/>
                </a:solidFill>
              </a:rPr>
              <a:t>ፈ</a:t>
            </a:r>
            <a:r>
              <a:rPr lang="am-ET" sz="2400" dirty="0" smtClean="0">
                <a:solidFill>
                  <a:srgbClr val="00B050"/>
                </a:solidFill>
              </a:rPr>
              <a:t>ተና </a:t>
            </a:r>
            <a:r>
              <a:rPr lang="am-ET" sz="2400" dirty="0">
                <a:solidFill>
                  <a:srgbClr val="00B050"/>
                </a:solidFill>
              </a:rPr>
              <a:t>የሚጸና የተባረከ ነው ያዕ 1፡12 </a:t>
            </a: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ከተነሣ፡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 የ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ተናን </a:t>
            </a:r>
            <a:r>
              <a:rPr lang="am-ET" sz="2400" dirty="0" smtClean="0">
                <a:solidFill>
                  <a:srgbClr val="C00000"/>
                </a:solidFill>
              </a:rPr>
              <a:t>ምንነት</a:t>
            </a:r>
            <a:endParaRPr lang="en-GB" sz="2400" dirty="0" smtClean="0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 የ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ተናን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B050"/>
                </a:solidFill>
              </a:rPr>
              <a:t>ዓ</a:t>
            </a:r>
            <a:r>
              <a:rPr lang="am-ET" sz="2400" dirty="0" smtClean="0">
                <a:solidFill>
                  <a:srgbClr val="00B050"/>
                </a:solidFill>
              </a:rPr>
              <a:t>ይነት</a:t>
            </a:r>
            <a:endParaRPr lang="en-GB" sz="2400" dirty="0">
              <a:solidFill>
                <a:srgbClr val="00B05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 </a:t>
            </a:r>
            <a:r>
              <a:rPr lang="am-ET" sz="2400" dirty="0">
                <a:solidFill>
                  <a:srgbClr val="0070C0"/>
                </a:solidFill>
              </a:rPr>
              <a:t>የሚመጣባቸውን </a:t>
            </a:r>
            <a:r>
              <a:rPr lang="am-ET" sz="2400" dirty="0" smtClean="0">
                <a:solidFill>
                  <a:srgbClr val="0070C0"/>
                </a:solidFill>
              </a:rPr>
              <a:t>መንገ</a:t>
            </a:r>
            <a:r>
              <a:rPr lang="en-GB" sz="2400" dirty="0">
                <a:solidFill>
                  <a:srgbClr val="0070C0"/>
                </a:solidFill>
              </a:rPr>
              <a:t>ዶ</a:t>
            </a:r>
            <a:r>
              <a:rPr lang="am-ET" sz="2400" dirty="0" smtClean="0">
                <a:solidFill>
                  <a:srgbClr val="0070C0"/>
                </a:solidFill>
              </a:rPr>
              <a:t>ች</a:t>
            </a:r>
            <a:endParaRPr lang="en-GB" sz="24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ተናን </a:t>
            </a:r>
            <a:r>
              <a:rPr lang="am-ET" sz="2400" dirty="0" smtClean="0">
                <a:solidFill>
                  <a:srgbClr val="FF0000"/>
                </a:solidFill>
              </a:rPr>
              <a:t>እን</a:t>
            </a:r>
            <a:r>
              <a:rPr lang="en-GB" sz="2400" dirty="0">
                <a:solidFill>
                  <a:srgbClr val="FF0000"/>
                </a:solidFill>
              </a:rPr>
              <a:t>ዴ</a:t>
            </a:r>
            <a:r>
              <a:rPr lang="am-ET" sz="2400" dirty="0" smtClean="0">
                <a:solidFill>
                  <a:srgbClr val="FF0000"/>
                </a:solidFill>
              </a:rPr>
              <a:t>ት ማ</a:t>
            </a:r>
            <a:r>
              <a:rPr lang="en-GB" sz="2400" dirty="0" err="1" smtClean="0">
                <a:solidFill>
                  <a:srgbClr val="FF0000"/>
                </a:solidFill>
              </a:rPr>
              <a:t>ለፍ</a:t>
            </a:r>
            <a:r>
              <a:rPr lang="am-ET" sz="2400" dirty="0" smtClean="0">
                <a:solidFill>
                  <a:srgbClr val="FF0000"/>
                </a:solidFill>
              </a:rPr>
              <a:t> ይቻ</a:t>
            </a:r>
            <a:r>
              <a:rPr lang="en-GB" sz="2400" dirty="0" smtClean="0">
                <a:solidFill>
                  <a:srgbClr val="FF0000"/>
                </a:solidFill>
              </a:rPr>
              <a:t>ላል</a:t>
            </a:r>
            <a:endParaRPr lang="en-GB" sz="24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 በ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ተናው </a:t>
            </a:r>
            <a:r>
              <a:rPr lang="am-ET" sz="2400" dirty="0">
                <a:solidFill>
                  <a:srgbClr val="000000"/>
                </a:solidFill>
              </a:rPr>
              <a:t>ጸንተው </a:t>
            </a:r>
            <a:r>
              <a:rPr lang="am-ET" sz="2400" dirty="0" smtClean="0">
                <a:solidFill>
                  <a:srgbClr val="002060"/>
                </a:solidFill>
              </a:rPr>
              <a:t>ያ</a:t>
            </a:r>
            <a:r>
              <a:rPr lang="en-GB" sz="2400" dirty="0" err="1" smtClean="0">
                <a:solidFill>
                  <a:srgbClr val="002060"/>
                </a:solidFill>
              </a:rPr>
              <a:t>ለፉ</a:t>
            </a:r>
            <a:r>
              <a:rPr lang="am-ET" sz="2400" dirty="0" smtClean="0">
                <a:solidFill>
                  <a:srgbClr val="002060"/>
                </a:solidFill>
              </a:rPr>
              <a:t> ቅ</a:t>
            </a:r>
            <a:r>
              <a:rPr lang="en-GB" sz="2400" dirty="0">
                <a:solidFill>
                  <a:srgbClr val="002060"/>
                </a:solidFill>
              </a:rPr>
              <a:t>ዱ</a:t>
            </a:r>
            <a:r>
              <a:rPr lang="am-ET" sz="2400" dirty="0" smtClean="0">
                <a:solidFill>
                  <a:srgbClr val="002060"/>
                </a:solidFill>
              </a:rPr>
              <a:t>ሳን </a:t>
            </a:r>
            <a:r>
              <a:rPr lang="am-ET" sz="2400" dirty="0">
                <a:solidFill>
                  <a:srgbClr val="002060"/>
                </a:solidFill>
              </a:rPr>
              <a:t>ሰወችን </a:t>
            </a:r>
            <a:r>
              <a:rPr lang="am-ET" sz="2400" dirty="0">
                <a:solidFill>
                  <a:srgbClr val="000000"/>
                </a:solidFill>
              </a:rPr>
              <a:t>ታሪክ እያነሣ </a:t>
            </a: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መኑና </a:t>
            </a:r>
            <a:r>
              <a:rPr lang="am-ET" sz="2400" dirty="0">
                <a:solidFill>
                  <a:srgbClr val="000000"/>
                </a:solidFill>
              </a:rPr>
              <a:t>ከሰው ሕይወት ጋር </a:t>
            </a:r>
            <a:r>
              <a:rPr lang="am-ET" sz="2400" dirty="0" smtClean="0">
                <a:solidFill>
                  <a:srgbClr val="000000"/>
                </a:solidFill>
              </a:rPr>
              <a:t>በማዋሃ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በሰ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ማስተማር </a:t>
            </a:r>
            <a:r>
              <a:rPr lang="am-ET" sz="2400" dirty="0">
                <a:solidFill>
                  <a:srgbClr val="000000"/>
                </a:solidFill>
              </a:rPr>
              <a:t>ነው፡፡ ‹</a:t>
            </a:r>
            <a:r>
              <a:rPr lang="am-ET" sz="2400" dirty="0" smtClean="0">
                <a:solidFill>
                  <a:srgbClr val="000000"/>
                </a:solidFill>
              </a:rPr>
              <a:t>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ረግ ሲ</a:t>
            </a:r>
            <a:r>
              <a:rPr lang="en-GB" sz="2400" dirty="0">
                <a:solidFill>
                  <a:srgbClr val="000000"/>
                </a:solidFill>
              </a:rPr>
              <a:t>ስ</a:t>
            </a:r>
            <a:r>
              <a:rPr lang="am-ET" sz="2400" dirty="0" smtClean="0">
                <a:solidFill>
                  <a:srgbClr val="000000"/>
                </a:solidFill>
              </a:rPr>
              <a:t>ቡ 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 </a:t>
            </a:r>
            <a:r>
              <a:rPr lang="am-ET" sz="2400" dirty="0">
                <a:solidFill>
                  <a:srgbClr val="000000"/>
                </a:solidFill>
              </a:rPr>
              <a:t>ይሰበስቡ›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err="1" smtClean="0">
                <a:solidFill>
                  <a:srgbClr val="000000"/>
                </a:solidFill>
              </a:rPr>
              <a:t>ዲሉ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‹</a:t>
            </a:r>
            <a:r>
              <a:rPr lang="am-ET" sz="2400" dirty="0" smtClean="0">
                <a:solidFill>
                  <a:srgbClr val="000000"/>
                </a:solidFill>
              </a:rPr>
              <a:t>ባ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ሃረግ› </a:t>
            </a: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መነሻ ይሁን እንጂ </a:t>
            </a: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ዙ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ይነት </a:t>
            </a:r>
            <a:r>
              <a:rPr lang="am-ET" sz="2400" dirty="0">
                <a:solidFill>
                  <a:srgbClr val="000000"/>
                </a:solidFill>
              </a:rPr>
              <a:t>የስብከት 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ቶች አ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rmAutofit fontScale="90000"/>
          </a:bodyPr>
          <a:lstStyle/>
          <a:p>
            <a:r>
              <a:rPr lang="am-ET" dirty="0">
                <a:solidFill>
                  <a:prstClr val="black"/>
                </a:solidFill>
              </a:rPr>
              <a:t> </a:t>
            </a:r>
            <a:r>
              <a:rPr lang="am-ET" dirty="0" smtClean="0">
                <a:solidFill>
                  <a:srgbClr val="0070C0"/>
                </a:solidFill>
              </a:rPr>
              <a:t>ቅ</a:t>
            </a:r>
            <a:r>
              <a:rPr lang="en-GB" dirty="0">
                <a:solidFill>
                  <a:srgbClr val="0070C0"/>
                </a:solidFill>
              </a:rPr>
              <a:t>ዳ</a:t>
            </a:r>
            <a:r>
              <a:rPr lang="am-ET" dirty="0" smtClean="0">
                <a:solidFill>
                  <a:srgbClr val="0070C0"/>
                </a:solidFill>
              </a:rPr>
              <a:t>ሴያዊ </a:t>
            </a:r>
            <a:r>
              <a:rPr lang="am-ET" dirty="0">
                <a:solidFill>
                  <a:srgbClr val="0070C0"/>
                </a:solidFill>
              </a:rPr>
              <a:t>ስብከት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ይህ 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ይነት </a:t>
            </a:r>
            <a:r>
              <a:rPr lang="am-ET" sz="2400" dirty="0">
                <a:solidFill>
                  <a:srgbClr val="000000"/>
                </a:solidFill>
              </a:rPr>
              <a:t>ስብከት ፣</a:t>
            </a:r>
            <a:r>
              <a:rPr lang="am-ET" sz="2400" dirty="0">
                <a:solidFill>
                  <a:srgbClr val="FF0000"/>
                </a:solidFill>
              </a:rPr>
              <a:t>በጾም ወቅት </a:t>
            </a:r>
            <a:r>
              <a:rPr lang="am-ET" sz="2400" dirty="0" smtClean="0">
                <a:solidFill>
                  <a:srgbClr val="FF0000"/>
                </a:solidFill>
              </a:rPr>
              <a:t>በኪ</a:t>
            </a:r>
            <a:r>
              <a:rPr lang="en-GB" sz="2400" dirty="0">
                <a:solidFill>
                  <a:srgbClr val="FF0000"/>
                </a:solidFill>
              </a:rPr>
              <a:t>ዳ</a:t>
            </a:r>
            <a:r>
              <a:rPr lang="am-ET" sz="2400" dirty="0" smtClean="0">
                <a:solidFill>
                  <a:srgbClr val="FF0000"/>
                </a:solidFill>
              </a:rPr>
              <a:t>ን የጸ</a:t>
            </a:r>
            <a:r>
              <a:rPr lang="en-GB" sz="2400" dirty="0">
                <a:solidFill>
                  <a:srgbClr val="FF0000"/>
                </a:solidFill>
              </a:rPr>
              <a:t>ሎ</a:t>
            </a:r>
            <a:r>
              <a:rPr lang="am-ET" sz="2400" dirty="0" smtClean="0">
                <a:solidFill>
                  <a:srgbClr val="FF0000"/>
                </a:solidFill>
              </a:rPr>
              <a:t>ት ሰ</a:t>
            </a:r>
            <a:r>
              <a:rPr lang="en-GB" sz="2400" dirty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ት</a:t>
            </a:r>
            <a:r>
              <a:rPr lang="am-ET" sz="2400" dirty="0">
                <a:solidFill>
                  <a:srgbClr val="FF0000"/>
                </a:solidFill>
              </a:rPr>
              <a:t>፣ በንግስ </a:t>
            </a:r>
            <a:r>
              <a:rPr lang="am-ET" sz="2400" dirty="0" smtClean="0">
                <a:solidFill>
                  <a:srgbClr val="FF0000"/>
                </a:solidFill>
              </a:rPr>
              <a:t>ጊ</a:t>
            </a:r>
            <a:r>
              <a:rPr lang="en-GB" sz="2400" dirty="0">
                <a:solidFill>
                  <a:srgbClr val="FF0000"/>
                </a:solidFill>
              </a:rPr>
              <a:t>ዜ</a:t>
            </a:r>
            <a:r>
              <a:rPr lang="am-ET" sz="2400" dirty="0" smtClean="0">
                <a:solidFill>
                  <a:srgbClr val="FF0000"/>
                </a:solidFill>
              </a:rPr>
              <a:t>፣ በሥር</a:t>
            </a:r>
            <a:r>
              <a:rPr lang="en-GB" sz="2400" dirty="0" smtClean="0">
                <a:solidFill>
                  <a:srgbClr val="FF0000"/>
                </a:solidFill>
              </a:rPr>
              <a:t>ዓ</a:t>
            </a:r>
            <a:r>
              <a:rPr lang="am-ET" sz="2400" dirty="0" smtClean="0">
                <a:solidFill>
                  <a:srgbClr val="FF0000"/>
                </a:solidFill>
              </a:rPr>
              <a:t>ተ ቅ</a:t>
            </a:r>
            <a:r>
              <a:rPr lang="en-GB" sz="2400" dirty="0">
                <a:solidFill>
                  <a:srgbClr val="FF0000"/>
                </a:solidFill>
              </a:rPr>
              <a:t>ዳ</a:t>
            </a:r>
            <a:r>
              <a:rPr lang="am-ET" sz="2400" dirty="0" smtClean="0">
                <a:solidFill>
                  <a:srgbClr val="FF0000"/>
                </a:solidFill>
              </a:rPr>
              <a:t>ሴ መካከ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 የሚሰጥ</a:t>
            </a:r>
            <a:r>
              <a:rPr lang="en-GB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 smtClean="0">
                <a:solidFill>
                  <a:srgbClr val="FF0000"/>
                </a:solidFill>
              </a:rPr>
              <a:t>ትምህርት </a:t>
            </a:r>
            <a:r>
              <a:rPr lang="am-ET" sz="2400" dirty="0">
                <a:solidFill>
                  <a:srgbClr val="FF0000"/>
                </a:solidFill>
              </a:rPr>
              <a:t>ነው፡፡ </a:t>
            </a:r>
            <a:r>
              <a:rPr lang="am-ET" sz="2400" dirty="0">
                <a:solidFill>
                  <a:srgbClr val="000000"/>
                </a:solidFill>
              </a:rPr>
              <a:t>በቤተክርስቲያናችን </a:t>
            </a:r>
            <a:r>
              <a:rPr lang="am-ET" sz="2400" dirty="0">
                <a:solidFill>
                  <a:srgbClr val="00B050"/>
                </a:solidFill>
              </a:rPr>
              <a:t>ዋነኛው</a:t>
            </a:r>
            <a:r>
              <a:rPr lang="am-ET" sz="2400" dirty="0">
                <a:solidFill>
                  <a:srgbClr val="000000"/>
                </a:solidFill>
              </a:rPr>
              <a:t> የስብከት </a:t>
            </a:r>
            <a:r>
              <a:rPr lang="en-GB" sz="2400" dirty="0" err="1" smtClean="0">
                <a:solidFill>
                  <a:srgbClr val="000000"/>
                </a:solidFill>
              </a:rPr>
              <a:t>ዘዴ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ነው</a:t>
            </a:r>
            <a:r>
              <a:rPr lang="am-ET" sz="2400" dirty="0">
                <a:solidFill>
                  <a:srgbClr val="000000"/>
                </a:solidFill>
              </a:rPr>
              <a:t>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ይህ የስብከት </a:t>
            </a:r>
            <a:r>
              <a:rPr lang="en-GB" sz="2400" dirty="0" smtClean="0">
                <a:solidFill>
                  <a:srgbClr val="000000"/>
                </a:solidFill>
              </a:rPr>
              <a:t>ዘዴ</a:t>
            </a:r>
            <a:r>
              <a:rPr lang="am-ET" sz="2400" dirty="0" smtClean="0">
                <a:solidFill>
                  <a:srgbClr val="000000"/>
                </a:solidFill>
              </a:rPr>
              <a:t> ብ</a:t>
            </a:r>
            <a:r>
              <a:rPr lang="en-GB" sz="2400" dirty="0">
                <a:solidFill>
                  <a:srgbClr val="000000"/>
                </a:solidFill>
              </a:rPr>
              <a:t>ዙ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ጥቅሞች </a:t>
            </a: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r>
              <a:rPr lang="am-ET" sz="2400" dirty="0">
                <a:solidFill>
                  <a:srgbClr val="000000"/>
                </a:solidFill>
              </a:rPr>
              <a:t>፡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 በአን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70C0"/>
                </a:solidFill>
              </a:rPr>
              <a:t>ብ</a:t>
            </a:r>
            <a:r>
              <a:rPr lang="en-GB" sz="2400" dirty="0">
                <a:solidFill>
                  <a:srgbClr val="0070C0"/>
                </a:solidFill>
              </a:rPr>
              <a:t>ዙ</a:t>
            </a:r>
            <a:r>
              <a:rPr lang="am-ET" sz="2400" dirty="0" smtClean="0">
                <a:solidFill>
                  <a:srgbClr val="0070C0"/>
                </a:solidFill>
              </a:rPr>
              <a:t> ሕ</a:t>
            </a:r>
            <a:r>
              <a:rPr lang="en-GB" sz="2400" dirty="0">
                <a:solidFill>
                  <a:srgbClr val="0070C0"/>
                </a:solidFill>
              </a:rPr>
              <a:t>ዝ</a:t>
            </a:r>
            <a:r>
              <a:rPr lang="am-ET" sz="2400" dirty="0" smtClean="0">
                <a:solidFill>
                  <a:srgbClr val="0070C0"/>
                </a:solidFill>
              </a:rPr>
              <a:t>ብ </a:t>
            </a:r>
            <a:r>
              <a:rPr lang="am-ET" sz="2400" dirty="0" smtClean="0">
                <a:solidFill>
                  <a:srgbClr val="000000"/>
                </a:solidFill>
              </a:rPr>
              <a:t>ይገኝበታ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ሕዋሳት በሙ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ተሳት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 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ርጋ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በሁ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70C0"/>
                </a:solidFill>
              </a:rPr>
              <a:t>ንዋያተ </a:t>
            </a:r>
            <a:r>
              <a:rPr lang="am-ET" sz="2400" dirty="0" smtClean="0">
                <a:solidFill>
                  <a:srgbClr val="0070C0"/>
                </a:solidFill>
              </a:rPr>
              <a:t>ቅ</a:t>
            </a:r>
            <a:r>
              <a:rPr lang="en-GB" sz="2400" dirty="0">
                <a:solidFill>
                  <a:srgbClr val="0070C0"/>
                </a:solidFill>
              </a:rPr>
              <a:t>ዱ</a:t>
            </a:r>
            <a:r>
              <a:rPr lang="am-ET" sz="2400" dirty="0" smtClean="0">
                <a:solidFill>
                  <a:srgbClr val="0070C0"/>
                </a:solidFill>
              </a:rPr>
              <a:t>ሳት </a:t>
            </a:r>
            <a:r>
              <a:rPr lang="am-ET" sz="2400" dirty="0">
                <a:solidFill>
                  <a:srgbClr val="000000"/>
                </a:solidFill>
              </a:rPr>
              <a:t>ማስተማር </a:t>
            </a:r>
            <a:r>
              <a:rPr lang="am-ET" sz="2400" dirty="0" smtClean="0">
                <a:solidFill>
                  <a:srgbClr val="000000"/>
                </a:solidFill>
              </a:rPr>
              <a:t>ይቻ</a:t>
            </a:r>
            <a:r>
              <a:rPr lang="en-GB" sz="2400" dirty="0" smtClean="0">
                <a:solidFill>
                  <a:srgbClr val="000000"/>
                </a:solidFill>
              </a:rPr>
              <a:t>ላል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FF0000"/>
                </a:solidFill>
              </a:rPr>
              <a:t>ከሕፃን </a:t>
            </a:r>
            <a:r>
              <a:rPr lang="am-ET" sz="2400" dirty="0">
                <a:solidFill>
                  <a:srgbClr val="FF0000"/>
                </a:solidFill>
              </a:rPr>
              <a:t>እስከ አዋቂ </a:t>
            </a:r>
            <a:r>
              <a:rPr lang="am-ET" sz="2400" dirty="0" smtClean="0">
                <a:solidFill>
                  <a:srgbClr val="000000"/>
                </a:solidFill>
              </a:rPr>
              <a:t>ይታ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ሙበታ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በየጊ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ው ስ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ሚሰጥ </a:t>
            </a:r>
            <a:r>
              <a:rPr lang="am-ET" sz="2400" dirty="0">
                <a:solidFill>
                  <a:srgbClr val="000000"/>
                </a:solidFill>
              </a:rPr>
              <a:t>ትምህርቱ </a:t>
            </a:r>
            <a:r>
              <a:rPr lang="am-ET" sz="2400" dirty="0">
                <a:solidFill>
                  <a:schemeClr val="tx2"/>
                </a:solidFill>
              </a:rPr>
              <a:t>አይረሴ </a:t>
            </a:r>
            <a:r>
              <a:rPr lang="am-ET" sz="2400" dirty="0" smtClean="0">
                <a:solidFill>
                  <a:schemeClr val="tx2"/>
                </a:solidFill>
              </a:rPr>
              <a:t>ይሆና</a:t>
            </a:r>
            <a:r>
              <a:rPr lang="en-GB" sz="2400" dirty="0" smtClean="0">
                <a:solidFill>
                  <a:schemeClr val="tx2"/>
                </a:solidFill>
              </a:rPr>
              <a:t>ል</a:t>
            </a:r>
            <a:endParaRPr lang="en-GB" sz="2400" dirty="0">
              <a:solidFill>
                <a:schemeClr val="tx2"/>
              </a:solidFill>
            </a:endParaRPr>
          </a:p>
          <a:p>
            <a:pPr algn="just">
              <a:lnSpc>
                <a:spcPct val="150000"/>
              </a:lnSpc>
              <a:buClr>
                <a:schemeClr val="accent1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ዙ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ታሪኮችንና ትምህርቶችን </a:t>
            </a:r>
            <a:r>
              <a:rPr lang="am-ET" sz="2400" dirty="0" smtClean="0">
                <a:solidFill>
                  <a:srgbClr val="00B050"/>
                </a:solidFill>
              </a:rPr>
              <a:t>በአን</a:t>
            </a:r>
            <a:r>
              <a:rPr lang="en-GB" sz="2400" dirty="0">
                <a:solidFill>
                  <a:srgbClr val="00B050"/>
                </a:solidFill>
              </a:rPr>
              <a:t>ድ</a:t>
            </a:r>
            <a:r>
              <a:rPr lang="am-ET" sz="2400" dirty="0" smtClean="0">
                <a:solidFill>
                  <a:srgbClr val="00B050"/>
                </a:solidFill>
              </a:rPr>
              <a:t> ጊ</a:t>
            </a:r>
            <a:r>
              <a:rPr lang="en-GB" sz="2400" dirty="0" smtClean="0">
                <a:solidFill>
                  <a:srgbClr val="00B050"/>
                </a:solidFill>
              </a:rPr>
              <a:t>ዜ </a:t>
            </a:r>
            <a:r>
              <a:rPr lang="am-ET" sz="2400" dirty="0" smtClean="0">
                <a:solidFill>
                  <a:srgbClr val="00B050"/>
                </a:solidFill>
              </a:rPr>
              <a:t>ያቀርባ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endParaRPr lang="am-ET" sz="2400" dirty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፡ </a:t>
            </a:r>
            <a:r>
              <a:rPr lang="am-ET" sz="2400" dirty="0" smtClean="0">
                <a:solidFill>
                  <a:srgbClr val="FFC000"/>
                </a:solidFill>
              </a:rPr>
              <a:t>የቅ</a:t>
            </a:r>
            <a:r>
              <a:rPr lang="en-GB" sz="2400" dirty="0">
                <a:solidFill>
                  <a:srgbClr val="FFC000"/>
                </a:solidFill>
              </a:rPr>
              <a:t>ዳ</a:t>
            </a:r>
            <a:r>
              <a:rPr lang="am-ET" sz="2400" dirty="0" smtClean="0">
                <a:solidFill>
                  <a:srgbClr val="FFC000"/>
                </a:solidFill>
              </a:rPr>
              <a:t>ሴው </a:t>
            </a:r>
            <a:r>
              <a:rPr lang="am-ET" sz="2400" dirty="0">
                <a:solidFill>
                  <a:srgbClr val="FFC000"/>
                </a:solidFill>
              </a:rPr>
              <a:t>ምንባብ፣ </a:t>
            </a:r>
            <a:r>
              <a:rPr lang="en-GB" sz="2400" dirty="0">
                <a:solidFill>
                  <a:srgbClr val="FFC000"/>
                </a:solidFill>
              </a:rPr>
              <a:t>ዜ</a:t>
            </a:r>
            <a:r>
              <a:rPr lang="am-ET" sz="2400" dirty="0" smtClean="0">
                <a:solidFill>
                  <a:srgbClr val="FFC000"/>
                </a:solidFill>
              </a:rPr>
              <a:t>ማው </a:t>
            </a:r>
            <a:r>
              <a:rPr lang="am-ET" sz="2400" dirty="0">
                <a:solidFill>
                  <a:srgbClr val="FFC000"/>
                </a:solidFill>
              </a:rPr>
              <a:t>የ3ቱም </a:t>
            </a:r>
            <a:r>
              <a:rPr lang="am-ET" sz="2400" dirty="0" smtClean="0">
                <a:solidFill>
                  <a:srgbClr val="FFC000"/>
                </a:solidFill>
              </a:rPr>
              <a:t>የ</a:t>
            </a:r>
            <a:r>
              <a:rPr lang="en-GB" sz="2400" dirty="0">
                <a:solidFill>
                  <a:srgbClr val="FFC000"/>
                </a:solidFill>
              </a:rPr>
              <a:t>ዜ</a:t>
            </a:r>
            <a:r>
              <a:rPr lang="am-ET" sz="2400" dirty="0" smtClean="0">
                <a:solidFill>
                  <a:srgbClr val="FFC000"/>
                </a:solidFill>
              </a:rPr>
              <a:t>ማ ስ</a:t>
            </a:r>
            <a:r>
              <a:rPr lang="en-GB" sz="2400" dirty="0">
                <a:solidFill>
                  <a:srgbClr val="FFC000"/>
                </a:solidFill>
              </a:rPr>
              <a:t>ል</a:t>
            </a:r>
            <a:r>
              <a:rPr lang="am-ET" sz="2400" dirty="0" smtClean="0">
                <a:solidFill>
                  <a:srgbClr val="FFC000"/>
                </a:solidFill>
              </a:rPr>
              <a:t>ት</a:t>
            </a:r>
            <a:endParaRPr lang="am-ET" sz="2400" dirty="0">
              <a:solidFill>
                <a:srgbClr val="FFC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00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696200" cy="609600"/>
          </a:xfrm>
        </p:spPr>
        <p:txBody>
          <a:bodyPr>
            <a:noAutofit/>
          </a:bodyPr>
          <a:lstStyle/>
          <a:p>
            <a:r>
              <a:rPr lang="en-GB" sz="2800" dirty="0" smtClean="0">
                <a:solidFill>
                  <a:schemeClr val="accent2"/>
                </a:solidFill>
              </a:rPr>
              <a:t>4.</a:t>
            </a:r>
            <a:r>
              <a:rPr lang="am-ET" sz="2800" dirty="0" smtClean="0">
                <a:solidFill>
                  <a:schemeClr val="accent2"/>
                </a:solidFill>
              </a:rPr>
              <a:t>ስብከት</a:t>
            </a:r>
            <a:r>
              <a:rPr lang="en-GB" sz="2800" dirty="0" smtClean="0">
                <a:solidFill>
                  <a:schemeClr val="accent2"/>
                </a:solidFill>
              </a:rPr>
              <a:t> </a:t>
            </a:r>
            <a:r>
              <a:rPr lang="en-GB" sz="2800" dirty="0" err="1" smtClean="0">
                <a:solidFill>
                  <a:schemeClr val="accent2"/>
                </a:solidFill>
              </a:rPr>
              <a:t>በሚዘጋጅበት</a:t>
            </a:r>
            <a:r>
              <a:rPr lang="en-GB" sz="2800" dirty="0" smtClean="0">
                <a:solidFill>
                  <a:schemeClr val="accent2"/>
                </a:solidFill>
              </a:rPr>
              <a:t> ወቅት ሊታሳቡ የሚገባቸዉ ነገሮች </a:t>
            </a:r>
            <a:endParaRPr lang="am-ET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4648200"/>
          </a:xfrm>
        </p:spPr>
        <p:txBody>
          <a:bodyPr>
            <a:noAutofit/>
          </a:bodyPr>
          <a:lstStyle/>
          <a:p>
            <a:pPr marL="457200" indent="-457200" algn="just">
              <a:buAutoNum type="arabicPeriod"/>
            </a:pPr>
            <a:r>
              <a:rPr lang="am-ET" sz="2400" dirty="0" smtClean="0">
                <a:solidFill>
                  <a:srgbClr val="FF0000"/>
                </a:solidFill>
              </a:rPr>
              <a:t>ሕ</a:t>
            </a:r>
            <a:r>
              <a:rPr lang="en-GB" sz="2400" dirty="0">
                <a:solidFill>
                  <a:srgbClr val="FF0000"/>
                </a:solidFill>
              </a:rPr>
              <a:t>ዝ</a:t>
            </a:r>
            <a:r>
              <a:rPr lang="am-ET" sz="2400" dirty="0">
                <a:solidFill>
                  <a:srgbClr val="FF0000"/>
                </a:solidFill>
              </a:rPr>
              <a:t>ብን ማወቅ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2</a:t>
            </a:r>
            <a:r>
              <a:rPr lang="en-GB" sz="2400" dirty="0" smtClean="0">
                <a:solidFill>
                  <a:srgbClr val="FF0000"/>
                </a:solidFill>
              </a:rPr>
              <a:t>.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የስብከት ቦታዎችን ማወቅ 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ሀ</a:t>
            </a:r>
            <a:r>
              <a:rPr lang="am-ET" sz="2400" dirty="0">
                <a:solidFill>
                  <a:srgbClr val="0070C0"/>
                </a:solidFill>
              </a:rPr>
              <a:t>. ቤተ ክርስቲያን፡</a:t>
            </a:r>
          </a:p>
          <a:p>
            <a:pPr marL="0" indent="0" algn="just"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- በ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ወትር </a:t>
            </a:r>
            <a:r>
              <a:rPr lang="am-ET" sz="2400" dirty="0">
                <a:solidFill>
                  <a:srgbClr val="000000"/>
                </a:solidFill>
              </a:rPr>
              <a:t>የሰረክ መርሃ ግብር</a:t>
            </a:r>
          </a:p>
          <a:p>
            <a:pPr marL="0" indent="0" algn="just">
              <a:buNone/>
            </a:pPr>
            <a:r>
              <a:rPr lang="am-ET" sz="2400" dirty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በኪ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 የጸ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ሰአት</a:t>
            </a:r>
          </a:p>
          <a:p>
            <a:pPr marL="0" indent="0" algn="just">
              <a:buNone/>
            </a:pPr>
            <a:r>
              <a:rPr lang="am-ET" sz="2400" dirty="0">
                <a:solidFill>
                  <a:srgbClr val="000000"/>
                </a:solidFill>
              </a:rPr>
              <a:t>- በሳመንታዊ መርሃ ግብር</a:t>
            </a:r>
          </a:p>
          <a:p>
            <a:pPr marL="0" indent="0" algn="just">
              <a:buNone/>
            </a:pPr>
            <a:r>
              <a:rPr lang="am-ET" sz="2400" dirty="0">
                <a:solidFill>
                  <a:srgbClr val="000000"/>
                </a:solidFill>
              </a:rPr>
              <a:t>- በወርሃዊና አመታዊ </a:t>
            </a:r>
            <a:r>
              <a:rPr lang="am-ET" sz="2400" dirty="0" smtClean="0">
                <a:solidFill>
                  <a:srgbClr val="000000"/>
                </a:solidFill>
              </a:rPr>
              <a:t>በአ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am-ET" sz="2400" dirty="0">
                <a:solidFill>
                  <a:srgbClr val="000000"/>
                </a:solidFill>
              </a:rPr>
              <a:t>- ሌዩ ሌዩ መርሃ ግብር </a:t>
            </a:r>
            <a:r>
              <a:rPr lang="am-ET" sz="2400" dirty="0" smtClean="0">
                <a:solidFill>
                  <a:srgbClr val="000000"/>
                </a:solidFill>
              </a:rPr>
              <a:t>በማ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ጋጀት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buNone/>
            </a:pPr>
            <a:r>
              <a:rPr lang="am-ET" sz="2400" dirty="0">
                <a:solidFill>
                  <a:srgbClr val="000000"/>
                </a:solidFill>
              </a:rPr>
              <a:t>- በቀብረ ሰአት</a:t>
            </a: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4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srgbClr val="00B050"/>
                </a:solidFill>
              </a:rPr>
              <a:t>የቀጠለ….</a:t>
            </a:r>
            <a:endParaRPr lang="am-ET" sz="36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. በሃ</a:t>
            </a:r>
            <a:r>
              <a:rPr lang="en-GB" sz="2400" dirty="0" smtClean="0">
                <a:solidFill>
                  <a:srgbClr val="0070C0"/>
                </a:solidFill>
              </a:rPr>
              <a:t>ዘ</a:t>
            </a:r>
            <a:r>
              <a:rPr lang="am-ET" sz="2400" dirty="0" smtClean="0">
                <a:solidFill>
                  <a:srgbClr val="0070C0"/>
                </a:solidFill>
              </a:rPr>
              <a:t>ን </a:t>
            </a:r>
            <a:r>
              <a:rPr lang="am-ET" sz="2400" dirty="0">
                <a:solidFill>
                  <a:srgbClr val="0070C0"/>
                </a:solidFill>
              </a:rPr>
              <a:t>ቤት፡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ቅሶ </a:t>
            </a:r>
            <a:r>
              <a:rPr lang="am-ET" sz="2400" dirty="0">
                <a:solidFill>
                  <a:srgbClr val="000000"/>
                </a:solidFill>
              </a:rPr>
              <a:t>ቤት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US" sz="2400" dirty="0">
                <a:solidFill>
                  <a:srgbClr val="000000"/>
                </a:solidFill>
              </a:rPr>
              <a:t>ሚ</a:t>
            </a:r>
            <a:r>
              <a:rPr lang="am-ET" sz="2400" dirty="0" smtClean="0">
                <a:solidFill>
                  <a:srgbClr val="000000"/>
                </a:solidFill>
              </a:rPr>
              <a:t>ገኙ ወ</a:t>
            </a:r>
            <a:r>
              <a:rPr lang="en-GB" sz="2400" dirty="0" smtClean="0">
                <a:solidFill>
                  <a:srgbClr val="000000"/>
                </a:solidFill>
              </a:rPr>
              <a:t>ገ</a:t>
            </a:r>
            <a:r>
              <a:rPr lang="am-ET" sz="2400" dirty="0" smtClean="0">
                <a:solidFill>
                  <a:srgbClr val="000000"/>
                </a:solidFill>
              </a:rPr>
              <a:t>ኖች ሃ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ን </a:t>
            </a:r>
            <a:r>
              <a:rPr lang="en-GB" sz="2400" dirty="0" err="1" smtClean="0">
                <a:solidFill>
                  <a:srgbClr val="000000"/>
                </a:solidFill>
              </a:rPr>
              <a:t>ልቦ</a:t>
            </a:r>
            <a:r>
              <a:rPr lang="am-ET" sz="2400" dirty="0" smtClean="0">
                <a:solidFill>
                  <a:srgbClr val="000000"/>
                </a:solidFill>
              </a:rPr>
              <a:t>ናቸው</a:t>
            </a:r>
            <a:r>
              <a:rPr lang="en-GB" sz="2400" dirty="0">
                <a:solidFill>
                  <a:srgbClr val="000000"/>
                </a:solidFill>
              </a:rPr>
              <a:t>ን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የሰበረባቸው፣መጽናትን </a:t>
            </a: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 err="1" smtClean="0">
                <a:solidFill>
                  <a:srgbClr val="000000"/>
                </a:solidFill>
              </a:rPr>
              <a:t>ፈል</a:t>
            </a:r>
            <a:r>
              <a:rPr lang="am-ET" sz="2400" dirty="0" smtClean="0">
                <a:solidFill>
                  <a:srgbClr val="000000"/>
                </a:solidFill>
              </a:rPr>
              <a:t>ጉ </a:t>
            </a:r>
            <a:r>
              <a:rPr lang="am-ET" sz="2400" dirty="0">
                <a:solidFill>
                  <a:srgbClr val="000000"/>
                </a:solidFill>
              </a:rPr>
              <a:t>ናቸው፡፡ </a:t>
            </a:r>
            <a:r>
              <a:rPr lang="am-ET" sz="2400" dirty="0" smtClean="0">
                <a:solidFill>
                  <a:srgbClr val="000000"/>
                </a:solidFill>
              </a:rPr>
              <a:t>ሃ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ንተኞች </a:t>
            </a:r>
            <a:r>
              <a:rPr lang="en-GB" sz="2400" dirty="0">
                <a:solidFill>
                  <a:srgbClr val="000000"/>
                </a:solidFill>
              </a:rPr>
              <a:t>ሞ</a:t>
            </a:r>
            <a:r>
              <a:rPr lang="am-ET" sz="2400" dirty="0" smtClean="0">
                <a:solidFill>
                  <a:srgbClr val="000000"/>
                </a:solidFill>
              </a:rPr>
              <a:t>ትንና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ሕ</a:t>
            </a:r>
            <a:r>
              <a:rPr lang="en-GB" sz="2400" dirty="0">
                <a:solidFill>
                  <a:srgbClr val="000000"/>
                </a:solidFill>
              </a:rPr>
              <a:t>ይ</a:t>
            </a:r>
            <a:r>
              <a:rPr lang="am-ET" sz="2400" dirty="0" smtClean="0">
                <a:solidFill>
                  <a:srgbClr val="000000"/>
                </a:solidFill>
              </a:rPr>
              <a:t>ወትን፣ጽ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ቅንና </a:t>
            </a:r>
            <a:r>
              <a:rPr lang="am-ET" sz="2400" dirty="0">
                <a:solidFill>
                  <a:srgbClr val="000000"/>
                </a:solidFill>
              </a:rPr>
              <a:t>ኩነኔን፣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>
                <a:solidFill>
                  <a:srgbClr val="000000"/>
                </a:solidFill>
              </a:rPr>
              <a:t>ሚ</a:t>
            </a:r>
            <a:r>
              <a:rPr lang="am-ET" sz="2400" dirty="0" smtClean="0">
                <a:solidFill>
                  <a:srgbClr val="000000"/>
                </a:solidFill>
              </a:rPr>
              <a:t>ያስቡበት </a:t>
            </a:r>
            <a:r>
              <a:rPr lang="am-ET" sz="2400" dirty="0">
                <a:solidFill>
                  <a:srgbClr val="000000"/>
                </a:solidFill>
              </a:rPr>
              <a:t>ምቹ አጋጣሚ ነው፡፡ በዙህ ቦታ ሰባኪው፡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FF0000"/>
                </a:solidFill>
              </a:rPr>
              <a:t>1. </a:t>
            </a:r>
            <a:r>
              <a:rPr lang="am-ET" sz="2400" dirty="0" smtClean="0">
                <a:solidFill>
                  <a:srgbClr val="FF0000"/>
                </a:solidFill>
              </a:rPr>
              <a:t>ሃ</a:t>
            </a:r>
            <a:r>
              <a:rPr lang="en-GB" sz="2400" dirty="0" smtClean="0">
                <a:solidFill>
                  <a:srgbClr val="FF0000"/>
                </a:solidFill>
              </a:rPr>
              <a:t>ዘ</a:t>
            </a:r>
            <a:r>
              <a:rPr lang="am-ET" sz="2400" dirty="0" smtClean="0">
                <a:solidFill>
                  <a:srgbClr val="FF0000"/>
                </a:solidFill>
              </a:rPr>
              <a:t>ንተኞችን 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ማጽናናት</a:t>
            </a:r>
            <a:r>
              <a:rPr lang="am-ET" sz="2400" dirty="0">
                <a:solidFill>
                  <a:srgbClr val="FF0000"/>
                </a:solidFill>
              </a:rPr>
              <a:t>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ተስ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ተንሣኤን ማሳየት </a:t>
            </a: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. </a:t>
            </a:r>
            <a:r>
              <a:rPr lang="am-ET" sz="2400" dirty="0">
                <a:solidFill>
                  <a:srgbClr val="000000"/>
                </a:solidFill>
              </a:rPr>
              <a:t>11፡25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- </a:t>
            </a:r>
            <a:r>
              <a:rPr lang="am-ET" sz="2400" dirty="0" smtClean="0">
                <a:solidFill>
                  <a:srgbClr val="000000"/>
                </a:solidFill>
              </a:rPr>
              <a:t>የሁ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ተኛውን </a:t>
            </a:r>
            <a:r>
              <a:rPr lang="en-GB" sz="2400" dirty="0" err="1" smtClean="0">
                <a:solidFill>
                  <a:srgbClr val="000000"/>
                </a:solidFill>
              </a:rPr>
              <a:t>ዓለ</a:t>
            </a:r>
            <a:r>
              <a:rPr lang="am-ET" sz="2400" dirty="0" smtClean="0">
                <a:solidFill>
                  <a:srgbClr val="000000"/>
                </a:solidFill>
              </a:rPr>
              <a:t>ም </a:t>
            </a:r>
            <a:r>
              <a:rPr lang="am-ET" sz="2400" dirty="0">
                <a:solidFill>
                  <a:srgbClr val="000000"/>
                </a:solidFill>
              </a:rPr>
              <a:t>ኑሮ ማሳየት 2ቆሮ. 5፡1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- ሞት የሥጋ ባሕርይ መሆኑን መንገር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88፡48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FF0000"/>
                </a:solidFill>
              </a:rPr>
              <a:t>2. </a:t>
            </a:r>
            <a:r>
              <a:rPr lang="am-ET" sz="2400" dirty="0" smtClean="0">
                <a:solidFill>
                  <a:srgbClr val="FF0000"/>
                </a:solidFill>
              </a:rPr>
              <a:t>አስተ</a:t>
            </a:r>
            <a:r>
              <a:rPr lang="en-GB" sz="2400" dirty="0" err="1" smtClean="0">
                <a:solidFill>
                  <a:srgbClr val="FF0000"/>
                </a:solidFill>
              </a:rPr>
              <a:t>ዛዛ</a:t>
            </a:r>
            <a:r>
              <a:rPr lang="am-ET" sz="2400" dirty="0" smtClean="0">
                <a:solidFill>
                  <a:srgbClr val="FF0000"/>
                </a:solidFill>
              </a:rPr>
              <a:t>ኙን ስ</a:t>
            </a:r>
            <a:r>
              <a:rPr lang="en-GB" sz="2400" dirty="0" smtClean="0">
                <a:solidFill>
                  <a:srgbClr val="FF0000"/>
                </a:solidFill>
              </a:rPr>
              <a:t>ለ </a:t>
            </a:r>
            <a:r>
              <a:rPr lang="am-ET" sz="2400" dirty="0" smtClean="0">
                <a:solidFill>
                  <a:srgbClr val="FF0000"/>
                </a:solidFill>
              </a:rPr>
              <a:t>ንስ</a:t>
            </a: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>
                <a:solidFill>
                  <a:srgbClr val="FF0000"/>
                </a:solidFill>
              </a:rPr>
              <a:t> መንገር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አስተ</a:t>
            </a:r>
            <a:r>
              <a:rPr lang="en-GB" sz="2400" dirty="0" err="1" smtClean="0">
                <a:solidFill>
                  <a:srgbClr val="000000"/>
                </a:solidFill>
              </a:rPr>
              <a:t>ዛዘ</a:t>
            </a:r>
            <a:r>
              <a:rPr lang="am-ET" sz="2400" dirty="0" smtClean="0">
                <a:solidFill>
                  <a:srgbClr val="000000"/>
                </a:solidFill>
              </a:rPr>
              <a:t>ኙ ሕ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ብ የተ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ያየ </a:t>
            </a:r>
            <a:r>
              <a:rPr lang="am-ET" sz="2400" dirty="0">
                <a:solidFill>
                  <a:srgbClr val="000000"/>
                </a:solidFill>
              </a:rPr>
              <a:t>እምነት፣ </a:t>
            </a:r>
            <a:r>
              <a:rPr lang="am-ET" sz="2400" dirty="0" smtClean="0">
                <a:solidFill>
                  <a:srgbClr val="000000"/>
                </a:solidFill>
              </a:rPr>
              <a:t>አመ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ካከት፣ጠባይ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</a:t>
            </a:r>
            <a:r>
              <a:rPr lang="am-ET" sz="2400" dirty="0">
                <a:solidFill>
                  <a:srgbClr val="000000"/>
                </a:solidFill>
              </a:rPr>
              <a:t>ነው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90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4000" b="1" dirty="0" smtClean="0">
                <a:solidFill>
                  <a:prstClr val="black"/>
                </a:solidFill>
              </a:rPr>
              <a:t>የቀጠለ….</a:t>
            </a:r>
            <a:endParaRPr lang="am-ET" sz="40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ሐ</a:t>
            </a:r>
            <a:r>
              <a:rPr lang="am-ET" sz="2400" dirty="0" smtClean="0">
                <a:solidFill>
                  <a:srgbClr val="0070C0"/>
                </a:solidFill>
              </a:rPr>
              <a:t>. </a:t>
            </a:r>
            <a:r>
              <a:rPr lang="am-ET" sz="2400" dirty="0">
                <a:solidFill>
                  <a:srgbClr val="0070C0"/>
                </a:solidFill>
              </a:rPr>
              <a:t>በሠርግ ቤት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በሠ</a:t>
            </a:r>
            <a:r>
              <a:rPr lang="en-GB" sz="2400" dirty="0">
                <a:solidFill>
                  <a:srgbClr val="000000"/>
                </a:solidFill>
              </a:rPr>
              <a:t>ር</a:t>
            </a:r>
            <a:r>
              <a:rPr lang="am-ET" sz="2400" dirty="0" smtClean="0">
                <a:solidFill>
                  <a:srgbClr val="000000"/>
                </a:solidFill>
              </a:rPr>
              <a:t>ግ </a:t>
            </a:r>
            <a:r>
              <a:rPr lang="am-ET" sz="2400" dirty="0">
                <a:solidFill>
                  <a:srgbClr val="000000"/>
                </a:solidFill>
              </a:rPr>
              <a:t>ቤት የሚገኘው </a:t>
            </a:r>
            <a:r>
              <a:rPr lang="am-ET" sz="2400" dirty="0">
                <a:solidFill>
                  <a:srgbClr val="FF0000"/>
                </a:solidFill>
              </a:rPr>
              <a:t>ሰው </a:t>
            </a:r>
            <a:r>
              <a:rPr lang="am-ET" sz="2400" dirty="0" smtClean="0">
                <a:solidFill>
                  <a:srgbClr val="FF0000"/>
                </a:solidFill>
              </a:rPr>
              <a:t>ሁ</a:t>
            </a:r>
            <a:r>
              <a:rPr lang="en-GB" sz="2400" dirty="0">
                <a:solidFill>
                  <a:srgbClr val="FF0000"/>
                </a:solidFill>
              </a:rPr>
              <a:t>ሉ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ከርሰቲያን </a:t>
            </a:r>
            <a:r>
              <a:rPr lang="am-ET" sz="2400" dirty="0" smtClean="0">
                <a:solidFill>
                  <a:srgbClr val="FF0000"/>
                </a:solidFill>
              </a:rPr>
              <a:t>አይ</a:t>
            </a:r>
            <a:r>
              <a:rPr lang="en-GB" sz="2400" dirty="0" err="1" smtClean="0">
                <a:solidFill>
                  <a:srgbClr val="FF0000"/>
                </a:solidFill>
              </a:rPr>
              <a:t>ደለ</a:t>
            </a:r>
            <a:r>
              <a:rPr lang="am-ET" sz="2400" dirty="0" smtClean="0">
                <a:solidFill>
                  <a:srgbClr val="FF0000"/>
                </a:solidFill>
              </a:rPr>
              <a:t>ም</a:t>
            </a:r>
            <a:r>
              <a:rPr lang="am-ET" sz="2400" dirty="0">
                <a:solidFill>
                  <a:srgbClr val="FF0000"/>
                </a:solidFill>
              </a:rPr>
              <a:t>፡፡ </a:t>
            </a:r>
            <a:r>
              <a:rPr lang="am-ET" sz="2400" dirty="0">
                <a:solidFill>
                  <a:srgbClr val="000000"/>
                </a:solidFill>
              </a:rPr>
              <a:t>የተሰበሰበውም 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 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እማራ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ሁ ብ</a:t>
            </a:r>
            <a:r>
              <a:rPr lang="en-GB" sz="2400" dirty="0" smtClean="0">
                <a:solidFill>
                  <a:srgbClr val="000000"/>
                </a:solidFill>
              </a:rPr>
              <a:t>ሎ </a:t>
            </a:r>
            <a:r>
              <a:rPr lang="am-ET" sz="2400" dirty="0" smtClean="0">
                <a:solidFill>
                  <a:srgbClr val="000000"/>
                </a:solidFill>
              </a:rPr>
              <a:t>አይ</a:t>
            </a:r>
            <a:r>
              <a:rPr lang="en-GB" sz="2400" dirty="0" err="1" smtClean="0">
                <a:solidFill>
                  <a:srgbClr val="000000"/>
                </a:solidFill>
              </a:rPr>
              <a:t>ደለ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r>
              <a:rPr lang="am-ET" sz="2400" dirty="0">
                <a:solidFill>
                  <a:srgbClr val="000000"/>
                </a:solidFill>
              </a:rPr>
              <a:t>፡፡ </a:t>
            </a:r>
            <a:r>
              <a:rPr lang="am-ET" sz="2400" dirty="0" smtClean="0">
                <a:solidFill>
                  <a:srgbClr val="000000"/>
                </a:solidFill>
              </a:rPr>
              <a:t>በ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 </a:t>
            </a:r>
            <a:r>
              <a:rPr lang="am-ET" sz="2400" dirty="0">
                <a:solidFill>
                  <a:srgbClr val="000000"/>
                </a:solidFill>
              </a:rPr>
              <a:t>ሰአት ሰባኪው፡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ተጋቢዎች (</a:t>
            </a:r>
            <a:r>
              <a:rPr lang="am-ET" sz="2400" dirty="0" smtClean="0">
                <a:solidFill>
                  <a:srgbClr val="000000"/>
                </a:solidFill>
              </a:rPr>
              <a:t>የዕ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ቱን ሙሽሮች)</a:t>
            </a:r>
            <a:r>
              <a:rPr lang="en-GB" sz="2400" dirty="0" smtClean="0">
                <a:solidFill>
                  <a:srgbClr val="000000"/>
                </a:solidFill>
              </a:rPr>
              <a:t>፤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ገቡትን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2400" dirty="0" smtClean="0">
                <a:solidFill>
                  <a:srgbClr val="000000"/>
                </a:solidFill>
              </a:rPr>
              <a:t> በት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ር </a:t>
            </a:r>
            <a:r>
              <a:rPr lang="am-ET" sz="2400" dirty="0">
                <a:solidFill>
                  <a:srgbClr val="000000"/>
                </a:solidFill>
              </a:rPr>
              <a:t>ውስጥ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ትንም 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የሚያ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ርግ </a:t>
            </a:r>
            <a:r>
              <a:rPr lang="am-ET" sz="2400" dirty="0">
                <a:solidFill>
                  <a:srgbClr val="000000"/>
                </a:solidFill>
              </a:rPr>
              <a:t>ስብከት መሰበክ </a:t>
            </a:r>
            <a:r>
              <a:rPr lang="am-ET" sz="2400" dirty="0" smtClean="0">
                <a:solidFill>
                  <a:srgbClr val="000000"/>
                </a:solidFill>
              </a:rPr>
              <a:t>ይጠበቅበታ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</a:t>
            </a:r>
            <a:r>
              <a:rPr lang="en-GB" sz="2400" dirty="0" smtClean="0">
                <a:solidFill>
                  <a:srgbClr val="000000"/>
                </a:solidFill>
              </a:rPr>
              <a:t>፡</a:t>
            </a:r>
          </a:p>
          <a:p>
            <a:pPr marL="0" indent="0" algn="just">
              <a:lnSpc>
                <a:spcPct val="150000"/>
              </a:lnSpc>
              <a:buClr>
                <a:srgbClr val="FF0000"/>
              </a:buClr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መ</a:t>
            </a:r>
            <a:r>
              <a:rPr lang="am-ET" sz="2400" dirty="0">
                <a:solidFill>
                  <a:srgbClr val="0070C0"/>
                </a:solidFill>
              </a:rPr>
              <a:t>. በማረሚያ </a:t>
            </a:r>
            <a:r>
              <a:rPr lang="am-ET" sz="2400" dirty="0" smtClean="0">
                <a:solidFill>
                  <a:srgbClr val="0070C0"/>
                </a:solidFill>
              </a:rPr>
              <a:t>ቤት፡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2400" dirty="0" smtClean="0">
                <a:solidFill>
                  <a:srgbClr val="000000"/>
                </a:solidFill>
              </a:rPr>
              <a:t>በወህኒ </a:t>
            </a:r>
            <a:r>
              <a:rPr lang="am-ET" sz="2400" dirty="0">
                <a:solidFill>
                  <a:srgbClr val="000000"/>
                </a:solidFill>
              </a:rPr>
              <a:t>ቤት የታሰሩ </a:t>
            </a:r>
            <a:r>
              <a:rPr lang="am-ET" sz="2400" dirty="0" smtClean="0">
                <a:solidFill>
                  <a:srgbClr val="000000"/>
                </a:solidFill>
              </a:rPr>
              <a:t>ሁ</a:t>
            </a:r>
            <a:r>
              <a:rPr lang="en-GB" sz="2400" dirty="0" smtClean="0">
                <a:solidFill>
                  <a:srgbClr val="000000"/>
                </a:solidFill>
              </a:rPr>
              <a:t>ሉ </a:t>
            </a:r>
            <a:r>
              <a:rPr lang="am-ET" sz="2400" dirty="0" smtClean="0">
                <a:solidFill>
                  <a:srgbClr val="000000"/>
                </a:solidFill>
              </a:rPr>
              <a:t>ወንጀ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ኞች አይ</a:t>
            </a:r>
            <a:r>
              <a:rPr lang="en-GB" sz="2400" dirty="0" err="1" smtClean="0">
                <a:solidFill>
                  <a:srgbClr val="000000"/>
                </a:solidFill>
              </a:rPr>
              <a:t>ደሉ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2400" dirty="0" smtClean="0">
                <a:solidFill>
                  <a:srgbClr val="000000"/>
                </a:solidFill>
              </a:rPr>
              <a:t>ወንጀ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ሰርተው፣ኃጢአት መሆኑን አውቀው የሚጸጸቱ </a:t>
            </a: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 smtClean="0">
                <a:solidFill>
                  <a:srgbClr val="000000"/>
                </a:solidFill>
              </a:rPr>
              <a:t>ሉ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am-ET" sz="2400" dirty="0" smtClean="0">
                <a:solidFill>
                  <a:srgbClr val="000000"/>
                </a:solidFill>
              </a:rPr>
              <a:t>ከታሰሩበት </a:t>
            </a:r>
            <a:r>
              <a:rPr lang="am-ET" sz="2400" dirty="0">
                <a:solidFill>
                  <a:srgbClr val="000000"/>
                </a:solidFill>
              </a:rPr>
              <a:t>ቦታ </a:t>
            </a:r>
            <a:r>
              <a:rPr lang="am-ET" sz="2400" dirty="0" smtClean="0">
                <a:solidFill>
                  <a:srgbClr val="000000"/>
                </a:solidFill>
              </a:rPr>
              <a:t>ላ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ወንጀ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የሚሰሩም </a:t>
            </a: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endParaRPr lang="am-ET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4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am-ET" sz="3200" b="1" dirty="0" smtClean="0">
                <a:solidFill>
                  <a:srgbClr val="0070C0"/>
                </a:solidFill>
              </a:rPr>
              <a:t>የኦርቶ</a:t>
            </a:r>
            <a:r>
              <a:rPr lang="en-GB" sz="3200" b="1" dirty="0">
                <a:solidFill>
                  <a:srgbClr val="0070C0"/>
                </a:solidFill>
              </a:rPr>
              <a:t>ዶ</a:t>
            </a:r>
            <a:r>
              <a:rPr lang="am-ET" sz="3200" b="1" dirty="0" smtClean="0">
                <a:solidFill>
                  <a:srgbClr val="0070C0"/>
                </a:solidFill>
              </a:rPr>
              <a:t>ክሳዊ </a:t>
            </a:r>
            <a:r>
              <a:rPr lang="am-ET" sz="3200" b="1" dirty="0">
                <a:solidFill>
                  <a:srgbClr val="0070C0"/>
                </a:solidFill>
              </a:rPr>
              <a:t>ስብከት ጠባያትን </a:t>
            </a:r>
            <a:r>
              <a:rPr lang="am-ET" sz="3200" b="1" dirty="0" smtClean="0">
                <a:solidFill>
                  <a:srgbClr val="0070C0"/>
                </a:solidFill>
              </a:rPr>
              <a:t>መከተ</a:t>
            </a:r>
            <a:r>
              <a:rPr lang="en-GB" sz="3200" b="1" dirty="0" smtClean="0">
                <a:solidFill>
                  <a:srgbClr val="0070C0"/>
                </a:solidFill>
              </a:rPr>
              <a:t>ል</a:t>
            </a:r>
            <a:endParaRPr lang="am-ET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የኦርቶ</a:t>
            </a:r>
            <a:r>
              <a:rPr lang="en-GB" sz="2400" dirty="0">
                <a:solidFill>
                  <a:srgbClr val="000000"/>
                </a:solidFill>
              </a:rPr>
              <a:t>ዶ</a:t>
            </a:r>
            <a:r>
              <a:rPr lang="am-ET" sz="2400" dirty="0" smtClean="0">
                <a:solidFill>
                  <a:srgbClr val="000000"/>
                </a:solidFill>
              </a:rPr>
              <a:t>ክሳዊ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ያ </a:t>
            </a:r>
            <a:r>
              <a:rPr lang="am-ET" sz="2400" dirty="0">
                <a:solidFill>
                  <a:srgbClr val="000000"/>
                </a:solidFill>
              </a:rPr>
              <a:t>ጠባያት ባሕርያት </a:t>
            </a:r>
            <a:r>
              <a:rPr lang="am-ET" sz="2400" dirty="0" smtClean="0">
                <a:solidFill>
                  <a:srgbClr val="000000"/>
                </a:solidFill>
              </a:rPr>
              <a:t>የሚባ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1  </a:t>
            </a:r>
            <a:r>
              <a:rPr lang="am-ET" sz="2400" dirty="0" smtClean="0">
                <a:solidFill>
                  <a:srgbClr val="0070C0"/>
                </a:solidFill>
              </a:rPr>
              <a:t>መጽ</a:t>
            </a:r>
            <a:r>
              <a:rPr lang="en-GB" sz="2400" dirty="0" err="1" smtClean="0">
                <a:solidFill>
                  <a:srgbClr val="0070C0"/>
                </a:solidFill>
              </a:rPr>
              <a:t>ሐፋ</a:t>
            </a:r>
            <a:r>
              <a:rPr lang="am-ET" sz="2400" dirty="0" smtClean="0">
                <a:solidFill>
                  <a:srgbClr val="0070C0"/>
                </a:solidFill>
              </a:rPr>
              <a:t>ዊ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2</a:t>
            </a:r>
            <a:r>
              <a:rPr lang="am-ET" sz="2400" dirty="0">
                <a:solidFill>
                  <a:srgbClr val="0070C0"/>
                </a:solidFill>
              </a:rPr>
              <a:t>. ነገረ </a:t>
            </a:r>
            <a:r>
              <a:rPr lang="am-ET" sz="2400" dirty="0" smtClean="0">
                <a:solidFill>
                  <a:srgbClr val="0070C0"/>
                </a:solidFill>
              </a:rPr>
              <a:t>መ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ኮት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70C0"/>
                </a:solidFill>
              </a:rPr>
              <a:t>3.</a:t>
            </a:r>
            <a:r>
              <a:rPr lang="am-ET" sz="2400" dirty="0">
                <a:solidFill>
                  <a:srgbClr val="0070C0"/>
                </a:solidFill>
              </a:rPr>
              <a:t>ስርአተ ቤተክርስቲያን</a:t>
            </a:r>
            <a:r>
              <a:rPr lang="am-ET" sz="2400" dirty="0" smtClean="0">
                <a:solidFill>
                  <a:srgbClr val="0070C0"/>
                </a:solidFill>
              </a:rPr>
              <a:t>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4</a:t>
            </a:r>
            <a:r>
              <a:rPr lang="am-ET" sz="2400" dirty="0">
                <a:solidFill>
                  <a:srgbClr val="0070C0"/>
                </a:solidFill>
              </a:rPr>
              <a:t>. ማኅበራዊ ኑሮን </a:t>
            </a:r>
            <a:r>
              <a:rPr lang="am-ET" sz="2400" dirty="0" smtClean="0">
                <a:solidFill>
                  <a:srgbClr val="0070C0"/>
                </a:solidFill>
              </a:rPr>
              <a:t>በተመ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>
                <a:solidFill>
                  <a:srgbClr val="0070C0"/>
                </a:solidFill>
              </a:rPr>
              <a:t>ከተ</a:t>
            </a:r>
            <a:r>
              <a:rPr lang="am-ET" sz="2400" dirty="0" smtClean="0">
                <a:solidFill>
                  <a:srgbClr val="0070C0"/>
                </a:solidFill>
              </a:rPr>
              <a:t>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5</a:t>
            </a:r>
            <a:r>
              <a:rPr lang="am-ET" sz="2400" dirty="0">
                <a:solidFill>
                  <a:srgbClr val="0070C0"/>
                </a:solidFill>
              </a:rPr>
              <a:t>. ጥምረት </a:t>
            </a:r>
            <a:r>
              <a:rPr lang="am-ET" sz="2400" dirty="0" smtClean="0">
                <a:solidFill>
                  <a:srgbClr val="0070C0"/>
                </a:solidFill>
              </a:rPr>
              <a:t>ያ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ው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en-GB" sz="2400" dirty="0" err="1" smtClean="0">
                <a:solidFill>
                  <a:srgbClr val="0070C0"/>
                </a:solidFill>
              </a:rPr>
              <a:t>መሆን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en-GB" sz="2400" dirty="0" err="1" smtClean="0">
                <a:solidFill>
                  <a:srgbClr val="0070C0"/>
                </a:solidFill>
              </a:rPr>
              <a:t>አለበት</a:t>
            </a:r>
            <a:r>
              <a:rPr lang="en-GB" sz="2400" dirty="0" smtClean="0">
                <a:solidFill>
                  <a:srgbClr val="0070C0"/>
                </a:solidFill>
              </a:rPr>
              <a:t>፡፡</a:t>
            </a:r>
            <a:endParaRPr lang="am-ET" sz="2400" dirty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25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srgbClr val="0070C0"/>
                </a:solidFill>
              </a:rPr>
              <a:t>5.</a:t>
            </a:r>
            <a:r>
              <a:rPr lang="am-ET" sz="3600" b="1" dirty="0" smtClean="0">
                <a:solidFill>
                  <a:srgbClr val="0070C0"/>
                </a:solidFill>
              </a:rPr>
              <a:t>የስብከት </a:t>
            </a:r>
            <a:r>
              <a:rPr lang="en-GB" sz="3600" b="1" dirty="0">
                <a:solidFill>
                  <a:srgbClr val="0070C0"/>
                </a:solidFill>
              </a:rPr>
              <a:t>ዝ</a:t>
            </a:r>
            <a:r>
              <a:rPr lang="am-ET" sz="3600" b="1" dirty="0" smtClean="0">
                <a:solidFill>
                  <a:srgbClr val="0070C0"/>
                </a:solidFill>
              </a:rPr>
              <a:t>ግጅት</a:t>
            </a:r>
            <a:endParaRPr lang="am-ET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ስት </a:t>
            </a:r>
            <a:r>
              <a:rPr lang="am-ET" sz="2400" dirty="0" smtClean="0">
                <a:solidFill>
                  <a:srgbClr val="FF0000"/>
                </a:solidFill>
              </a:rPr>
              <a:t>ን</a:t>
            </a:r>
            <a:r>
              <a:rPr lang="en-GB" sz="2400" dirty="0">
                <a:solidFill>
                  <a:srgbClr val="FF0000"/>
                </a:solidFill>
              </a:rPr>
              <a:t>ዑ</a:t>
            </a:r>
            <a:r>
              <a:rPr lang="am-ET" sz="2400" dirty="0" smtClean="0">
                <a:solidFill>
                  <a:srgbClr val="FF0000"/>
                </a:solidFill>
              </a:rPr>
              <a:t>ሳን </a:t>
            </a:r>
            <a:r>
              <a:rPr lang="en-GB" sz="2400" dirty="0" smtClean="0">
                <a:solidFill>
                  <a:srgbClr val="FF0000"/>
                </a:solidFill>
              </a:rPr>
              <a:t>ዘ</a:t>
            </a:r>
            <a:r>
              <a:rPr lang="am-ET" sz="2400" dirty="0" smtClean="0">
                <a:solidFill>
                  <a:srgbClr val="FF0000"/>
                </a:solidFill>
              </a:rPr>
              <a:t>ር</a:t>
            </a:r>
            <a:r>
              <a:rPr lang="en-GB" sz="2400" dirty="0">
                <a:solidFill>
                  <a:srgbClr val="FF0000"/>
                </a:solidFill>
              </a:rPr>
              <a:t>ፎ</a:t>
            </a:r>
            <a:r>
              <a:rPr lang="am-ET" sz="2400" dirty="0" smtClean="0">
                <a:solidFill>
                  <a:srgbClr val="FF0000"/>
                </a:solidFill>
              </a:rPr>
              <a:t>ች </a:t>
            </a:r>
            <a:r>
              <a:rPr lang="en-GB" sz="2400" dirty="0" smtClean="0">
                <a:solidFill>
                  <a:srgbClr val="000000"/>
                </a:solidFill>
              </a:rPr>
              <a:t>(</a:t>
            </a:r>
            <a:r>
              <a:rPr lang="am-ET" sz="2400" dirty="0" smtClean="0">
                <a:solidFill>
                  <a:srgbClr val="000000"/>
                </a:solidFill>
              </a:rPr>
              <a:t>ክ</a:t>
            </a:r>
            <a:r>
              <a:rPr lang="en-GB" sz="2400" dirty="0" err="1" smtClean="0">
                <a:solidFill>
                  <a:srgbClr val="000000"/>
                </a:solidFill>
              </a:rPr>
              <a:t>ፍሎ</a:t>
            </a:r>
            <a:r>
              <a:rPr lang="am-ET" sz="2400" dirty="0" smtClean="0">
                <a:solidFill>
                  <a:srgbClr val="000000"/>
                </a:solidFill>
              </a:rPr>
              <a:t>ች</a:t>
            </a:r>
            <a:r>
              <a:rPr lang="en-GB" sz="2400" dirty="0" smtClean="0">
                <a:solidFill>
                  <a:srgbClr val="000000"/>
                </a:solidFill>
              </a:rPr>
              <a:t>)</a:t>
            </a:r>
            <a:r>
              <a:rPr lang="am-ET" sz="2400" dirty="0" smtClean="0">
                <a:solidFill>
                  <a:srgbClr val="000000"/>
                </a:solidFill>
              </a:rPr>
              <a:t> አ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r>
              <a:rPr lang="am-ET" sz="2400" dirty="0">
                <a:solidFill>
                  <a:srgbClr val="000000"/>
                </a:solidFill>
              </a:rPr>
              <a:t>፡፡ </a:t>
            </a:r>
            <a:r>
              <a:rPr lang="am-ET" sz="2400" dirty="0" smtClean="0">
                <a:solidFill>
                  <a:srgbClr val="000000"/>
                </a:solidFill>
              </a:rPr>
              <a:t>እነ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ህም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chemeClr val="accent1"/>
                </a:solidFill>
              </a:rPr>
              <a:t>1. ርእስ </a:t>
            </a:r>
            <a:r>
              <a:rPr lang="en-GB" sz="2400" dirty="0" smtClean="0">
                <a:solidFill>
                  <a:schemeClr val="accent1"/>
                </a:solidFill>
              </a:rPr>
              <a:t>                                         </a:t>
            </a:r>
            <a:r>
              <a:rPr lang="am-ET" sz="2400" dirty="0" smtClean="0">
                <a:solidFill>
                  <a:srgbClr val="00B050"/>
                </a:solidFill>
              </a:rPr>
              <a:t>4</a:t>
            </a:r>
            <a:r>
              <a:rPr lang="am-ET" sz="2400" dirty="0">
                <a:solidFill>
                  <a:srgbClr val="00B050"/>
                </a:solidFill>
              </a:rPr>
              <a:t>. ዋና </a:t>
            </a:r>
            <a:r>
              <a:rPr lang="am-ET" sz="2400" dirty="0" smtClean="0">
                <a:solidFill>
                  <a:srgbClr val="00B050"/>
                </a:solidFill>
              </a:rPr>
              <a:t>ክ</a:t>
            </a:r>
            <a:r>
              <a:rPr lang="en-GB" sz="2400" dirty="0" err="1" smtClean="0">
                <a:solidFill>
                  <a:srgbClr val="00B050"/>
                </a:solidFill>
              </a:rPr>
              <a:t>ፍል</a:t>
            </a:r>
            <a:r>
              <a:rPr lang="am-ET" sz="2400" dirty="0" smtClean="0">
                <a:solidFill>
                  <a:srgbClr val="00B050"/>
                </a:solidFill>
              </a:rPr>
              <a:t> </a:t>
            </a:r>
            <a:r>
              <a:rPr lang="en-GB" sz="2400" dirty="0" smtClean="0">
                <a:solidFill>
                  <a:srgbClr val="00B050"/>
                </a:solidFill>
              </a:rPr>
              <a:t>(ሐ</a:t>
            </a:r>
            <a:r>
              <a:rPr lang="am-ET" sz="2400" dirty="0" smtClean="0">
                <a:solidFill>
                  <a:srgbClr val="00B050"/>
                </a:solidFill>
              </a:rPr>
              <a:t>ተታ</a:t>
            </a:r>
            <a:r>
              <a:rPr lang="en-GB" sz="2400" dirty="0" smtClean="0">
                <a:solidFill>
                  <a:srgbClr val="000000"/>
                </a:solidFill>
              </a:rPr>
              <a:t>)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FF0000"/>
                </a:solidFill>
              </a:rPr>
              <a:t>2. </a:t>
            </a:r>
            <a:r>
              <a:rPr lang="am-ET" sz="2400" dirty="0" smtClean="0">
                <a:solidFill>
                  <a:srgbClr val="FF0000"/>
                </a:solidFill>
              </a:rPr>
              <a:t>አ</a:t>
            </a:r>
            <a:r>
              <a:rPr lang="en-GB" sz="2400" dirty="0">
                <a:solidFill>
                  <a:srgbClr val="FF0000"/>
                </a:solidFill>
              </a:rPr>
              <a:t>ላ</a:t>
            </a:r>
            <a:r>
              <a:rPr lang="am-ET" sz="2400" dirty="0" smtClean="0">
                <a:solidFill>
                  <a:srgbClr val="FF0000"/>
                </a:solidFill>
              </a:rPr>
              <a:t>ማ</a:t>
            </a:r>
            <a:r>
              <a:rPr lang="en-GB" sz="2400" dirty="0" smtClean="0">
                <a:solidFill>
                  <a:srgbClr val="FF0000"/>
                </a:solidFill>
              </a:rPr>
              <a:t>                                      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5. ምክር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chemeClr val="tx2"/>
                </a:solidFill>
              </a:rPr>
              <a:t>3. መግቢያ </a:t>
            </a:r>
            <a:r>
              <a:rPr lang="en-GB" sz="2400" dirty="0" smtClean="0">
                <a:solidFill>
                  <a:schemeClr val="tx2"/>
                </a:solidFill>
              </a:rPr>
              <a:t>                                   </a:t>
            </a:r>
            <a:r>
              <a:rPr lang="am-ET" sz="2400" dirty="0" smtClean="0">
                <a:solidFill>
                  <a:schemeClr val="tx2"/>
                </a:solidFill>
              </a:rPr>
              <a:t>6</a:t>
            </a:r>
            <a:r>
              <a:rPr lang="am-ET" sz="2400" dirty="0">
                <a:solidFill>
                  <a:schemeClr val="tx2"/>
                </a:solidFill>
              </a:rPr>
              <a:t>. </a:t>
            </a:r>
            <a:r>
              <a:rPr lang="am-ET" sz="2400" dirty="0" smtClean="0">
                <a:solidFill>
                  <a:schemeClr val="tx2"/>
                </a:solidFill>
              </a:rPr>
              <a:t>መ</a:t>
            </a:r>
            <a:r>
              <a:rPr lang="en-GB" sz="2400" dirty="0" smtClean="0">
                <a:solidFill>
                  <a:schemeClr val="tx2"/>
                </a:solidFill>
              </a:rPr>
              <a:t>ደ</a:t>
            </a:r>
            <a:r>
              <a:rPr lang="am-ET" sz="2400" dirty="0" smtClean="0">
                <a:solidFill>
                  <a:schemeClr val="tx2"/>
                </a:solidFill>
              </a:rPr>
              <a:t>ም</a:t>
            </a:r>
            <a:r>
              <a:rPr lang="en-GB" sz="2400" dirty="0" smtClean="0">
                <a:solidFill>
                  <a:schemeClr val="tx2"/>
                </a:solidFill>
              </a:rPr>
              <a:t>ደ</a:t>
            </a:r>
            <a:r>
              <a:rPr lang="am-ET" sz="2400" dirty="0" smtClean="0">
                <a:solidFill>
                  <a:schemeClr val="tx2"/>
                </a:solidFill>
              </a:rPr>
              <a:t>ሚያ</a:t>
            </a:r>
            <a:endParaRPr lang="en-GB" sz="2400" dirty="0" smtClean="0">
              <a:solidFill>
                <a:schemeClr val="tx2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ሰባኪ</a:t>
            </a:r>
            <a:r>
              <a:rPr lang="en-GB" sz="2400" dirty="0">
                <a:solidFill>
                  <a:srgbClr val="000000"/>
                </a:solidFill>
              </a:rPr>
              <a:t>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ተከታታይ ትምህርት፣ </a:t>
            </a:r>
            <a:r>
              <a:rPr lang="am-ET" sz="2400" dirty="0" smtClean="0">
                <a:solidFill>
                  <a:srgbClr val="000000"/>
                </a:solidFill>
              </a:rPr>
              <a:t>ረጅ</a:t>
            </a:r>
            <a:r>
              <a:rPr lang="en-GB" sz="2400" dirty="0">
                <a:solidFill>
                  <a:srgbClr val="000000"/>
                </a:solidFill>
              </a:rPr>
              <a:t>ም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ሰብከት፣ አጭር ሰብከት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ጋጀት እነ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ህን ቅ</a:t>
            </a:r>
            <a:r>
              <a:rPr lang="en-GB" sz="2400" dirty="0" err="1" smtClean="0">
                <a:solidFill>
                  <a:srgbClr val="000000"/>
                </a:solidFill>
              </a:rPr>
              <a:t>ደም</a:t>
            </a:r>
            <a:r>
              <a:rPr lang="am-ET" sz="2400" dirty="0" smtClean="0">
                <a:solidFill>
                  <a:srgbClr val="000000"/>
                </a:solidFill>
              </a:rPr>
              <a:t> ተከተል ማወቅ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ይጠ</a:t>
            </a:r>
            <a:r>
              <a:rPr lang="en-US" sz="2400" dirty="0" smtClean="0">
                <a:solidFill>
                  <a:srgbClr val="000000"/>
                </a:solidFill>
              </a:rPr>
              <a:t>በ</a:t>
            </a:r>
            <a:r>
              <a:rPr lang="am-ET" sz="2400" dirty="0" smtClean="0">
                <a:solidFill>
                  <a:srgbClr val="000000"/>
                </a:solidFill>
              </a:rPr>
              <a:t>ቅበታ</a:t>
            </a:r>
            <a:r>
              <a:rPr lang="en-GB" sz="2400" dirty="0" smtClean="0">
                <a:solidFill>
                  <a:srgbClr val="000000"/>
                </a:solidFill>
              </a:rPr>
              <a:t>ል፡፡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42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solidFill>
                  <a:prstClr val="black"/>
                </a:solidFill>
              </a:rPr>
              <a:t>1. </a:t>
            </a:r>
            <a:r>
              <a:rPr lang="am-ET" sz="3600" b="1" dirty="0" smtClean="0">
                <a:solidFill>
                  <a:prstClr val="black"/>
                </a:solidFill>
              </a:rPr>
              <a:t>ርዕስ </a:t>
            </a:r>
            <a:r>
              <a:rPr lang="am-ET" sz="3600" b="1" dirty="0">
                <a:solidFill>
                  <a:prstClr val="black"/>
                </a:solidFill>
              </a:rPr>
              <a:t>መምረጥ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8392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                    </a:t>
            </a:r>
            <a:r>
              <a:rPr lang="am-ET" sz="2400" dirty="0" smtClean="0">
                <a:solidFill>
                  <a:srgbClr val="FF0000"/>
                </a:solidFill>
              </a:rPr>
              <a:t>ርእስ </a:t>
            </a:r>
            <a:r>
              <a:rPr lang="am-ET" sz="2400" dirty="0">
                <a:solidFill>
                  <a:srgbClr val="FF0000"/>
                </a:solidFill>
              </a:rPr>
              <a:t>በሚመረጥበት </a:t>
            </a:r>
            <a:r>
              <a:rPr lang="am-ET" sz="2400" dirty="0" smtClean="0">
                <a:solidFill>
                  <a:srgbClr val="FF0000"/>
                </a:solidFill>
              </a:rPr>
              <a:t>ጊ</a:t>
            </a:r>
            <a:r>
              <a:rPr lang="en-GB" sz="2400" dirty="0" smtClean="0">
                <a:solidFill>
                  <a:srgbClr val="FF0000"/>
                </a:solidFill>
              </a:rPr>
              <a:t>ዜ፡-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የሰዎችን </a:t>
            </a:r>
            <a:r>
              <a:rPr lang="am-ET" sz="2400" dirty="0">
                <a:solidFill>
                  <a:srgbClr val="000000"/>
                </a:solidFill>
              </a:rPr>
              <a:t>ትኩረት </a:t>
            </a:r>
            <a:r>
              <a:rPr lang="am-ET" sz="2400" dirty="0" smtClean="0">
                <a:solidFill>
                  <a:srgbClr val="000000"/>
                </a:solidFill>
              </a:rPr>
              <a:t>የሚስብ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የተማሪዎችን </a:t>
            </a:r>
            <a:r>
              <a:rPr lang="am-ET" sz="2400" dirty="0">
                <a:solidFill>
                  <a:srgbClr val="000000"/>
                </a:solidFill>
              </a:rPr>
              <a:t>የመማር </a:t>
            </a:r>
            <a:r>
              <a:rPr lang="en-GB" sz="2400" dirty="0" err="1" smtClean="0">
                <a:solidFill>
                  <a:srgbClr val="000000"/>
                </a:solidFill>
              </a:rPr>
              <a:t>ፍላ</a:t>
            </a:r>
            <a:r>
              <a:rPr lang="am-ET" sz="2400" dirty="0" smtClean="0">
                <a:solidFill>
                  <a:srgbClr val="000000"/>
                </a:solidFill>
              </a:rPr>
              <a:t>ጏት </a:t>
            </a:r>
            <a:r>
              <a:rPr lang="am-ET" sz="2400" dirty="0">
                <a:solidFill>
                  <a:srgbClr val="000000"/>
                </a:solidFill>
              </a:rPr>
              <a:t>የመቀስቀስ </a:t>
            </a:r>
            <a:r>
              <a:rPr lang="am-ET" sz="2400" dirty="0" smtClean="0">
                <a:solidFill>
                  <a:srgbClr val="000000"/>
                </a:solidFill>
              </a:rPr>
              <a:t>ኃይ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ማውን በትክክ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መግ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ጽ የሚች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አጠር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ና ግ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ጽ </a:t>
            </a:r>
            <a:r>
              <a:rPr lang="am-ET" sz="2400" dirty="0">
                <a:solidFill>
                  <a:srgbClr val="000000"/>
                </a:solidFill>
              </a:rPr>
              <a:t>የሆነ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                 </a:t>
            </a:r>
            <a:r>
              <a:rPr lang="am-ET" sz="2400" dirty="0" smtClean="0">
                <a:solidFill>
                  <a:srgbClr val="FF0000"/>
                </a:solidFill>
              </a:rPr>
              <a:t>የርዕስ </a:t>
            </a:r>
            <a:r>
              <a:rPr lang="am-ET" sz="2400" dirty="0">
                <a:solidFill>
                  <a:srgbClr val="FF0000"/>
                </a:solidFill>
              </a:rPr>
              <a:t>አመራረጥ </a:t>
            </a:r>
            <a:r>
              <a:rPr lang="am-ET" sz="2400" dirty="0" smtClean="0">
                <a:solidFill>
                  <a:srgbClr val="FF0000"/>
                </a:solidFill>
              </a:rPr>
              <a:t>መርሆዎች፡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በሰማእያኑ 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አይረ</a:t>
            </a:r>
            <a:r>
              <a:rPr lang="en-GB" sz="2400" dirty="0">
                <a:solidFill>
                  <a:srgbClr val="000000"/>
                </a:solidFill>
              </a:rPr>
              <a:t>ሴ</a:t>
            </a:r>
            <a:r>
              <a:rPr lang="am-ET" sz="2400" dirty="0" smtClean="0">
                <a:solidFill>
                  <a:srgbClr val="000000"/>
                </a:solidFill>
              </a:rPr>
              <a:t>ነት ያ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ቸው</a:t>
            </a:r>
            <a:r>
              <a:rPr lang="am-ET" sz="2400" dirty="0">
                <a:solidFill>
                  <a:srgbClr val="000000"/>
                </a:solidFill>
              </a:rPr>
              <a:t>፣ </a:t>
            </a:r>
            <a:r>
              <a:rPr lang="am-ET" sz="2400" dirty="0" smtClean="0">
                <a:solidFill>
                  <a:srgbClr val="000000"/>
                </a:solidFill>
              </a:rPr>
              <a:t>በቀ</a:t>
            </a:r>
            <a:r>
              <a:rPr lang="en-GB" sz="2400" dirty="0" err="1" smtClean="0">
                <a:solidFill>
                  <a:srgbClr val="000000"/>
                </a:solidFill>
              </a:rPr>
              <a:t>ላሉ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ረ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ት የሚ</a:t>
            </a:r>
            <a:r>
              <a:rPr lang="en-GB" sz="2400" dirty="0" err="1" smtClean="0">
                <a:solidFill>
                  <a:srgbClr val="000000"/>
                </a:solidFill>
              </a:rPr>
              <a:t>ያስ</a:t>
            </a:r>
            <a:r>
              <a:rPr lang="am-ET" sz="2400" dirty="0" smtClean="0">
                <a:solidFill>
                  <a:srgbClr val="000000"/>
                </a:solidFill>
              </a:rPr>
              <a:t>ች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GB" sz="2400" dirty="0" smtClean="0">
                <a:solidFill>
                  <a:srgbClr val="000000"/>
                </a:solidFill>
              </a:rPr>
              <a:t>ሊተላለፍ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የሚገባውን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እክ</a:t>
            </a:r>
            <a:r>
              <a:rPr lang="en-US" sz="2400" dirty="0">
                <a:solidFill>
                  <a:srgbClr val="00000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 ጠቅ</a:t>
            </a:r>
            <a:r>
              <a:rPr lang="en-GB" sz="2400" dirty="0" err="1" smtClean="0">
                <a:solidFill>
                  <a:srgbClr val="000000"/>
                </a:solidFill>
              </a:rPr>
              <a:t>ለል</a:t>
            </a:r>
            <a:r>
              <a:rPr lang="am-ET" sz="2400" dirty="0" smtClean="0">
                <a:solidFill>
                  <a:srgbClr val="000000"/>
                </a:solidFill>
              </a:rPr>
              <a:t> አ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</a:t>
            </a:r>
            <a:r>
              <a:rPr lang="en-GB" sz="2400" dirty="0">
                <a:solidFill>
                  <a:srgbClr val="000000"/>
                </a:solidFill>
              </a:rPr>
              <a:t>ጎ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የያዘ 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ሰባኪው </a:t>
            </a:r>
            <a:r>
              <a:rPr lang="am-ET" sz="2400" dirty="0">
                <a:solidFill>
                  <a:srgbClr val="000000"/>
                </a:solidFill>
              </a:rPr>
              <a:t>አብራርቶ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ማስተማር </a:t>
            </a:r>
            <a:r>
              <a:rPr lang="am-ET" sz="2400" dirty="0">
                <a:solidFill>
                  <a:srgbClr val="000000"/>
                </a:solidFill>
              </a:rPr>
              <a:t>አመቺነት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ቸው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ምሥጢራትን ያ</a:t>
            </a:r>
            <a:r>
              <a:rPr lang="en-GB" sz="2400" dirty="0" err="1" smtClean="0">
                <a:solidFill>
                  <a:srgbClr val="000000"/>
                </a:solidFill>
              </a:rPr>
              <a:t>ዘሉ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ቃ</a:t>
            </a:r>
            <a:r>
              <a:rPr lang="en-GB" sz="2400" dirty="0" err="1" smtClean="0">
                <a:solidFill>
                  <a:srgbClr val="000000"/>
                </a:solidFill>
              </a:rPr>
              <a:t>ላት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(ሐ</a:t>
            </a:r>
            <a:r>
              <a:rPr lang="am-ET" sz="2400" dirty="0" smtClean="0">
                <a:solidFill>
                  <a:srgbClr val="000000"/>
                </a:solidFill>
              </a:rPr>
              <a:t>ረጏች</a:t>
            </a:r>
            <a:r>
              <a:rPr lang="en-GB" sz="2400" dirty="0" smtClean="0">
                <a:solidFill>
                  <a:srgbClr val="000000"/>
                </a:solidFill>
              </a:rPr>
              <a:t>) </a:t>
            </a:r>
            <a:r>
              <a:rPr lang="en-GB" sz="2400" dirty="0" err="1" smtClean="0">
                <a:solidFill>
                  <a:srgbClr val="000000"/>
                </a:solidFill>
              </a:rPr>
              <a:t>ያዘለ</a:t>
            </a:r>
            <a:r>
              <a:rPr lang="en-GB" sz="2400" dirty="0" smtClean="0">
                <a:solidFill>
                  <a:srgbClr val="000000"/>
                </a:solidFill>
              </a:rPr>
              <a:t>፡፡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22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srgbClr val="FF0000"/>
                </a:solidFill>
              </a:rPr>
              <a:t>2.</a:t>
            </a:r>
            <a:r>
              <a:rPr lang="am-ET" sz="3200" b="1" dirty="0" smtClean="0">
                <a:solidFill>
                  <a:srgbClr val="FF0000"/>
                </a:solidFill>
              </a:rPr>
              <a:t>የስብከቱን </a:t>
            </a:r>
            <a:r>
              <a:rPr lang="en-GB" sz="3200" b="1" dirty="0" err="1" smtClean="0">
                <a:solidFill>
                  <a:srgbClr val="FF0000"/>
                </a:solidFill>
              </a:rPr>
              <a:t>ዓላ</a:t>
            </a:r>
            <a:r>
              <a:rPr lang="am-ET" sz="3200" b="1" dirty="0" smtClean="0">
                <a:solidFill>
                  <a:srgbClr val="FF0000"/>
                </a:solidFill>
              </a:rPr>
              <a:t>ማ መ</a:t>
            </a:r>
            <a:r>
              <a:rPr lang="en-GB" sz="3200" b="1" dirty="0" smtClean="0">
                <a:solidFill>
                  <a:srgbClr val="FF0000"/>
                </a:solidFill>
              </a:rPr>
              <a:t>ለ</a:t>
            </a:r>
            <a:r>
              <a:rPr lang="am-ET" sz="3200" b="1" dirty="0" smtClean="0">
                <a:solidFill>
                  <a:srgbClr val="FF0000"/>
                </a:solidFill>
              </a:rPr>
              <a:t>የት</a:t>
            </a:r>
            <a:endParaRPr lang="am-ET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አጠቃ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</a:t>
            </a:r>
            <a:r>
              <a:rPr lang="am-ET" sz="2400" dirty="0">
                <a:solidFill>
                  <a:srgbClr val="000000"/>
                </a:solidFill>
              </a:rPr>
              <a:t>የስብከት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am-ET" sz="2400" dirty="0">
                <a:solidFill>
                  <a:srgbClr val="000000"/>
                </a:solidFill>
              </a:rPr>
              <a:t>ምዕመናን </a:t>
            </a:r>
            <a:r>
              <a:rPr lang="am-ET" sz="2400" dirty="0" smtClean="0">
                <a:solidFill>
                  <a:srgbClr val="000000"/>
                </a:solidFill>
              </a:rPr>
              <a:t>ስ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ቅርና ኃ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ዎት ስ</a:t>
            </a:r>
            <a:r>
              <a:rPr lang="en-GB" sz="2400" dirty="0" err="1">
                <a:solidFill>
                  <a:srgbClr val="000000"/>
                </a:solidFill>
              </a:rPr>
              <a:t>ላ</a:t>
            </a:r>
            <a:r>
              <a:rPr lang="en-GB" sz="2400" dirty="0" err="1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ንም የማ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 </a:t>
            </a:r>
            <a:r>
              <a:rPr lang="am-ET" sz="2400" dirty="0">
                <a:solidFill>
                  <a:srgbClr val="000000"/>
                </a:solidFill>
              </a:rPr>
              <a:t>ሥራ </a:t>
            </a:r>
            <a:r>
              <a:rPr lang="am-ET" sz="2400" dirty="0" smtClean="0">
                <a:solidFill>
                  <a:srgbClr val="000000"/>
                </a:solidFill>
              </a:rPr>
              <a:t>ተረ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ተውና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ተገን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በው </a:t>
            </a:r>
            <a:r>
              <a:rPr lang="am-ET" sz="2400" dirty="0" smtClean="0">
                <a:solidFill>
                  <a:srgbClr val="0070C0"/>
                </a:solidFill>
              </a:rPr>
              <a:t>እግ</a:t>
            </a:r>
            <a:r>
              <a:rPr lang="en-GB" sz="2400" dirty="0">
                <a:solidFill>
                  <a:srgbClr val="0070C0"/>
                </a:solidFill>
              </a:rPr>
              <a:t>ዚ</a:t>
            </a:r>
            <a:r>
              <a:rPr lang="am-ET" sz="2400" dirty="0" smtClean="0">
                <a:solidFill>
                  <a:srgbClr val="0070C0"/>
                </a:solidFill>
              </a:rPr>
              <a:t>አብሔርን በመው</a:t>
            </a:r>
            <a:r>
              <a:rPr lang="en-GB" sz="2400" dirty="0" err="1" smtClean="0">
                <a:solidFill>
                  <a:srgbClr val="0070C0"/>
                </a:solidFill>
              </a:rPr>
              <a:t>ደድ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ከኃጢአት </a:t>
            </a:r>
            <a:r>
              <a:rPr lang="am-ET" sz="2400" dirty="0" smtClean="0">
                <a:solidFill>
                  <a:srgbClr val="000000"/>
                </a:solidFill>
              </a:rPr>
              <a:t>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ጽ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ቅ ከክ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ት ወ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ግነት እን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ሱ ማ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ረግ ቢሆንም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በእያን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ስብከት </a:t>
            </a: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ህ አጠቃ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ይ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በ</a:t>
            </a:r>
            <a:r>
              <a:rPr lang="en-GB" sz="2400" dirty="0" err="1" smtClean="0">
                <a:solidFill>
                  <a:srgbClr val="000000"/>
                </a:solidFill>
              </a:rPr>
              <a:t>ማን</a:t>
            </a:r>
            <a:r>
              <a:rPr lang="am-ET" sz="2400" dirty="0" smtClean="0">
                <a:solidFill>
                  <a:srgbClr val="000000"/>
                </a:solidFill>
              </a:rPr>
              <a:t>ሳት </a:t>
            </a:r>
            <a:r>
              <a:rPr lang="am-ET" sz="2400" dirty="0">
                <a:solidFill>
                  <a:srgbClr val="000000"/>
                </a:solidFill>
              </a:rPr>
              <a:t>ትኩረት </a:t>
            </a: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ረግበት 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ር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ር </a:t>
            </a:r>
            <a:r>
              <a:rPr lang="en-GB" sz="2400" dirty="0" err="1">
                <a:solidFill>
                  <a:srgbClr val="000000"/>
                </a:solidFill>
              </a:rPr>
              <a:t>ዓ</a:t>
            </a:r>
            <a:r>
              <a:rPr lang="en-GB" sz="2400" dirty="0" err="1" smtClean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ኖር ይገባ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                     </a:t>
            </a:r>
            <a:r>
              <a:rPr lang="en-GB" sz="2400" dirty="0" err="1" smtClean="0">
                <a:solidFill>
                  <a:srgbClr val="00B050"/>
                </a:solidFill>
              </a:rPr>
              <a:t>ዓላ</a:t>
            </a:r>
            <a:r>
              <a:rPr lang="am-ET" sz="2400" dirty="0" smtClean="0">
                <a:solidFill>
                  <a:srgbClr val="00B050"/>
                </a:solidFill>
              </a:rPr>
              <a:t>ማ </a:t>
            </a:r>
            <a:r>
              <a:rPr lang="am-ET" sz="2400" dirty="0">
                <a:solidFill>
                  <a:srgbClr val="00B050"/>
                </a:solidFill>
              </a:rPr>
              <a:t>የሚሰጠው </a:t>
            </a:r>
            <a:r>
              <a:rPr lang="am-ET" sz="2400" dirty="0" smtClean="0">
                <a:solidFill>
                  <a:srgbClr val="00B050"/>
                </a:solidFill>
              </a:rPr>
              <a:t>ጥቅም</a:t>
            </a:r>
            <a:r>
              <a:rPr lang="en-GB" sz="2400" dirty="0" smtClean="0">
                <a:solidFill>
                  <a:srgbClr val="00B050"/>
                </a:solidFill>
              </a:rPr>
              <a:t>፡-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ሀ</a:t>
            </a:r>
            <a:r>
              <a:rPr lang="am-ET" sz="2400" dirty="0">
                <a:solidFill>
                  <a:srgbClr val="000000"/>
                </a:solidFill>
              </a:rPr>
              <a:t>. የተምህርቱን 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ግጅትና መ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ሚያ መ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እክት ይቆጣጠራ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. </a:t>
            </a:r>
            <a:r>
              <a:rPr lang="am-ET" sz="2400" dirty="0">
                <a:solidFill>
                  <a:srgbClr val="000000"/>
                </a:solidFill>
              </a:rPr>
              <a:t>በትመህርቱ </a:t>
            </a:r>
            <a:r>
              <a:rPr lang="am-ET" sz="2400" dirty="0" smtClean="0">
                <a:solidFill>
                  <a:srgbClr val="000000"/>
                </a:solidFill>
              </a:rPr>
              <a:t>ውስጥ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ካተቱ የማገባ</a:t>
            </a:r>
            <a:r>
              <a:rPr lang="en-GB" sz="2400" dirty="0" smtClean="0">
                <a:solidFill>
                  <a:srgbClr val="000000"/>
                </a:solidFill>
              </a:rPr>
              <a:t>ቸ</a:t>
            </a:r>
            <a:r>
              <a:rPr lang="am-ET" sz="2400" dirty="0" smtClean="0">
                <a:solidFill>
                  <a:srgbClr val="000000"/>
                </a:solidFill>
              </a:rPr>
              <a:t>ውን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ካተቱ </a:t>
            </a:r>
            <a:r>
              <a:rPr lang="am-ET" sz="2400" dirty="0">
                <a:solidFill>
                  <a:srgbClr val="000000"/>
                </a:solidFill>
              </a:rPr>
              <a:t>የማይገባቸውን </a:t>
            </a:r>
            <a:r>
              <a:rPr lang="en-US" sz="2400" dirty="0" smtClean="0">
                <a:solidFill>
                  <a:srgbClr val="000000"/>
                </a:solidFill>
              </a:rPr>
              <a:t>ይ</a:t>
            </a:r>
            <a:r>
              <a:rPr lang="am-ET" sz="2400" dirty="0" smtClean="0">
                <a:solidFill>
                  <a:srgbClr val="000000"/>
                </a:solidFill>
              </a:rPr>
              <a:t>ወስና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. የሚ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ሀ</a:t>
            </a:r>
            <a:r>
              <a:rPr lang="am-ET" sz="2400" dirty="0" smtClean="0">
                <a:solidFill>
                  <a:srgbClr val="000000"/>
                </a:solidFill>
              </a:rPr>
              <a:t>ሳቦች</a:t>
            </a:r>
            <a:r>
              <a:rPr lang="en-GB" sz="2400" dirty="0">
                <a:solidFill>
                  <a:srgbClr val="000000"/>
                </a:solidFill>
              </a:rPr>
              <a:t>ን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መወሰን ይረ</a:t>
            </a:r>
            <a:r>
              <a:rPr lang="en-GB" sz="2400" dirty="0" err="1" smtClean="0">
                <a:solidFill>
                  <a:srgbClr val="000000"/>
                </a:solidFill>
              </a:rPr>
              <a:t>ዳል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መ. የትምህርቱን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ጸም የሚረ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 ም</a:t>
            </a:r>
            <a:r>
              <a:rPr lang="en-US" sz="2400" dirty="0">
                <a:solidFill>
                  <a:srgbClr val="000000"/>
                </a:solidFill>
              </a:rPr>
              <a:t>ሳ</a:t>
            </a:r>
            <a:r>
              <a:rPr lang="en-GB" sz="2400" dirty="0" err="1" smtClean="0">
                <a:solidFill>
                  <a:srgbClr val="000000"/>
                </a:solidFill>
              </a:rPr>
              <a:t>ሌዎ</a:t>
            </a:r>
            <a:r>
              <a:rPr lang="am-ET" sz="2400" dirty="0" smtClean="0">
                <a:solidFill>
                  <a:srgbClr val="000000"/>
                </a:solidFill>
              </a:rPr>
              <a:t>ችን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መምረጥ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ሠ. ትመህርቱ ግቡን መምታቱን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err="1" smtClean="0">
                <a:solidFill>
                  <a:srgbClr val="000000"/>
                </a:solidFill>
              </a:rPr>
              <a:t>መልከ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7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3</a:t>
            </a:r>
            <a:r>
              <a:rPr lang="en-GB" sz="3200" b="1" dirty="0" smtClean="0">
                <a:solidFill>
                  <a:srgbClr val="0070C0"/>
                </a:solidFill>
              </a:rPr>
              <a:t>.</a:t>
            </a:r>
            <a:r>
              <a:rPr lang="am-ET" sz="3200" b="1" dirty="0" smtClean="0">
                <a:solidFill>
                  <a:srgbClr val="0070C0"/>
                </a:solidFill>
              </a:rPr>
              <a:t> </a:t>
            </a:r>
            <a:r>
              <a:rPr lang="am-ET" sz="3200" b="1" dirty="0">
                <a:solidFill>
                  <a:srgbClr val="0070C0"/>
                </a:solidFill>
              </a:rPr>
              <a:t>መግቢያ፡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6096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 የአን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ትምህርት መግቢያ </a:t>
            </a:r>
            <a:r>
              <a:rPr lang="am-ET" sz="2400" dirty="0">
                <a:solidFill>
                  <a:srgbClr val="FF0000"/>
                </a:solidFill>
              </a:rPr>
              <a:t>ምእመኑን </a:t>
            </a:r>
            <a:r>
              <a:rPr lang="am-ET" sz="2400" dirty="0" smtClean="0">
                <a:solidFill>
                  <a:srgbClr val="FF0000"/>
                </a:solidFill>
              </a:rPr>
              <a:t>ይቀሰቅሳ</a:t>
            </a:r>
            <a:r>
              <a:rPr lang="en-GB" sz="2400" dirty="0" smtClean="0">
                <a:solidFill>
                  <a:srgbClr val="FF0000"/>
                </a:solidFill>
              </a:rPr>
              <a:t>ል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ርዕሰ ጉ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ዩን የበ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ጠ </a:t>
            </a:r>
            <a:r>
              <a:rPr lang="am-ET" sz="2400" dirty="0" smtClean="0">
                <a:solidFill>
                  <a:srgbClr val="00B050"/>
                </a:solidFill>
              </a:rPr>
              <a:t>ያስተዋውቃ</a:t>
            </a:r>
            <a:r>
              <a:rPr lang="en-GB" sz="2400" dirty="0" smtClean="0">
                <a:solidFill>
                  <a:srgbClr val="00B050"/>
                </a:solidFill>
              </a:rPr>
              <a:t>ል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 አ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ማውን በትክክ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70C0"/>
                </a:solidFill>
              </a:rPr>
              <a:t>ይገ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ጣ</a:t>
            </a:r>
            <a:r>
              <a:rPr lang="en-GB" sz="2400" dirty="0" smtClean="0">
                <a:solidFill>
                  <a:srgbClr val="0070C0"/>
                </a:solidFill>
              </a:rPr>
              <a:t>ል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የሰማዕያኑን </a:t>
            </a:r>
            <a:r>
              <a:rPr lang="am-ET" sz="2400" dirty="0" smtClean="0">
                <a:solidFill>
                  <a:srgbClr val="FF0000"/>
                </a:solidFill>
              </a:rPr>
              <a:t>ትኩረ</a:t>
            </a:r>
            <a:r>
              <a:rPr lang="en-GB" sz="2400" dirty="0">
                <a:solidFill>
                  <a:srgbClr val="FF0000"/>
                </a:solidFill>
              </a:rPr>
              <a:t>ት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የሚሰብር </a:t>
            </a:r>
            <a:r>
              <a:rPr lang="am-ET" sz="2400" dirty="0" smtClean="0">
                <a:solidFill>
                  <a:srgbClr val="FF0000"/>
                </a:solidFill>
              </a:rPr>
              <a:t>የሚገ</a:t>
            </a:r>
            <a:r>
              <a:rPr lang="en-GB" sz="2400" dirty="0">
                <a:solidFill>
                  <a:srgbClr val="FF0000"/>
                </a:solidFill>
              </a:rPr>
              <a:t>ዛ</a:t>
            </a:r>
            <a:r>
              <a:rPr lang="am-ET" sz="2400" dirty="0" smtClean="0">
                <a:solidFill>
                  <a:srgbClr val="FF0000"/>
                </a:solidFill>
              </a:rPr>
              <a:t> ይሆና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ይህ ክ</a:t>
            </a:r>
            <a:r>
              <a:rPr lang="en-GB" sz="2400" dirty="0" err="1" smtClean="0">
                <a:solidFill>
                  <a:srgbClr val="000000"/>
                </a:solidFill>
              </a:rPr>
              <a:t>ፍል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ሰባኪው ራሱን ከምዕመናኑ ጋር </a:t>
            </a:r>
            <a:r>
              <a:rPr lang="am-ET" sz="2400" dirty="0" smtClean="0">
                <a:solidFill>
                  <a:srgbClr val="000000"/>
                </a:solidFill>
              </a:rPr>
              <a:t>የሚያ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ማም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በት</a:t>
            </a:r>
            <a:r>
              <a:rPr lang="am-ET" sz="2400" dirty="0">
                <a:solidFill>
                  <a:srgbClr val="000000"/>
                </a:solidFill>
              </a:rPr>
              <a:t>፡ የምዕመናኑን 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ግጅት </a:t>
            </a:r>
            <a:r>
              <a:rPr lang="am-ET" sz="2400" dirty="0">
                <a:solidFill>
                  <a:srgbClr val="000000"/>
                </a:solidFill>
              </a:rPr>
              <a:t>የሚቃኝበት፤ ርዕሱን </a:t>
            </a:r>
            <a:r>
              <a:rPr lang="am-ET" sz="2400" dirty="0" smtClean="0">
                <a:solidFill>
                  <a:srgbClr val="000000"/>
                </a:solidFill>
              </a:rPr>
              <a:t>እና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ማውን </a:t>
            </a:r>
            <a:r>
              <a:rPr lang="am-ET" sz="2400" dirty="0">
                <a:solidFill>
                  <a:srgbClr val="000000"/>
                </a:solidFill>
              </a:rPr>
              <a:t>የሚያስተዋውቅበት </a:t>
            </a:r>
            <a:r>
              <a:rPr lang="am-ET" sz="2400" dirty="0" smtClean="0">
                <a:solidFill>
                  <a:srgbClr val="000000"/>
                </a:solidFill>
              </a:rPr>
              <a:t>ጊ</a:t>
            </a:r>
            <a:r>
              <a:rPr lang="en-GB" sz="2400" dirty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ነው፡፡</a:t>
            </a:r>
          </a:p>
        </p:txBody>
      </p:sp>
    </p:spTree>
    <p:extLst>
      <p:ext uri="{BB962C8B-B14F-4D97-AF65-F5344CB8AC3E}">
        <p14:creationId xmlns:p14="http://schemas.microsoft.com/office/powerpoint/2010/main" val="2598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srgbClr val="00B050"/>
                </a:solidFill>
              </a:rPr>
              <a:t>4</a:t>
            </a:r>
            <a:r>
              <a:rPr lang="am-ET" sz="3200" b="1" dirty="0" smtClean="0">
                <a:solidFill>
                  <a:srgbClr val="00B050"/>
                </a:solidFill>
              </a:rPr>
              <a:t>. </a:t>
            </a:r>
            <a:r>
              <a:rPr lang="am-ET" sz="3200" b="1" dirty="0">
                <a:solidFill>
                  <a:srgbClr val="00B050"/>
                </a:solidFill>
              </a:rPr>
              <a:t>የትምህርቱ ዋና </a:t>
            </a:r>
            <a:r>
              <a:rPr lang="en-GB" sz="3200" b="1" dirty="0" err="1" smtClean="0">
                <a:solidFill>
                  <a:srgbClr val="00B050"/>
                </a:solidFill>
              </a:rPr>
              <a:t>ክፍል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በተከታታይ </a:t>
            </a:r>
            <a:r>
              <a:rPr lang="am-ET" sz="2400" dirty="0">
                <a:solidFill>
                  <a:srgbClr val="0070C0"/>
                </a:solidFill>
              </a:rPr>
              <a:t>ትመህርት </a:t>
            </a:r>
            <a:r>
              <a:rPr lang="am-ET" sz="2400" dirty="0" smtClean="0">
                <a:solidFill>
                  <a:srgbClr val="000000"/>
                </a:solidFill>
              </a:rPr>
              <a:t>ጊ</a:t>
            </a:r>
            <a:r>
              <a:rPr lang="en-GB" sz="2400" dirty="0" smtClean="0">
                <a:solidFill>
                  <a:srgbClr val="000000"/>
                </a:solidFill>
              </a:rPr>
              <a:t>ዜ</a:t>
            </a:r>
            <a:r>
              <a:rPr lang="am-ET" sz="2400" dirty="0" smtClean="0">
                <a:solidFill>
                  <a:srgbClr val="000000"/>
                </a:solidFill>
              </a:rPr>
              <a:t> ተማሪ</a:t>
            </a:r>
            <a:r>
              <a:rPr lang="en-GB" sz="2400" dirty="0">
                <a:solidFill>
                  <a:srgbClr val="000000"/>
                </a:solidFill>
              </a:rPr>
              <a:t>ዎ</a:t>
            </a:r>
            <a:r>
              <a:rPr lang="am-ET" sz="2400" dirty="0" smtClean="0">
                <a:solidFill>
                  <a:srgbClr val="000000"/>
                </a:solidFill>
              </a:rPr>
              <a:t>ች </a:t>
            </a:r>
            <a:r>
              <a:rPr lang="am-ET" sz="2400" dirty="0">
                <a:solidFill>
                  <a:srgbClr val="000000"/>
                </a:solidFill>
              </a:rPr>
              <a:t>በመግቢያ ከተሰጠው </a:t>
            </a:r>
            <a:r>
              <a:rPr lang="am-ET" sz="2400" dirty="0" smtClean="0">
                <a:solidFill>
                  <a:srgbClr val="000000"/>
                </a:solidFill>
              </a:rPr>
              <a:t>ገ</a:t>
            </a:r>
            <a:r>
              <a:rPr lang="en-GB" sz="2400" dirty="0" err="1" smtClean="0">
                <a:solidFill>
                  <a:srgbClr val="000000"/>
                </a:solidFill>
              </a:rPr>
              <a:t>ለጻ</a:t>
            </a:r>
            <a:r>
              <a:rPr lang="am-ET" sz="2400" dirty="0" smtClean="0">
                <a:solidFill>
                  <a:srgbClr val="000000"/>
                </a:solidFill>
              </a:rPr>
              <a:t>ና </a:t>
            </a:r>
            <a:r>
              <a:rPr lang="am-ET" sz="2400" dirty="0">
                <a:solidFill>
                  <a:srgbClr val="000000"/>
                </a:solidFill>
              </a:rPr>
              <a:t>ከተመረጠው ርእስ አኳያ </a:t>
            </a:r>
            <a:r>
              <a:rPr lang="am-ET" sz="2400" dirty="0" smtClean="0">
                <a:solidFill>
                  <a:srgbClr val="000000"/>
                </a:solidFill>
              </a:rPr>
              <a:t>ከትምህርቱ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በእውቀትም </a:t>
            </a:r>
            <a:r>
              <a:rPr lang="am-ET" sz="2400" dirty="0">
                <a:solidFill>
                  <a:srgbClr val="000000"/>
                </a:solidFill>
              </a:rPr>
              <a:t>በሕይወትም ምን </a:t>
            </a:r>
            <a:r>
              <a:rPr lang="am-ET" sz="2400" dirty="0" smtClean="0">
                <a:solidFill>
                  <a:srgbClr val="000000"/>
                </a:solidFill>
              </a:rPr>
              <a:t>እን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ሚጠብቁ </a:t>
            </a:r>
            <a:r>
              <a:rPr lang="am-ET" sz="2400" dirty="0">
                <a:solidFill>
                  <a:srgbClr val="000000"/>
                </a:solidFill>
              </a:rPr>
              <a:t>መጠየቅና መረጃዎችን ማሰባሰብ፡፡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ትምህርቱን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err="1" smtClean="0">
                <a:solidFill>
                  <a:srgbClr val="000000"/>
                </a:solidFill>
              </a:rPr>
              <a:t>ምራ</a:t>
            </a:r>
            <a:r>
              <a:rPr lang="am-ET" sz="2400" dirty="0" smtClean="0">
                <a:solidFill>
                  <a:srgbClr val="000000"/>
                </a:solidFill>
              </a:rPr>
              <a:t>ት በሚ</a:t>
            </a:r>
            <a:r>
              <a:rPr lang="en-GB" sz="2400" dirty="0" err="1" smtClean="0">
                <a:solidFill>
                  <a:srgbClr val="000000"/>
                </a:solidFill>
              </a:rPr>
              <a:t>ቻል</a:t>
            </a:r>
            <a:r>
              <a:rPr lang="am-ET" sz="2400" dirty="0" smtClean="0">
                <a:solidFill>
                  <a:srgbClr val="000000"/>
                </a:solidFill>
              </a:rPr>
              <a:t>በት ሁ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ንተናዊ </a:t>
            </a:r>
            <a:r>
              <a:rPr lang="am-ET" sz="2400" dirty="0" smtClean="0">
                <a:solidFill>
                  <a:srgbClr val="0070C0"/>
                </a:solidFill>
              </a:rPr>
              <a:t>የ</a:t>
            </a:r>
            <a:r>
              <a:rPr lang="en-GB" sz="2400" dirty="0">
                <a:solidFill>
                  <a:srgbClr val="0070C0"/>
                </a:solidFill>
              </a:rPr>
              <a:t>ማ</a:t>
            </a:r>
            <a:r>
              <a:rPr lang="am-ET" sz="2400" dirty="0" smtClean="0">
                <a:solidFill>
                  <a:srgbClr val="0070C0"/>
                </a:solidFill>
              </a:rPr>
              <a:t>ስተማሪያ </a:t>
            </a:r>
            <a:r>
              <a:rPr lang="en-GB" sz="2400" dirty="0" smtClean="0">
                <a:solidFill>
                  <a:srgbClr val="0070C0"/>
                </a:solidFill>
              </a:rPr>
              <a:t>ዘዴ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በግ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ጽ </a:t>
            </a:r>
            <a:r>
              <a:rPr lang="am-ET" sz="2400" dirty="0">
                <a:solidFill>
                  <a:srgbClr val="000000"/>
                </a:solidFill>
              </a:rPr>
              <a:t>ቋንቋ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ማስተማር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ተማሪዎችን አሳታ</a:t>
            </a:r>
            <a:r>
              <a:rPr lang="en-GB" sz="2400" dirty="0">
                <a:solidFill>
                  <a:srgbClr val="000000"/>
                </a:solidFill>
              </a:rPr>
              <a:t>ፊ</a:t>
            </a:r>
            <a:r>
              <a:rPr lang="am-ET" sz="2400" dirty="0" smtClean="0">
                <a:solidFill>
                  <a:srgbClr val="000000"/>
                </a:solidFill>
              </a:rPr>
              <a:t> እን</a:t>
            </a:r>
            <a:r>
              <a:rPr lang="en-GB" sz="2400" dirty="0" err="1" smtClean="0">
                <a:solidFill>
                  <a:srgbClr val="000000"/>
                </a:solidFill>
              </a:rPr>
              <a:t>ዲያደ</a:t>
            </a:r>
            <a:r>
              <a:rPr lang="am-ET" sz="2400" dirty="0" smtClean="0">
                <a:solidFill>
                  <a:srgbClr val="000000"/>
                </a:solidFill>
              </a:rPr>
              <a:t>ርግ </a:t>
            </a:r>
            <a:r>
              <a:rPr lang="am-ET" sz="2400" dirty="0">
                <a:solidFill>
                  <a:srgbClr val="FF0000"/>
                </a:solidFill>
              </a:rPr>
              <a:t>በጥያቄና </a:t>
            </a:r>
            <a:r>
              <a:rPr lang="am-ET" sz="2400" dirty="0" smtClean="0">
                <a:solidFill>
                  <a:srgbClr val="FF0000"/>
                </a:solidFill>
              </a:rPr>
              <a:t>መ</a:t>
            </a:r>
            <a:r>
              <a:rPr lang="en-GB" sz="2400" dirty="0">
                <a:solidFill>
                  <a:srgbClr val="FF0000"/>
                </a:solidFill>
              </a:rPr>
              <a:t>ል</a:t>
            </a:r>
            <a:r>
              <a:rPr lang="am-ET" sz="2400" dirty="0" smtClean="0">
                <a:solidFill>
                  <a:srgbClr val="FF0000"/>
                </a:solidFill>
              </a:rPr>
              <a:t>ስ ማስተማር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በውይይት በቡ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ን </a:t>
            </a:r>
            <a:r>
              <a:rPr lang="am-ET" sz="2400" dirty="0" smtClean="0">
                <a:solidFill>
                  <a:schemeClr val="accent1"/>
                </a:solidFill>
              </a:rPr>
              <a:t>ከ</a:t>
            </a:r>
            <a:r>
              <a:rPr lang="en-GB" sz="2400" dirty="0" err="1" smtClean="0">
                <a:solidFill>
                  <a:schemeClr val="accent1"/>
                </a:solidFill>
              </a:rPr>
              <a:t>ፋፍሎ</a:t>
            </a:r>
            <a:r>
              <a:rPr lang="am-ET" sz="2400" dirty="0" smtClean="0">
                <a:solidFill>
                  <a:schemeClr val="accent1"/>
                </a:solidFill>
              </a:rPr>
              <a:t> ማስተማር</a:t>
            </a:r>
            <a:endParaRPr lang="en-GB" sz="2400" dirty="0" smtClean="0">
              <a:solidFill>
                <a:schemeClr val="accent1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ከትምህርቱ </a:t>
            </a:r>
            <a:r>
              <a:rPr lang="am-ET" sz="2400" dirty="0">
                <a:solidFill>
                  <a:srgbClr val="000000"/>
                </a:solidFill>
              </a:rPr>
              <a:t>ጋር </a:t>
            </a:r>
            <a:r>
              <a:rPr lang="am-ET" sz="2400" dirty="0" smtClean="0">
                <a:solidFill>
                  <a:srgbClr val="000000"/>
                </a:solidFill>
              </a:rPr>
              <a:t>የሚሄ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2060"/>
                </a:solidFill>
              </a:rPr>
              <a:t>ም</a:t>
            </a:r>
            <a:r>
              <a:rPr lang="en-GB" sz="2400" dirty="0" err="1" smtClean="0">
                <a:solidFill>
                  <a:srgbClr val="002060"/>
                </a:solidFill>
              </a:rPr>
              <a:t>ሳሌዎ</a:t>
            </a:r>
            <a:r>
              <a:rPr lang="am-ET" sz="2400" dirty="0" smtClean="0">
                <a:solidFill>
                  <a:srgbClr val="002060"/>
                </a:solidFill>
              </a:rPr>
              <a:t>ችን </a:t>
            </a:r>
            <a:r>
              <a:rPr lang="am-ET" sz="2400" dirty="0" smtClean="0">
                <a:solidFill>
                  <a:srgbClr val="000000"/>
                </a:solidFill>
              </a:rPr>
              <a:t>መጠቀም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አጠር ያ</a:t>
            </a:r>
            <a:r>
              <a:rPr lang="en-GB" sz="2400" dirty="0" smtClean="0">
                <a:solidFill>
                  <a:srgbClr val="000000"/>
                </a:solidFill>
              </a:rPr>
              <a:t>ለ </a:t>
            </a:r>
            <a:r>
              <a:rPr lang="am-ET" sz="2400" dirty="0" smtClean="0">
                <a:solidFill>
                  <a:srgbClr val="FF0000"/>
                </a:solidFill>
              </a:rPr>
              <a:t>የቤ</a:t>
            </a:r>
            <a:r>
              <a:rPr lang="en-US" sz="2400" dirty="0">
                <a:solidFill>
                  <a:srgbClr val="FF0000"/>
                </a:solidFill>
              </a:rPr>
              <a:t>ት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en-GB" sz="2400" dirty="0">
                <a:solidFill>
                  <a:srgbClr val="FF0000"/>
                </a:solidFill>
              </a:rPr>
              <a:t>ስ</a:t>
            </a:r>
            <a:r>
              <a:rPr lang="am-ET" sz="2400" dirty="0" smtClean="0">
                <a:solidFill>
                  <a:srgbClr val="FF0000"/>
                </a:solidFill>
              </a:rPr>
              <a:t>ራ</a:t>
            </a:r>
            <a:r>
              <a:rPr lang="am-ET" sz="2400" dirty="0" smtClean="0">
                <a:solidFill>
                  <a:srgbClr val="000000"/>
                </a:solidFill>
              </a:rPr>
              <a:t> መስጠት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ቀጣዩ </a:t>
            </a:r>
            <a:r>
              <a:rPr lang="am-ET" sz="2400" dirty="0">
                <a:solidFill>
                  <a:srgbClr val="00B050"/>
                </a:solidFill>
              </a:rPr>
              <a:t>አስተየየት </a:t>
            </a:r>
            <a:r>
              <a:rPr lang="am-ET" sz="2400" dirty="0" smtClean="0">
                <a:solidFill>
                  <a:srgbClr val="00B050"/>
                </a:solidFill>
              </a:rPr>
              <a:t>መቀበ</a:t>
            </a:r>
            <a:r>
              <a:rPr lang="en-GB" sz="2400" dirty="0" smtClean="0">
                <a:solidFill>
                  <a:srgbClr val="00B050"/>
                </a:solidFill>
              </a:rPr>
              <a:t>ል </a:t>
            </a:r>
            <a:r>
              <a:rPr lang="en-GB" sz="2400" dirty="0" err="1" smtClean="0">
                <a:solidFill>
                  <a:srgbClr val="000000"/>
                </a:solidFill>
              </a:rPr>
              <a:t>እና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የእ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ቱን ማጠቃ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ያ </a:t>
            </a:r>
            <a:r>
              <a:rPr lang="am-ET" sz="2400" dirty="0">
                <a:solidFill>
                  <a:srgbClr val="000000"/>
                </a:solidFill>
              </a:rPr>
              <a:t>መስጠት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 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23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srgbClr val="FFC000"/>
                </a:solidFill>
              </a:rPr>
              <a:t>5</a:t>
            </a:r>
            <a:r>
              <a:rPr lang="am-ET" sz="3200" b="1" dirty="0" smtClean="0">
                <a:solidFill>
                  <a:srgbClr val="FFC000"/>
                </a:solidFill>
              </a:rPr>
              <a:t>. </a:t>
            </a:r>
            <a:r>
              <a:rPr lang="am-ET" sz="3200" b="1" dirty="0">
                <a:solidFill>
                  <a:srgbClr val="FFC000"/>
                </a:solidFill>
              </a:rPr>
              <a:t>የትምህርት ምክር 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0678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- </a:t>
            </a:r>
            <a:r>
              <a:rPr lang="am-ET" sz="2400" dirty="0">
                <a:solidFill>
                  <a:srgbClr val="000000"/>
                </a:solidFill>
              </a:rPr>
              <a:t>ትምህርቱን ከተማሪዎች </a:t>
            </a:r>
            <a:r>
              <a:rPr lang="am-ET" sz="2400" dirty="0" smtClean="0">
                <a:solidFill>
                  <a:srgbClr val="FF0000"/>
                </a:solidFill>
              </a:rPr>
              <a:t>እ</a:t>
            </a:r>
            <a:r>
              <a:rPr lang="en-GB" sz="2400" dirty="0" smtClean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ታዊ </a:t>
            </a:r>
            <a:r>
              <a:rPr lang="am-ET" sz="2400" dirty="0">
                <a:solidFill>
                  <a:srgbClr val="FF0000"/>
                </a:solidFill>
              </a:rPr>
              <a:t>ኑሮ ጋር </a:t>
            </a:r>
            <a:r>
              <a:rPr lang="am-ET" sz="2400" dirty="0" smtClean="0">
                <a:solidFill>
                  <a:srgbClr val="FF0000"/>
                </a:solidFill>
              </a:rPr>
              <a:t>አገና</a:t>
            </a:r>
            <a:r>
              <a:rPr lang="en-GB" sz="2400" dirty="0">
                <a:solidFill>
                  <a:srgbClr val="FF0000"/>
                </a:solidFill>
              </a:rPr>
              <a:t>ዝ</a:t>
            </a:r>
            <a:r>
              <a:rPr lang="am-ET" sz="2400" dirty="0" smtClean="0">
                <a:solidFill>
                  <a:srgbClr val="FF0000"/>
                </a:solidFill>
              </a:rPr>
              <a:t>በን </a:t>
            </a:r>
            <a:r>
              <a:rPr lang="en-GB" sz="2400" dirty="0" err="1">
                <a:solidFill>
                  <a:srgbClr val="000000"/>
                </a:solidFill>
              </a:rPr>
              <a:t>ካ</a:t>
            </a:r>
            <a:r>
              <a:rPr lang="en-GB" sz="2400" dirty="0" err="1" smtClean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ስተማረን ያ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ጋጀ</a:t>
            </a:r>
            <a:r>
              <a:rPr lang="en-GB" sz="2400" dirty="0">
                <a:solidFill>
                  <a:srgbClr val="000000"/>
                </a:solidFill>
              </a:rPr>
              <a:t>ነ</a:t>
            </a:r>
            <a:r>
              <a:rPr lang="am-ET" sz="2400" dirty="0" smtClean="0">
                <a:solidFill>
                  <a:srgbClr val="000000"/>
                </a:solidFill>
              </a:rPr>
              <a:t>ው ትመህር</a:t>
            </a:r>
            <a:r>
              <a:rPr lang="en-GB" sz="2400" dirty="0">
                <a:solidFill>
                  <a:srgbClr val="000000"/>
                </a:solidFill>
              </a:rPr>
              <a:t>ት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ው</a:t>
            </a:r>
            <a:r>
              <a:rPr lang="en-GB" sz="2400" dirty="0" smtClean="0">
                <a:solidFill>
                  <a:srgbClr val="000000"/>
                </a:solidFill>
              </a:rPr>
              <a:t>ጤ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አይኖረውም፡፡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>
                <a:solidFill>
                  <a:srgbClr val="000000"/>
                </a:solidFill>
              </a:rPr>
              <a:t>- የቤተ ክርስቲያን </a:t>
            </a:r>
            <a:r>
              <a:rPr lang="am-ET" sz="2400" dirty="0" smtClean="0">
                <a:solidFill>
                  <a:srgbClr val="000000"/>
                </a:solidFill>
              </a:rPr>
              <a:t>ትምህር</a:t>
            </a:r>
            <a:r>
              <a:rPr lang="en-GB" sz="2400" dirty="0">
                <a:solidFill>
                  <a:srgbClr val="000000"/>
                </a:solidFill>
              </a:rPr>
              <a:t>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ከሕይወት ጋር </a:t>
            </a:r>
            <a:r>
              <a:rPr lang="am-ET" sz="2400" dirty="0" smtClean="0">
                <a:solidFill>
                  <a:srgbClr val="000000"/>
                </a:solidFill>
              </a:rPr>
              <a:t>ካ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ተ</a:t>
            </a:r>
            <a:r>
              <a:rPr lang="en-GB" sz="2400" dirty="0">
                <a:solidFill>
                  <a:srgbClr val="000000"/>
                </a:solidFill>
              </a:rPr>
              <a:t>ዛ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መን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ሳዊ 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ርቀት </a:t>
            </a:r>
            <a:r>
              <a:rPr lang="en-GB" sz="2400" dirty="0">
                <a:solidFill>
                  <a:srgbClr val="000000"/>
                </a:solidFill>
              </a:rPr>
              <a:t>ያ</a:t>
            </a:r>
            <a:r>
              <a:rPr lang="am-ET" sz="2400" dirty="0" smtClean="0">
                <a:solidFill>
                  <a:srgbClr val="000000"/>
                </a:solidFill>
              </a:rPr>
              <a:t>ስከት</a:t>
            </a:r>
            <a:r>
              <a:rPr lang="en-GB" sz="2400" dirty="0" smtClean="0">
                <a:solidFill>
                  <a:srgbClr val="000000"/>
                </a:solidFill>
              </a:rPr>
              <a:t>ላል፡፡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ትመህርቱ </a:t>
            </a:r>
            <a:r>
              <a:rPr lang="en-GB" sz="2400" dirty="0" smtClean="0">
                <a:solidFill>
                  <a:srgbClr val="000000"/>
                </a:solidFill>
              </a:rPr>
              <a:t>በ</a:t>
            </a:r>
            <a:r>
              <a:rPr lang="am-ET" sz="2400" dirty="0" smtClean="0">
                <a:solidFill>
                  <a:srgbClr val="000000"/>
                </a:solidFill>
              </a:rPr>
              <a:t>ይ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 smtClean="0">
                <a:solidFill>
                  <a:srgbClr val="000000"/>
                </a:solidFill>
              </a:rPr>
              <a:t>ቱና በአ</a:t>
            </a:r>
            <a:r>
              <a:rPr lang="en-US" sz="2400" dirty="0" smtClean="0">
                <a:solidFill>
                  <a:srgbClr val="000000"/>
                </a:solidFill>
              </a:rPr>
              <a:t>ቀ</a:t>
            </a:r>
            <a:r>
              <a:rPr lang="am-ET" sz="2400" dirty="0" smtClean="0">
                <a:solidFill>
                  <a:srgbClr val="000000"/>
                </a:solidFill>
              </a:rPr>
              <a:t>ራረቡ </a:t>
            </a:r>
            <a:r>
              <a:rPr lang="am-ET" sz="2400" dirty="0">
                <a:solidFill>
                  <a:srgbClr val="000000"/>
                </a:solidFill>
              </a:rPr>
              <a:t>እንከን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 err="1" smtClean="0">
                <a:solidFill>
                  <a:srgbClr val="000000"/>
                </a:solidFill>
              </a:rPr>
              <a:t>ሌለ</a:t>
            </a:r>
            <a:r>
              <a:rPr lang="am-ET" sz="2400" dirty="0" smtClean="0">
                <a:solidFill>
                  <a:srgbClr val="000000"/>
                </a:solidFill>
              </a:rPr>
              <a:t>ው ቢሆ</a:t>
            </a:r>
            <a:r>
              <a:rPr lang="en-GB" sz="2400" dirty="0">
                <a:solidFill>
                  <a:srgbClr val="000000"/>
                </a:solidFill>
              </a:rPr>
              <a:t>ን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እንኳን </a:t>
            </a:r>
            <a:r>
              <a:rPr lang="am-ET" sz="2400" dirty="0" smtClean="0">
                <a:solidFill>
                  <a:srgbClr val="000000"/>
                </a:solidFill>
              </a:rPr>
              <a:t>የተማሪ</a:t>
            </a:r>
            <a:r>
              <a:rPr lang="en-GB" sz="2400" dirty="0">
                <a:solidFill>
                  <a:srgbClr val="000000"/>
                </a:solidFill>
              </a:rPr>
              <a:t>ዎ</a:t>
            </a:r>
            <a:r>
              <a:rPr lang="am-ET" sz="2400" dirty="0" smtClean="0">
                <a:solidFill>
                  <a:srgbClr val="000000"/>
                </a:solidFill>
              </a:rPr>
              <a:t>ችን ሕይወ</a:t>
            </a:r>
            <a:r>
              <a:rPr lang="en-GB" sz="2400" dirty="0">
                <a:solidFill>
                  <a:srgbClr val="000000"/>
                </a:solidFill>
              </a:rPr>
              <a:t>ት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err="1" smtClean="0">
                <a:solidFill>
                  <a:srgbClr val="000000"/>
                </a:solidFill>
              </a:rPr>
              <a:t>ካልለ</a:t>
            </a:r>
            <a:r>
              <a:rPr lang="am-ET" sz="2400" dirty="0" smtClean="0">
                <a:solidFill>
                  <a:srgbClr val="000000"/>
                </a:solidFill>
              </a:rPr>
              <a:t>ወ</a:t>
            </a:r>
            <a:r>
              <a:rPr lang="en-GB" sz="2400" dirty="0" err="1" smtClean="0">
                <a:solidFill>
                  <a:srgbClr val="000000"/>
                </a:solidFill>
              </a:rPr>
              <a:t>ጠዉ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ትርጉም </a:t>
            </a:r>
            <a:r>
              <a:rPr lang="am-ET" sz="2400" dirty="0" smtClean="0">
                <a:solidFill>
                  <a:srgbClr val="000000"/>
                </a:solidFill>
              </a:rPr>
              <a:t>አይኖረውም</a:t>
            </a:r>
            <a:r>
              <a:rPr lang="en-GB" sz="2400" dirty="0" smtClean="0">
                <a:solidFill>
                  <a:srgbClr val="000000"/>
                </a:solidFill>
              </a:rPr>
              <a:t>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   </a:t>
            </a:r>
            <a:r>
              <a:rPr lang="am-ET" sz="2400" dirty="0" smtClean="0">
                <a:solidFill>
                  <a:srgbClr val="0070C0"/>
                </a:solidFill>
              </a:rPr>
              <a:t>የመጽ</a:t>
            </a:r>
            <a:r>
              <a:rPr lang="en-GB" sz="2400" dirty="0" err="1" smtClean="0">
                <a:solidFill>
                  <a:srgbClr val="0070C0"/>
                </a:solidFill>
              </a:rPr>
              <a:t>ሐፍ</a:t>
            </a:r>
            <a:r>
              <a:rPr lang="am-ET" sz="2400" dirty="0" smtClean="0">
                <a:solidFill>
                  <a:srgbClr val="0070C0"/>
                </a:solidFill>
              </a:rPr>
              <a:t> ቅ</a:t>
            </a:r>
            <a:r>
              <a:rPr lang="en-GB" sz="2400" dirty="0">
                <a:solidFill>
                  <a:srgbClr val="0070C0"/>
                </a:solidFill>
              </a:rPr>
              <a:t>ዱ</a:t>
            </a:r>
            <a:r>
              <a:rPr lang="am-ET" sz="2400" dirty="0" smtClean="0">
                <a:solidFill>
                  <a:srgbClr val="0070C0"/>
                </a:solidFill>
              </a:rPr>
              <a:t>ስ ትመህር</a:t>
            </a:r>
            <a:r>
              <a:rPr lang="en-GB" sz="2400" dirty="0">
                <a:solidFill>
                  <a:srgbClr val="0070C0"/>
                </a:solidFill>
              </a:rPr>
              <a:t>ት</a:t>
            </a:r>
            <a:r>
              <a:rPr lang="am-ET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>
                <a:solidFill>
                  <a:srgbClr val="0070C0"/>
                </a:solidFill>
              </a:rPr>
              <a:t>ተግባራዊ </a:t>
            </a:r>
            <a:r>
              <a:rPr lang="am-ET" sz="2400" dirty="0" smtClean="0">
                <a:solidFill>
                  <a:srgbClr val="0070C0"/>
                </a:solidFill>
              </a:rPr>
              <a:t>እን</a:t>
            </a:r>
            <a:r>
              <a:rPr lang="en-GB" sz="2400" dirty="0">
                <a:solidFill>
                  <a:srgbClr val="0070C0"/>
                </a:solidFill>
              </a:rPr>
              <a:t>ዲ</a:t>
            </a:r>
            <a:r>
              <a:rPr lang="am-ET" sz="2400" dirty="0" smtClean="0">
                <a:solidFill>
                  <a:srgbClr val="0070C0"/>
                </a:solidFill>
              </a:rPr>
              <a:t>ሆን</a:t>
            </a:r>
            <a:endParaRPr lang="am-ET" sz="2400" dirty="0">
              <a:solidFill>
                <a:srgbClr val="0070C0"/>
              </a:solidFill>
            </a:endParaRPr>
          </a:p>
          <a:p>
            <a:pPr algn="just">
              <a:lnSpc>
                <a:spcPct val="150000"/>
              </a:lnSpc>
              <a:buBlip>
                <a:blip r:embed="rId3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ከእ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ተእ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ሕይወታቸው ጋር ወቅታዊ 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3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መሆን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ባቸውን እን</a:t>
            </a:r>
            <a:r>
              <a:rPr lang="en-GB" sz="2400" dirty="0">
                <a:solidFill>
                  <a:srgbClr val="000000"/>
                </a:solidFill>
              </a:rPr>
              <a:t>ዲ</a:t>
            </a:r>
            <a:r>
              <a:rPr lang="am-ET" sz="2400" dirty="0" smtClean="0">
                <a:solidFill>
                  <a:srgbClr val="000000"/>
                </a:solidFill>
              </a:rPr>
              <a:t>ሆኑ ትእ</a:t>
            </a:r>
            <a:r>
              <a:rPr lang="en-GB" sz="2400" dirty="0" err="1" smtClean="0">
                <a:solidFill>
                  <a:srgbClr val="000000"/>
                </a:solidFill>
              </a:rPr>
              <a:t>ዛዝ</a:t>
            </a:r>
            <a:r>
              <a:rPr lang="am-ET" sz="2400" dirty="0" smtClean="0">
                <a:solidFill>
                  <a:srgbClr val="000000"/>
                </a:solidFill>
              </a:rPr>
              <a:t> መስጠት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3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ከሕ</a:t>
            </a:r>
            <a:r>
              <a:rPr lang="en-GB" sz="2400" dirty="0" smtClean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ቡ </a:t>
            </a:r>
            <a:r>
              <a:rPr lang="am-ET" sz="2400" dirty="0">
                <a:solidFill>
                  <a:srgbClr val="000000"/>
                </a:solidFill>
              </a:rPr>
              <a:t>ምን </a:t>
            </a:r>
            <a:r>
              <a:rPr lang="am-ET" sz="2400" dirty="0" smtClean="0">
                <a:solidFill>
                  <a:srgbClr val="000000"/>
                </a:solidFill>
              </a:rPr>
              <a:t>እ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ሚ</a:t>
            </a:r>
            <a:r>
              <a:rPr lang="en-GB" sz="2400" dirty="0" err="1" smtClean="0">
                <a:solidFill>
                  <a:srgbClr val="000000"/>
                </a:solidFill>
              </a:rPr>
              <a:t>ፈል</a:t>
            </a:r>
            <a:r>
              <a:rPr lang="am-ET" sz="2400" dirty="0" smtClean="0">
                <a:solidFill>
                  <a:srgbClr val="000000"/>
                </a:solidFill>
              </a:rPr>
              <a:t>ግ በግ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ጽ </a:t>
            </a:r>
            <a:r>
              <a:rPr lang="am-ET" sz="2400" dirty="0">
                <a:solidFill>
                  <a:srgbClr val="000000"/>
                </a:solidFill>
              </a:rPr>
              <a:t>በመንገር ትምህርቱን ከሕይወታቸው </a:t>
            </a:r>
            <a:r>
              <a:rPr lang="am-ET" sz="2400" dirty="0" smtClean="0">
                <a:solidFill>
                  <a:srgbClr val="000000"/>
                </a:solidFill>
              </a:rPr>
              <a:t>ጋርተጨባጭ ማ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ረግ</a:t>
            </a:r>
            <a:r>
              <a:rPr lang="en-GB" sz="2400" dirty="0" smtClean="0">
                <a:solidFill>
                  <a:srgbClr val="000000"/>
                </a:solidFill>
              </a:rPr>
              <a:t> ወዘተ ይኖርበታል፡፡</a:t>
            </a: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16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am-ET" sz="3200" b="1" dirty="0" smtClean="0">
                <a:solidFill>
                  <a:prstClr val="black"/>
                </a:solidFill>
              </a:rPr>
              <a:t> </a:t>
            </a:r>
            <a:r>
              <a:rPr lang="en-GB" sz="3200" b="1" dirty="0" smtClean="0">
                <a:solidFill>
                  <a:srgbClr val="0070C0"/>
                </a:solidFill>
              </a:rPr>
              <a:t>6</a:t>
            </a:r>
            <a:r>
              <a:rPr lang="am-ET" sz="3200" b="1" dirty="0" smtClean="0">
                <a:solidFill>
                  <a:srgbClr val="0070C0"/>
                </a:solidFill>
              </a:rPr>
              <a:t>. </a:t>
            </a:r>
            <a:r>
              <a:rPr lang="en-GB" sz="3200" b="1" dirty="0" smtClean="0">
                <a:solidFill>
                  <a:srgbClr val="0070C0"/>
                </a:solidFill>
              </a:rPr>
              <a:t>የ</a:t>
            </a:r>
            <a:r>
              <a:rPr lang="am-ET" sz="3200" b="1" dirty="0" smtClean="0">
                <a:solidFill>
                  <a:srgbClr val="0070C0"/>
                </a:solidFill>
              </a:rPr>
              <a:t>ትምህርቱ መ</a:t>
            </a:r>
            <a:r>
              <a:rPr lang="en-GB" sz="3200" b="1" dirty="0" smtClean="0">
                <a:solidFill>
                  <a:srgbClr val="0070C0"/>
                </a:solidFill>
              </a:rPr>
              <a:t>ደ</a:t>
            </a:r>
            <a:r>
              <a:rPr lang="am-ET" sz="3200" b="1" dirty="0" smtClean="0">
                <a:solidFill>
                  <a:srgbClr val="0070C0"/>
                </a:solidFill>
              </a:rPr>
              <a:t>ም</a:t>
            </a:r>
            <a:r>
              <a:rPr lang="en-GB" sz="3200" b="1" dirty="0" smtClean="0">
                <a:solidFill>
                  <a:srgbClr val="0070C0"/>
                </a:solidFill>
              </a:rPr>
              <a:t>ደ</a:t>
            </a:r>
            <a:r>
              <a:rPr lang="am-ET" sz="3200" b="1" dirty="0" smtClean="0">
                <a:solidFill>
                  <a:srgbClr val="0070C0"/>
                </a:solidFill>
              </a:rPr>
              <a:t>ሚያ 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5400" cy="6324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ሚ</a:t>
            </a:r>
            <a:r>
              <a:rPr lang="en-GB" sz="2400" dirty="0">
                <a:solidFill>
                  <a:srgbClr val="000000"/>
                </a:solidFill>
              </a:rPr>
              <a:t>ያ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መስጠት ትመህርቱን </a:t>
            </a:r>
            <a:r>
              <a:rPr lang="en-GB" sz="2400" dirty="0" err="1" smtClean="0">
                <a:solidFill>
                  <a:srgbClr val="000000"/>
                </a:solidFill>
              </a:rPr>
              <a:t>ሙሉ</a:t>
            </a:r>
            <a:r>
              <a:rPr lang="am-ET" sz="2400" dirty="0" smtClean="0">
                <a:solidFill>
                  <a:srgbClr val="000000"/>
                </a:solidFill>
              </a:rPr>
              <a:t>ና </a:t>
            </a:r>
            <a:r>
              <a:rPr lang="am-ET" sz="2400" dirty="0">
                <a:solidFill>
                  <a:srgbClr val="000000"/>
                </a:solidFill>
              </a:rPr>
              <a:t>የተጨበጠ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ርገዋ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የተ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ያዩ ክ</a:t>
            </a:r>
            <a:r>
              <a:rPr lang="en-GB" sz="2400" dirty="0" err="1" smtClean="0">
                <a:solidFill>
                  <a:srgbClr val="000000"/>
                </a:solidFill>
              </a:rPr>
              <a:t>ፍሎ</a:t>
            </a:r>
            <a:r>
              <a:rPr lang="am-ET" sz="2400" dirty="0" smtClean="0">
                <a:solidFill>
                  <a:srgbClr val="000000"/>
                </a:solidFill>
              </a:rPr>
              <a:t>ችን ያዋህ</a:t>
            </a:r>
            <a:r>
              <a:rPr lang="en-GB" sz="2400" dirty="0" err="1" smtClean="0">
                <a:solidFill>
                  <a:srgbClr val="000000"/>
                </a:solidFill>
              </a:rPr>
              <a:t>ዳል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የትምህርቱን ማእከ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ዊ </a:t>
            </a:r>
            <a:r>
              <a:rPr lang="en-GB" sz="2400" dirty="0" smtClean="0">
                <a:solidFill>
                  <a:srgbClr val="000000"/>
                </a:solidFill>
              </a:rPr>
              <a:t>ሀ</a:t>
            </a:r>
            <a:r>
              <a:rPr lang="am-ET" sz="2400" dirty="0" smtClean="0">
                <a:solidFill>
                  <a:srgbClr val="000000"/>
                </a:solidFill>
              </a:rPr>
              <a:t>ሳብ ያካ</a:t>
            </a:r>
            <a:r>
              <a:rPr lang="en-GB" sz="2400" dirty="0" err="1" smtClean="0">
                <a:solidFill>
                  <a:srgbClr val="000000"/>
                </a:solidFill>
              </a:rPr>
              <a:t>ልላል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የትመህርቱን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ያስታውሳ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v"/>
            </a:pPr>
            <a:r>
              <a:rPr lang="am-ET" sz="2400" dirty="0" smtClean="0">
                <a:solidFill>
                  <a:srgbClr val="000000"/>
                </a:solidFill>
              </a:rPr>
              <a:t>ትምህርቱን ያስተሳስራ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800" dirty="0" smtClean="0">
                <a:solidFill>
                  <a:srgbClr val="FF0000"/>
                </a:solidFill>
              </a:rPr>
              <a:t>              መልመጃ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ለስብከት የሚሆን ርዕስ ምረጡ</a:t>
            </a:r>
            <a:endParaRPr lang="am-ET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am-ET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30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err="1" smtClean="0">
                <a:solidFill>
                  <a:srgbClr val="FF0000"/>
                </a:solidFill>
              </a:rPr>
              <a:t>የሐ</a:t>
            </a:r>
            <a:r>
              <a:rPr lang="am-ET" sz="3200" b="1" dirty="0" smtClean="0">
                <a:solidFill>
                  <a:srgbClr val="FF0000"/>
                </a:solidFill>
              </a:rPr>
              <a:t>ዋርያዊና </a:t>
            </a:r>
            <a:r>
              <a:rPr lang="en-GB" sz="3200" b="1" dirty="0" smtClean="0">
                <a:solidFill>
                  <a:srgbClr val="FF0000"/>
                </a:solidFill>
              </a:rPr>
              <a:t>ሐ</a:t>
            </a:r>
            <a:r>
              <a:rPr lang="am-ET" sz="3200" b="1" dirty="0" smtClean="0">
                <a:solidFill>
                  <a:srgbClr val="FF0000"/>
                </a:solidFill>
              </a:rPr>
              <a:t>ዋርያዊነት </a:t>
            </a:r>
            <a:r>
              <a:rPr lang="am-ET" sz="3200" b="1" dirty="0">
                <a:solidFill>
                  <a:srgbClr val="FF0000"/>
                </a:solidFill>
              </a:rPr>
              <a:t>ምንነት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B050"/>
                </a:solidFill>
              </a:rPr>
              <a:t>ሐ</a:t>
            </a:r>
            <a:r>
              <a:rPr lang="am-ET" sz="2400" dirty="0" smtClean="0">
                <a:solidFill>
                  <a:srgbClr val="00B050"/>
                </a:solidFill>
              </a:rPr>
              <a:t>ዋርያ </a:t>
            </a:r>
            <a:r>
              <a:rPr lang="am-ET" sz="2400" dirty="0" smtClean="0">
                <a:solidFill>
                  <a:srgbClr val="000000"/>
                </a:solidFill>
              </a:rPr>
              <a:t>የሚ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ቃ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ሖረ </a:t>
            </a:r>
            <a:r>
              <a:rPr lang="am-ET" sz="2400" dirty="0" smtClean="0">
                <a:solidFill>
                  <a:srgbClr val="000000"/>
                </a:solidFill>
              </a:rPr>
              <a:t>ሄ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 ከሚ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 የግዕ</a:t>
            </a:r>
            <a:r>
              <a:rPr lang="en-GB" sz="2400" dirty="0">
                <a:solidFill>
                  <a:srgbClr val="000000"/>
                </a:solidFill>
              </a:rPr>
              <a:t>ዝ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ግስ የተገኘ </a:t>
            </a:r>
            <a:r>
              <a:rPr lang="am-ET" sz="2400" dirty="0" smtClean="0">
                <a:solidFill>
                  <a:srgbClr val="000000"/>
                </a:solidFill>
              </a:rPr>
              <a:t>ነው</a:t>
            </a:r>
            <a:r>
              <a:rPr lang="en-GB" sz="2400" dirty="0" smtClean="0">
                <a:solidFill>
                  <a:srgbClr val="000000"/>
                </a:solidFill>
              </a:rPr>
              <a:t>፡፡ </a:t>
            </a:r>
            <a:r>
              <a:rPr lang="en-GB" sz="2400" dirty="0" smtClean="0">
                <a:solidFill>
                  <a:srgbClr val="0070C0"/>
                </a:solidFill>
              </a:rPr>
              <a:t>ሐ</a:t>
            </a:r>
            <a:r>
              <a:rPr lang="am-ET" sz="2400" dirty="0" smtClean="0">
                <a:solidFill>
                  <a:srgbClr val="0070C0"/>
                </a:solidFill>
              </a:rPr>
              <a:t>ዋርያ ማ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ት </a:t>
            </a:r>
            <a:r>
              <a:rPr lang="am-ET" sz="2400" dirty="0" smtClean="0">
                <a:solidFill>
                  <a:srgbClr val="000000"/>
                </a:solidFill>
              </a:rPr>
              <a:t>የተ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ከ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የተመረጠና በእግ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</a:t>
            </a:r>
            <a:r>
              <a:rPr lang="am-ET" sz="2400" dirty="0">
                <a:solidFill>
                  <a:srgbClr val="000000"/>
                </a:solidFill>
              </a:rPr>
              <a:t>የተጠራ፣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አገ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ግ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ት የሚ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ጠን የቅ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ሳንን አ</a:t>
            </a:r>
            <a:r>
              <a:rPr lang="en-GB" sz="2400" dirty="0">
                <a:solidFill>
                  <a:srgbClr val="000000"/>
                </a:solidFill>
              </a:rPr>
              <a:t>ሠ</a:t>
            </a:r>
            <a:r>
              <a:rPr lang="am-ET" sz="2400" dirty="0" smtClean="0">
                <a:solidFill>
                  <a:srgbClr val="000000"/>
                </a:solidFill>
              </a:rPr>
              <a:t>ረ 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ኖት የተከተ</a:t>
            </a:r>
            <a:r>
              <a:rPr lang="en-GB" sz="2400" dirty="0" smtClean="0">
                <a:solidFill>
                  <a:srgbClr val="000000"/>
                </a:solidFill>
              </a:rPr>
              <a:t>ለ </a:t>
            </a:r>
            <a:r>
              <a:rPr lang="am-ET" sz="2400" dirty="0" smtClean="0">
                <a:solidFill>
                  <a:srgbClr val="000000"/>
                </a:solidFill>
              </a:rPr>
              <a:t>ብቁና </a:t>
            </a:r>
            <a:r>
              <a:rPr lang="am-ET" sz="2400" dirty="0">
                <a:solidFill>
                  <a:srgbClr val="000000"/>
                </a:solidFill>
              </a:rPr>
              <a:t>ንቁ የሆነ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ዋርያዊነትን ተ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ዕኮ </a:t>
            </a:r>
            <a:r>
              <a:rPr lang="am-ET" sz="2400" dirty="0">
                <a:solidFill>
                  <a:srgbClr val="000000"/>
                </a:solidFill>
              </a:rPr>
              <a:t>በተግባር የሚያሳይ 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 </a:t>
            </a:r>
            <a:r>
              <a:rPr lang="am-ET" sz="2400" dirty="0">
                <a:solidFill>
                  <a:srgbClr val="000000"/>
                </a:solidFill>
              </a:rPr>
              <a:t>ነው፡፡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ዋርያዊነት</a:t>
            </a:r>
            <a:r>
              <a:rPr lang="am-ET" sz="2400" dirty="0">
                <a:solidFill>
                  <a:srgbClr val="000000"/>
                </a:solidFill>
              </a:rPr>
              <a:t>፣ ጌታችን ኢየሱስ ክርሰቶስ </a:t>
            </a:r>
            <a:r>
              <a:rPr lang="am-ET" sz="2400" dirty="0" smtClean="0">
                <a:solidFill>
                  <a:srgbClr val="000000"/>
                </a:solidFill>
              </a:rPr>
              <a:t>በኢየሩሳ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ም በይሁ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በሰማርያም </a:t>
            </a:r>
            <a:r>
              <a:rPr lang="am-ET" sz="2400" dirty="0" smtClean="0">
                <a:solidFill>
                  <a:srgbClr val="000000"/>
                </a:solidFill>
              </a:rPr>
              <a:t>ሁ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እስከ 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ርም 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ርቻ 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 smtClean="0">
                <a:solidFill>
                  <a:srgbClr val="000000"/>
                </a:solidFill>
              </a:rPr>
              <a:t>ረስ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ምስክሮች ትሆና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ችሁ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 </a:t>
            </a:r>
            <a:r>
              <a:rPr lang="am-ET" sz="2400" dirty="0">
                <a:solidFill>
                  <a:srgbClr val="000000"/>
                </a:solidFill>
              </a:rPr>
              <a:t>1፡8 </a:t>
            </a:r>
            <a:r>
              <a:rPr lang="am-ET" sz="2400" dirty="0" smtClean="0">
                <a:solidFill>
                  <a:srgbClr val="000000"/>
                </a:solidFill>
              </a:rPr>
              <a:t>ብ</a:t>
            </a:r>
            <a:r>
              <a:rPr lang="en-GB" sz="2400" dirty="0">
                <a:solidFill>
                  <a:srgbClr val="000000"/>
                </a:solidFill>
              </a:rPr>
              <a:t>ሎ</a:t>
            </a:r>
            <a:r>
              <a:rPr lang="am-ET" sz="2400" dirty="0" smtClean="0">
                <a:solidFill>
                  <a:srgbClr val="000000"/>
                </a:solidFill>
              </a:rPr>
              <a:t> ባ</a:t>
            </a:r>
            <a:r>
              <a:rPr lang="en-GB" sz="2400" dirty="0" err="1" smtClean="0">
                <a:solidFill>
                  <a:srgbClr val="000000"/>
                </a:solidFill>
              </a:rPr>
              <a:t>ዘዘ</a:t>
            </a:r>
            <a:r>
              <a:rPr lang="am-ET" sz="2400" dirty="0" smtClean="0">
                <a:solidFill>
                  <a:srgbClr val="000000"/>
                </a:solidFill>
              </a:rPr>
              <a:t>ው አም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ካዊ ቃ</a:t>
            </a:r>
            <a:r>
              <a:rPr lang="en-GB" sz="2400" dirty="0" smtClean="0">
                <a:solidFill>
                  <a:srgbClr val="000000"/>
                </a:solidFill>
              </a:rPr>
              <a:t>ል </a:t>
            </a:r>
            <a:r>
              <a:rPr lang="am-ET" sz="2400" dirty="0" smtClean="0">
                <a:solidFill>
                  <a:srgbClr val="000000"/>
                </a:solidFill>
              </a:rPr>
              <a:t>መሠረት </a:t>
            </a:r>
            <a:r>
              <a:rPr lang="am-ET" sz="2400" dirty="0">
                <a:solidFill>
                  <a:srgbClr val="000000"/>
                </a:solidFill>
              </a:rPr>
              <a:t>ሐሩ </a:t>
            </a:r>
            <a:r>
              <a:rPr lang="am-ET" sz="2400" dirty="0" smtClean="0">
                <a:solidFill>
                  <a:srgbClr val="000000"/>
                </a:solidFill>
              </a:rPr>
              <a:t>ወመ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ሩ ያ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ውን </a:t>
            </a:r>
            <a:r>
              <a:rPr lang="am-ET" sz="2400" dirty="0">
                <a:solidFill>
                  <a:srgbClr val="000000"/>
                </a:solidFill>
              </a:rPr>
              <a:t>በተግባር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ፍ</a:t>
            </a:r>
            <a:r>
              <a:rPr lang="am-ET" sz="2400" dirty="0" smtClean="0">
                <a:solidFill>
                  <a:srgbClr val="000000"/>
                </a:solidFill>
              </a:rPr>
              <a:t>ጸም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ነው</a:t>
            </a:r>
            <a:r>
              <a:rPr lang="am-ET" sz="2400" dirty="0">
                <a:solidFill>
                  <a:srgbClr val="000000"/>
                </a:solidFill>
              </a:rPr>
              <a:t>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ዋርያዊ ተ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ዕኮ</a:t>
            </a:r>
            <a:r>
              <a:rPr lang="am-ET" sz="2400" dirty="0">
                <a:solidFill>
                  <a:srgbClr val="000000"/>
                </a:solidFill>
              </a:rPr>
              <a:t>፡ የቤተክርስቲያን ዋና </a:t>
            </a:r>
            <a:r>
              <a:rPr lang="am-ET" sz="2400" dirty="0" smtClean="0">
                <a:solidFill>
                  <a:srgbClr val="000000"/>
                </a:solidFill>
              </a:rPr>
              <a:t>ተ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ዕኮና </a:t>
            </a:r>
            <a:r>
              <a:rPr lang="en-GB" sz="2400" dirty="0" err="1" smtClean="0">
                <a:solidFill>
                  <a:srgbClr val="000000"/>
                </a:solidFill>
              </a:rPr>
              <a:t>ዓላ</a:t>
            </a:r>
            <a:r>
              <a:rPr lang="am-ET" sz="2400" dirty="0" smtClean="0">
                <a:solidFill>
                  <a:srgbClr val="000000"/>
                </a:solidFill>
              </a:rPr>
              <a:t>ማ </a:t>
            </a:r>
            <a:r>
              <a:rPr lang="am-ET" sz="2400" dirty="0">
                <a:solidFill>
                  <a:srgbClr val="000000"/>
                </a:solidFill>
              </a:rPr>
              <a:t>ነው</a:t>
            </a:r>
            <a:r>
              <a:rPr lang="am-ET" sz="2400" dirty="0" smtClean="0">
                <a:solidFill>
                  <a:srgbClr val="000000"/>
                </a:solidFill>
              </a:rPr>
              <a:t>፡፡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ምሳሌ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ሳምራዊቷ </a:t>
            </a:r>
            <a:r>
              <a:rPr lang="am-ET" sz="2400" dirty="0">
                <a:solidFill>
                  <a:srgbClr val="000000"/>
                </a:solidFill>
              </a:rPr>
              <a:t>ሴት </a:t>
            </a:r>
            <a:r>
              <a:rPr lang="am-ET" sz="2400" dirty="0" smtClean="0">
                <a:solidFill>
                  <a:srgbClr val="000000"/>
                </a:solidFill>
              </a:rPr>
              <a:t>ያ</a:t>
            </a:r>
            <a:r>
              <a:rPr lang="en-GB" sz="2400" dirty="0" smtClean="0">
                <a:solidFill>
                  <a:srgbClr val="000000"/>
                </a:solidFill>
              </a:rPr>
              <a:t>ደ</a:t>
            </a:r>
            <a:r>
              <a:rPr lang="am-ET" sz="2400" dirty="0" smtClean="0">
                <a:solidFill>
                  <a:srgbClr val="000000"/>
                </a:solidFill>
              </a:rPr>
              <a:t>ረገችው 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 4፡33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>
                <a:solidFill>
                  <a:srgbClr val="000000"/>
                </a:solidFill>
              </a:rPr>
              <a:t>የተበተኑት ቃ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ን </a:t>
            </a:r>
            <a:r>
              <a:rPr lang="am-ET" sz="2400" dirty="0">
                <a:solidFill>
                  <a:srgbClr val="000000"/>
                </a:solidFill>
              </a:rPr>
              <a:t>እየሰበኩ </a:t>
            </a:r>
            <a:r>
              <a:rPr lang="am-ET" sz="2400" dirty="0" smtClean="0">
                <a:solidFill>
                  <a:srgbClr val="000000"/>
                </a:solidFill>
              </a:rPr>
              <a:t>መ</a:t>
            </a:r>
            <a:r>
              <a:rPr lang="en-GB" sz="2400" dirty="0">
                <a:solidFill>
                  <a:srgbClr val="000000"/>
                </a:solidFill>
              </a:rPr>
              <a:t>ዞ</a:t>
            </a:r>
            <a:r>
              <a:rPr lang="am-ET" sz="2400" dirty="0" smtClean="0">
                <a:solidFill>
                  <a:srgbClr val="000000"/>
                </a:solidFill>
              </a:rPr>
              <a:t>ራቸው </a:t>
            </a:r>
            <a:r>
              <a:rPr lang="en-GB" sz="2400" dirty="0" smtClean="0">
                <a:solidFill>
                  <a:srgbClr val="000000"/>
                </a:solidFill>
              </a:rPr>
              <a:t>ሐዋ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8፡4</a:t>
            </a:r>
          </a:p>
        </p:txBody>
      </p:sp>
    </p:spTree>
    <p:extLst>
      <p:ext uri="{BB962C8B-B14F-4D97-AF65-F5344CB8AC3E}">
        <p14:creationId xmlns:p14="http://schemas.microsoft.com/office/powerpoint/2010/main" val="5495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am-ET" sz="3200" b="1" dirty="0" smtClean="0">
                <a:solidFill>
                  <a:srgbClr val="FFC000"/>
                </a:solidFill>
              </a:rPr>
              <a:t>የ</a:t>
            </a:r>
            <a:r>
              <a:rPr lang="en-GB" sz="3200" b="1" dirty="0" smtClean="0">
                <a:solidFill>
                  <a:srgbClr val="FFC000"/>
                </a:solidFill>
              </a:rPr>
              <a:t>ሐ</a:t>
            </a:r>
            <a:r>
              <a:rPr lang="am-ET" sz="3200" b="1" dirty="0" smtClean="0">
                <a:solidFill>
                  <a:srgbClr val="FFC000"/>
                </a:solidFill>
              </a:rPr>
              <a:t>ዋርያዊ ተ</a:t>
            </a:r>
            <a:r>
              <a:rPr lang="en-GB" sz="3200" b="1" dirty="0">
                <a:solidFill>
                  <a:srgbClr val="FFC000"/>
                </a:solidFill>
              </a:rPr>
              <a:t>ል</a:t>
            </a:r>
            <a:r>
              <a:rPr lang="am-ET" sz="3200" b="1" dirty="0" smtClean="0">
                <a:solidFill>
                  <a:srgbClr val="FFC000"/>
                </a:solidFill>
              </a:rPr>
              <a:t>ዕኮ </a:t>
            </a:r>
            <a:r>
              <a:rPr lang="am-ET" sz="3200" b="1" dirty="0">
                <a:solidFill>
                  <a:srgbClr val="FFC000"/>
                </a:solidFill>
              </a:rPr>
              <a:t>ታሪክ</a:t>
            </a: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7630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ሀ</a:t>
            </a:r>
            <a:r>
              <a:rPr lang="am-ET" sz="2400" dirty="0">
                <a:solidFill>
                  <a:srgbClr val="000000"/>
                </a:solidFill>
              </a:rPr>
              <a:t>. </a:t>
            </a:r>
            <a:r>
              <a:rPr lang="am-ET" sz="2400" dirty="0" smtClean="0">
                <a:solidFill>
                  <a:srgbClr val="000000"/>
                </a:solidFill>
              </a:rPr>
              <a:t>ቅ</a:t>
            </a:r>
            <a:r>
              <a:rPr lang="en-GB" sz="2400" dirty="0">
                <a:solidFill>
                  <a:srgbClr val="000000"/>
                </a:solidFill>
              </a:rPr>
              <a:t>ድ</a:t>
            </a:r>
            <a:r>
              <a:rPr lang="am-ET" sz="2400" dirty="0">
                <a:solidFill>
                  <a:srgbClr val="000000"/>
                </a:solidFill>
              </a:rPr>
              <a:t>መ </a:t>
            </a:r>
            <a:r>
              <a:rPr lang="am-ET" sz="2400" dirty="0" smtClean="0">
                <a:solidFill>
                  <a:srgbClr val="000000"/>
                </a:solidFill>
              </a:rPr>
              <a:t>ክርስትና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. በ</a:t>
            </a:r>
            <a:r>
              <a:rPr lang="en-GB" sz="2400" dirty="0" smtClean="0">
                <a:solidFill>
                  <a:srgbClr val="000000"/>
                </a:solidFill>
              </a:rPr>
              <a:t>ዘ</a:t>
            </a:r>
            <a:r>
              <a:rPr lang="am-ET" sz="2400" dirty="0">
                <a:solidFill>
                  <a:srgbClr val="000000"/>
                </a:solidFill>
              </a:rPr>
              <a:t>መነ </a:t>
            </a:r>
            <a:r>
              <a:rPr lang="am-ET" sz="2400" dirty="0" smtClean="0">
                <a:solidFill>
                  <a:srgbClr val="000000"/>
                </a:solidFill>
              </a:rPr>
              <a:t>ክርስትና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B050"/>
                </a:solidFill>
              </a:rPr>
              <a:t>የጌታችን </a:t>
            </a:r>
            <a:r>
              <a:rPr lang="am-ET" sz="2400" dirty="0">
                <a:solidFill>
                  <a:srgbClr val="00B050"/>
                </a:solidFill>
              </a:rPr>
              <a:t>ኢየሱስ ክርስቶስ </a:t>
            </a:r>
            <a:r>
              <a:rPr lang="am-ET" sz="2400" dirty="0" smtClean="0">
                <a:solidFill>
                  <a:srgbClr val="00B050"/>
                </a:solidFill>
              </a:rPr>
              <a:t>ተ</a:t>
            </a:r>
            <a:r>
              <a:rPr lang="en-GB" sz="2400" dirty="0">
                <a:solidFill>
                  <a:srgbClr val="00B050"/>
                </a:solidFill>
              </a:rPr>
              <a:t>ል</a:t>
            </a:r>
            <a:r>
              <a:rPr lang="am-ET" sz="2400" dirty="0" smtClean="0">
                <a:solidFill>
                  <a:srgbClr val="00B050"/>
                </a:solidFill>
              </a:rPr>
              <a:t>ዕኮ </a:t>
            </a:r>
            <a:r>
              <a:rPr lang="am-ET" sz="2400" dirty="0">
                <a:solidFill>
                  <a:srgbClr val="00B050"/>
                </a:solidFill>
              </a:rPr>
              <a:t>መሠረታዊ </a:t>
            </a:r>
            <a:r>
              <a:rPr lang="en-GB" sz="2400" dirty="0" err="1" smtClean="0">
                <a:solidFill>
                  <a:srgbClr val="00B050"/>
                </a:solidFill>
              </a:rPr>
              <a:t>ዓላ</a:t>
            </a:r>
            <a:r>
              <a:rPr lang="am-ET" sz="2400" dirty="0" smtClean="0">
                <a:solidFill>
                  <a:srgbClr val="00B050"/>
                </a:solidFill>
              </a:rPr>
              <a:t>ማ ሁ</a:t>
            </a:r>
            <a:r>
              <a:rPr lang="en-GB" sz="2400" dirty="0" smtClean="0">
                <a:solidFill>
                  <a:srgbClr val="00B050"/>
                </a:solidFill>
              </a:rPr>
              <a:t>ለ</a:t>
            </a:r>
            <a:r>
              <a:rPr lang="am-ET" sz="2400" dirty="0" smtClean="0">
                <a:solidFill>
                  <a:srgbClr val="00B050"/>
                </a:solidFill>
              </a:rPr>
              <a:t>ት </a:t>
            </a:r>
            <a:r>
              <a:rPr lang="am-ET" sz="2400" dirty="0">
                <a:solidFill>
                  <a:srgbClr val="00B050"/>
                </a:solidFill>
              </a:rPr>
              <a:t>ነው፡፡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1. </a:t>
            </a:r>
            <a:r>
              <a:rPr lang="am-ET" sz="2400" dirty="0" smtClean="0">
                <a:solidFill>
                  <a:srgbClr val="000000"/>
                </a:solidFill>
              </a:rPr>
              <a:t>የጠ</a:t>
            </a:r>
            <a:r>
              <a:rPr lang="en-GB" sz="2400" dirty="0">
                <a:solidFill>
                  <a:srgbClr val="000000"/>
                </a:solidFill>
              </a:rPr>
              <a:t>ፋ</a:t>
            </a:r>
            <a:r>
              <a:rPr lang="am-ET" sz="2400" dirty="0" smtClean="0">
                <a:solidFill>
                  <a:srgbClr val="000000"/>
                </a:solidFill>
              </a:rPr>
              <a:t>ውን </a:t>
            </a:r>
            <a:r>
              <a:rPr lang="am-ET" sz="2400" dirty="0">
                <a:solidFill>
                  <a:srgbClr val="000000"/>
                </a:solidFill>
              </a:rPr>
              <a:t>የሰውን 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ጅ </a:t>
            </a:r>
            <a:r>
              <a:rPr lang="en-GB" sz="2400" dirty="0" err="1" smtClean="0">
                <a:solidFill>
                  <a:srgbClr val="000000"/>
                </a:solidFill>
              </a:rPr>
              <a:t>ፈል</a:t>
            </a:r>
            <a:r>
              <a:rPr lang="am-ET" sz="2400" dirty="0" smtClean="0">
                <a:solidFill>
                  <a:srgbClr val="000000"/>
                </a:solidFill>
              </a:rPr>
              <a:t>ጎ ማ</a:t>
            </a:r>
            <a:r>
              <a:rPr lang="en-GB" sz="2400" dirty="0">
                <a:solidFill>
                  <a:srgbClr val="000000"/>
                </a:solidFill>
              </a:rPr>
              <a:t>ዳ</a:t>
            </a:r>
            <a:r>
              <a:rPr lang="am-ET" sz="2400" dirty="0" smtClean="0">
                <a:solidFill>
                  <a:srgbClr val="000000"/>
                </a:solidFill>
              </a:rPr>
              <a:t>ን </a:t>
            </a:r>
            <a:r>
              <a:rPr lang="am-ET" sz="2400" dirty="0">
                <a:solidFill>
                  <a:srgbClr val="000000"/>
                </a:solidFill>
              </a:rPr>
              <a:t>ለቃ 19፡10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0000"/>
                </a:solidFill>
              </a:rPr>
              <a:t>2.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ሚያምኑት ሁ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 አር</a:t>
            </a:r>
            <a:r>
              <a:rPr lang="en-GB" sz="2400" dirty="0">
                <a:solidFill>
                  <a:srgbClr val="000000"/>
                </a:solidFill>
              </a:rPr>
              <a:t>ዓ</a:t>
            </a:r>
            <a:r>
              <a:rPr lang="am-ET" sz="2400" dirty="0" smtClean="0">
                <a:solidFill>
                  <a:srgbClr val="000000"/>
                </a:solidFill>
              </a:rPr>
              <a:t>ያና ምሳ</a:t>
            </a:r>
            <a:r>
              <a:rPr lang="en-GB" sz="2400" dirty="0">
                <a:solidFill>
                  <a:srgbClr val="000000"/>
                </a:solidFill>
              </a:rPr>
              <a:t>ሌ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መሆን </a:t>
            </a:r>
            <a:r>
              <a:rPr lang="am-ET" sz="2400" dirty="0">
                <a:solidFill>
                  <a:srgbClr val="000000"/>
                </a:solidFill>
              </a:rPr>
              <a:t>1ጴጥ2 ፡21፣ </a:t>
            </a:r>
            <a:r>
              <a:rPr lang="am-ET" sz="2400" dirty="0" smtClean="0">
                <a:solidFill>
                  <a:srgbClr val="000000"/>
                </a:solidFill>
              </a:rPr>
              <a:t>ዮ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. 13፡15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3600" b="1" dirty="0" smtClean="0">
                <a:solidFill>
                  <a:srgbClr val="000000"/>
                </a:solidFill>
              </a:rPr>
              <a:t>                   </a:t>
            </a:r>
            <a:r>
              <a:rPr lang="en-GB" sz="3600" b="1" dirty="0" smtClean="0">
                <a:solidFill>
                  <a:srgbClr val="0070C0"/>
                </a:solidFill>
              </a:rPr>
              <a:t>በጥልቀት ይነበብ</a:t>
            </a:r>
            <a:endParaRPr lang="am-ET" sz="3600" b="1" dirty="0">
              <a:solidFill>
                <a:srgbClr val="0070C0"/>
              </a:solidFill>
            </a:endParaRPr>
          </a:p>
        </p:txBody>
      </p:sp>
      <p:sp>
        <p:nvSpPr>
          <p:cNvPr id="4" name="Up Arrow 3"/>
          <p:cNvSpPr/>
          <p:nvPr/>
        </p:nvSpPr>
        <p:spPr>
          <a:xfrm>
            <a:off x="2974831" y="373380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8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am-ET" sz="3200" b="1" dirty="0" smtClean="0">
                <a:solidFill>
                  <a:srgbClr val="00B0F0"/>
                </a:solidFill>
              </a:rPr>
              <a:t> የ</a:t>
            </a:r>
            <a:r>
              <a:rPr lang="en-GB" sz="3200" b="1" dirty="0" smtClean="0">
                <a:solidFill>
                  <a:srgbClr val="00B0F0"/>
                </a:solidFill>
              </a:rPr>
              <a:t>ሐ</a:t>
            </a:r>
            <a:r>
              <a:rPr lang="am-ET" sz="3200" b="1" dirty="0" smtClean="0">
                <a:solidFill>
                  <a:srgbClr val="00B0F0"/>
                </a:solidFill>
              </a:rPr>
              <a:t>ዋርያዊነት </a:t>
            </a:r>
            <a:r>
              <a:rPr lang="am-ET" sz="3200" b="1" dirty="0">
                <a:solidFill>
                  <a:srgbClr val="00B0F0"/>
                </a:solidFill>
              </a:rPr>
              <a:t>መሠረቶች፡</a:t>
            </a:r>
            <a:br>
              <a:rPr lang="am-ET" sz="3200" b="1" dirty="0">
                <a:solidFill>
                  <a:srgbClr val="00B0F0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685800"/>
            <a:ext cx="8784771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ሀ</a:t>
            </a:r>
            <a:r>
              <a:rPr lang="am-ET" sz="2400" dirty="0">
                <a:solidFill>
                  <a:srgbClr val="FF0000"/>
                </a:solidFill>
              </a:rPr>
              <a:t>. ጽኑ </a:t>
            </a:r>
            <a:r>
              <a:rPr lang="am-ET" sz="2400" dirty="0" smtClean="0">
                <a:solidFill>
                  <a:srgbClr val="FF0000"/>
                </a:solidFill>
              </a:rPr>
              <a:t>እምነት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>
                <a:solidFill>
                  <a:srgbClr val="FF0000"/>
                </a:solidFill>
              </a:rPr>
              <a:t>ለ</a:t>
            </a:r>
            <a:r>
              <a:rPr lang="am-ET" sz="2400" dirty="0" smtClean="0">
                <a:solidFill>
                  <a:srgbClr val="FF0000"/>
                </a:solidFill>
              </a:rPr>
              <a:t>. በመን</a:t>
            </a:r>
            <a:r>
              <a:rPr lang="en-GB" sz="2400" dirty="0" smtClean="0">
                <a:solidFill>
                  <a:srgbClr val="FF0000"/>
                </a:solidFill>
              </a:rPr>
              <a:t>ፈ</a:t>
            </a:r>
            <a:r>
              <a:rPr lang="am-ET" sz="2400" dirty="0" smtClean="0">
                <a:solidFill>
                  <a:srgbClr val="FF0000"/>
                </a:solidFill>
              </a:rPr>
              <a:t>ስ ቅ</a:t>
            </a:r>
            <a:r>
              <a:rPr lang="en-GB" sz="2400" dirty="0">
                <a:solidFill>
                  <a:srgbClr val="FF0000"/>
                </a:solidFill>
              </a:rPr>
              <a:t>ዱ</a:t>
            </a:r>
            <a:r>
              <a:rPr lang="am-ET" sz="2400" dirty="0" smtClean="0">
                <a:solidFill>
                  <a:srgbClr val="FF0000"/>
                </a:solidFill>
              </a:rPr>
              <a:t>ስ </a:t>
            </a:r>
            <a:r>
              <a:rPr lang="am-ET" sz="2400" dirty="0">
                <a:solidFill>
                  <a:srgbClr val="FF0000"/>
                </a:solidFill>
              </a:rPr>
              <a:t>መሥራት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  <a:buClr>
                <a:srgbClr val="FFC000"/>
              </a:buClr>
              <a:buFont typeface="Courier New" pitchFamily="49" charset="0"/>
              <a:buChar char="o"/>
            </a:pP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ሳን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ዋርያት መን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ስ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ስን መ</a:t>
            </a:r>
            <a:r>
              <a:rPr lang="en-GB" sz="2400" dirty="0">
                <a:solidFill>
                  <a:srgbClr val="000000"/>
                </a:solidFill>
              </a:rPr>
              <a:t>ላ</a:t>
            </a:r>
            <a:r>
              <a:rPr lang="am-ET" sz="2400" dirty="0" smtClean="0">
                <a:solidFill>
                  <a:srgbClr val="000000"/>
                </a:solidFill>
              </a:rPr>
              <a:t>ኩ </a:t>
            </a:r>
            <a:r>
              <a:rPr lang="en-GB" sz="2400" dirty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ዋ.2፡15 </a:t>
            </a:r>
            <a:r>
              <a:rPr lang="en-GB" sz="2400" dirty="0">
                <a:solidFill>
                  <a:srgbClr val="000000"/>
                </a:solidFill>
              </a:rPr>
              <a:t>ሉ</a:t>
            </a:r>
            <a:r>
              <a:rPr lang="am-ET" sz="2400" dirty="0" smtClean="0">
                <a:solidFill>
                  <a:srgbClr val="000000"/>
                </a:solidFill>
              </a:rPr>
              <a:t>ቃ.24፡54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C000"/>
              </a:buClr>
              <a:buFont typeface="Courier New" pitchFamily="49" charset="0"/>
              <a:buChar char="o"/>
            </a:pPr>
            <a:r>
              <a:rPr lang="am-ET" sz="2400" dirty="0" smtClean="0">
                <a:solidFill>
                  <a:srgbClr val="000000"/>
                </a:solidFill>
              </a:rPr>
              <a:t>በርናባስና ሳው</a:t>
            </a:r>
            <a:r>
              <a:rPr lang="en-GB" sz="2400" dirty="0" smtClean="0">
                <a:solidFill>
                  <a:srgbClr val="000000"/>
                </a:solidFill>
              </a:rPr>
              <a:t>ል ለ</a:t>
            </a:r>
            <a:r>
              <a:rPr lang="am-ET" sz="2400" dirty="0" smtClean="0">
                <a:solidFill>
                  <a:srgbClr val="000000"/>
                </a:solidFill>
              </a:rPr>
              <a:t>ተ</a:t>
            </a:r>
            <a:r>
              <a:rPr lang="en-GB" sz="2400" dirty="0" err="1" smtClean="0">
                <a:solidFill>
                  <a:srgbClr val="000000"/>
                </a:solidFill>
              </a:rPr>
              <a:t>መረጡት</a:t>
            </a:r>
            <a:r>
              <a:rPr lang="am-ET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>
                <a:solidFill>
                  <a:srgbClr val="000000"/>
                </a:solidFill>
              </a:rPr>
              <a:t>ሥራ </a:t>
            </a:r>
            <a:r>
              <a:rPr lang="am-ET" sz="2400" dirty="0" smtClean="0">
                <a:solidFill>
                  <a:srgbClr val="000000"/>
                </a:solidFill>
              </a:rPr>
              <a:t>የተ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ዩት በመን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ስ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ነው 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 </a:t>
            </a:r>
            <a:r>
              <a:rPr lang="am-ET" sz="2400" dirty="0">
                <a:solidFill>
                  <a:srgbClr val="000000"/>
                </a:solidFill>
              </a:rPr>
              <a:t>. 13፡3 </a:t>
            </a:r>
            <a:endParaRPr lang="en-GB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Clr>
                <a:srgbClr val="FFC000"/>
              </a:buClr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ይህም</a:t>
            </a:r>
            <a:r>
              <a:rPr lang="en-GB" sz="2400" dirty="0" smtClean="0">
                <a:solidFill>
                  <a:srgbClr val="000000"/>
                </a:solidFill>
              </a:rPr>
              <a:t> </a:t>
            </a:r>
            <a:r>
              <a:rPr lang="am-ET" sz="2400" dirty="0" smtClean="0">
                <a:solidFill>
                  <a:srgbClr val="000000"/>
                </a:solidFill>
              </a:rPr>
              <a:t>ማ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ት</a:t>
            </a:r>
            <a:r>
              <a:rPr lang="am-ET" sz="2400" dirty="0">
                <a:solidFill>
                  <a:srgbClr val="000000"/>
                </a:solidFill>
              </a:rPr>
              <a:t>፡- </a:t>
            </a: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 smtClean="0">
                <a:solidFill>
                  <a:srgbClr val="000000"/>
                </a:solidFill>
              </a:rPr>
              <a:t>ሐ</a:t>
            </a:r>
            <a:r>
              <a:rPr lang="am-ET" sz="2400" dirty="0" smtClean="0">
                <a:solidFill>
                  <a:srgbClr val="000000"/>
                </a:solidFill>
              </a:rPr>
              <a:t>ዋርያነት </a:t>
            </a:r>
            <a:r>
              <a:rPr lang="am-ET" sz="2400" dirty="0">
                <a:solidFill>
                  <a:srgbClr val="000000"/>
                </a:solidFill>
              </a:rPr>
              <a:t>ሥራ </a:t>
            </a:r>
            <a:r>
              <a:rPr lang="am-ET" sz="2400" dirty="0" smtClean="0">
                <a:solidFill>
                  <a:srgbClr val="00B050"/>
                </a:solidFill>
              </a:rPr>
              <a:t>የመን</a:t>
            </a:r>
            <a:r>
              <a:rPr lang="en-GB" sz="2400" dirty="0" smtClean="0">
                <a:solidFill>
                  <a:srgbClr val="00B050"/>
                </a:solidFill>
              </a:rPr>
              <a:t>ፈ</a:t>
            </a:r>
            <a:r>
              <a:rPr lang="am-ET" sz="2400" dirty="0" smtClean="0">
                <a:solidFill>
                  <a:srgbClr val="00B050"/>
                </a:solidFill>
              </a:rPr>
              <a:t>ስ ቅ</a:t>
            </a:r>
            <a:r>
              <a:rPr lang="en-GB" sz="2400" dirty="0">
                <a:solidFill>
                  <a:srgbClr val="00B050"/>
                </a:solidFill>
              </a:rPr>
              <a:t>ዱ</a:t>
            </a:r>
            <a:r>
              <a:rPr lang="am-ET" sz="2400" dirty="0" smtClean="0">
                <a:solidFill>
                  <a:srgbClr val="00B050"/>
                </a:solidFill>
              </a:rPr>
              <a:t>ስ </a:t>
            </a:r>
            <a:r>
              <a:rPr lang="am-ET" sz="2400" dirty="0">
                <a:solidFill>
                  <a:srgbClr val="00B050"/>
                </a:solidFill>
              </a:rPr>
              <a:t>እንጂ</a:t>
            </a:r>
            <a:r>
              <a:rPr lang="am-ET" sz="2400" dirty="0">
                <a:solidFill>
                  <a:srgbClr val="000000"/>
                </a:solidFill>
              </a:rPr>
              <a:t> የሰው </a:t>
            </a:r>
            <a:r>
              <a:rPr lang="am-ET" sz="2400" dirty="0" smtClean="0">
                <a:solidFill>
                  <a:srgbClr val="000000"/>
                </a:solidFill>
              </a:rPr>
              <a:t>አ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መሆኑን ማመን፣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FFC000"/>
              </a:buClr>
              <a:buFont typeface="Courier New" pitchFamily="49" charset="0"/>
              <a:buChar char="o"/>
            </a:pPr>
            <a:r>
              <a:rPr lang="en-GB" sz="2400" dirty="0" smtClean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ከበርበትና </a:t>
            </a:r>
            <a:r>
              <a:rPr lang="en-GB" sz="2400" dirty="0">
                <a:solidFill>
                  <a:srgbClr val="000000"/>
                </a:solidFill>
              </a:rPr>
              <a:t>ሊ</a:t>
            </a:r>
            <a:r>
              <a:rPr lang="am-ET" sz="2400" dirty="0" smtClean="0">
                <a:solidFill>
                  <a:srgbClr val="000000"/>
                </a:solidFill>
              </a:rPr>
              <a:t>መሰገንበት </a:t>
            </a:r>
            <a:r>
              <a:rPr lang="am-ET" sz="2400" dirty="0">
                <a:solidFill>
                  <a:srgbClr val="000000"/>
                </a:solidFill>
              </a:rPr>
              <a:t>የሚገባው </a:t>
            </a:r>
            <a:r>
              <a:rPr lang="am-ET" sz="2400" dirty="0" smtClean="0">
                <a:solidFill>
                  <a:srgbClr val="000000"/>
                </a:solidFill>
              </a:rPr>
              <a:t>እግ</a:t>
            </a:r>
            <a:r>
              <a:rPr lang="en-GB" sz="2400" dirty="0">
                <a:solidFill>
                  <a:srgbClr val="000000"/>
                </a:solidFill>
              </a:rPr>
              <a:t>ዚ</a:t>
            </a:r>
            <a:r>
              <a:rPr lang="am-ET" sz="2400" dirty="0" smtClean="0">
                <a:solidFill>
                  <a:srgbClr val="000000"/>
                </a:solidFill>
              </a:rPr>
              <a:t>አብሔር መን</a:t>
            </a:r>
            <a:r>
              <a:rPr lang="en-GB" sz="2400" dirty="0" smtClean="0">
                <a:solidFill>
                  <a:srgbClr val="000000"/>
                </a:solidFill>
              </a:rPr>
              <a:t>ፈ</a:t>
            </a:r>
            <a:r>
              <a:rPr lang="am-ET" sz="2400" dirty="0" smtClean="0">
                <a:solidFill>
                  <a:srgbClr val="000000"/>
                </a:solidFill>
              </a:rPr>
              <a:t>ስ ቅ</a:t>
            </a:r>
            <a:r>
              <a:rPr lang="en-GB" sz="2400" dirty="0">
                <a:solidFill>
                  <a:srgbClr val="000000"/>
                </a:solidFill>
              </a:rPr>
              <a:t>ዱ</a:t>
            </a:r>
            <a:r>
              <a:rPr lang="am-ET" sz="2400" dirty="0" smtClean="0">
                <a:solidFill>
                  <a:srgbClr val="000000"/>
                </a:solidFill>
              </a:rPr>
              <a:t>ስ </a:t>
            </a:r>
            <a:r>
              <a:rPr lang="am-ET" sz="2400" dirty="0">
                <a:solidFill>
                  <a:srgbClr val="000000"/>
                </a:solidFill>
              </a:rPr>
              <a:t>ብቻ መሆኑን ማመን</a:t>
            </a:r>
            <a:r>
              <a:rPr lang="am-ET" sz="2400" dirty="0" smtClean="0">
                <a:solidFill>
                  <a:srgbClr val="000000"/>
                </a:solidFill>
              </a:rPr>
              <a:t>፣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ሐ</a:t>
            </a:r>
            <a:r>
              <a:rPr lang="am-ET" sz="2400" dirty="0" smtClean="0">
                <a:solidFill>
                  <a:srgbClr val="FF0000"/>
                </a:solidFill>
              </a:rPr>
              <a:t>. መን</a:t>
            </a:r>
            <a:r>
              <a:rPr lang="en-GB" sz="2400" dirty="0" smtClean="0">
                <a:solidFill>
                  <a:srgbClr val="FF0000"/>
                </a:solidFill>
              </a:rPr>
              <a:t>ፈ</a:t>
            </a:r>
            <a:r>
              <a:rPr lang="am-ET" sz="2400" dirty="0">
                <a:solidFill>
                  <a:srgbClr val="FF0000"/>
                </a:solidFill>
              </a:rPr>
              <a:t>ሳዊነት</a:t>
            </a:r>
            <a:r>
              <a:rPr lang="am-ET" sz="2400" dirty="0" smtClean="0">
                <a:solidFill>
                  <a:srgbClr val="FF0000"/>
                </a:solidFill>
              </a:rPr>
              <a:t>፡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0000"/>
                </a:solidFill>
              </a:rPr>
              <a:t>መ</a:t>
            </a:r>
            <a:r>
              <a:rPr lang="am-ET" sz="2400" dirty="0">
                <a:solidFill>
                  <a:srgbClr val="FF0000"/>
                </a:solidFill>
              </a:rPr>
              <a:t>. ትሕትና እና </a:t>
            </a:r>
            <a:r>
              <a:rPr lang="am-ET" sz="2400" dirty="0" smtClean="0">
                <a:solidFill>
                  <a:srgbClr val="FF0000"/>
                </a:solidFill>
              </a:rPr>
              <a:t>የኃ</a:t>
            </a:r>
            <a:r>
              <a:rPr lang="en-GB" sz="2400" dirty="0" err="1" smtClean="0">
                <a:solidFill>
                  <a:srgbClr val="FF0000"/>
                </a:solidFill>
              </a:rPr>
              <a:t>ላፊ</a:t>
            </a:r>
            <a:r>
              <a:rPr lang="am-ET" sz="2400" dirty="0" smtClean="0">
                <a:solidFill>
                  <a:srgbClr val="FF0000"/>
                </a:solidFill>
              </a:rPr>
              <a:t>ነት </a:t>
            </a:r>
            <a:r>
              <a:rPr lang="am-ET" sz="2400" dirty="0">
                <a:solidFill>
                  <a:srgbClr val="FF0000"/>
                </a:solidFill>
              </a:rPr>
              <a:t>ስሜት፡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04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prstClr val="black"/>
                </a:solidFill>
              </a:rPr>
              <a:t>ሐ</a:t>
            </a:r>
            <a:r>
              <a:rPr lang="am-ET" sz="3200" b="1" dirty="0" smtClean="0">
                <a:solidFill>
                  <a:prstClr val="black"/>
                </a:solidFill>
              </a:rPr>
              <a:t>ዋርያ</a:t>
            </a:r>
            <a:r>
              <a:rPr lang="en-GB" sz="3200" b="1" dirty="0" smtClean="0">
                <a:solidFill>
                  <a:prstClr val="black"/>
                </a:solidFill>
              </a:rPr>
              <a:t> </a:t>
            </a:r>
            <a:r>
              <a:rPr lang="am-ET" sz="3200" b="1" dirty="0" smtClean="0">
                <a:solidFill>
                  <a:prstClr val="black"/>
                </a:solidFill>
              </a:rPr>
              <a:t>ማን ነው</a:t>
            </a:r>
            <a:r>
              <a:rPr lang="en-GB" sz="3200" b="1" dirty="0" smtClean="0">
                <a:solidFill>
                  <a:prstClr val="black"/>
                </a:solidFill>
              </a:rPr>
              <a:t>?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685800"/>
            <a:ext cx="8860971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በ</a:t>
            </a:r>
            <a:r>
              <a:rPr lang="am-ET" sz="2400" dirty="0" smtClean="0">
                <a:solidFill>
                  <a:srgbClr val="FF0000"/>
                </a:solidFill>
              </a:rPr>
              <a:t>እግ</a:t>
            </a:r>
            <a:r>
              <a:rPr lang="en-GB" sz="2400" dirty="0">
                <a:solidFill>
                  <a:srgbClr val="FF0000"/>
                </a:solidFill>
              </a:rPr>
              <a:t>ዚ</a:t>
            </a:r>
            <a:r>
              <a:rPr lang="am-ET" sz="2400" dirty="0" smtClean="0">
                <a:solidFill>
                  <a:srgbClr val="FF0000"/>
                </a:solidFill>
              </a:rPr>
              <a:t>አብሔር</a:t>
            </a:r>
            <a:r>
              <a:rPr lang="en-GB" sz="2400" dirty="0" smtClean="0">
                <a:solidFill>
                  <a:srgbClr val="FF0000"/>
                </a:solidFill>
              </a:rPr>
              <a:t> የተጠራ እና የተመረጠ ነዉ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0000"/>
                </a:solidFill>
              </a:rPr>
              <a:t>የእግዚአብሔር </a:t>
            </a:r>
            <a:r>
              <a:rPr lang="am-ET" sz="2400" dirty="0">
                <a:solidFill>
                  <a:srgbClr val="000000"/>
                </a:solidFill>
              </a:rPr>
              <a:t>ጥሪ </a:t>
            </a:r>
            <a:r>
              <a:rPr lang="am-ET" sz="2400" dirty="0" smtClean="0">
                <a:solidFill>
                  <a:srgbClr val="000000"/>
                </a:solidFill>
              </a:rPr>
              <a:t>ከተገ</a:t>
            </a:r>
            <a:r>
              <a:rPr lang="en-GB" sz="2400" dirty="0" smtClean="0">
                <a:solidFill>
                  <a:srgbClr val="000000"/>
                </a:solidFill>
              </a:rPr>
              <a:t>ለ</a:t>
            </a:r>
            <a:r>
              <a:rPr lang="am-ET" sz="2400" dirty="0" smtClean="0">
                <a:solidFill>
                  <a:srgbClr val="000000"/>
                </a:solidFill>
              </a:rPr>
              <a:t>ጠባቸው መንገ</a:t>
            </a:r>
            <a:r>
              <a:rPr lang="en-GB" sz="2400" dirty="0">
                <a:solidFill>
                  <a:srgbClr val="000000"/>
                </a:solidFill>
              </a:rPr>
              <a:t>ዶ</a:t>
            </a:r>
            <a:r>
              <a:rPr lang="am-ET" sz="2400" dirty="0" smtClean="0">
                <a:solidFill>
                  <a:srgbClr val="000000"/>
                </a:solidFill>
              </a:rPr>
              <a:t>ች መካከ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፡</a:t>
            </a:r>
            <a:endParaRPr lang="am-ET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ራዕይ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ሕ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ም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በሰው በኩ</a:t>
            </a:r>
            <a:r>
              <a:rPr lang="en-GB" sz="2400" dirty="0" smtClean="0">
                <a:solidFill>
                  <a:srgbClr val="000000"/>
                </a:solidFill>
              </a:rPr>
              <a:t>ል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በሥራ አጋጣሚ</a:t>
            </a:r>
            <a:endParaRPr lang="en-GB" sz="2400" dirty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የ</a:t>
            </a:r>
            <a:r>
              <a:rPr lang="en-GB" sz="2400" dirty="0">
                <a:solidFill>
                  <a:srgbClr val="000000"/>
                </a:solidFill>
              </a:rPr>
              <a:t>ል</a:t>
            </a:r>
            <a:r>
              <a:rPr lang="am-ET" sz="2400" dirty="0" smtClean="0">
                <a:solidFill>
                  <a:srgbClr val="000000"/>
                </a:solidFill>
              </a:rPr>
              <a:t>ብን </a:t>
            </a:r>
            <a:r>
              <a:rPr lang="am-ET" sz="2400" dirty="0">
                <a:solidFill>
                  <a:srgbClr val="000000"/>
                </a:solidFill>
              </a:rPr>
              <a:t>ስሜት </a:t>
            </a:r>
            <a:r>
              <a:rPr lang="am-ET" sz="2400" dirty="0" smtClean="0">
                <a:solidFill>
                  <a:srgbClr val="000000"/>
                </a:solidFill>
              </a:rPr>
              <a:t>በማ</a:t>
            </a:r>
            <a:r>
              <a:rPr lang="en-US" sz="2400" dirty="0" smtClean="0">
                <a:solidFill>
                  <a:srgbClr val="000000"/>
                </a:solidFill>
              </a:rPr>
              <a:t>ነ</a:t>
            </a:r>
            <a:r>
              <a:rPr lang="am-ET" sz="2400" dirty="0" smtClean="0">
                <a:solidFill>
                  <a:srgbClr val="000000"/>
                </a:solidFill>
              </a:rPr>
              <a:t>ሳሳት</a:t>
            </a:r>
            <a:endParaRPr lang="en-GB" sz="240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Clr>
                <a:srgbClr val="0070C0"/>
              </a:buClr>
              <a:buFont typeface="Wingdings" pitchFamily="2" charset="2"/>
              <a:buChar char="q"/>
            </a:pPr>
            <a:r>
              <a:rPr lang="am-ET" sz="2400" dirty="0" smtClean="0">
                <a:solidFill>
                  <a:srgbClr val="000000"/>
                </a:solidFill>
              </a:rPr>
              <a:t>በትምህርት </a:t>
            </a:r>
            <a:r>
              <a:rPr lang="am-ET" sz="2400" dirty="0">
                <a:solidFill>
                  <a:srgbClr val="000000"/>
                </a:solidFill>
              </a:rPr>
              <a:t>በመቀስቀስ</a:t>
            </a:r>
            <a:endParaRPr lang="en-GB" sz="2400" dirty="0" smtClean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srgbClr val="00B0F0"/>
                </a:solidFill>
              </a:rPr>
              <a:t>የቀጠለ…</a:t>
            </a:r>
            <a:r>
              <a:rPr lang="am-ET" sz="3200" b="1" dirty="0">
                <a:solidFill>
                  <a:srgbClr val="00B0F0"/>
                </a:solidFill>
              </a:rPr>
              <a:t/>
            </a:r>
            <a:br>
              <a:rPr lang="am-ET" sz="3200" b="1" dirty="0">
                <a:solidFill>
                  <a:srgbClr val="00B0F0"/>
                </a:solidFill>
              </a:rPr>
            </a:br>
            <a:r>
              <a:rPr lang="am-ET" sz="3200" b="1" dirty="0">
                <a:solidFill>
                  <a:srgbClr val="00B0F0"/>
                </a:solidFill>
              </a:rPr>
              <a:t> </a:t>
            </a:r>
            <a:r>
              <a:rPr lang="am-ET" sz="3200" b="1" dirty="0">
                <a:solidFill>
                  <a:prstClr val="black"/>
                </a:solidFill>
              </a:rPr>
              <a:t/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685800"/>
            <a:ext cx="8708571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FFC000"/>
                </a:solidFill>
              </a:rPr>
              <a:t>ሀ </a:t>
            </a:r>
            <a:r>
              <a:rPr lang="am-ET" sz="2400" dirty="0">
                <a:solidFill>
                  <a:srgbClr val="FFC000"/>
                </a:solidFill>
              </a:rPr>
              <a:t>. </a:t>
            </a:r>
            <a:r>
              <a:rPr lang="en-GB" sz="2400" dirty="0" smtClean="0">
                <a:solidFill>
                  <a:srgbClr val="FFC000"/>
                </a:solidFill>
              </a:rPr>
              <a:t>ለሐ</a:t>
            </a:r>
            <a:r>
              <a:rPr lang="am-ET" sz="2400" dirty="0" smtClean="0">
                <a:solidFill>
                  <a:srgbClr val="FFC000"/>
                </a:solidFill>
              </a:rPr>
              <a:t>ዋሪያዊነት </a:t>
            </a:r>
            <a:r>
              <a:rPr lang="am-ET" sz="2400" dirty="0">
                <a:solidFill>
                  <a:srgbClr val="FFC000"/>
                </a:solidFill>
              </a:rPr>
              <a:t>የተጠሩ ሰዎች፡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 </a:t>
            </a:r>
            <a:r>
              <a:rPr lang="am-ET" sz="2400" dirty="0"/>
              <a:t>ሙሴ በግ </a:t>
            </a:r>
            <a:r>
              <a:rPr lang="am-ET" sz="2400" dirty="0" smtClean="0"/>
              <a:t>ሲጠብቅ</a:t>
            </a:r>
            <a:r>
              <a:rPr lang="en-GB" sz="2400" dirty="0" smtClean="0"/>
              <a:t> ዘዳ </a:t>
            </a:r>
            <a:r>
              <a:rPr lang="am-ET" sz="2400" dirty="0" smtClean="0"/>
              <a:t>3፡1.10</a:t>
            </a:r>
            <a:endParaRPr lang="en-GB" sz="2400" dirty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ዲዊት </a:t>
            </a:r>
            <a:r>
              <a:rPr lang="am-ET" sz="2400" dirty="0"/>
              <a:t>በግ ሲጠብቅ 1ሳሙ </a:t>
            </a:r>
            <a:r>
              <a:rPr lang="am-ET" sz="2400" dirty="0" smtClean="0"/>
              <a:t>16፡13</a:t>
            </a:r>
            <a:endParaRPr lang="en-GB" sz="2400" dirty="0" smtClean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ኤሌሳዕ </a:t>
            </a:r>
            <a:r>
              <a:rPr lang="am-ET" sz="2400" dirty="0"/>
              <a:t>በእርሻ </a:t>
            </a:r>
            <a:r>
              <a:rPr lang="en-GB" sz="2400" dirty="0"/>
              <a:t>ላ</a:t>
            </a:r>
            <a:r>
              <a:rPr lang="am-ET" sz="2400" dirty="0" smtClean="0"/>
              <a:t>ይ </a:t>
            </a:r>
            <a:r>
              <a:rPr lang="am-ET" sz="2400" dirty="0"/>
              <a:t>1ነገ </a:t>
            </a:r>
            <a:r>
              <a:rPr lang="am-ET" sz="2400" dirty="0" smtClean="0"/>
              <a:t>19፡19</a:t>
            </a:r>
            <a:endParaRPr lang="en-GB" sz="2400" dirty="0" smtClean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አሞጽ የሾ</a:t>
            </a:r>
            <a:r>
              <a:rPr lang="en-GB" sz="2400" dirty="0"/>
              <a:t>ላ</a:t>
            </a:r>
            <a:r>
              <a:rPr lang="am-ET" sz="2400" dirty="0" smtClean="0"/>
              <a:t> </a:t>
            </a:r>
            <a:r>
              <a:rPr lang="en-GB" sz="2400" dirty="0"/>
              <a:t>ፍ</a:t>
            </a:r>
            <a:r>
              <a:rPr lang="am-ET" sz="2400" dirty="0" smtClean="0"/>
              <a:t>ሬ ሲ</a:t>
            </a:r>
            <a:r>
              <a:rPr lang="en-GB" sz="2400" dirty="0" smtClean="0"/>
              <a:t>ለ</a:t>
            </a:r>
            <a:r>
              <a:rPr lang="am-ET" sz="2400" dirty="0" smtClean="0"/>
              <a:t>ቅም </a:t>
            </a:r>
            <a:r>
              <a:rPr lang="am-ET" sz="2400" dirty="0"/>
              <a:t>አሞ </a:t>
            </a:r>
            <a:r>
              <a:rPr lang="am-ET" sz="2400" dirty="0" smtClean="0"/>
              <a:t>1፡1</a:t>
            </a:r>
            <a:endParaRPr lang="en-GB" sz="2400" dirty="0" smtClean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 </a:t>
            </a:r>
            <a:r>
              <a:rPr lang="am-ET" sz="2400" dirty="0"/>
              <a:t>እነ ጴጥሮስ </a:t>
            </a:r>
            <a:r>
              <a:rPr lang="en-GB" sz="2400" dirty="0"/>
              <a:t>ዓ</a:t>
            </a:r>
            <a:r>
              <a:rPr lang="am-ET" sz="2400" dirty="0" smtClean="0"/>
              <a:t>ሣ ሲያጠም</a:t>
            </a:r>
            <a:r>
              <a:rPr lang="en-GB" sz="2400" dirty="0"/>
              <a:t>ዱ</a:t>
            </a:r>
            <a:r>
              <a:rPr lang="am-ET" sz="2400" dirty="0" smtClean="0"/>
              <a:t> </a:t>
            </a:r>
            <a:r>
              <a:rPr lang="am-ET" sz="2400" dirty="0"/>
              <a:t>ማቴ </a:t>
            </a:r>
            <a:r>
              <a:rPr lang="am-ET" sz="2400" dirty="0" smtClean="0"/>
              <a:t>4፡18</a:t>
            </a:r>
            <a:endParaRPr lang="en-GB" sz="2400" dirty="0" smtClean="0"/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am-ET" sz="2400" dirty="0" smtClean="0"/>
              <a:t>ቅደስ ጳው</a:t>
            </a:r>
            <a:r>
              <a:rPr lang="en-GB" sz="2400" dirty="0"/>
              <a:t>ሎ</a:t>
            </a:r>
            <a:r>
              <a:rPr lang="am-ET" sz="2400" dirty="0" smtClean="0"/>
              <a:t>ስ </a:t>
            </a:r>
            <a:r>
              <a:rPr lang="am-ET" sz="2400" dirty="0"/>
              <a:t>ክርስቲያኖችን </a:t>
            </a:r>
            <a:r>
              <a:rPr lang="am-ET" sz="2400" dirty="0" smtClean="0"/>
              <a:t>ሲያሳ</a:t>
            </a:r>
            <a:r>
              <a:rPr lang="en-GB" sz="2400" dirty="0" err="1" smtClean="0"/>
              <a:t>ድድ</a:t>
            </a:r>
            <a:r>
              <a:rPr lang="am-ET" sz="2400" dirty="0" smtClean="0"/>
              <a:t> </a:t>
            </a:r>
            <a:r>
              <a:rPr lang="en-GB" sz="2400" dirty="0" smtClean="0"/>
              <a:t>ሐ</a:t>
            </a:r>
            <a:r>
              <a:rPr lang="am-ET" sz="2400" dirty="0"/>
              <a:t>ዋ </a:t>
            </a:r>
            <a:r>
              <a:rPr lang="am-ET" sz="2400" dirty="0" smtClean="0"/>
              <a:t>9፡1</a:t>
            </a: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C000"/>
                </a:solidFill>
              </a:rPr>
              <a:t>ለ</a:t>
            </a:r>
            <a:r>
              <a:rPr lang="am-ET" sz="2400" dirty="0" smtClean="0">
                <a:solidFill>
                  <a:srgbClr val="FFC000"/>
                </a:solidFill>
              </a:rPr>
              <a:t> </a:t>
            </a:r>
            <a:r>
              <a:rPr lang="am-ET" sz="2400" dirty="0">
                <a:solidFill>
                  <a:srgbClr val="FFC000"/>
                </a:solidFill>
              </a:rPr>
              <a:t>. የጥሪ </a:t>
            </a:r>
            <a:r>
              <a:rPr lang="am-ET" sz="2400" dirty="0" smtClean="0">
                <a:solidFill>
                  <a:srgbClr val="FFC000"/>
                </a:solidFill>
              </a:rPr>
              <a:t>መስ</a:t>
            </a:r>
            <a:r>
              <a:rPr lang="en-GB" sz="2400" dirty="0" smtClean="0">
                <a:solidFill>
                  <a:srgbClr val="FFC000"/>
                </a:solidFill>
              </a:rPr>
              <a:t>ፈ</a:t>
            </a:r>
            <a:r>
              <a:rPr lang="am-ET" sz="2400" dirty="0">
                <a:solidFill>
                  <a:srgbClr val="FFC000"/>
                </a:solidFill>
              </a:rPr>
              <a:t>ርቶች</a:t>
            </a:r>
            <a:r>
              <a:rPr lang="am-ET" sz="2400" dirty="0" smtClean="0">
                <a:solidFill>
                  <a:srgbClr val="FFC000"/>
                </a:solidFill>
              </a:rPr>
              <a:t>፡</a:t>
            </a:r>
            <a:endParaRPr lang="en-GB" sz="2400" dirty="0" smtClean="0">
              <a:solidFill>
                <a:srgbClr val="FFC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/>
              <a:t>-</a:t>
            </a:r>
            <a:r>
              <a:rPr lang="am-ET" sz="2400" dirty="0" smtClean="0"/>
              <a:t> የ</a:t>
            </a:r>
            <a:r>
              <a:rPr lang="en-GB" sz="2400" dirty="0"/>
              <a:t>ል</a:t>
            </a:r>
            <a:r>
              <a:rPr lang="am-ET" sz="2400" dirty="0" smtClean="0"/>
              <a:t>ብ </a:t>
            </a:r>
            <a:r>
              <a:rPr lang="am-ET" sz="2400" dirty="0"/>
              <a:t>ውስጥ ቅንነት ፡ </a:t>
            </a:r>
            <a:r>
              <a:rPr lang="en-GB" sz="2400" dirty="0" smtClean="0"/>
              <a:t>          </a:t>
            </a:r>
            <a:r>
              <a:rPr lang="en-GB" sz="2400" dirty="0"/>
              <a:t>-</a:t>
            </a:r>
            <a:r>
              <a:rPr lang="am-ET" sz="2400" dirty="0" smtClean="0"/>
              <a:t> መን</a:t>
            </a:r>
            <a:r>
              <a:rPr lang="en-GB" sz="2400" dirty="0" smtClean="0"/>
              <a:t>ፈ</a:t>
            </a:r>
            <a:r>
              <a:rPr lang="am-ET" sz="2400" dirty="0" smtClean="0"/>
              <a:t>ሳዊ ቅን</a:t>
            </a:r>
            <a:r>
              <a:rPr lang="en-GB" sz="2400" dirty="0"/>
              <a:t>ዓ</a:t>
            </a:r>
            <a:r>
              <a:rPr lang="am-ET" sz="2400" dirty="0" smtClean="0"/>
              <a:t>ት </a:t>
            </a:r>
            <a:r>
              <a:rPr lang="am-ET" sz="2400" dirty="0"/>
              <a:t>፡ </a:t>
            </a: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/>
              <a:t>-</a:t>
            </a:r>
            <a:r>
              <a:rPr lang="am-ET" sz="2400" dirty="0" smtClean="0"/>
              <a:t> </a:t>
            </a:r>
            <a:r>
              <a:rPr lang="am-ET" sz="2400" dirty="0"/>
              <a:t>ጉጉትና </a:t>
            </a:r>
            <a:r>
              <a:rPr lang="am-ET" sz="2400" dirty="0" smtClean="0"/>
              <a:t>ተነሳሽነት</a:t>
            </a:r>
            <a:r>
              <a:rPr lang="en-GB" sz="2400" dirty="0" smtClean="0"/>
              <a:t>                  - </a:t>
            </a:r>
            <a:r>
              <a:rPr lang="am-ET" sz="2400" dirty="0" smtClean="0"/>
              <a:t>ማስተማር ግ</a:t>
            </a:r>
            <a:r>
              <a:rPr lang="en-GB" sz="2400" dirty="0"/>
              <a:t>ዴ</a:t>
            </a:r>
            <a:r>
              <a:rPr lang="am-ET" sz="2400" dirty="0" smtClean="0"/>
              <a:t>ታው </a:t>
            </a:r>
            <a:r>
              <a:rPr lang="am-ET" sz="2400" dirty="0"/>
              <a:t>መሆኑን </a:t>
            </a:r>
            <a:r>
              <a:rPr lang="am-ET" sz="2400" dirty="0" smtClean="0"/>
              <a:t>የሚያው</a:t>
            </a:r>
            <a:r>
              <a:rPr lang="en-GB" sz="2400" dirty="0"/>
              <a:t>ቅ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05990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srgbClr val="0070C0"/>
                </a:solidFill>
              </a:rPr>
              <a:t>ሐ</a:t>
            </a:r>
            <a:r>
              <a:rPr lang="am-ET" sz="3200" b="1" dirty="0" smtClean="0">
                <a:solidFill>
                  <a:srgbClr val="0070C0"/>
                </a:solidFill>
              </a:rPr>
              <a:t>ዋርያ</a:t>
            </a:r>
            <a:r>
              <a:rPr lang="en-GB" sz="3200" b="1" dirty="0">
                <a:solidFill>
                  <a:srgbClr val="0070C0"/>
                </a:solidFill>
              </a:rPr>
              <a:t>ዉ</a:t>
            </a:r>
            <a:r>
              <a:rPr lang="am-ET" sz="3200" b="1" dirty="0" smtClean="0">
                <a:solidFill>
                  <a:srgbClr val="0070C0"/>
                </a:solidFill>
              </a:rPr>
              <a:t> </a:t>
            </a:r>
            <a:r>
              <a:rPr lang="en-GB" sz="3200" b="1" dirty="0">
                <a:solidFill>
                  <a:srgbClr val="0070C0"/>
                </a:solidFill>
              </a:rPr>
              <a:t>ሊ</a:t>
            </a:r>
            <a:r>
              <a:rPr lang="am-ET" sz="3200" b="1" dirty="0" smtClean="0">
                <a:solidFill>
                  <a:srgbClr val="0070C0"/>
                </a:solidFill>
              </a:rPr>
              <a:t>ጠነቀቅባቸው </a:t>
            </a:r>
            <a:r>
              <a:rPr lang="am-ET" sz="3200" b="1" dirty="0">
                <a:solidFill>
                  <a:srgbClr val="0070C0"/>
                </a:solidFill>
              </a:rPr>
              <a:t>የሚገቡ </a:t>
            </a:r>
            <a:r>
              <a:rPr lang="am-ET" sz="3200" b="1" dirty="0" smtClean="0">
                <a:solidFill>
                  <a:srgbClr val="0070C0"/>
                </a:solidFill>
              </a:rPr>
              <a:t>ጉ</a:t>
            </a:r>
            <a:r>
              <a:rPr lang="en-GB" sz="3200" b="1" dirty="0">
                <a:solidFill>
                  <a:srgbClr val="0070C0"/>
                </a:solidFill>
              </a:rPr>
              <a:t>ዳ</a:t>
            </a:r>
            <a:r>
              <a:rPr lang="am-ET" sz="3200" b="1" dirty="0" smtClean="0">
                <a:solidFill>
                  <a:srgbClr val="0070C0"/>
                </a:solidFill>
              </a:rPr>
              <a:t>ዮች</a:t>
            </a:r>
            <a:r>
              <a:rPr lang="am-ET" sz="3200" b="1" dirty="0">
                <a:solidFill>
                  <a:srgbClr val="0070C0"/>
                </a:solidFill>
              </a:rPr>
              <a:t>፡</a:t>
            </a:r>
            <a:br>
              <a:rPr lang="am-ET" sz="3200" b="1" dirty="0">
                <a:solidFill>
                  <a:srgbClr val="0070C0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9" y="685800"/>
            <a:ext cx="8937171" cy="6324600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FF0000"/>
                </a:solidFill>
              </a:rPr>
              <a:t>ከንቱ ው</a:t>
            </a:r>
            <a:r>
              <a:rPr lang="en-GB" sz="2400" dirty="0">
                <a:solidFill>
                  <a:srgbClr val="FF0000"/>
                </a:solidFill>
              </a:rPr>
              <a:t>ዳ</a:t>
            </a:r>
            <a:r>
              <a:rPr lang="am-ET" sz="2400" dirty="0" smtClean="0">
                <a:solidFill>
                  <a:srgbClr val="FF0000"/>
                </a:solidFill>
              </a:rPr>
              <a:t>ሴ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/>
              <a:t>ከንቱ ው</a:t>
            </a:r>
            <a:r>
              <a:rPr lang="en-GB" sz="2400" dirty="0"/>
              <a:t>ዳ</a:t>
            </a:r>
            <a:r>
              <a:rPr lang="am-ET" sz="2400" dirty="0" smtClean="0"/>
              <a:t>ሴ </a:t>
            </a:r>
            <a:r>
              <a:rPr lang="am-ET" sz="2400" dirty="0"/>
              <a:t>የሚመጣባቸው </a:t>
            </a:r>
            <a:r>
              <a:rPr lang="am-ET" sz="2400" dirty="0" smtClean="0"/>
              <a:t>መንገ</a:t>
            </a:r>
            <a:r>
              <a:rPr lang="en-GB" sz="2400" dirty="0"/>
              <a:t>ዶ</a:t>
            </a:r>
            <a:r>
              <a:rPr lang="am-ET" sz="2400" dirty="0" smtClean="0"/>
              <a:t>ች</a:t>
            </a:r>
            <a:r>
              <a:rPr lang="am-ET" sz="2400" dirty="0"/>
              <a:t>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>
                <a:solidFill>
                  <a:srgbClr val="0070C0"/>
                </a:solidFill>
              </a:rPr>
              <a:t>ሀ. ከከንቱ </a:t>
            </a:r>
            <a:r>
              <a:rPr lang="am-ET" sz="2400" dirty="0" smtClean="0">
                <a:solidFill>
                  <a:srgbClr val="0070C0"/>
                </a:solidFill>
              </a:rPr>
              <a:t>ው</a:t>
            </a:r>
            <a:r>
              <a:rPr lang="en-GB" sz="2400" dirty="0">
                <a:solidFill>
                  <a:srgbClr val="0070C0"/>
                </a:solidFill>
              </a:rPr>
              <a:t>ዳ</a:t>
            </a:r>
            <a:r>
              <a:rPr lang="am-ET" sz="2400" dirty="0" smtClean="0">
                <a:solidFill>
                  <a:srgbClr val="0070C0"/>
                </a:solidFill>
              </a:rPr>
              <a:t>ሴ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am-ET" sz="2400" dirty="0" smtClean="0">
                <a:solidFill>
                  <a:srgbClr val="0070C0"/>
                </a:solidFill>
              </a:rPr>
              <a:t>መሻት መ</a:t>
            </a:r>
            <a:r>
              <a:rPr lang="en-GB" sz="2400" dirty="0" err="1" smtClean="0">
                <a:solidFill>
                  <a:srgbClr val="0070C0"/>
                </a:solidFill>
              </a:rPr>
              <a:t>ፈለ</a:t>
            </a:r>
            <a:r>
              <a:rPr lang="am-ET" sz="2400" dirty="0" smtClean="0">
                <a:solidFill>
                  <a:srgbClr val="0070C0"/>
                </a:solidFill>
              </a:rPr>
              <a:t>ግ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/>
              <a:t>ሐ</a:t>
            </a:r>
            <a:r>
              <a:rPr lang="am-ET" sz="2400" dirty="0" smtClean="0"/>
              <a:t>ዋርያዊው ከውስጡ መ</a:t>
            </a:r>
            <a:r>
              <a:rPr lang="en-GB" sz="2400" dirty="0" smtClean="0"/>
              <a:t>ደ</a:t>
            </a:r>
            <a:r>
              <a:rPr lang="am-ET" sz="2400" dirty="0" smtClean="0"/>
              <a:t>ነቅን፣ መከበርን፣ መ</a:t>
            </a:r>
            <a:r>
              <a:rPr lang="en-GB" sz="2400" dirty="0" err="1" smtClean="0"/>
              <a:t>ዉደድ</a:t>
            </a:r>
            <a:r>
              <a:rPr lang="am-ET" sz="2400" dirty="0" smtClean="0"/>
              <a:t> መና</a:t>
            </a:r>
            <a:r>
              <a:rPr lang="en-GB" sz="2400" dirty="0" smtClean="0"/>
              <a:t>ፈ</a:t>
            </a:r>
            <a:r>
              <a:rPr lang="am-ET" sz="2400" dirty="0" smtClean="0"/>
              <a:t>ቅና መ</a:t>
            </a:r>
            <a:r>
              <a:rPr lang="en-GB" sz="2400" dirty="0" err="1" smtClean="0"/>
              <a:t>ፈለ</a:t>
            </a:r>
            <a:r>
              <a:rPr lang="am-ET" sz="2400" dirty="0" smtClean="0"/>
              <a:t>ግ እነ</a:t>
            </a:r>
            <a:r>
              <a:rPr lang="en-GB" sz="2400" dirty="0"/>
              <a:t>ዚ</a:t>
            </a:r>
            <a:r>
              <a:rPr lang="am-ET" sz="2400" dirty="0" smtClean="0"/>
              <a:t>ህን </a:t>
            </a:r>
            <a:r>
              <a:rPr lang="en-GB" sz="2400" dirty="0"/>
              <a:t>ሊ</a:t>
            </a:r>
            <a:r>
              <a:rPr lang="am-ET" sz="2400" dirty="0" smtClean="0"/>
              <a:t>ያመጡ</a:t>
            </a:r>
            <a:r>
              <a:rPr lang="en-GB" sz="2400" dirty="0"/>
              <a:t> </a:t>
            </a:r>
            <a:r>
              <a:rPr lang="am-ET" sz="2400" dirty="0" smtClean="0"/>
              <a:t>የሚች</a:t>
            </a:r>
            <a:r>
              <a:rPr lang="en-GB" sz="2400" dirty="0"/>
              <a:t>ሉ</a:t>
            </a:r>
            <a:r>
              <a:rPr lang="am-ET" sz="2400" dirty="0" smtClean="0"/>
              <a:t> </a:t>
            </a:r>
            <a:r>
              <a:rPr lang="am-ET" sz="2400" dirty="0"/>
              <a:t>ነገሮችን </a:t>
            </a:r>
            <a:r>
              <a:rPr lang="am-ET" sz="2400" dirty="0" smtClean="0"/>
              <a:t>በተ</a:t>
            </a:r>
            <a:r>
              <a:rPr lang="en-GB" sz="2400" dirty="0" smtClean="0"/>
              <a:t>ደ</a:t>
            </a:r>
            <a:r>
              <a:rPr lang="am-ET" sz="2400" dirty="0" smtClean="0"/>
              <a:t>ጋጋሚ በአን</a:t>
            </a:r>
            <a:r>
              <a:rPr lang="en-GB" sz="2400" dirty="0"/>
              <a:t>ድ</a:t>
            </a:r>
            <a:r>
              <a:rPr lang="am-ET" sz="2400" dirty="0" smtClean="0"/>
              <a:t>ም በ</a:t>
            </a:r>
            <a:r>
              <a:rPr lang="en-GB" sz="2400" dirty="0" err="1" smtClean="0"/>
              <a:t>ሌላ</a:t>
            </a:r>
            <a:r>
              <a:rPr lang="am-ET" sz="2400" dirty="0" smtClean="0"/>
              <a:t>ም መንገ</a:t>
            </a:r>
            <a:r>
              <a:rPr lang="en-GB" sz="2400" dirty="0"/>
              <a:t>ድ</a:t>
            </a:r>
            <a:r>
              <a:rPr lang="am-ET" sz="2400" dirty="0" smtClean="0"/>
              <a:t> </a:t>
            </a:r>
            <a:r>
              <a:rPr lang="am-ET" sz="2400" dirty="0"/>
              <a:t>በቀጥታ እና </a:t>
            </a:r>
            <a:r>
              <a:rPr lang="am-ET" sz="2400" dirty="0" smtClean="0"/>
              <a:t>በተ</a:t>
            </a:r>
            <a:r>
              <a:rPr lang="en-GB" sz="2400" dirty="0" smtClean="0"/>
              <a:t>ዘ</a:t>
            </a:r>
            <a:r>
              <a:rPr lang="am-ET" sz="2400" dirty="0" smtClean="0"/>
              <a:t>ዋዋሪ </a:t>
            </a:r>
            <a:r>
              <a:rPr lang="am-ET" sz="2400" dirty="0"/>
              <a:t>ጥረት </a:t>
            </a:r>
            <a:r>
              <a:rPr lang="am-ET" sz="2400" dirty="0" smtClean="0"/>
              <a:t>ማ</a:t>
            </a:r>
            <a:r>
              <a:rPr lang="en-GB" sz="2400" dirty="0"/>
              <a:t>ድ</a:t>
            </a:r>
            <a:r>
              <a:rPr lang="am-ET" sz="2400" dirty="0" smtClean="0"/>
              <a:t>ረግ</a:t>
            </a:r>
            <a:r>
              <a:rPr lang="am-ET" sz="2400" dirty="0"/>
              <a:t>፡፡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/>
              <a:t> 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. ከ</a:t>
            </a:r>
            <a:r>
              <a:rPr lang="en-GB" sz="2400" dirty="0" err="1" smtClean="0">
                <a:solidFill>
                  <a:srgbClr val="0070C0"/>
                </a:solidFill>
              </a:rPr>
              <a:t>ሌላ</a:t>
            </a:r>
            <a:r>
              <a:rPr lang="am-ET" sz="2400" dirty="0" smtClean="0">
                <a:solidFill>
                  <a:srgbClr val="0070C0"/>
                </a:solidFill>
              </a:rPr>
              <a:t> አካ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፡ </a:t>
            </a:r>
            <a:r>
              <a:rPr lang="am-ET" sz="2400" dirty="0"/>
              <a:t>ከሰው </a:t>
            </a:r>
            <a:r>
              <a:rPr lang="en-GB" sz="2400" dirty="0" smtClean="0"/>
              <a:t>ዘ</a:t>
            </a:r>
            <a:r>
              <a:rPr lang="am-ET" sz="2400" dirty="0" smtClean="0"/>
              <a:t>ን</a:t>
            </a:r>
            <a:r>
              <a:rPr lang="en-GB" sz="2400" dirty="0"/>
              <a:t>ድ</a:t>
            </a:r>
            <a:r>
              <a:rPr lang="am-ET" sz="2400" dirty="0" smtClean="0"/>
              <a:t> </a:t>
            </a:r>
            <a:r>
              <a:rPr lang="am-ET" sz="2400" dirty="0"/>
              <a:t>በእውነትም </a:t>
            </a:r>
            <a:r>
              <a:rPr lang="am-ET" sz="2400" dirty="0" smtClean="0"/>
              <a:t>በ</a:t>
            </a:r>
            <a:r>
              <a:rPr lang="en-GB" sz="2400" dirty="0" smtClean="0"/>
              <a:t>ሐ</a:t>
            </a:r>
            <a:r>
              <a:rPr lang="am-ET" sz="2400" dirty="0" smtClean="0"/>
              <a:t>ሰትም ው</a:t>
            </a:r>
            <a:r>
              <a:rPr lang="en-GB" sz="2400" dirty="0"/>
              <a:t>ዳ</a:t>
            </a:r>
            <a:r>
              <a:rPr lang="am-ET" sz="2400" dirty="0" smtClean="0"/>
              <a:t>ሴና </a:t>
            </a:r>
            <a:r>
              <a:rPr lang="am-ET" sz="2400" dirty="0"/>
              <a:t>ሙገሳ </a:t>
            </a:r>
            <a:r>
              <a:rPr lang="am-ET" sz="2400" dirty="0" smtClean="0"/>
              <a:t>አ</a:t>
            </a:r>
            <a:r>
              <a:rPr lang="en-GB" sz="2400" dirty="0"/>
              <a:t>ድ</a:t>
            </a:r>
            <a:r>
              <a:rPr lang="am-ET" sz="2400" dirty="0" smtClean="0"/>
              <a:t>ናቆት </a:t>
            </a:r>
            <a:r>
              <a:rPr lang="en-GB" sz="2400" dirty="0"/>
              <a:t>ሊ</a:t>
            </a:r>
            <a:r>
              <a:rPr lang="am-ET" sz="2400" dirty="0" smtClean="0"/>
              <a:t>መጣ ይች</a:t>
            </a:r>
            <a:r>
              <a:rPr lang="en-GB" sz="2400" dirty="0" smtClean="0"/>
              <a:t>ላል</a:t>
            </a:r>
            <a:r>
              <a:rPr lang="am-ET" sz="2400" dirty="0" smtClean="0"/>
              <a:t>፡፡</a:t>
            </a:r>
            <a:endParaRPr lang="en-GB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/>
              <a:t>በ</a:t>
            </a:r>
            <a:r>
              <a:rPr lang="en-GB" sz="2400" dirty="0"/>
              <a:t>ዚ</a:t>
            </a:r>
            <a:r>
              <a:rPr lang="am-ET" sz="2400" dirty="0" smtClean="0"/>
              <a:t>ህ ጊ</a:t>
            </a:r>
            <a:r>
              <a:rPr lang="en-GB" sz="2400" dirty="0"/>
              <a:t>ዜ</a:t>
            </a:r>
            <a:r>
              <a:rPr lang="am-ET" sz="2400" dirty="0" smtClean="0"/>
              <a:t> አ</a:t>
            </a:r>
            <a:r>
              <a:rPr lang="en-GB" sz="2400" dirty="0" smtClean="0"/>
              <a:t>ለ</a:t>
            </a:r>
            <a:r>
              <a:rPr lang="am-ET" sz="2400" dirty="0" smtClean="0"/>
              <a:t>መቃወም</a:t>
            </a:r>
            <a:r>
              <a:rPr lang="am-ET" sz="2400" dirty="0"/>
              <a:t>፣ </a:t>
            </a:r>
            <a:r>
              <a:rPr lang="am-ET" sz="2400" dirty="0" smtClean="0"/>
              <a:t>ይ</a:t>
            </a:r>
            <a:r>
              <a:rPr lang="en-GB" sz="2400" dirty="0"/>
              <a:t>ል</a:t>
            </a:r>
            <a:r>
              <a:rPr lang="am-ET" sz="2400" dirty="0" smtClean="0"/>
              <a:t>ቁንም </a:t>
            </a:r>
            <a:r>
              <a:rPr lang="am-ET" sz="2400" dirty="0"/>
              <a:t>በውስጡ </a:t>
            </a:r>
            <a:r>
              <a:rPr lang="en-GB" sz="2400" dirty="0" smtClean="0"/>
              <a:t>ደ</a:t>
            </a:r>
            <a:r>
              <a:rPr lang="am-ET" sz="2400" dirty="0" smtClean="0"/>
              <a:t>ስ </a:t>
            </a:r>
            <a:r>
              <a:rPr lang="am-ET" sz="2400" dirty="0"/>
              <a:t>መሰኘት፣ እኔ </a:t>
            </a:r>
            <a:r>
              <a:rPr lang="am-ET" sz="2400" dirty="0" smtClean="0"/>
              <a:t>እን</a:t>
            </a:r>
            <a:r>
              <a:rPr lang="en-GB" sz="2400" dirty="0"/>
              <a:t>ዲ</a:t>
            </a:r>
            <a:r>
              <a:rPr lang="am-ET" sz="2400" dirty="0" smtClean="0"/>
              <a:t>ህ </a:t>
            </a:r>
            <a:r>
              <a:rPr lang="en-GB" sz="2400" dirty="0"/>
              <a:t>ዓ</a:t>
            </a:r>
            <a:r>
              <a:rPr lang="am-ET" sz="2400" dirty="0" smtClean="0"/>
              <a:t>ይነት </a:t>
            </a:r>
            <a:r>
              <a:rPr lang="am-ET" sz="2400" dirty="0"/>
              <a:t>ሰው ነኝ </a:t>
            </a:r>
            <a:r>
              <a:rPr lang="am-ET" sz="2400" dirty="0" smtClean="0"/>
              <a:t>ብ</a:t>
            </a:r>
            <a:r>
              <a:rPr lang="en-GB" sz="2400" dirty="0"/>
              <a:t>ሎ</a:t>
            </a:r>
            <a:r>
              <a:rPr lang="am-ET" sz="2400" dirty="0" smtClean="0"/>
              <a:t> ራስን</a:t>
            </a:r>
            <a:r>
              <a:rPr lang="en-GB" sz="2400" dirty="0" smtClean="0"/>
              <a:t> </a:t>
            </a:r>
            <a:r>
              <a:rPr lang="am-ET" sz="2400" dirty="0" smtClean="0"/>
              <a:t>ማ</a:t>
            </a:r>
            <a:r>
              <a:rPr lang="en-GB" sz="2400" dirty="0"/>
              <a:t>ድ</a:t>
            </a:r>
            <a:r>
              <a:rPr lang="am-ET" sz="2400" dirty="0" smtClean="0"/>
              <a:t>ነቅና </a:t>
            </a:r>
            <a:r>
              <a:rPr lang="en-GB" sz="2400" dirty="0" smtClean="0"/>
              <a:t>ለ</a:t>
            </a:r>
            <a:r>
              <a:rPr lang="am-ET" sz="2400" dirty="0" smtClean="0"/>
              <a:t>ራስ ት</a:t>
            </a:r>
            <a:r>
              <a:rPr lang="en-GB" sz="2400" dirty="0"/>
              <a:t>ል</a:t>
            </a:r>
            <a:r>
              <a:rPr lang="am-ET" sz="2400" dirty="0" smtClean="0"/>
              <a:t>ቅ </a:t>
            </a:r>
            <a:r>
              <a:rPr lang="am-ET" sz="2400" dirty="0"/>
              <a:t>ግምትና ዋጋ መስጠት </a:t>
            </a:r>
            <a:r>
              <a:rPr lang="am-ET" sz="2400" dirty="0" smtClean="0"/>
              <a:t>፡፡</a:t>
            </a:r>
            <a:endParaRPr lang="am-ET" sz="2400" dirty="0"/>
          </a:p>
        </p:txBody>
      </p:sp>
    </p:spTree>
    <p:extLst>
      <p:ext uri="{BB962C8B-B14F-4D97-AF65-F5344CB8AC3E}">
        <p14:creationId xmlns:p14="http://schemas.microsoft.com/office/powerpoint/2010/main" val="417038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200" b="1" dirty="0" smtClean="0">
                <a:solidFill>
                  <a:srgbClr val="00B050"/>
                </a:solidFill>
              </a:rPr>
              <a:t>የቀጠለ…..</a:t>
            </a:r>
            <a:r>
              <a:rPr lang="am-ET" sz="3200" b="1" dirty="0">
                <a:solidFill>
                  <a:srgbClr val="00B050"/>
                </a:solidFill>
              </a:rPr>
              <a:t/>
            </a:r>
            <a:br>
              <a:rPr lang="am-ET" sz="3200" b="1" dirty="0">
                <a:solidFill>
                  <a:srgbClr val="00B050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99" y="685800"/>
            <a:ext cx="8937171" cy="5867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200" dirty="0" smtClean="0">
                <a:solidFill>
                  <a:srgbClr val="FF0000"/>
                </a:solidFill>
              </a:rPr>
              <a:t>2</a:t>
            </a:r>
            <a:r>
              <a:rPr lang="am-ET" sz="2200" dirty="0" smtClean="0">
                <a:solidFill>
                  <a:srgbClr val="FF0000"/>
                </a:solidFill>
              </a:rPr>
              <a:t> </a:t>
            </a:r>
            <a:r>
              <a:rPr lang="am-ET" sz="2200" dirty="0">
                <a:solidFill>
                  <a:srgbClr val="FF0000"/>
                </a:solidFill>
              </a:rPr>
              <a:t>. </a:t>
            </a:r>
            <a:r>
              <a:rPr lang="am-ET" sz="2200" dirty="0" smtClean="0">
                <a:solidFill>
                  <a:srgbClr val="FF0000"/>
                </a:solidFill>
              </a:rPr>
              <a:t>ከወገንተኝነት</a:t>
            </a:r>
            <a:r>
              <a:rPr lang="en-GB" sz="2200" dirty="0" smtClean="0">
                <a:solidFill>
                  <a:srgbClr val="FF0000"/>
                </a:solidFill>
              </a:rPr>
              <a:t> </a:t>
            </a:r>
            <a:r>
              <a:rPr lang="en-GB" sz="2200" dirty="0" err="1" smtClean="0">
                <a:solidFill>
                  <a:srgbClr val="FF0000"/>
                </a:solidFill>
              </a:rPr>
              <a:t>መራቅ</a:t>
            </a:r>
            <a:r>
              <a:rPr lang="am-ET" sz="2200" dirty="0" smtClean="0"/>
              <a:t>፡ </a:t>
            </a:r>
            <a:r>
              <a:rPr lang="am-ET" sz="2200" dirty="0"/>
              <a:t>የቆሮንቶስንና </a:t>
            </a:r>
            <a:r>
              <a:rPr lang="am-ET" sz="2200" dirty="0" smtClean="0"/>
              <a:t>የፉ</a:t>
            </a:r>
            <a:r>
              <a:rPr lang="en-GB" sz="2200" dirty="0"/>
              <a:t>ሊ</a:t>
            </a:r>
            <a:r>
              <a:rPr lang="am-ET" sz="2200" dirty="0" smtClean="0"/>
              <a:t>ጵስ</a:t>
            </a:r>
            <a:r>
              <a:rPr lang="en-GB" sz="2200" dirty="0"/>
              <a:t>ዩ</a:t>
            </a:r>
            <a:r>
              <a:rPr lang="am-ET" sz="2200" dirty="0" smtClean="0"/>
              <a:t>ስን </a:t>
            </a:r>
            <a:r>
              <a:rPr lang="am-ET" sz="2200" dirty="0"/>
              <a:t>አብያተ ክርስቲያናት ያውኳቸው ከነበሩ </a:t>
            </a:r>
            <a:r>
              <a:rPr lang="am-ET" sz="2200" dirty="0" smtClean="0"/>
              <a:t>ጉ</a:t>
            </a:r>
            <a:r>
              <a:rPr lang="en-GB" sz="2200" dirty="0"/>
              <a:t>ዳ</a:t>
            </a:r>
            <a:r>
              <a:rPr lang="am-ET" sz="2200" dirty="0" smtClean="0"/>
              <a:t>ዮ</a:t>
            </a:r>
            <a:r>
              <a:rPr lang="en-GB" sz="2200" dirty="0" smtClean="0"/>
              <a:t>ች </a:t>
            </a:r>
            <a:r>
              <a:rPr lang="am-ET" sz="2200" dirty="0" smtClean="0"/>
              <a:t>መካከ</a:t>
            </a:r>
            <a:r>
              <a:rPr lang="en-GB" sz="2200" dirty="0"/>
              <a:t>ል</a:t>
            </a:r>
            <a:r>
              <a:rPr lang="am-ET" sz="2200" dirty="0" smtClean="0"/>
              <a:t> እን</a:t>
            </a:r>
            <a:r>
              <a:rPr lang="en-GB" sz="2200" dirty="0"/>
              <a:t>ዱ</a:t>
            </a:r>
            <a:r>
              <a:rPr lang="am-ET" sz="2200" dirty="0" smtClean="0"/>
              <a:t> </a:t>
            </a:r>
            <a:r>
              <a:rPr lang="am-ET" sz="2200" dirty="0"/>
              <a:t>ወገንተኝነት ነው፡፡ በቆሮንቶስ ቤተክርስቲያን</a:t>
            </a:r>
            <a:r>
              <a:rPr lang="am-ET" sz="2200" dirty="0" smtClean="0"/>
              <a:t>፡</a:t>
            </a:r>
            <a:endParaRPr lang="en-GB" sz="22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am-ET" sz="2200" dirty="0" smtClean="0"/>
              <a:t> </a:t>
            </a:r>
            <a:r>
              <a:rPr lang="am-ET" sz="2200" dirty="0"/>
              <a:t>እኔ </a:t>
            </a:r>
            <a:r>
              <a:rPr lang="am-ET" sz="2200" dirty="0" smtClean="0"/>
              <a:t>የጳው</a:t>
            </a:r>
            <a:r>
              <a:rPr lang="en-GB" sz="2200" dirty="0"/>
              <a:t>ሎ</a:t>
            </a:r>
            <a:r>
              <a:rPr lang="am-ET" sz="2200" dirty="0" smtClean="0"/>
              <a:t>ስ ነኝ</a:t>
            </a:r>
            <a:endParaRPr lang="en-GB" sz="22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am-ET" sz="2200" dirty="0" smtClean="0"/>
              <a:t>እኔ የኬ</a:t>
            </a:r>
            <a:r>
              <a:rPr lang="en-GB" sz="2200" dirty="0"/>
              <a:t>ፋ</a:t>
            </a:r>
            <a:r>
              <a:rPr lang="am-ET" sz="2200" dirty="0" smtClean="0"/>
              <a:t> ነኝ</a:t>
            </a:r>
            <a:endParaRPr lang="en-GB" sz="2200" dirty="0" smtClean="0"/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am-ET" sz="2200" dirty="0" smtClean="0"/>
              <a:t>እኔ የአጵ</a:t>
            </a:r>
            <a:r>
              <a:rPr lang="en-GB" sz="2200" dirty="0"/>
              <a:t>ሎ</a:t>
            </a:r>
            <a:r>
              <a:rPr lang="am-ET" sz="2200" dirty="0" smtClean="0"/>
              <a:t>ስ </a:t>
            </a:r>
            <a:r>
              <a:rPr lang="am-ET" sz="2200" dirty="0"/>
              <a:t>ነኝ </a:t>
            </a:r>
            <a:r>
              <a:rPr lang="am-ET" sz="2200" dirty="0" smtClean="0"/>
              <a:t>የሚ</a:t>
            </a:r>
            <a:r>
              <a:rPr lang="en-GB" sz="2200" dirty="0"/>
              <a:t>ል</a:t>
            </a:r>
            <a:r>
              <a:rPr lang="am-ET" sz="2200" dirty="0" smtClean="0"/>
              <a:t> ክ</a:t>
            </a:r>
            <a:r>
              <a:rPr lang="en-GB" sz="2200" dirty="0" smtClean="0"/>
              <a:t>ፍፍል</a:t>
            </a:r>
            <a:r>
              <a:rPr lang="am-ET" sz="2200" dirty="0" smtClean="0"/>
              <a:t> </a:t>
            </a:r>
            <a:r>
              <a:rPr lang="am-ET" sz="2200" dirty="0"/>
              <a:t>ነበር 1ቆሮ </a:t>
            </a:r>
            <a:r>
              <a:rPr lang="am-ET" sz="2200" dirty="0" smtClean="0"/>
              <a:t>3፡1.12</a:t>
            </a:r>
            <a:endParaRPr lang="en-GB" sz="22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200" dirty="0" smtClean="0">
                <a:solidFill>
                  <a:srgbClr val="FF0000"/>
                </a:solidFill>
              </a:rPr>
              <a:t>3</a:t>
            </a:r>
            <a:r>
              <a:rPr lang="am-ET" sz="2200" dirty="0" smtClean="0">
                <a:solidFill>
                  <a:srgbClr val="FF0000"/>
                </a:solidFill>
              </a:rPr>
              <a:t> </a:t>
            </a:r>
            <a:r>
              <a:rPr lang="am-ET" sz="2200" dirty="0">
                <a:solidFill>
                  <a:srgbClr val="FF0000"/>
                </a:solidFill>
              </a:rPr>
              <a:t>. </a:t>
            </a:r>
            <a:r>
              <a:rPr lang="en-GB" sz="2200" dirty="0" smtClean="0">
                <a:solidFill>
                  <a:srgbClr val="FF0000"/>
                </a:solidFill>
              </a:rPr>
              <a:t>ለ</a:t>
            </a:r>
            <a:r>
              <a:rPr lang="am-ET" sz="2200" dirty="0" smtClean="0">
                <a:solidFill>
                  <a:srgbClr val="FF0000"/>
                </a:solidFill>
              </a:rPr>
              <a:t>ም</a:t>
            </a:r>
            <a:r>
              <a:rPr lang="en-GB" sz="2200" dirty="0">
                <a:solidFill>
                  <a:srgbClr val="FF0000"/>
                </a:solidFill>
              </a:rPr>
              <a:t>ድ</a:t>
            </a:r>
            <a:r>
              <a:rPr lang="am-ET" sz="2200" dirty="0" smtClean="0">
                <a:solidFill>
                  <a:srgbClr val="FF0000"/>
                </a:solidFill>
              </a:rPr>
              <a:t>ራዊ </a:t>
            </a:r>
            <a:r>
              <a:rPr lang="am-ET" sz="2200" dirty="0">
                <a:solidFill>
                  <a:srgbClr val="FF0000"/>
                </a:solidFill>
              </a:rPr>
              <a:t>ጥቅም </a:t>
            </a:r>
            <a:r>
              <a:rPr lang="en-GB" sz="2200" dirty="0" err="1" smtClean="0">
                <a:solidFill>
                  <a:srgbClr val="FF0000"/>
                </a:solidFill>
              </a:rPr>
              <a:t>አለ</a:t>
            </a:r>
            <a:r>
              <a:rPr lang="am-ET" sz="2200" dirty="0" smtClean="0">
                <a:solidFill>
                  <a:srgbClr val="FF0000"/>
                </a:solidFill>
              </a:rPr>
              <a:t>ማገ</a:t>
            </a:r>
            <a:r>
              <a:rPr lang="en-GB" sz="2200" dirty="0">
                <a:solidFill>
                  <a:srgbClr val="FF0000"/>
                </a:solidFill>
              </a:rPr>
              <a:t>ል</a:t>
            </a:r>
            <a:r>
              <a:rPr lang="am-ET" sz="2200" dirty="0" smtClean="0">
                <a:solidFill>
                  <a:srgbClr val="FF0000"/>
                </a:solidFill>
              </a:rPr>
              <a:t>ገ</a:t>
            </a:r>
            <a:r>
              <a:rPr lang="en-GB" sz="2200" dirty="0">
                <a:solidFill>
                  <a:srgbClr val="FF0000"/>
                </a:solidFill>
              </a:rPr>
              <a:t>ል</a:t>
            </a:r>
            <a:r>
              <a:rPr lang="am-ET" sz="2200" dirty="0" smtClean="0">
                <a:solidFill>
                  <a:srgbClr val="FF0000"/>
                </a:solidFill>
              </a:rPr>
              <a:t>፡</a:t>
            </a:r>
            <a:endParaRPr lang="en-GB" sz="22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200" dirty="0" smtClean="0"/>
              <a:t>በ</a:t>
            </a:r>
            <a:r>
              <a:rPr lang="en-GB" sz="2200" dirty="0"/>
              <a:t>ዚ</a:t>
            </a:r>
            <a:r>
              <a:rPr lang="am-ET" sz="2200" dirty="0" smtClean="0"/>
              <a:t>ህ </a:t>
            </a:r>
            <a:r>
              <a:rPr lang="en-GB" sz="2200" dirty="0" smtClean="0"/>
              <a:t>ዘ</a:t>
            </a:r>
            <a:r>
              <a:rPr lang="am-ET" sz="2200" dirty="0" smtClean="0"/>
              <a:t>መን </a:t>
            </a:r>
            <a:r>
              <a:rPr lang="am-ET" sz="2200" dirty="0"/>
              <a:t>ቤተክርስቲያን በእጅጉ </a:t>
            </a:r>
            <a:r>
              <a:rPr lang="am-ET" sz="2200" dirty="0" smtClean="0"/>
              <a:t>የተ</a:t>
            </a:r>
            <a:r>
              <a:rPr lang="en-GB" sz="2200" dirty="0" smtClean="0"/>
              <a:t>ፈ</a:t>
            </a:r>
            <a:r>
              <a:rPr lang="am-ET" sz="2200" dirty="0" smtClean="0"/>
              <a:t>ታተናት</a:t>
            </a:r>
            <a:r>
              <a:rPr lang="am-ET" sz="2200" dirty="0"/>
              <a:t>፣ </a:t>
            </a:r>
            <a:r>
              <a:rPr lang="am-ET" sz="2200" dirty="0" smtClean="0"/>
              <a:t>አን</a:t>
            </a:r>
            <a:r>
              <a:rPr lang="en-GB" sz="2200" dirty="0"/>
              <a:t>ዳ</a:t>
            </a:r>
            <a:r>
              <a:rPr lang="am-ET" sz="2200" dirty="0" smtClean="0"/>
              <a:t>ን</a:t>
            </a:r>
            <a:r>
              <a:rPr lang="en-GB" sz="2200" dirty="0"/>
              <a:t>ዶ</a:t>
            </a:r>
            <a:r>
              <a:rPr lang="am-ET" sz="2200" dirty="0" smtClean="0"/>
              <a:t>ችም </a:t>
            </a:r>
            <a:r>
              <a:rPr lang="am-ET" sz="2200" dirty="0"/>
              <a:t>ያመኑትን </a:t>
            </a:r>
            <a:r>
              <a:rPr lang="en-GB" sz="2200" dirty="0" smtClean="0"/>
              <a:t>ፈ</a:t>
            </a:r>
            <a:r>
              <a:rPr lang="am-ET" sz="2200" dirty="0" smtClean="0"/>
              <a:t>ጣሪና የታመኑ</a:t>
            </a:r>
            <a:r>
              <a:rPr lang="en-GB" sz="2200" dirty="0" smtClean="0"/>
              <a:t>ለ</a:t>
            </a:r>
            <a:r>
              <a:rPr lang="am-ET" sz="2200" dirty="0" smtClean="0"/>
              <a:t>ትንና</a:t>
            </a:r>
            <a:r>
              <a:rPr lang="en-GB" sz="2200" dirty="0" smtClean="0"/>
              <a:t> </a:t>
            </a:r>
            <a:r>
              <a:rPr lang="am-ET" sz="2200" dirty="0" smtClean="0"/>
              <a:t>ያመነቻቸውን </a:t>
            </a:r>
            <a:r>
              <a:rPr lang="am-ET" sz="2200" dirty="0"/>
              <a:t>ቤተክርስቲያን </a:t>
            </a:r>
            <a:r>
              <a:rPr lang="am-ET" sz="2200" dirty="0" smtClean="0"/>
              <a:t>ከመክ</a:t>
            </a:r>
            <a:r>
              <a:rPr lang="en-GB" sz="2200" dirty="0"/>
              <a:t>ዳ</a:t>
            </a:r>
            <a:r>
              <a:rPr lang="am-ET" sz="2200" dirty="0" smtClean="0"/>
              <a:t>ት አ</a:t>
            </a:r>
            <a:r>
              <a:rPr lang="en-GB" sz="2200" dirty="0" err="1"/>
              <a:t>ል</a:t>
            </a:r>
            <a:r>
              <a:rPr lang="en-GB" sz="2200" dirty="0" err="1" smtClean="0"/>
              <a:t>ፈ</a:t>
            </a:r>
            <a:r>
              <a:rPr lang="am-ET" sz="2200" dirty="0" smtClean="0"/>
              <a:t>ው </a:t>
            </a:r>
            <a:r>
              <a:rPr lang="am-ET" sz="2200" dirty="0"/>
              <a:t>የጫማ ውስጥ ጠጠርና የጭቃ ውስጥ እሾህ </a:t>
            </a:r>
            <a:r>
              <a:rPr lang="am-ET" sz="2200" dirty="0" smtClean="0"/>
              <a:t>እን</a:t>
            </a:r>
            <a:r>
              <a:rPr lang="en-GB" sz="2200" dirty="0"/>
              <a:t>ዲ</a:t>
            </a:r>
            <a:r>
              <a:rPr lang="am-ET" sz="2200" dirty="0" smtClean="0"/>
              <a:t>ሆኑባት</a:t>
            </a:r>
            <a:r>
              <a:rPr lang="en-GB" sz="2200" dirty="0" smtClean="0"/>
              <a:t> </a:t>
            </a:r>
            <a:r>
              <a:rPr lang="am-ET" sz="2200" dirty="0" smtClean="0"/>
              <a:t>ያ</a:t>
            </a:r>
            <a:r>
              <a:rPr lang="en-GB" sz="2200" dirty="0" smtClean="0"/>
              <a:t>ደ</a:t>
            </a:r>
            <a:r>
              <a:rPr lang="am-ET" sz="2200" dirty="0" smtClean="0"/>
              <a:t>ረገው </a:t>
            </a:r>
            <a:r>
              <a:rPr lang="am-ET" sz="2200" dirty="0"/>
              <a:t>የጥቅም </a:t>
            </a:r>
            <a:r>
              <a:rPr lang="en-GB" sz="2200" dirty="0" err="1" smtClean="0"/>
              <a:t>ፍላ</a:t>
            </a:r>
            <a:r>
              <a:rPr lang="am-ET" sz="2200" dirty="0" smtClean="0"/>
              <a:t>ጏት </a:t>
            </a:r>
            <a:r>
              <a:rPr lang="am-ET" sz="2200" dirty="0"/>
              <a:t>ነው፡፡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GB" sz="2200" dirty="0" smtClean="0"/>
          </a:p>
        </p:txBody>
      </p:sp>
    </p:spTree>
    <p:extLst>
      <p:ext uri="{BB962C8B-B14F-4D97-AF65-F5344CB8AC3E}">
        <p14:creationId xmlns:p14="http://schemas.microsoft.com/office/powerpoint/2010/main" val="328366223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sz="3600" b="1" dirty="0" smtClean="0">
                <a:solidFill>
                  <a:srgbClr val="0070C0"/>
                </a:solidFill>
              </a:rPr>
              <a:t>የቀጠለ…..</a:t>
            </a:r>
            <a:r>
              <a:rPr lang="am-ET" sz="3600" b="1" dirty="0">
                <a:solidFill>
                  <a:srgbClr val="0070C0"/>
                </a:solidFill>
              </a:rPr>
              <a:t/>
            </a:r>
            <a:br>
              <a:rPr lang="am-ET" sz="3600" b="1" dirty="0">
                <a:solidFill>
                  <a:srgbClr val="0070C0"/>
                </a:solidFill>
              </a:rPr>
            </a:br>
            <a:r>
              <a:rPr lang="am-ET" sz="3600" b="1" dirty="0">
                <a:solidFill>
                  <a:prstClr val="black"/>
                </a:solidFill>
              </a:rPr>
              <a:t> </a:t>
            </a:r>
            <a:br>
              <a:rPr lang="am-ET" sz="36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685800"/>
            <a:ext cx="8860971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>
                <a:solidFill>
                  <a:srgbClr val="FF0000"/>
                </a:solidFill>
              </a:rPr>
              <a:t>4</a:t>
            </a:r>
            <a:r>
              <a:rPr lang="am-ET" sz="2400" dirty="0" smtClean="0">
                <a:solidFill>
                  <a:srgbClr val="FF0000"/>
                </a:solidFill>
              </a:rPr>
              <a:t> </a:t>
            </a:r>
            <a:r>
              <a:rPr lang="am-ET" sz="2400" dirty="0">
                <a:solidFill>
                  <a:srgbClr val="FF0000"/>
                </a:solidFill>
              </a:rPr>
              <a:t>.</a:t>
            </a:r>
            <a:r>
              <a:rPr lang="am-ET" sz="2400" dirty="0" smtClean="0">
                <a:solidFill>
                  <a:srgbClr val="FF0000"/>
                </a:solidFill>
              </a:rPr>
              <a:t>ከ</a:t>
            </a:r>
            <a:r>
              <a:rPr lang="en-GB" sz="2400" dirty="0" smtClean="0">
                <a:solidFill>
                  <a:srgbClr val="FF0000"/>
                </a:solidFill>
              </a:rPr>
              <a:t>ፈ</a:t>
            </a:r>
            <a:r>
              <a:rPr lang="am-ET" sz="2400" dirty="0">
                <a:solidFill>
                  <a:srgbClr val="FF0000"/>
                </a:solidFill>
              </a:rPr>
              <a:t>ተናዎች </a:t>
            </a:r>
            <a:r>
              <a:rPr lang="am-ET" sz="2400" dirty="0" smtClean="0">
                <a:solidFill>
                  <a:srgbClr val="FF0000"/>
                </a:solidFill>
              </a:rPr>
              <a:t>መጠበቅ</a:t>
            </a:r>
            <a:endParaRPr lang="en-GB" sz="2400" dirty="0" smtClean="0">
              <a:solidFill>
                <a:srgbClr val="FF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 smtClean="0"/>
              <a:t>    ፈ</a:t>
            </a:r>
            <a:r>
              <a:rPr lang="am-ET" sz="2400" dirty="0" smtClean="0"/>
              <a:t>ተና ከወ</a:t>
            </a:r>
            <a:r>
              <a:rPr lang="en-GB" sz="2400" dirty="0"/>
              <a:t>ዴ</a:t>
            </a:r>
            <a:r>
              <a:rPr lang="am-ET" sz="2400" dirty="0" smtClean="0"/>
              <a:t>ት </a:t>
            </a:r>
            <a:r>
              <a:rPr lang="en-GB" sz="2400" dirty="0"/>
              <a:t>ሊ</a:t>
            </a:r>
            <a:r>
              <a:rPr lang="am-ET" sz="2400" dirty="0" smtClean="0"/>
              <a:t>መጣ ይች</a:t>
            </a:r>
            <a:r>
              <a:rPr lang="en-GB" sz="2400" dirty="0" err="1" smtClean="0"/>
              <a:t>ላል</a:t>
            </a:r>
            <a:endParaRPr lang="en-GB" sz="2400" dirty="0" smtClean="0"/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am-ET" sz="2400" dirty="0" smtClean="0">
                <a:solidFill>
                  <a:srgbClr val="0070C0"/>
                </a:solidFill>
              </a:rPr>
              <a:t>ከራስ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2</a:t>
            </a:r>
            <a:r>
              <a:rPr lang="am-ET" sz="2400" dirty="0">
                <a:solidFill>
                  <a:srgbClr val="0070C0"/>
                </a:solidFill>
              </a:rPr>
              <a:t>. </a:t>
            </a:r>
            <a:r>
              <a:rPr lang="am-ET" sz="2400" dirty="0" smtClean="0">
                <a:solidFill>
                  <a:srgbClr val="0070C0"/>
                </a:solidFill>
              </a:rPr>
              <a:t>ከባ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 ሥ</a:t>
            </a:r>
            <a:r>
              <a:rPr lang="en-GB" sz="2400" dirty="0">
                <a:solidFill>
                  <a:srgbClr val="0070C0"/>
                </a:solidFill>
              </a:rPr>
              <a:t>ል</a:t>
            </a:r>
            <a:r>
              <a:rPr lang="am-ET" sz="2400" dirty="0" smtClean="0">
                <a:solidFill>
                  <a:srgbClr val="0070C0"/>
                </a:solidFill>
              </a:rPr>
              <a:t>ጣናት</a:t>
            </a:r>
            <a:r>
              <a:rPr lang="am-ET" sz="2400" dirty="0">
                <a:solidFill>
                  <a:srgbClr val="0070C0"/>
                </a:solidFill>
              </a:rPr>
              <a:t>፡ 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3</a:t>
            </a:r>
            <a:r>
              <a:rPr lang="am-ET" sz="2400" dirty="0">
                <a:solidFill>
                  <a:srgbClr val="0070C0"/>
                </a:solidFill>
              </a:rPr>
              <a:t>. ከወግ አጥባቂዎች</a:t>
            </a:r>
            <a:r>
              <a:rPr lang="am-ET" sz="2400" dirty="0" smtClean="0">
                <a:solidFill>
                  <a:srgbClr val="0070C0"/>
                </a:solidFill>
              </a:rPr>
              <a:t>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4</a:t>
            </a:r>
            <a:r>
              <a:rPr lang="am-ET" sz="2400" dirty="0">
                <a:solidFill>
                  <a:srgbClr val="0070C0"/>
                </a:solidFill>
              </a:rPr>
              <a:t>. ጥቅማቸው ከተነካባቸው </a:t>
            </a:r>
            <a:r>
              <a:rPr lang="en-GB" sz="2400" dirty="0">
                <a:solidFill>
                  <a:srgbClr val="0070C0"/>
                </a:solidFill>
              </a:rPr>
              <a:t>ሊ</a:t>
            </a:r>
            <a:r>
              <a:rPr lang="am-ET" sz="2400" dirty="0" smtClean="0">
                <a:solidFill>
                  <a:srgbClr val="0070C0"/>
                </a:solidFill>
              </a:rPr>
              <a:t>ነካ ይች</a:t>
            </a:r>
            <a:r>
              <a:rPr lang="en-GB" sz="2400" dirty="0" err="1" smtClean="0">
                <a:solidFill>
                  <a:srgbClr val="0070C0"/>
                </a:solidFill>
              </a:rPr>
              <a:t>ላል</a:t>
            </a:r>
            <a:r>
              <a:rPr lang="am-ET" sz="2400" dirty="0" smtClean="0">
                <a:solidFill>
                  <a:srgbClr val="0070C0"/>
                </a:solidFill>
              </a:rPr>
              <a:t> ብ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ው </a:t>
            </a:r>
            <a:r>
              <a:rPr lang="am-ET" sz="2400" dirty="0">
                <a:solidFill>
                  <a:srgbClr val="0070C0"/>
                </a:solidFill>
              </a:rPr>
              <a:t>ከሚያስቡ </a:t>
            </a:r>
            <a:r>
              <a:rPr lang="am-ET" sz="2400" dirty="0" smtClean="0">
                <a:solidFill>
                  <a:srgbClr val="0070C0"/>
                </a:solidFill>
              </a:rPr>
              <a:t>ግ</a:t>
            </a:r>
            <a:r>
              <a:rPr lang="en-GB" sz="2400" dirty="0" smtClean="0">
                <a:solidFill>
                  <a:srgbClr val="0070C0"/>
                </a:solidFill>
              </a:rPr>
              <a:t>ለ</a:t>
            </a:r>
            <a:r>
              <a:rPr lang="am-ET" sz="2400" dirty="0" smtClean="0">
                <a:solidFill>
                  <a:srgbClr val="0070C0"/>
                </a:solidFill>
              </a:rPr>
              <a:t>ሰቦች፡</a:t>
            </a:r>
            <a:endParaRPr lang="en-GB" sz="2400" dirty="0" smtClean="0">
              <a:solidFill>
                <a:srgbClr val="0070C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am-ET" sz="2400" dirty="0" smtClean="0">
                <a:solidFill>
                  <a:srgbClr val="0070C0"/>
                </a:solidFill>
              </a:rPr>
              <a:t>5</a:t>
            </a:r>
            <a:r>
              <a:rPr lang="am-ET" sz="2400" dirty="0">
                <a:solidFill>
                  <a:srgbClr val="0070C0"/>
                </a:solidFill>
              </a:rPr>
              <a:t>. </a:t>
            </a:r>
            <a:r>
              <a:rPr lang="am-ET" sz="2400" dirty="0" smtClean="0">
                <a:solidFill>
                  <a:srgbClr val="0070C0"/>
                </a:solidFill>
              </a:rPr>
              <a:t>ከመና</a:t>
            </a:r>
            <a:r>
              <a:rPr lang="en-GB" sz="2400" dirty="0">
                <a:solidFill>
                  <a:srgbClr val="0070C0"/>
                </a:solidFill>
              </a:rPr>
              <a:t>ፍ</a:t>
            </a:r>
            <a:r>
              <a:rPr lang="am-ET" sz="2400" dirty="0" smtClean="0">
                <a:solidFill>
                  <a:srgbClr val="0070C0"/>
                </a:solidFill>
              </a:rPr>
              <a:t>ቃንና ከአሕ</a:t>
            </a:r>
            <a:r>
              <a:rPr lang="en-GB" sz="2400" dirty="0">
                <a:solidFill>
                  <a:srgbClr val="0070C0"/>
                </a:solidFill>
              </a:rPr>
              <a:t>ዛ</a:t>
            </a:r>
            <a:r>
              <a:rPr lang="am-ET" sz="2400" dirty="0" smtClean="0">
                <a:solidFill>
                  <a:srgbClr val="0070C0"/>
                </a:solidFill>
              </a:rPr>
              <a:t>ብ</a:t>
            </a:r>
            <a:endParaRPr lang="en-GB" sz="2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90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46"/>
            <a:ext cx="7696200" cy="71596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solidFill>
                  <a:prstClr val="black"/>
                </a:solidFill>
              </a:rPr>
              <a:t/>
            </a:r>
            <a:br>
              <a:rPr lang="en-GB" sz="3200" b="1" dirty="0" smtClean="0">
                <a:solidFill>
                  <a:prstClr val="black"/>
                </a:solidFill>
              </a:rPr>
            </a:br>
            <a:r>
              <a:rPr lang="en-GB" sz="3200" b="1" dirty="0">
                <a:solidFill>
                  <a:prstClr val="black"/>
                </a:solidFill>
              </a:rPr>
              <a:t/>
            </a:r>
            <a:br>
              <a:rPr lang="en-GB" sz="3200" b="1" dirty="0">
                <a:solidFill>
                  <a:prstClr val="black"/>
                </a:solidFill>
              </a:rPr>
            </a:br>
            <a:r>
              <a:rPr lang="en-GB" dirty="0" err="1" smtClean="0">
                <a:solidFill>
                  <a:srgbClr val="0070C0"/>
                </a:solidFill>
              </a:rPr>
              <a:t>ለንባብ</a:t>
            </a:r>
            <a:r>
              <a:rPr lang="en-GB" dirty="0" smtClean="0">
                <a:solidFill>
                  <a:srgbClr val="0070C0"/>
                </a:solidFill>
              </a:rPr>
              <a:t> </a:t>
            </a:r>
            <a:r>
              <a:rPr lang="en-GB" dirty="0" err="1" smtClean="0">
                <a:solidFill>
                  <a:srgbClr val="0070C0"/>
                </a:solidFill>
              </a:rPr>
              <a:t>ተጋብዛቹ</a:t>
            </a:r>
            <a:r>
              <a:rPr lang="en-GB" dirty="0" smtClean="0">
                <a:solidFill>
                  <a:srgbClr val="0070C0"/>
                </a:solidFill>
              </a:rPr>
              <a:t> </a:t>
            </a:r>
            <a:r>
              <a:rPr lang="en-GB" dirty="0" err="1" smtClean="0">
                <a:solidFill>
                  <a:srgbClr val="0070C0"/>
                </a:solidFill>
              </a:rPr>
              <a:t>በዚሁ</a:t>
            </a:r>
            <a:r>
              <a:rPr lang="en-GB" dirty="0" smtClean="0">
                <a:solidFill>
                  <a:srgbClr val="0070C0"/>
                </a:solidFill>
              </a:rPr>
              <a:t> </a:t>
            </a:r>
            <a:r>
              <a:rPr lang="en-GB" dirty="0" err="1" smtClean="0">
                <a:solidFill>
                  <a:srgbClr val="0070C0"/>
                </a:solidFill>
              </a:rPr>
              <a:t>እናብቃ</a:t>
            </a:r>
            <a:r>
              <a:rPr lang="am-ET" dirty="0">
                <a:solidFill>
                  <a:srgbClr val="0070C0"/>
                </a:solidFill>
              </a:rPr>
              <a:t/>
            </a:r>
            <a:br>
              <a:rPr lang="am-ET" dirty="0">
                <a:solidFill>
                  <a:srgbClr val="0070C0"/>
                </a:solidFill>
              </a:rPr>
            </a:br>
            <a:r>
              <a:rPr lang="am-ET" sz="3200" b="1" dirty="0">
                <a:solidFill>
                  <a:prstClr val="black"/>
                </a:solidFill>
              </a:rPr>
              <a:t> </a:t>
            </a:r>
            <a:br>
              <a:rPr lang="am-ET" sz="3200" b="1" dirty="0">
                <a:solidFill>
                  <a:prstClr val="black"/>
                </a:solidFill>
              </a:rPr>
            </a:br>
            <a:endParaRPr lang="am-ET" sz="3200" b="1" dirty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" y="685800"/>
            <a:ext cx="8991600" cy="63246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GB" sz="24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dirty="0"/>
              <a:t> </a:t>
            </a:r>
            <a:r>
              <a:rPr lang="en-GB" sz="2400" dirty="0" smtClean="0"/>
              <a:t>                     </a:t>
            </a:r>
            <a:r>
              <a:rPr lang="en-GB" sz="6000" dirty="0" smtClean="0">
                <a:solidFill>
                  <a:srgbClr val="FF0000"/>
                </a:solidFill>
              </a:rPr>
              <a:t>ወ</a:t>
            </a:r>
            <a:r>
              <a:rPr lang="am-ET" sz="5400" dirty="0" smtClean="0">
                <a:solidFill>
                  <a:srgbClr val="FF0000"/>
                </a:solidFill>
              </a:rPr>
              <a:t>ስብ</a:t>
            </a:r>
            <a:r>
              <a:rPr lang="en-GB" sz="5400" dirty="0" smtClean="0">
                <a:solidFill>
                  <a:srgbClr val="FF0000"/>
                </a:solidFill>
              </a:rPr>
              <a:t>ሐ</a:t>
            </a:r>
            <a:r>
              <a:rPr lang="am-ET" sz="5400" dirty="0" smtClean="0">
                <a:solidFill>
                  <a:srgbClr val="FF0000"/>
                </a:solidFill>
              </a:rPr>
              <a:t>ት </a:t>
            </a:r>
            <a:r>
              <a:rPr lang="en-GB" sz="5400" dirty="0" smtClean="0">
                <a:solidFill>
                  <a:srgbClr val="FF0000"/>
                </a:solidFill>
              </a:rPr>
              <a:t>ለ</a:t>
            </a:r>
            <a:r>
              <a:rPr lang="am-ET" sz="5400" dirty="0" smtClean="0">
                <a:solidFill>
                  <a:srgbClr val="FF0000"/>
                </a:solidFill>
              </a:rPr>
              <a:t>እግ</a:t>
            </a:r>
            <a:r>
              <a:rPr lang="en-GB" sz="5400" dirty="0" smtClean="0">
                <a:solidFill>
                  <a:srgbClr val="FF0000"/>
                </a:solidFill>
              </a:rPr>
              <a:t>ዚ</a:t>
            </a:r>
            <a:r>
              <a:rPr lang="am-ET" sz="5400" dirty="0" smtClean="0">
                <a:solidFill>
                  <a:srgbClr val="FF0000"/>
                </a:solidFill>
              </a:rPr>
              <a:t>አብሔር</a:t>
            </a:r>
            <a:endParaRPr lang="en-GB" sz="5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0.01111 C 0.07309 -0.01111 0.12917 0.04487 0.12917 0.11381 C 0.12917 0.18297 0.07309 0.23895 0.00417 0.23895 C -0.06475 0.23895 -0.12083 0.18297 -0.12083 0.11381 C -0.12083 0.04487 -0.06475 -0.01111 0.00417 -0.01111 Z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</TotalTime>
  <Words>5332</Words>
  <Application>Microsoft Office PowerPoint</Application>
  <PresentationFormat>On-screen Show (4:3)</PresentationFormat>
  <Paragraphs>397</Paragraphs>
  <Slides>52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Office Theme</vt:lpstr>
      <vt:lpstr>1_Median</vt:lpstr>
      <vt:lpstr>በስመ አብ ወወል ወመንፈስ ቅዱስ አሐዱ አምላክ አሜን</vt:lpstr>
      <vt:lpstr>          </vt:lpstr>
      <vt:lpstr>መግቢያ</vt:lpstr>
      <vt:lpstr>  ይዘት </vt:lpstr>
      <vt:lpstr>1. ስብከትና የስብከት ታሪክ</vt:lpstr>
      <vt:lpstr>የቀጠለ…..</vt:lpstr>
      <vt:lpstr>የቀጠለ…..</vt:lpstr>
      <vt:lpstr>የቀጠለ…..</vt:lpstr>
      <vt:lpstr>የቀጠለ…..</vt:lpstr>
      <vt:lpstr>የቀጠለ…..</vt:lpstr>
      <vt:lpstr>የቀጠለ…..</vt:lpstr>
      <vt:lpstr>የቀጠለ…..</vt:lpstr>
      <vt:lpstr>የቀጠለ…..</vt:lpstr>
      <vt:lpstr>የቀጠለ…..</vt:lpstr>
      <vt:lpstr>የቀጠለ…..</vt:lpstr>
      <vt:lpstr>2. ለሰባኪው የሚያስፈልገው ምንድን ነው ?</vt:lpstr>
      <vt:lpstr>PowerPoint Presentation</vt:lpstr>
      <vt:lpstr>PowerPoint Presentation</vt:lpstr>
      <vt:lpstr>የቀመለ…….</vt:lpstr>
      <vt:lpstr>የቀመለ…….</vt:lpstr>
      <vt:lpstr>PowerPoint Presentation</vt:lpstr>
      <vt:lpstr>የቀመለ…….</vt:lpstr>
      <vt:lpstr>PowerPoint Presentation</vt:lpstr>
      <vt:lpstr>የቀመለ…….</vt:lpstr>
      <vt:lpstr>የቀመለ…….</vt:lpstr>
      <vt:lpstr>የቀመለ…….</vt:lpstr>
      <vt:lpstr> 3.የስብከት ዓይነቶች፡</vt:lpstr>
      <vt:lpstr> የቀጠለ….</vt:lpstr>
      <vt:lpstr>3.1 የትምህርት አቀራረብ </vt:lpstr>
      <vt:lpstr>የቀጠለ…….</vt:lpstr>
      <vt:lpstr>ባለ አንድ ሐረግ ስብከት</vt:lpstr>
      <vt:lpstr> ቅዳሴያዊ ስብከት</vt:lpstr>
      <vt:lpstr>4.ስብከት በሚዘጋጅበት ወቅት ሊታሳቡ የሚገባቸዉ ነገሮች </vt:lpstr>
      <vt:lpstr>የቀጠለ….</vt:lpstr>
      <vt:lpstr>የቀጠለ….</vt:lpstr>
      <vt:lpstr>የኦርቶዶክሳዊ ስብከት ጠባያትን መከተል</vt:lpstr>
      <vt:lpstr>5.የስብከት ዝግጅት</vt:lpstr>
      <vt:lpstr>1. ርዕስ መምረጥ</vt:lpstr>
      <vt:lpstr>2.የስብከቱን ዓላማ መለየት</vt:lpstr>
      <vt:lpstr>3. መግቢያ፡</vt:lpstr>
      <vt:lpstr> 4. የትምህርቱ ዋና ክፍል </vt:lpstr>
      <vt:lpstr> 5. የትምህርት ምክር  </vt:lpstr>
      <vt:lpstr>  6. የትምህርቱ መደምደሚያ  </vt:lpstr>
      <vt:lpstr>  የሐዋርያዊና ሐዋርያዊነት ምንነት   </vt:lpstr>
      <vt:lpstr>  የሐዋርያዊ ተልዕኮ ታሪክ    </vt:lpstr>
      <vt:lpstr>   የሐዋርያዊነት መሠረቶች፡   </vt:lpstr>
      <vt:lpstr>   ሐዋርያ ማን ነው?    </vt:lpstr>
      <vt:lpstr>  የቀጠለ…   </vt:lpstr>
      <vt:lpstr>  ሐዋርያዉ ሊጠነቀቅባቸው የሚገቡ ጉዳዮች፡   </vt:lpstr>
      <vt:lpstr>  የቀጠለ…..   </vt:lpstr>
      <vt:lpstr>  የቀጠለ…..   </vt:lpstr>
      <vt:lpstr>  ለንባብ ተጋብዛቹ በዚሁ እናብቃ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የስብከት ዘዴ እና ሐዋሪያዊ ተልእኮ</dc:title>
  <dc:creator>Admin</dc:creator>
  <cp:lastModifiedBy>delll</cp:lastModifiedBy>
  <cp:revision>179</cp:revision>
  <dcterms:created xsi:type="dcterms:W3CDTF">2021-11-27T17:42:45Z</dcterms:created>
  <dcterms:modified xsi:type="dcterms:W3CDTF">2025-08-09T11:08:20Z</dcterms:modified>
</cp:coreProperties>
</file>