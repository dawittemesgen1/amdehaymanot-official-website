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የመዝሙር ክፍል አደረጃጀትና የአገልግሎት መዋቅር ማሻሻያ ጥናታዊ የውሳኔ ሐሳብ</a:t>
            </a:r>
          </a:p>
          <a:p>
            <a:pPr algn="ctr">
              <a:spcBef>
                <a:spcPts val="1000"/>
              </a:spcBef>
              <a:defRPr sz="1600">
                <a:solidFill>
                  <a:srgbClr val="ABC7EA"/>
                </a:solidFill>
              </a:defRPr>
            </a:pPr>
            <a:r>
              <a:t>የጅማ ደብረ ኤፍራታ ቅድስት ማርያም ካቴድራል ዓምደ ሃይማኖት ሰንበት ትምህርት ቤት መዝሙር ክፍል</a:t>
            </a:r>
          </a:p>
          <a:p>
            <a:pPr algn="ctr">
              <a:spcBef>
                <a:spcPts val="2000"/>
              </a:spcBef>
              <a:defRPr sz="1400">
                <a:solidFill>
                  <a:srgbClr val="5A6B82"/>
                </a:solidFill>
              </a:defRPr>
            </a:pPr>
            <a:r>
              <a:t>ሐምሌ 2017 ዓ.ም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52CC"/>
                </a:solidFill>
              </a:defRPr>
            </a:pPr>
            <a:r>
              <a:t>BACKGROUND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መግቢያና የጥናቱ መነሻ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የሰንበት ትምህርት ቤታችን ታሪካዊ ጉዞ (ከ1965 ዓ.ም ጀምሮ)፦ ከተመሠረተበት ጊዜ ጀምሮ ያሬዳዊ ዜማውን ሳይለቅ አገልግሎቱን ከትውልድ ወደ ትውልድ ሲያስተላልፍ ቆይቷል።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የጥናቱ ዋና ዓላማ፦ ወጥ የሆነ መዝሙር የማስጠናት ስልት ማስቀመጥ።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የአገልግሎት ጫና መቀነስ፦ የመዝሙር አስጠኚውን የአስተዳደርና የዲሲፕሊን ጫናዎች መቅረፍ።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ተተኪ ማፍራት፦ በዕውቀትና በመሪነት ብቁ የሆነ ተተኪ አስጠኚ ማፍራት።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ህጋዊ አሠራር፦ አገልግሎቱን ዘመኑን የዋጀ እና በወጥ መመሪያ/ደንብ የሚመራ ማድረግ።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52CC"/>
                </a:solidFill>
              </a:defRPr>
            </a:pPr>
            <a:r>
              <a:t>CHAPTER 1: LEADERSHIP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መሪነት እና የመዝሙር አስጠኚነት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የመሪነት መንፈሳዊ መሠረት (ዘፍ 1፥26)፦ መሪነት በጥንተ ተፈጥሮ ለሰው ልጅ ከተሰጡ አምላካዊ ጸጋዎች አንዱ ነው።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የመሪነት ትርጉም፦ መሪነት ማለት በሰዎች ላይ በጎ ተፅዕኖ ማሳደር እና አርኣያ መሆን ነው።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የእውነትን ቃል የሚናገር (2ኛ ጢሞ 2፥15)፦ ያሬዳዊ ዜማንና የእግዚአብሔርን ቃል በቅንነት የሚያስጠና።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የማያሳፍር፦ የራስን ስም ሳይሆን የክርስቶስን ክብር ብቻ የሚገልጥ።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ሠራተኛና የተፈተነ፦ በትሕትና የሚያገለግልና በፈተናዎች አልፎ በጽናት የተመሰከረለት አገልጋይ።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52CC"/>
                </a:solidFill>
              </a:defRPr>
            </a:pPr>
            <a:r>
              <a:t>CHAPTER 2: HISTORICAL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የነበሩ አሠራሮች፣ ጥሩና ደካማ ጎኖች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ቀደም ሲል የነበሩ ጥሩ ጎኖች፦ ለአገልግሎቱ የሚሰጥ ከፍተኛ ፍቅር፣ ሰዓት ማክበር እና በጥብቅ ፍቅር የተሞላ የወላጅና ልጅ ያህል ቅርርብ።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የታዩ ክፍተቶች፦ ወጥ የሆነ መመሪያ አለመኖርና የዲሲፕሊን/ቅጣት አሠራር በግል ውሳኔ መከናወኑ።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የአስጠኚዎች ጫና፦ አስጠኚዎች ላይ ከፍተኛ የአስተዳደር፣ የአቴንዳንስ እና የዲሲፕሊን ጫና መኖሩ።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አሰራራዊ ችግሮች፦ አስጠኚዎች ሲቀያየሩ የሚፈጠሩ ክፍተቶችና አላስፈላጊ አድሎአዊ ቅርርቦች።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52CC"/>
                </a:solidFill>
              </a:defRPr>
            </a:pPr>
            <a:r>
              <a:t>CHAPTER 3: PROPOSED MODEL RATIONALES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አዲሱ የመፍትሔ አቅጣጫ መግቢያ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የክፍል ተጠሪ (Coordinator) መታሰብ መነሻ፦ አስጠኚዎችን ከአስተዳደራዊና ከዲሲፕሊን ጫናዎች ነፃ በማድረግ፣ ለአባላቱ የተሟላ አባትነት/እናትነት የሚሰጥ አካል ለመመደብ።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የአገናኝ ንዑሳን (Dual Liaisons) መታሰብ መነሻ፦ ሰዓትና ቦታ በሚመደብበት ወቅት አድልዎ እንዳይኖርና በመዋቅሩ ውስጥ የቁጥጥርና ሚዛን (Checks and Balances) ሥርዓት እንዲሰፍን።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የመዝሙር አስጠኚው ሚና ማሻሻያ መነሻ፦ አስጠኚው ሙሉ ትኩረቱን ያሬዳዊ ዜማንና ስነ-ምግባርን በጥራት ማስተላለፍ ላይ ብቻ እንዲያደርግ።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52CC"/>
                </a:solidFill>
              </a:defRPr>
            </a:pPr>
            <a:r>
              <a:t>HIERARCHICAL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አዲሱ መዋቅራዊ አደረጃጀት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A2540"/>
                </a:solidFill>
                <a:latin typeface="Courier New"/>
              </a:defRPr>
            </a:pPr>
            <a:r>
              <a:t>=========================================================================</a:t>
            </a:r>
            <a:br/>
            <a:r>
              <a:t>                      [ አባላት ጉዳይ (Members Affairs) ]</a:t>
            </a:r>
            <a:br/>
            <a:r>
              <a:t>                   (የአምስቱም የክፍል ተጠሪዎች የበላይ መሪና ተቆጣጣሪ)</a:t>
            </a:r>
            <a:br/>
            <a:r>
              <a:t>=========================================================================</a:t>
            </a:r>
            <a:br/>
            <a:r>
              <a:t>                                     |</a:t>
            </a:r>
            <a:br/>
            <a:r>
              <a:t>       +-----------------+-----------+-----------+-----------------+</a:t>
            </a:r>
            <a:br/>
            <a:r>
              <a:t>       |                 |           |           |                 |</a:t>
            </a:r>
            <a:br/>
            <a:r>
              <a:t>       v                 v           v           v                 v</a:t>
            </a:r>
            <a:br/>
            <a:r>
              <a:t>[የጎልማሳ ተጠሪ]     [የወጣት ተጠሪ]  [የታዳጊ ተጠሪ]  [የሕፃናት ተጠሪ]   [የደቂቃን ተጠሪ]</a:t>
            </a:r>
            <a:br/>
            <a:r>
              <a:t>       |</a:t>
            </a:r>
            <a:br/>
            <a:r>
              <a:t>       +---------------------------------------------+</a:t>
            </a:r>
            <a:br/>
            <a:r>
              <a:t>       |                                             |</a:t>
            </a:r>
            <a:br/>
            <a:r>
              <a:t>[ ሀ. ማስተባበር (Coordination) ]              [ ለ. አባትነት (Leadership) ]</a:t>
            </a:r>
            <a:br/>
            <a:r>
              <a:t>(ለመዝሙር፣ ትምህርትና ኪነ-ጥበብ ክፍሎች              (የአባላትን ሁለንተናዊ ሕይወት</a:t>
            </a:r>
            <a:br/>
            <a:r>
              <a:t>ጊዜና ቦታ ማመቻቸት)                               በቅርበት መከታተልና መምራት)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52CC"/>
                </a:solidFill>
              </a:defRPr>
            </a:pPr>
            <a:r>
              <a:t>CHECKS AND BALANCES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የቁጥጥር እና ሚዛን አሠራር፦ የአገናኝ ንዑሳን ሚና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A2540"/>
                </a:solidFill>
                <a:latin typeface="Courier New"/>
              </a:defRPr>
            </a:pPr>
            <a:r>
              <a:t>=========================================================================</a:t>
            </a:r>
            <a:br/>
            <a:r>
              <a:t>                      [ አባላት ጉዳይ (Members Affairs) ]</a:t>
            </a:r>
            <a:br/>
            <a:r>
              <a:t>=========================================================================</a:t>
            </a:r>
            <a:br/>
            <a:r>
              <a:t>          |                                 |</a:t>
            </a:r>
            <a:br/>
            <a:r>
              <a:t>          v (ቀጥታ ቁጥጥርና አመራር)            v (የሥራ አፈጻጸም ሪፖርት)</a:t>
            </a:r>
            <a:br/>
            <a:r>
              <a:t>+-------------------+         +---------------------------+---------------------------+</a:t>
            </a:r>
            <a:br/>
            <a:r>
              <a:t>| የየክፍሉ ተጠሪዎች     |         | አገናኝ ንዑስ 1 (Dual Neus)  | አገናኝ ንዑስ 2 (Dual Neus)  |</a:t>
            </a:r>
            <a:br/>
            <a:r>
              <a:t>| (Coordinators)    | &lt;-----&gt; | (ለመዝሙር እና አባላት ጉዳይ) | (ለትምህርት እና አባላት ጉዳይ)|</a:t>
            </a:r>
            <a:br/>
            <a:r>
              <a:t>+-------------------+         +---------------------------+---------------------------+</a:t>
            </a:r>
            <a:br/>
            <a:r>
              <a:t>          |                                 |                           |</a:t>
            </a:r>
            <a:br/>
            <a:r>
              <a:t>          v (ጊዜና ቦታ ማመቻቸት)               v (ኦዲትና መረጃ ልውውጥ)        v (ኦዲትና መረጃ ልውውጥ)</a:t>
            </a:r>
            <a:br/>
            <a:r>
              <a:t>+-----------------------------------------------------------------------------------+</a:t>
            </a:r>
            <a:br/>
            <a:r>
              <a:t>|                   ዋና ዋና የአገልግሎት ክፍሎች (Service Departments)                      |</a:t>
            </a:r>
            <a:br/>
            <a:r>
              <a:t>|          [ መዝሙር ክፍል ]                 [ ትምህርት ክፍል ]             [ ኪነ-ጥበብ ክፍል ] |</a:t>
            </a:r>
            <a:br/>
            <a:r>
              <a:t>+-----------------------------------------------------------------------------------+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አመራረጥ፦ በትምህርት ክፍል እና በመዝሙር ክፍል በቀጥታ ይመረጣሉ።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ኃላፊነት፦ ፍትሃዊነትን መቆጣጠር፣ የሥራ አፈጻጸም ኦዲት ማድረግና የተጣራ መረጃ ማድረስ።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52CC"/>
                </a:solidFill>
              </a:defRPr>
            </a:pPr>
            <a:r>
              <a:t>ROLE PROFILE: COORDINATOR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የክፍል ተጠሪ (Coordinator) የመመረጫ መስፈርቶችና የሥራ ድርሻ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የመመረጫ መስፈርቶች፦ በሰንበት ትምህርት ቤቱ ቢያንስ ከ3 ዓመት በላይ ያገለገለ፤ መንፈሳዊ ሥነ-ምግባርና የአመራር/የተግባቦት ክህሎት ያለው።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አባትነት/እናትነትና ተገኝነት፦ አባላትን በትዕግስት የመያዝ ሥነ-ልቦናዊ ብስለትና በቂ ጊዜ ያለው (ዕድሜ፦ ታዳጊ ≥22፣ ወጣት ≥25)።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አስተዳደራዊ ድርሻ፦ የክፍሉን Master Schedule ያዘጋጃል፤ ለትምህርትና መዝሙር ሰዓትና ቦታ ያመቻቻል።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የአባላት ክትትል፦ የአባላቱን ሁለንተናዊ ሕይወት ይከታተላል፤ ከአገልግሎት የራቁትን ይፈልጋል።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የሥራ ቅንጅት፦ ከአባላት ጉዳይ፣ ከመዝሙርና ትምህርት ክፍሎች ጋር በቀጥታ ይሠራል።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52CC"/>
                </a:solidFill>
              </a:defRPr>
            </a:pPr>
            <a:r>
              <a:t>CHAPTER 4: INSTRUCTOR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የመዝሙር አስጠኚዎች መመረጫ መስፈርቶች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የአገልግሎት ልምድ፦ በተተኪ አስጠኚነት ያለፈ ወይም ያለፈች መሆን።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ተሰጥኦ እና ዕውቀት፦ የመዝሙር ተሰጥኦ (የዜማ እና የዝማሬ ጸጋ) ያለው/ያላት እና በቂ ዕውቀት ያለው/ያላት።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አቅም እና ተግባቦት፦ ለመሪነትና ለማስጠናት ብቁ የሆነ/ች፤ ከአባላት ጋር ጥሩ ተግባቦት ያለው/ያላት።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ቆይታና ተገኝነት፦ በሰንበት ትምህርት ቤቱ ከ2 ዓመት በላይ ያገለገለ/ች፤ ፈቃደኛና በቂ ጊዜ ያለው/ያላት።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ስነ-ምግባርና የክፍል አባልነት፦ በስነ-ምግባር የተመሰከረለት/ላት፤ የታዳጊ፣ የወጣት ወይም የጎልማሳ ክፍል አባል የሆነ/ች።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52CC"/>
                </a:solidFill>
              </a:defRPr>
            </a:pPr>
            <a:r>
              <a:t>INSTRUCTOR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የመዝሙር አስጠኚው የሥራ ድርሻ እና ግዴታዎች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የሥራ ድርሻ (Responsibilities)፦ መዝሙሮችን ማጻፍ፣ ዜማ ማስጠናምና ለአውደ ምሕረት ማዘጋጀት።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ተጨማሪ ጥናቶች፦ ሳምንታዊ የአስጠኚዎች ጥናት ላይ መገኘትና ማጠናት፤ ሽብሸባ፣ እንቅስቃሴ፣ ከበሮና ወረብ ማስጠና።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ግዴታዎች (Obligations)፦ መመሪያዎችን መተግበር እና በተመደበበት ክፍል ሰዓት ማክበር።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ተተኪዎችን ማብቃት፦ ተተኪ አስጠኚዎችን ማገዝ፣ ማብቃትና ልምድ እንዲቀስሙ ማድረግ።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የታዛዥነት ወሰን፦ ከመአንክ እና ከመክተ የሚሰጡ መመሪያዎችን ብቻ ተግባራዊ ማድረግ።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52CC"/>
                </a:solidFill>
              </a:defRPr>
            </a:pPr>
            <a:r>
              <a:t>DATA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የሥራ ክፍፍልና ድርብ የመረጃ አያያዝ (Dual Data Management)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የሥራ ክፍፍል (ዲሲፕሊን)፦ በጥናት ሰዓት ጸጥታ የማስከበርና ሂደቱን የመምራት (ዲሲፕሊን) ኃላፊነት የመዝሙር አስጠኚው ነው።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የአስጠኚው መረጃ አያያዝ፦ አስጠኚው በጥናት ሰዓቱ የራሱን የአገልግሎት አቴንዳንስና ኦዲት ዳታ ይይዛል።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የተጠሪው መረጃ አያያዝ፦ የክፍል ተጠሪው ከርቀት ሆኖ አጠቃላይ ገለልተኛ ዳታቤዝ ይይዛል።</a:t>
            </a:r>
          </a:p>
          <a:p>
            <a:pPr>
              <a:spcAft>
                <a:spcPts val="1000"/>
              </a:spcAft>
              <a:defRPr sz="1400">
                <a:solidFill>
                  <a:srgbClr val="1D2A3A"/>
                </a:solidFill>
              </a:defRPr>
            </a:pPr>
            <a:r>
              <a:t>• የመረጃ ማመሳከር (Data Reconciliation)፦ ሁለቱ ዳታዎች እርስ በእርስ በመነፃፀር የመረጃ ጥራት (Data Clearance) ይረጋገጣል።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BC7EA"/>
                </a:solidFill>
              </a:defRPr>
            </a:pPr>
            <a:r>
              <a:t>«ሰውነታችሁን እግዚአብሔርን ደስ የሚያሰኝና ሕያው ቅዱስም መሥዋዕት አድርጋችሁ ታቀርቡ ዘንድ በእግዚአብሔር ርኅራኄ እለምናችኋለሁ፤ እርሱም ለአእምሮ የሚመች አገልግሎታችሁ ነው» (ሮሜ 12፥1)</a:t>
            </a:r>
          </a:p>
          <a:p>
            <a:br/>
            <a:pPr>
              <a:spcBef>
                <a:spcPts val="2000"/>
              </a:spcBef>
              <a:defRPr sz="1600">
                <a:solidFill>
                  <a:srgbClr val="FFFFFF"/>
                </a:solidFill>
              </a:defRPr>
            </a:pPr>
            <a:r>
              <a:t>ይህ አዲስ መዋቅራዊ የውሳኔ ሐሳብ ከተተገበረ፦</a:t>
            </a:r>
            <a:br/>
            <a:r>
              <a:t>• የአስጠኚዎች ጫና ይቀንሳል።</a:t>
            </a:r>
            <a:br/>
            <a:r>
              <a:t>• የአባላት ክትትልና አባትነት በጥራት ይከናወናል።</a:t>
            </a:r>
            <a:br/>
            <a:r>
              <a:t>• የአገልግሎት መረጃዎች ጥራትና ፍትሃዊነት ይረጋገጣል።</a:t>
            </a:r>
          </a:p>
          <a:p>
            <a:br/>
            <a:pPr algn="ctr">
              <a:defRPr sz="2200" b="1">
                <a:solidFill>
                  <a:srgbClr val="0052CC"/>
                </a:solidFill>
              </a:defRPr>
            </a:pPr>
            <a:r>
              <a:t>ወስበሐት ለእግዚአብሔር!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