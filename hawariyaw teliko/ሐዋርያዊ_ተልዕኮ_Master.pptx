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9144000"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365760"/>
            <a:ext cx="8412480" cy="6126480"/>
          </a:xfrm>
          <a:prstGeom prst="rect">
            <a:avLst/>
          </a:prstGeom>
          <a:noFill/>
          <a:ln w="12700">
            <a:solidFill>
              <a:srgbClr val="7862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560320" y="777240"/>
            <a:ext cx="4023360" cy="502920"/>
          </a:xfrm>
          <a:prstGeom prst="roundRect">
            <a:avLst/>
          </a:prstGeom>
          <a:solidFill>
            <a:srgbClr val="063852"/>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tIns="73152"/>
          <a:lstStyle/>
          <a:p>
            <a:pPr algn="ctr"/>
            <a:r>
              <a:rPr sz="1700" b="1">
                <a:solidFill>
                  <a:srgbClr val="F0D376"/>
                </a:solidFill>
                <a:latin typeface="Segoe UI"/>
              </a:rPr>
              <a:t>❖  ሐዋርያዊ ተልዕኮ  ❖</a:t>
            </a:r>
          </a:p>
        </p:txBody>
      </p:sp>
      <p:sp>
        <p:nvSpPr>
          <p:cNvPr id="6" name="TextBox 5"/>
          <p:cNvSpPr txBox="1"/>
          <p:nvPr/>
        </p:nvSpPr>
        <p:spPr>
          <a:xfrm>
            <a:off x="548640" y="2011680"/>
            <a:ext cx="8046720" cy="1645920"/>
          </a:xfrm>
          <a:prstGeom prst="rect">
            <a:avLst/>
          </a:prstGeom>
          <a:noFill/>
        </p:spPr>
        <p:txBody>
          <a:bodyPr wrap="square">
            <a:spAutoFit/>
          </a:bodyPr>
          <a:lstStyle/>
          <a:p>
            <a:pPr algn="ctr"/>
            <a:r>
              <a:rPr b="1" sz="4600">
                <a:solidFill>
                  <a:srgbClr val="D4AF37"/>
                </a:solidFill>
                <a:latin typeface="Segoe UI"/>
              </a:rPr>
              <a:t>ሐዋርያዊ ተልዕኮ (ሐዋርያዊነት)</a:t>
            </a:r>
          </a:p>
        </p:txBody>
      </p:sp>
      <p:sp>
        <p:nvSpPr>
          <p:cNvPr id="7" name="TextBox 6"/>
          <p:cNvSpPr txBox="1"/>
          <p:nvPr/>
        </p:nvSpPr>
        <p:spPr>
          <a:xfrm>
            <a:off x="731520" y="4297680"/>
            <a:ext cx="7680960" cy="1828800"/>
          </a:xfrm>
          <a:prstGeom prst="rect">
            <a:avLst/>
          </a:prstGeom>
          <a:noFill/>
        </p:spPr>
        <p:txBody>
          <a:bodyPr wrap="square">
            <a:spAutoFit/>
          </a:bodyPr>
          <a:lstStyle/>
          <a:p>
            <a:pPr algn="ctr"/>
            <a:r>
              <a:rPr sz="2100">
                <a:solidFill>
                  <a:srgbClr val="FFFFFF"/>
                </a:solidFill>
                <a:latin typeface="Segoe UI"/>
              </a:rPr>
              <a:t>የጅማ ደብረ ኤፍራታ ቅድስት ድንግል ማርያም ካቴድራል ዓምደ ሃይማኖት ሰንበት ትምህርት ቤት የትምህርት ክፍል የ2018 ዓ.ም የተተኪ መምህራን ስልጠና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800">
                <a:solidFill>
                  <a:srgbClr val="D4AF37"/>
                </a:solidFill>
                <a:latin typeface="Segoe UI"/>
              </a:rPr>
              <a:t>ማውጫ / ይዘት</a:t>
            </a:r>
          </a:p>
        </p:txBody>
      </p:sp>
      <p:sp>
        <p:nvSpPr>
          <p:cNvPr id="6" name="Rounded Rectangle 5"/>
          <p:cNvSpPr/>
          <p:nvPr/>
        </p:nvSpPr>
        <p:spPr>
          <a:xfrm>
            <a:off x="502920" y="132588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39903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፩</a:t>
            </a:r>
          </a:p>
        </p:txBody>
      </p:sp>
      <p:sp>
        <p:nvSpPr>
          <p:cNvPr id="8" name="TextBox 7"/>
          <p:cNvSpPr txBox="1"/>
          <p:nvPr/>
        </p:nvSpPr>
        <p:spPr>
          <a:xfrm>
            <a:off x="1261872" y="1362456"/>
            <a:ext cx="7223760" cy="548640"/>
          </a:xfrm>
          <a:prstGeom prst="rect">
            <a:avLst/>
          </a:prstGeom>
          <a:noFill/>
        </p:spPr>
        <p:txBody>
          <a:bodyPr wrap="square" lIns="45720" tIns="54864" bIns="0">
            <a:spAutoFit/>
          </a:bodyPr>
          <a:lstStyle/>
          <a:p>
            <a:pPr algn="l"/>
            <a:r>
              <a:rPr sz="1850" b="1">
                <a:solidFill>
                  <a:srgbClr val="00334D"/>
                </a:solidFill>
                <a:latin typeface="Segoe UI"/>
              </a:rPr>
              <a:t>የሐዋርያ እና የሐዋርያዊነት ምንነት</a:t>
            </a:r>
          </a:p>
        </p:txBody>
      </p:sp>
      <p:sp>
        <p:nvSpPr>
          <p:cNvPr id="9" name="Rounded Rectangle 8"/>
          <p:cNvSpPr/>
          <p:nvPr/>
        </p:nvSpPr>
        <p:spPr>
          <a:xfrm>
            <a:off x="502920" y="205740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13055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፪</a:t>
            </a:r>
          </a:p>
        </p:txBody>
      </p:sp>
      <p:sp>
        <p:nvSpPr>
          <p:cNvPr id="11" name="TextBox 10"/>
          <p:cNvSpPr txBox="1"/>
          <p:nvPr/>
        </p:nvSpPr>
        <p:spPr>
          <a:xfrm>
            <a:off x="1261872" y="2093976"/>
            <a:ext cx="7223760" cy="548640"/>
          </a:xfrm>
          <a:prstGeom prst="rect">
            <a:avLst/>
          </a:prstGeom>
          <a:noFill/>
        </p:spPr>
        <p:txBody>
          <a:bodyPr wrap="square" lIns="45720" tIns="54864" bIns="0">
            <a:spAutoFit/>
          </a:bodyPr>
          <a:lstStyle/>
          <a:p>
            <a:pPr algn="l"/>
            <a:r>
              <a:rPr sz="1850" b="1">
                <a:solidFill>
                  <a:srgbClr val="00334D"/>
                </a:solidFill>
                <a:latin typeface="Segoe UI"/>
              </a:rPr>
              <a:t>የሐዋርያዊ ተልዕኮ ታሪክ</a:t>
            </a:r>
          </a:p>
        </p:txBody>
      </p:sp>
      <p:sp>
        <p:nvSpPr>
          <p:cNvPr id="12" name="Rounded Rectangle 11"/>
          <p:cNvSpPr/>
          <p:nvPr/>
        </p:nvSpPr>
        <p:spPr>
          <a:xfrm>
            <a:off x="502920" y="278892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86207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፫</a:t>
            </a:r>
          </a:p>
        </p:txBody>
      </p:sp>
      <p:sp>
        <p:nvSpPr>
          <p:cNvPr id="14" name="TextBox 13"/>
          <p:cNvSpPr txBox="1"/>
          <p:nvPr/>
        </p:nvSpPr>
        <p:spPr>
          <a:xfrm>
            <a:off x="1261872" y="2825496"/>
            <a:ext cx="7223760" cy="548640"/>
          </a:xfrm>
          <a:prstGeom prst="rect">
            <a:avLst/>
          </a:prstGeom>
          <a:noFill/>
        </p:spPr>
        <p:txBody>
          <a:bodyPr wrap="square" lIns="45720" tIns="54864" bIns="0">
            <a:spAutoFit/>
          </a:bodyPr>
          <a:lstStyle/>
          <a:p>
            <a:pPr algn="l"/>
            <a:r>
              <a:rPr sz="1850" b="1">
                <a:solidFill>
                  <a:srgbClr val="00334D"/>
                </a:solidFill>
                <a:latin typeface="Segoe UI"/>
              </a:rPr>
              <a:t>የሐዋርያዊነት መሠረቶች</a:t>
            </a:r>
          </a:p>
        </p:txBody>
      </p:sp>
      <p:sp>
        <p:nvSpPr>
          <p:cNvPr id="15" name="Rounded Rectangle 14"/>
          <p:cNvSpPr/>
          <p:nvPr/>
        </p:nvSpPr>
        <p:spPr>
          <a:xfrm>
            <a:off x="502920" y="352044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59359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፬</a:t>
            </a:r>
          </a:p>
        </p:txBody>
      </p:sp>
      <p:sp>
        <p:nvSpPr>
          <p:cNvPr id="17" name="TextBox 16"/>
          <p:cNvSpPr txBox="1"/>
          <p:nvPr/>
        </p:nvSpPr>
        <p:spPr>
          <a:xfrm>
            <a:off x="1261872" y="3557016"/>
            <a:ext cx="7223760" cy="548640"/>
          </a:xfrm>
          <a:prstGeom prst="rect">
            <a:avLst/>
          </a:prstGeom>
          <a:noFill/>
        </p:spPr>
        <p:txBody>
          <a:bodyPr wrap="square" lIns="45720" tIns="54864" bIns="0">
            <a:spAutoFit/>
          </a:bodyPr>
          <a:lstStyle/>
          <a:p>
            <a:pPr algn="l"/>
            <a:r>
              <a:rPr sz="1850" b="1">
                <a:solidFill>
                  <a:srgbClr val="00334D"/>
                </a:solidFill>
                <a:latin typeface="Segoe UI"/>
              </a:rPr>
              <a:t>የወንጌል ማዳረስ 3ቱ መንገዶች</a:t>
            </a:r>
          </a:p>
        </p:txBody>
      </p:sp>
      <p:sp>
        <p:nvSpPr>
          <p:cNvPr id="18" name="Rounded Rectangle 17"/>
          <p:cNvSpPr/>
          <p:nvPr/>
        </p:nvSpPr>
        <p:spPr>
          <a:xfrm>
            <a:off x="502920" y="425196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432511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፭</a:t>
            </a:r>
          </a:p>
        </p:txBody>
      </p:sp>
      <p:sp>
        <p:nvSpPr>
          <p:cNvPr id="20" name="TextBox 19"/>
          <p:cNvSpPr txBox="1"/>
          <p:nvPr/>
        </p:nvSpPr>
        <p:spPr>
          <a:xfrm>
            <a:off x="1261872" y="4288536"/>
            <a:ext cx="7223760" cy="548640"/>
          </a:xfrm>
          <a:prstGeom prst="rect">
            <a:avLst/>
          </a:prstGeom>
          <a:noFill/>
        </p:spPr>
        <p:txBody>
          <a:bodyPr wrap="square" lIns="45720" tIns="54864" bIns="0">
            <a:spAutoFit/>
          </a:bodyPr>
          <a:lstStyle/>
          <a:p>
            <a:pPr algn="l"/>
            <a:r>
              <a:rPr sz="1850" b="1">
                <a:solidFill>
                  <a:srgbClr val="00334D"/>
                </a:solidFill>
                <a:latin typeface="Segoe UI"/>
              </a:rPr>
              <a:t>10ሩ መሠረታዊ የሐዋርያዊ ተልእኮ መርሆዎች</a:t>
            </a:r>
          </a:p>
        </p:txBody>
      </p:sp>
      <p:sp>
        <p:nvSpPr>
          <p:cNvPr id="21" name="Rounded Rectangle 20"/>
          <p:cNvSpPr/>
          <p:nvPr/>
        </p:nvSpPr>
        <p:spPr>
          <a:xfrm>
            <a:off x="502920" y="498348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505663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፮</a:t>
            </a:r>
          </a:p>
        </p:txBody>
      </p:sp>
      <p:sp>
        <p:nvSpPr>
          <p:cNvPr id="23" name="TextBox 22"/>
          <p:cNvSpPr txBox="1"/>
          <p:nvPr/>
        </p:nvSpPr>
        <p:spPr>
          <a:xfrm>
            <a:off x="1261872" y="5020056"/>
            <a:ext cx="7223760" cy="548640"/>
          </a:xfrm>
          <a:prstGeom prst="rect">
            <a:avLst/>
          </a:prstGeom>
          <a:noFill/>
        </p:spPr>
        <p:txBody>
          <a:bodyPr wrap="square" lIns="45720" tIns="54864" bIns="0">
            <a:spAutoFit/>
          </a:bodyPr>
          <a:lstStyle/>
          <a:p>
            <a:pPr algn="l"/>
            <a:r>
              <a:rPr sz="1850" b="1">
                <a:solidFill>
                  <a:srgbClr val="00334D"/>
                </a:solidFill>
                <a:latin typeface="Segoe UI"/>
              </a:rPr>
              <a:t>የሐዋርያ ጥሪ፣ 4ቱ ዋና ፈተናዎችና ማጠቃለያ</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መግቢያ እና የትምህርቱ ዓላማ</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መግቢያ፦</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ሐዋርያዊ ተልዕኮ (ሐዋርያዊነት) የቅድስት ኦርቶዶክሳዊት ተዋሕዶ ቤተክርስቲያን መሠረታዊና ዘላለማዊ ማንነት ነው።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ጌታችን መድኃኒታችን ኢየሱስ ክርስቶስ «ወደ ዓለም ሁሉ ሂዱ ወንጌልንም ለፍጥረት ሁሉ ስበኩ» (ማር. 16፥15) ብሎ ባዘዘው መሠረት፣ ቤተክርስቲያን የክርስቶስን የማዳን ሥራ ለዓለም የምታደርስበት፣ ነፍሳትን ወደ እግዚአብሔር መንግሥት የምትጠራበት ሕያው ተልዕኮ ነው፡፡</a:t>
            </a:r>
          </a:p>
          <a:p>
            <a:pPr algn="l">
              <a:spcBef>
                <a:spcPts val="1300"/>
              </a:spcBef>
              <a:spcAft>
                <a:spcPts val="300"/>
              </a:spcAft>
            </a:pPr>
            <a:r>
              <a:rPr b="1" sz="2200">
                <a:solidFill>
                  <a:srgbClr val="00334D"/>
                </a:solidFill>
                <a:latin typeface="Segoe UI"/>
              </a:rPr>
              <a:t>የትምህርቱ ዓላማ፦</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የተተኪ መምህራንና አገልጋዮች የሐዋርያዊ አገልግሎትን መጽሐፍ ቅዱሳዊ መሠረት፣ ሥነ-መለኮታዊ ጥልቀትና ታሪካዊ ፈለግ ጠንቅቀው እንዲረዱ ማድረግ፡፡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የወንጌል ማዳረስ ስልቶችንና 10ሩን መሠረታዊ የሐዋርያዊ ተልእኮ መርሆዎች በሕይወትና በአገልግሎት በተግባር መተርጎም እንዲችሉ ማብቃት፡፡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ሐዋርያዊ ተልዕኮ  ❖</a:t>
            </a:r>
          </a:p>
          <a:p>
            <a:pPr algn="ctr">
              <a:spcBef>
                <a:spcPts val="2400"/>
              </a:spcBef>
            </a:pPr>
            <a:r>
              <a:rPr b="1" sz="3800">
                <a:solidFill>
                  <a:srgbClr val="D4AF37"/>
                </a:solidFill>
                <a:latin typeface="Segoe UI"/>
              </a:rPr>
              <a:t>ክፍል ፩፦ የሐዋርያ እና የሐዋርያዊነት ምንነት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የሐዋርያ እና የሐዋርያዊነት ትርጉም</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የቃሉ ሥርወ-መሠረት፦</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«ሖረ» (ሄደ) ከሚለው የግዕዝ ግስ የተገኘ ሲሆን ሐዋርያ ማለት የተላከ፣ የተመረጠ፣ በእግዚአብሔር የተጠራ፣ ለአገልግሎት የሚፋጠን የቅዱሳንን አሠረ ፍኖት የተከተለ ማለት ነው፡፡</a:t>
            </a:r>
          </a:p>
          <a:p>
            <a:pPr algn="l">
              <a:spcBef>
                <a:spcPts val="1300"/>
              </a:spcBef>
              <a:spcAft>
                <a:spcPts val="300"/>
              </a:spcAft>
            </a:pPr>
            <a:r>
              <a:rPr b="1" sz="2200">
                <a:solidFill>
                  <a:srgbClr val="00334D"/>
                </a:solidFill>
                <a:latin typeface="Segoe UI"/>
              </a:rPr>
              <a:t>ሐዋርያዊነት ምንድን ነው?፦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ጌታችን «በኢየሩሳሌም በይሁዳም በሰማርያም ሁሉ እስከ ምድር ዳርቻ ድረስ ምስክሮች ትሆናላችሁ» (ሐዋ. 1፥8) ባለው መሠረት ሐሩ ወመሐሩ ያለውን በተግባር መፈጸም ነው፡፡</a:t>
            </a:r>
          </a:p>
          <a:p>
            <a:pPr algn="l">
              <a:spcBef>
                <a:spcPts val="1300"/>
              </a:spcBef>
              <a:spcAft>
                <a:spcPts val="300"/>
              </a:spcAft>
            </a:pPr>
            <a:r>
              <a:rPr b="1" sz="2200">
                <a:solidFill>
                  <a:srgbClr val="00334D"/>
                </a:solidFill>
                <a:latin typeface="Segoe UI"/>
              </a:rPr>
              <a:t>የቤተክርስቲያን ዋና ተልዕኮ፦</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ሐዋርያዊ ተልዕኮ የቤተክርስቲያን ዋነኛ፣ ተቀዳሚና የማይለወጥ ዘላለማዊ ተልዕኮ ነው፡፡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ሐዋርያዊ ተልዕኮ  ❖</a:t>
            </a:r>
          </a:p>
          <a:p>
            <a:pPr algn="ctr">
              <a:spcBef>
                <a:spcPts val="2400"/>
              </a:spcBef>
            </a:pPr>
            <a:r>
              <a:rPr b="1" sz="3800">
                <a:solidFill>
                  <a:srgbClr val="D4AF37"/>
                </a:solidFill>
                <a:latin typeface="Segoe UI"/>
              </a:rPr>
              <a:t>ክፍል ፪፦ የሐዋርያዊ ተልዕኮ ታሪክ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የሐዋርያዊ ተልዕኮ ታሪክ — ሀ. ቅድመ ክርስትና</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በብሉይ ኪዳን የነበረው ተልዕኮ፦</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በዘመነ አበውና በዘመነ ነቢያት እግዚአብሔር የሰውን ልጅ ከኃጢአት ለመመለስ አባቶችንና ነቢያትን ልኳል፡፡</a:t>
            </a:r>
          </a:p>
          <a:p>
            <a:pPr algn="l">
              <a:spcBef>
                <a:spcPts val="200"/>
              </a:spcBef>
              <a:spcAft>
                <a:spcPts val="700"/>
              </a:spcAft>
            </a:pPr>
            <a:r>
              <a:rPr b="1" sz="2000">
                <a:solidFill>
                  <a:srgbClr val="D4AF37"/>
                </a:solidFill>
                <a:latin typeface="Segoe UI"/>
              </a:rPr>
              <a:t>   •  </a:t>
            </a:r>
            <a:r>
              <a:rPr b="1" sz="2000">
                <a:solidFill>
                  <a:srgbClr val="1A202C"/>
                </a:solidFill>
                <a:latin typeface="Segoe UI"/>
              </a:rPr>
              <a:t>ኖኅ፦</a:t>
            </a:r>
            <a:r>
              <a:rPr b="0" sz="2000">
                <a:solidFill>
                  <a:srgbClr val="2D3748"/>
                </a:solidFill>
                <a:latin typeface="Segoe UI"/>
              </a:rPr>
              <a:t> የጽድቅ ሰባኪ ሆኖ መጪውን የጥፋት ውኃ ለ120 ዓመታት ሰብኳል (2ኛ ጴጥ. 2፥5)፡፡</a:t>
            </a:r>
          </a:p>
          <a:p>
            <a:pPr algn="l">
              <a:spcBef>
                <a:spcPts val="200"/>
              </a:spcBef>
              <a:spcAft>
                <a:spcPts val="700"/>
              </a:spcAft>
            </a:pPr>
            <a:r>
              <a:rPr b="1" sz="2000">
                <a:solidFill>
                  <a:srgbClr val="D4AF37"/>
                </a:solidFill>
                <a:latin typeface="Segoe UI"/>
              </a:rPr>
              <a:t>   •  </a:t>
            </a:r>
            <a:r>
              <a:rPr b="1" sz="2000">
                <a:solidFill>
                  <a:srgbClr val="1A202C"/>
                </a:solidFill>
                <a:latin typeface="Segoe UI"/>
              </a:rPr>
              <a:t>አብርሃም፦</a:t>
            </a:r>
            <a:r>
              <a:rPr b="0" sz="2000">
                <a:solidFill>
                  <a:srgbClr val="2D3748"/>
                </a:solidFill>
                <a:latin typeface="Segoe UI"/>
              </a:rPr>
              <a:t> የጣዖትን አምልኮ በመተው የሕያው እግዚአብሔርን ስም በከነዓን ምድር ጠርቷል፡፡</a:t>
            </a:r>
          </a:p>
          <a:p>
            <a:pPr algn="l">
              <a:spcBef>
                <a:spcPts val="1300"/>
              </a:spcBef>
              <a:spcAft>
                <a:spcPts val="300"/>
              </a:spcAft>
            </a:pPr>
            <a:r>
              <a:rPr b="1" sz="2200">
                <a:solidFill>
                  <a:srgbClr val="00334D"/>
                </a:solidFill>
                <a:latin typeface="Segoe UI"/>
              </a:rPr>
              <a:t>የነቢያት ተልዕኮ፦</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እንደ ኤርምያስ፣ ኢሳይያስና ሕዝቅኤል ያሉት ነቢያት ሕዝቡን ወደ ንስሐ ለመጥራትና ስለሚመጣው መሲሕ ለመመስከር በእግዚአብሔር የተላኩ (ሐዋርያት) ነበሩ፡፡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የሐዋርያዊ ተልዕኮ ታሪክ — ለ. በዘመነ ክርስትና</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የሐዲስ ኪዳን መባቻ (ዮሐንስ መጥምቅ)፦</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«መንግሥተ ሰማያት ቀርባለችና ንስሐ ግቡ» እያለ የጌታን መንገድ የጠረገው የመጨረሻው ነቢይና የመጀመሪያው የሐዲስ ኪዳን ሐዋርያ ነው (ማቴ. 3፥2)፡፡</a:t>
            </a:r>
          </a:p>
          <a:p>
            <a:pPr algn="l">
              <a:spcBef>
                <a:spcPts val="1300"/>
              </a:spcBef>
              <a:spcAft>
                <a:spcPts val="300"/>
              </a:spcAft>
            </a:pPr>
            <a:r>
              <a:rPr b="1" sz="2200">
                <a:solidFill>
                  <a:srgbClr val="00334D"/>
                </a:solidFill>
                <a:latin typeface="Segoe UI"/>
              </a:rPr>
              <a:t>የጌታችን ኢየሱስ ክርስቶስ ፍጹም አብነት፦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ሐዋርያዊ ተልዕኮ በጌታችን ፍጹም ሆኖ ተገለጠ፤ 12ቱን ሐዋርያትና 72ቱን አርድእት መርጦ ለወንጌል ስብከት ላካቸው፡፡</a:t>
            </a:r>
          </a:p>
          <a:p>
            <a:pPr algn="l">
              <a:spcBef>
                <a:spcPts val="1300"/>
              </a:spcBef>
              <a:spcAft>
                <a:spcPts val="300"/>
              </a:spcAft>
            </a:pPr>
            <a:r>
              <a:rPr b="1" sz="2200">
                <a:solidFill>
                  <a:srgbClr val="00334D"/>
                </a:solidFill>
                <a:latin typeface="Segoe UI"/>
              </a:rPr>
              <a:t>የሐዋርያትና የቤተክርስቲያን ተልዕኮ፦</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በመንፈስ ቅዱስ ኃይል ከኢየሩሳሌም እስከ ምድር ዳርቻ ወንጌልን ሰበኩ፤ ዛሬም ቤተክርስቲያን ይህንን ሐዋርያዊ ቅብብሎሽ (Apostolic Succession) ጠብቃ ተልዕኮዋን ትፈጽማለች፡፡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ሐዋርያዊ ተልዕኮ  ❖</a:t>
            </a:r>
          </a:p>
          <a:p>
            <a:pPr algn="ctr">
              <a:spcBef>
                <a:spcPts val="2400"/>
              </a:spcBef>
            </a:pPr>
            <a:r>
              <a:rPr b="1" sz="3800">
                <a:solidFill>
                  <a:srgbClr val="D4AF37"/>
                </a:solidFill>
                <a:latin typeface="Segoe UI"/>
              </a:rPr>
              <a:t>ክፍል ፫፦ የሐዋርያዊነት መሠረቶች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የሐዋርያዊነት 4ቱ መሠረቶች</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፩. ጽኑ እምነት፦</a:t>
            </a:r>
            <a:r>
              <a:rPr b="0" sz="2400">
                <a:solidFill>
                  <a:srgbClr val="1A202C"/>
                </a:solidFill>
                <a:latin typeface="Segoe UI"/>
              </a:rPr>
              <a:t> ባልተናወጠ ቀና ሃይማኖት ላይ መቆምና እምነትን በሕይወት መመስከር፡፡</a:t>
            </a:r>
          </a:p>
          <a:p>
            <a:pPr algn="l">
              <a:spcBef>
                <a:spcPts val="1800"/>
              </a:spcBef>
              <a:spcAft>
                <a:spcPts val="300"/>
              </a:spcAft>
            </a:pPr>
            <a:r>
              <a:rPr b="1" sz="2400">
                <a:solidFill>
                  <a:srgbClr val="00334D"/>
                </a:solidFill>
                <a:latin typeface="Segoe UI"/>
              </a:rPr>
              <a:t>፪. በመንፈስ ቅዱስ መሥራት፦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የሐዋርያነት ሥራ የመንፈስ ቅዱስ እንጂ የሰው አለመሆኑን ማመን (ሐዋ. 2፥15፤ 13፥2-3)፤ ሊከበርና ሊመሰገን የሚገባው እግዚአብሔር መንፈስ ቅዱስ ብቻ መሆኑን ማወቅ፡፡</a:t>
            </a:r>
          </a:p>
          <a:p>
            <a:pPr algn="l">
              <a:spcBef>
                <a:spcPts val="1800"/>
              </a:spcBef>
              <a:spcAft>
                <a:spcPts val="300"/>
              </a:spcAft>
            </a:pPr>
            <a:r>
              <a:rPr b="1" sz="2400">
                <a:solidFill>
                  <a:srgbClr val="00334D"/>
                </a:solidFill>
                <a:latin typeface="Segoe UI"/>
              </a:rPr>
              <a:t>፫. መንፈሳዊነት፦</a:t>
            </a:r>
            <a:r>
              <a:rPr b="0" sz="2400">
                <a:solidFill>
                  <a:srgbClr val="1A202C"/>
                </a:solidFill>
                <a:latin typeface="Segoe UI"/>
              </a:rPr>
              <a:t> ከአለማዊና ሥጋዊ አሠራር ርቆ በቅድስናና በእግዚአብሔር ፈቃድ መመላለስ፡፡</a:t>
            </a:r>
          </a:p>
          <a:p>
            <a:pPr algn="l">
              <a:spcBef>
                <a:spcPts val="1800"/>
              </a:spcBef>
              <a:spcAft>
                <a:spcPts val="300"/>
              </a:spcAft>
            </a:pPr>
            <a:r>
              <a:rPr b="1" sz="2400">
                <a:solidFill>
                  <a:srgbClr val="00334D"/>
                </a:solidFill>
                <a:latin typeface="Segoe UI"/>
              </a:rPr>
              <a:t>፬. ትሕትና እና የኃላፊነት ስሜት፦</a:t>
            </a:r>
            <a:r>
              <a:rPr b="0" sz="2400">
                <a:solidFill>
                  <a:srgbClr val="1A202C"/>
                </a:solidFill>
                <a:latin typeface="Segoe UI"/>
              </a:rPr>
              <a:t> በራስ አለመመካት፣ ራስን ዝቅ አድርጎ ለነፍሳት መዳን በሙሉ ኃላፊነት መትጋት፡፡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የጌታችን ተልዕኮ 2ቱ መሠረታዊ ዓላማዎች</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፩. የጠፋውን የሰውን ልጅ ፈልጎ ማዳን፦</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«የሰው ልጅ የጠፋውን ሊፈልግና ሊያድን መጥቷልና» (ሉቃ. 19፥10)፡፡</a:t>
            </a:r>
          </a:p>
          <a:p>
            <a:pPr algn="l">
              <a:spcBef>
                <a:spcPts val="200"/>
              </a:spcBef>
              <a:spcAft>
                <a:spcPts val="700"/>
              </a:spcAft>
            </a:pPr>
            <a:r>
              <a:rPr b="1" sz="2000">
                <a:solidFill>
                  <a:srgbClr val="D4AF37"/>
                </a:solidFill>
                <a:latin typeface="Segoe UI"/>
              </a:rPr>
              <a:t>   •  </a:t>
            </a:r>
            <a:r>
              <a:rPr b="0" sz="2000">
                <a:solidFill>
                  <a:srgbClr val="2D3748"/>
                </a:solidFill>
                <a:latin typeface="Segoe UI"/>
              </a:rPr>
              <a:t>ጌታችን ወደዚህ ዓለም የመጣው ኃጢአተኞችን ወደ ንስሐና ወደ ዘላለም ሕይወት ለመጥራት ነው፡፡</a:t>
            </a:r>
          </a:p>
          <a:p>
            <a:pPr algn="l">
              <a:spcBef>
                <a:spcPts val="1300"/>
              </a:spcBef>
              <a:spcAft>
                <a:spcPts val="300"/>
              </a:spcAft>
            </a:pPr>
            <a:r>
              <a:rPr b="1" sz="2200">
                <a:solidFill>
                  <a:srgbClr val="00334D"/>
                </a:solidFill>
                <a:latin typeface="Segoe UI"/>
              </a:rPr>
              <a:t>፪. ለሚያምኑት ሁሉ አርዓያና ምሳሌ ለመሆን፦</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«የተጠራችሁለት ለዚህ ነውና፤ ክርስቶስ ደግሞ ፍለጋውን እንድትከተሉ አርዓያ ትቶላችሁ ስለ እናንተ መከራን ተቀብሏልና» (1ኛ ጴጥ. 2፥21)፡፡</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«እኔ ለእናንተ እንዳደረግሁ እናንተ ደግሞ ታደርጉ ዘንድ ምሳሌ ሰጥቻችኋለሁና» (ዮሐ. 13፥15)፡፡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መጽሐፍ ቅዱሳዊ መሠረቶች — ፩. ታላቁ አምላካዊ ተልዕኮ</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የማርቆስ 16፥15-16 ምስክርነት፦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«ከዚህም በኋላ ኢየሱስ ራሱ ለዘላለም ድኅነት የሆነውን የማይለወጠውን ቅዱስ ወንጌል ከፀሐይ መውጫ እስከ መጥለቂያው ድረስ በእጃቸው ላከው፤ ወደ ዓለም ሁሉ ሂዱ ወንጌልንም ለፍጥረት ሁሉ ስበኩ፤ ያመነ የተጠመቀም ይድናል፥ ያላመነ ግን ይፈረድበታል፡፡»</a:t>
            </a:r>
          </a:p>
          <a:p>
            <a:pPr algn="l">
              <a:spcBef>
                <a:spcPts val="1800"/>
              </a:spcBef>
              <a:spcAft>
                <a:spcPts val="300"/>
              </a:spcAft>
            </a:pPr>
            <a:r>
              <a:rPr b="1" sz="2400">
                <a:solidFill>
                  <a:srgbClr val="00334D"/>
                </a:solidFill>
                <a:latin typeface="Segoe UI"/>
              </a:rPr>
              <a:t>የሮሜ 10፥14-15 ጥሪ፦</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«እንግዲህ ያላመኑበትን እንዴት አድርገው ይጠሩታል? ባልሰሙትስ እንዴት ያምናሉ? ያለ ሰባኪስ እንዴት ይሰማሉ? ካልተላኩስ እንዴት ይሰብካሉ?»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መጽሐፍ ቅዱሳዊ መሠረቶች — ፪. የወንጌል ግዴታና ክብር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የቅዱስ ጳውሎስ ምስክርነት (1ኛ ቆሮ. 9፥16፤ 9፥23)፦</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«ወንጌልን ብሰብክ እንኳ የምመካበት የለኝም፤ ግድ ደርሶብኝ ነውና፤ ወንጌልንም ባልሰብክ ወዮልኝ!»</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«በወንጌልም ማኅበረተኛ እሆን ዘንድ ስለ ወንጌል ሁሉን አደርጋለሁ።»</a:t>
            </a:r>
          </a:p>
          <a:p>
            <a:pPr algn="l">
              <a:spcBef>
                <a:spcPts val="1800"/>
              </a:spcBef>
              <a:spcAft>
                <a:spcPts val="300"/>
              </a:spcAft>
            </a:pPr>
            <a:r>
              <a:rPr b="1" sz="2400">
                <a:solidFill>
                  <a:srgbClr val="00334D"/>
                </a:solidFill>
                <a:latin typeface="Segoe UI"/>
              </a:rPr>
              <a:t>የ1ኛ ቆሮንቶስ 15፥1 አደራ፦</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«ወንድሞች ሆይ፥ የሰበክሁላችሁን ደግሞም የተቀበላችሁትን በእርሱም ደግሞ የቆማችሁበትን በእርሱም ደግሞ የምትድኑበትን ወንጌል አሳስባችኋለሁ፡፡»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መጽሐፍ ቅዱሳዊ መሠረቶች — ፫. የወንጌል አገልጋዮች በረከት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የትንቢተ ዳንኤል 12፥3 ተስፋ፦</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«ጥበበኞቹም እንደ ሰማይ ፀዳል፥ ብዙ ሰዎችንም ወደ ጽድቅ የሚመልሱ እንደ ከዋክብት ለዘላለም ይደምቃሉ።»</a:t>
            </a:r>
          </a:p>
          <a:p>
            <a:pPr algn="l">
              <a:spcBef>
                <a:spcPts val="1800"/>
              </a:spcBef>
              <a:spcAft>
                <a:spcPts val="300"/>
              </a:spcAft>
            </a:pPr>
            <a:r>
              <a:rPr b="1" sz="2400">
                <a:solidFill>
                  <a:srgbClr val="00334D"/>
                </a:solidFill>
                <a:latin typeface="Segoe UI"/>
              </a:rPr>
              <a:t>የያዕቆብ 5፥19-20 ማሳሰቢያ፦</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«ወንድሞቼ ሆይ፥ ከእናንተ ማንም ከእውነት ቢስት አንዱም ቢመልሰው፥ ኃጢአተኛን ከተሳሳተበት መንገድ የሚመልሰው ነፍሱን ከሞት እንዲያድን፥ የኃጢአትንም ብዛት እንዲሸፍን ይወቅ።»</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መጽሐፍ ቅዱሳዊ መሠረቶች — ፬. አገልግሎትን መፈጸም</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የይሁዳ 22-23 እና 2ኛ ጢሞቴዎስ 4፥5፦</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«አንዳንዶች ተከራካሪዎችንም ውቀሱ፥ አንዳንዶችንም ከእሳት ነጥቃችሁ አድኑ።»</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«የወንጌል ሰባኪነትን ሥራ አድርግ፥ አገልግሎትህን ፈጽም።»</a:t>
            </a:r>
          </a:p>
          <a:p>
            <a:pPr algn="l">
              <a:spcBef>
                <a:spcPts val="1300"/>
              </a:spcBef>
              <a:spcAft>
                <a:spcPts val="300"/>
              </a:spcAft>
            </a:pPr>
            <a:r>
              <a:rPr b="1" sz="2200">
                <a:solidFill>
                  <a:srgbClr val="00334D"/>
                </a:solidFill>
                <a:latin typeface="Segoe UI"/>
              </a:rPr>
              <a:t>የኤርምያስ 15፥19 ቃል፦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«የከበረውንም ከተዋረደው ብትለይ እንደ አፌ ትሆናለህ።»</a:t>
            </a:r>
          </a:p>
          <a:p>
            <a:pPr algn="l">
              <a:spcBef>
                <a:spcPts val="1300"/>
              </a:spcBef>
              <a:spcAft>
                <a:spcPts val="300"/>
              </a:spcAft>
            </a:pPr>
            <a:r>
              <a:rPr b="1" sz="2200">
                <a:solidFill>
                  <a:srgbClr val="00334D"/>
                </a:solidFill>
                <a:latin typeface="Segoe UI"/>
              </a:rPr>
              <a:t>የ1ኛ ጢሞቴዎስ 5፥17 ክብር፦</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«በመስበክና በማስተማር የሚደክሙት እጥፍ ክብር ይገባቸዋል።»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የመክሊት ምሳሌ — አደራን የመፈጸም ኃላፊነት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የማቴዎስ 25፥24-28 ትምህርት፦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አንድ መክሊት የተቀበለው ባሪያ መክሊቱን በመሬት ቀብሮ በስንፍና እንዳጠፋውና እንደተፈረደበት ሁሉ፣ እኛም የተሰጠንን የወንጌል ጸጋና መክሊት ሳንደብቅ ልናተርፍበት ይገባል፡፡</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«አንተ ክፉና ሃኬተኛ ባሪያ... ስለዚህ መክሊቱን ውሰዱበት አሥር መክሊትም ላለው ስጡት።»</a:t>
            </a:r>
          </a:p>
          <a:p>
            <a:pPr algn="l">
              <a:spcBef>
                <a:spcPts val="1800"/>
              </a:spcBef>
              <a:spcAft>
                <a:spcPts val="300"/>
              </a:spcAft>
            </a:pPr>
            <a:r>
              <a:rPr b="1" sz="2400">
                <a:solidFill>
                  <a:srgbClr val="00334D"/>
                </a:solidFill>
                <a:latin typeface="Segoe UI"/>
              </a:rPr>
              <a:t>መንፈሳዊ ትርጉሙ፦</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እግዚአብሔር ለሁላችንም እንደ አቅማችን የሰጠንን የወንጌል ኃላፊነት በሥራ መተርጎም አለብን፡፡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የወንጌል መስፋፋት በሁለት ምሳሌዎች</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የሰናፍጭ ቅንጣት (ውጫዊ ዕድገት — ማቴ. 13፥31-32)፦</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«መንግሥተ ሰማያት ሰው ወስዶ በእርሻው የዘራትን የሰናፍጭ ቅንጣት ትመስላለች፤ እርስዋም ከዘር ሁሉ ታንሳለች፥ በአደገች ጊዜ ግን ከአታክልቶች ትበልጣለች... ዛፍ ትሆናለች።» (የቤተክርስቲያን በቁጥርና በዓለም ሁሉ መስፋፋት)</a:t>
            </a:r>
          </a:p>
          <a:p>
            <a:pPr algn="l">
              <a:spcBef>
                <a:spcPts val="1800"/>
              </a:spcBef>
              <a:spcAft>
                <a:spcPts val="300"/>
              </a:spcAft>
            </a:pPr>
            <a:r>
              <a:rPr b="1" sz="2400">
                <a:solidFill>
                  <a:srgbClr val="00334D"/>
                </a:solidFill>
                <a:latin typeface="Segoe UI"/>
              </a:rPr>
              <a:t>እርሾ (ውስጣዊ ለውጥ — ማቴ. 13፥33)፦</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«መንግሥተ ሰማያት ሁሉ እስኪቦካ ድረስ ሴት ወስዳ በሦስት መስፈሪያ ዱቄት የሸሸገችውን እርሾ ትመስላለች።» (በሰው ልብ ውስጥ የሚሠራ መንፈሳዊ ጥልቅ ለውጥ)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ሐዋርያዊ ተልዕኮ  ❖</a:t>
            </a:r>
          </a:p>
          <a:p>
            <a:pPr algn="ctr">
              <a:spcBef>
                <a:spcPts val="2400"/>
              </a:spcBef>
            </a:pPr>
            <a:r>
              <a:rPr b="1" sz="3800">
                <a:solidFill>
                  <a:srgbClr val="D4AF37"/>
                </a:solidFill>
                <a:latin typeface="Segoe UI"/>
              </a:rPr>
              <a:t>ክፍል ፬፦ የወንጌል ማዳረስ 3ቱ መንገዶች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፩. ብቻ ለብቻ — ለሳምራዊቷ ሴት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የዮሐንስ 4፥7-42 ታላቅ ምስክርነት፦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ጌታችን መንገድ ከመሄድ ደክሞ በያዕቆብ ጉድጓድ አጠገብ ተቀምጦ ሳለ፣ ከአንዲት ሳምራዊት ሴት ጋር ብቻ ለብቻ ተገናኝቶ ሕይወቷን ለወጠ፡፡</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«ሴቲቱም፦ ያደረግሁትን ሁሉ የነገረኝን ሰው ኑና እዩ አለች... ብዙ ሰዎች አመኑ፤ እርሱም በእውነት ክርስቶስ የዓለም መድኃኒት እንደ ሆነ እናውቃለን አሉ።»</a:t>
            </a:r>
          </a:p>
          <a:p>
            <a:pPr algn="l">
              <a:spcBef>
                <a:spcPts val="1800"/>
              </a:spcBef>
              <a:spcAft>
                <a:spcPts val="300"/>
              </a:spcAft>
            </a:pPr>
            <a:r>
              <a:rPr b="1" sz="2400">
                <a:solidFill>
                  <a:srgbClr val="00334D"/>
                </a:solidFill>
                <a:latin typeface="Segoe UI"/>
              </a:rPr>
              <a:t>የትምህርቱ ምስጢር፦</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ለአንድ ሰው የተደረገ ጥልቅ የወንጌል ተልዕኮ ሙሉ ከተማን ወደ አምላክ ያመጣል፡፡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፩. ብቻ ለብቻ — ለኒቆዲሞስና ለአርማትያስ ዮሴፍ</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ለኒቆዲሞስ (ዮሐ. 7፥50-51)፦</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በሌሊት በስውር ወደ ጌታችን መጥቶ የተማረው ኒቆዲሞስ፣ በኋላ በአይሁድ ሸንጎ ፊት በይፋ ስለ ክርስቶስ መሰከረ፡፡</a:t>
            </a:r>
          </a:p>
          <a:p>
            <a:pPr algn="l">
              <a:spcBef>
                <a:spcPts val="1800"/>
              </a:spcBef>
              <a:spcAft>
                <a:spcPts val="300"/>
              </a:spcAft>
            </a:pPr>
            <a:r>
              <a:rPr b="1" sz="2400">
                <a:solidFill>
                  <a:srgbClr val="00334D"/>
                </a:solidFill>
                <a:latin typeface="Segoe UI"/>
              </a:rPr>
              <a:t>ለአርማትያስ ዮሴፍ (ዮሐ. 19፥38-40)፦</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በስውር ደቀ መዝሙር የነበረው ዮሴፍ፣ በፈተናው ቀን የጌታን ሥጋ በክብር ለመቅበር ከጲላጦስ ደፍሮ ለመነ፤ ኒቆዲሞስም መቶ ንጥር ሽቱ ይዞ መጣ፡፡</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፪. ለጥቂት ሰዎች (ለደቀ መዛሙርት፣ ለቤተሰብ)</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ልድያና ቤተሰቦቿ (ሐዋ. 16፥14-15)፦</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ቀይ ሐር ሻጭ የነበረችው ልድያ ጳውሎስ የሚናገረውን ታዳምጥ ዘንድ ጌታ ልቧን ከፈተላት፤ ከቤተሰቦቿ ጋር ተጠምቃ ቤቷን ለሐዋርያት መኖሪያና ማዕከል አደረገች፡፡</a:t>
            </a:r>
          </a:p>
          <a:p>
            <a:pPr algn="l">
              <a:spcBef>
                <a:spcPts val="1800"/>
              </a:spcBef>
              <a:spcAft>
                <a:spcPts val="300"/>
              </a:spcAft>
            </a:pPr>
            <a:r>
              <a:rPr b="1" sz="2400">
                <a:solidFill>
                  <a:srgbClr val="00334D"/>
                </a:solidFill>
                <a:latin typeface="Segoe UI"/>
              </a:rPr>
              <a:t>ጵርስቅላና አቂላ (ሮሜ 16፥3-5፤ ሐዋ. 18፥26)፦</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በቤታቸው ላለች ቤተክርስቲያን ሰላምታ ተሰጣቸው፤ አጵሎስንም ወስደው የእግዚአብሔርን መንገድ ከፊት ይልቅ በትክክል ገለጡለት፡፡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፫. ለሕዝብና ለማኅበር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የተራራው ስብከት (ማቴ. 5፥1-2)፦</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«ሕዝቡንም አይቶ ወደ ተራራ ወጣ፤ በተቀመጠም ጊዜ ደቀ መዛሙርቱ ወደ እርሱ ቀረቡ፤ አፉንም ከፍቶ አስተማራቸው...»</a:t>
            </a:r>
          </a:p>
          <a:p>
            <a:pPr algn="l">
              <a:spcBef>
                <a:spcPts val="1800"/>
              </a:spcBef>
              <a:spcAft>
                <a:spcPts val="300"/>
              </a:spcAft>
            </a:pPr>
            <a:r>
              <a:rPr b="1" sz="2400">
                <a:solidFill>
                  <a:srgbClr val="00334D"/>
                </a:solidFill>
                <a:latin typeface="Segoe UI"/>
              </a:rPr>
              <a:t>የሕዝብና የአደባባይ ስብከት ባሕርያት፦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በታላላቅ በዓላት፣ በአውደ ምሕረትና በአደባባይ ጉባኤያት ለብዙኃን ምእመናን የሚሰጥ ሁሉን አቀፍ የወንጌል ድግስ ነው፡፡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ሐዋርያዊ ተልዕኮ  ❖</a:t>
            </a:r>
          </a:p>
          <a:p>
            <a:pPr algn="ctr">
              <a:spcBef>
                <a:spcPts val="2400"/>
              </a:spcBef>
            </a:pPr>
            <a:r>
              <a:rPr b="1" sz="3800">
                <a:solidFill>
                  <a:srgbClr val="D4AF37"/>
                </a:solidFill>
                <a:latin typeface="Segoe UI"/>
              </a:rPr>
              <a:t>ክፍል ፭፦ 10ሩ የሐዋርያዊ ተልእኮ መሠረታዊ መርሆዎች</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፩ — የሕዝቡን ተጨባጭ ሁኔታ መረዳት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የማቴዎስ 9፥35-36 አምላካዊ ምሳሌ፦</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«ኢየሱስም በምኩራቦቻቸው እያስተማረ፥ የመንግሥትንም ወንጌል እየሰበከ፥ በሕዝብም ያለውን ደዌና ሕማም ሁሉ እየፈወሰ በከተማዎችና በመንደሮች ሁሉ ይዞር ነበር።»</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«ብዙ ሕዝብም ባየ ጊዜ፥ እረኛ እንደ ሌላቸው በጎች ተጨንቀው ተጥለውም ነበርና አዘነላቸው።»</a:t>
            </a:r>
          </a:p>
          <a:p>
            <a:pPr algn="l">
              <a:spcBef>
                <a:spcPts val="1800"/>
              </a:spcBef>
              <a:spcAft>
                <a:spcPts val="300"/>
              </a:spcAft>
            </a:pPr>
            <a:r>
              <a:rPr b="1" sz="2400">
                <a:solidFill>
                  <a:srgbClr val="00334D"/>
                </a:solidFill>
                <a:latin typeface="Segoe UI"/>
              </a:rPr>
              <a:t>የሐዋርያው ተግባር፦</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የምናገለግለውን ማኅበረሰብ ችግር፣ ጭንቀት፣ ፍላጎትና መንፈሳዊ ጥማት በቅድሚያ መረዳት ያስፈልጋል፡፡</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፪ — የምናገለግለውን ሕዝብ ማፍቀር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የማቴዎስ 9፥37-38 እና ዮሐንስ 13፥1፦</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«መከሩስ ብዙ ነው፥ ሠራተኞች ግን ጥቂቶች ናቸው፤ እንግዲህ የመከሩን ጌታ ወደ መከሩ ሠራተኞች እንዲልክ ለምኑት አላቸው።»</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«በዚህ ዓለም ያሉትን ወገኖቹን የወደዳቸውን እስከ መጨረሻ ወደዳቸው።»</a:t>
            </a:r>
          </a:p>
          <a:p>
            <a:pPr algn="l">
              <a:spcBef>
                <a:spcPts val="1800"/>
              </a:spcBef>
              <a:spcAft>
                <a:spcPts val="300"/>
              </a:spcAft>
            </a:pPr>
            <a:r>
              <a:rPr b="1" sz="2400">
                <a:solidFill>
                  <a:srgbClr val="00334D"/>
                </a:solidFill>
                <a:latin typeface="Segoe UI"/>
              </a:rPr>
              <a:t>የፍቅር መሠረታዊነት፦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ያለ ፍቅር የሚደረግ አገልግሎት ድምፅ እንደሌለው ናስ ነው፤ የወንጌል አገልጋይ ምእመናንን ከልቡ ካልወደደ አገልግሎቱ ፍሬ አያፈራም፡፡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፪ — የምናገለግለውን ሕዝብ ማፍቀር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የ1ኛ ተሰሎንቄ 2፥7-12 ምስክርነት፦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«ነገር ግን ሞግዚት የራስዋን ልጆች እንደምትከባከብ፥ በመካከላችሁ የዋሆች ሆንን፤»</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«እንዲሁም እያፈቀርናችሁ የእግዚአብሔርን ወንጌል ለማካፈል ብቻ ሳይሆን የገዛ ነፍሳችንን ደግሞ እናካፍላችሁ ዘንድ በጎ ፈቃዳችን ነበረ፥ ለእኛ የተወደዳችሁ ሆናችሁ ነበርና።»</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«አባት ለልጆቹ እንደሚሆን ለእያንዳንዳችሁ እንደ ሆንን ታውቃላችሁ።»</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፫ — ለሰዎች ምክንያትና እንቅፋት አለመሆን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2400"/>
              </a:spcBef>
              <a:spcAft>
                <a:spcPts val="300"/>
              </a:spcAft>
            </a:pPr>
            <a:r>
              <a:rPr b="1" sz="2650">
                <a:solidFill>
                  <a:srgbClr val="00334D"/>
                </a:solidFill>
                <a:latin typeface="Segoe UI"/>
              </a:rPr>
              <a:t>የ1ኛ ተሰሎንቄ 2፥9-10 እና 1ኛ ቆሮንቶስ 8፥9-13፦</a:t>
            </a:r>
          </a:p>
          <a:p>
            <a:pPr algn="l">
              <a:spcBef>
                <a:spcPts val="200"/>
              </a:spcBef>
              <a:spcAft>
                <a:spcPts val="1400"/>
              </a:spcAft>
            </a:pPr>
            <a:r>
              <a:rPr b="1" sz="2400">
                <a:solidFill>
                  <a:srgbClr val="D4AF37"/>
                </a:solidFill>
                <a:latin typeface="Segoe UI"/>
              </a:rPr>
              <a:t>   •  </a:t>
            </a:r>
            <a:r>
              <a:rPr b="0" i="1" sz="2400">
                <a:solidFill>
                  <a:srgbClr val="004D66"/>
                </a:solidFill>
                <a:latin typeface="Segoe UI"/>
              </a:rPr>
              <a:t>«ከእናንተ በአንዱ ስንኳ እንዳንከብድበት ሌሊትና ቀን እየሠራን የእግዚአብሔርን ወንጌል ለእናንተ ሰበክን፤ በእንዴት ያለ ቅድስናና ጽድቅ ነቀፋም በሌለበት ኑሮ እንደ ሄድን እናንተና እግዚአብሔር ምስክሮች ናችሁ።»</a:t>
            </a:r>
          </a:p>
          <a:p>
            <a:pPr algn="l">
              <a:spcBef>
                <a:spcPts val="200"/>
              </a:spcBef>
              <a:spcAft>
                <a:spcPts val="1400"/>
              </a:spcAft>
            </a:pPr>
            <a:r>
              <a:rPr b="1" sz="2400">
                <a:solidFill>
                  <a:srgbClr val="D4AF37"/>
                </a:solidFill>
                <a:latin typeface="Segoe UI"/>
              </a:rPr>
              <a:t>   •  </a:t>
            </a:r>
            <a:r>
              <a:rPr b="0" i="1" sz="2400">
                <a:solidFill>
                  <a:srgbClr val="004D66"/>
                </a:solidFill>
                <a:latin typeface="Segoe UI"/>
              </a:rPr>
              <a:t>«ዳሩ ግን ይህ መብታችሁ ለደካሞች ዕንቅፋት እንዳይሆንባቸው ተጠንቀቁ... መብል ወንድሜን የሚያሰናክለው ከሆነ ለዘላለም ከቶ ሥጋ አልበላም።»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፫ — ለሰዎች ምክንያትና እንቅፋት አለመሆን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የሮሜ 14፥13-16 ጥብቅ መመሪያ፦</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«እንግዲህ ከዛሬ ጀምሮ እርስ በርሳችን አንፈራረድ፤ ይልቁን ግን ለወንድም እንቅፋትን ወይም ማሰናከያን ማንም እንዳያኖርበት ይህን ቍረጡ።»</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«ወንድምህንም በመብል ምክንያት የምታሳዝን ከሆንህ እንግዲህ በፍቅር አልተመላለስህም፤ ክርስቶስ ስለ እርሱ የሞተለትን እርሱን በመብልህ አታጥፋው።»</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«እንግዲህ ለእናንተ ያለው መልካም ነገር አይሰደብ።»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፬ — ለሰዎች መዳን የሚቻለውን ሁሉ ማድረግ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የሐዋርያት ሥራ 20፥20-27 ምስክርነት፦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«ከሚጠቅማችሁ ነገር አንዳች ስንኳ አላስቀረሁባችሁም፤ በጉባኤም በየቤታችሁም አስተማርኋችሁ።»</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«ስለዚህ እኔ ከሰው ሁሉ ደም ንጹሕ እንደ ሆንሁ ዛሬ በዚች ቀን እመሰክርላችኋለሁ፤ የእግዚአብሔርን ምክር ሁሉ ነግሬአችኋለሁና ምንም አላስቀረሁባችሁም።»</a:t>
            </a:r>
          </a:p>
          <a:p>
            <a:pPr algn="l">
              <a:spcBef>
                <a:spcPts val="1800"/>
              </a:spcBef>
              <a:spcAft>
                <a:spcPts val="300"/>
              </a:spcAft>
            </a:pPr>
            <a:r>
              <a:rPr b="1" sz="2400">
                <a:solidFill>
                  <a:srgbClr val="00334D"/>
                </a:solidFill>
                <a:latin typeface="Segoe UI"/>
              </a:rPr>
              <a:t>የጌታችን ምሳሌነት፦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ጌታችን ይሁዳን እንኳ እስከ መጨረሻው ሰዓት ድረስ ከመምከርና ዕድል ከመስጠት አልቦዘነም፡፡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፬ — የኃላፊነት ስሜትና የደም ዕዳ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የሕዝቅኤል 3፥18-20 እና 33፥8 ቃል፦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«እኔ ኃጢአተኛውን፦ በእርግጥ ትሞታለህ ባልሁት ጊዜ፥ አንተም ባታስጠነቅቀው ነፍሱም እንድትድን ከክፉ መንገዱ ይመለስ ዘንድ ባትነግረው፥ ያ ኃጢአተኛ በኃጢአቱ ይሞታል ደሙን ግን ከእጅህ እፈልጋለሁ።»</a:t>
            </a:r>
          </a:p>
          <a:p>
            <a:pPr algn="l">
              <a:spcBef>
                <a:spcPts val="1300"/>
              </a:spcBef>
              <a:spcAft>
                <a:spcPts val="300"/>
              </a:spcAft>
            </a:pPr>
            <a:r>
              <a:rPr b="1" sz="2200">
                <a:solidFill>
                  <a:srgbClr val="00334D"/>
                </a:solidFill>
                <a:latin typeface="Segoe UI"/>
              </a:rPr>
              <a:t>የቅዱስ ዮሐንስ አፈወርቅ ብሂል፦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«ስለ ሌላው ወንድሙ መዳን ግድ የሌለው ሰው እርሱ ራሱ ይድናል ብዬ አላምንም!»</a:t>
            </a:r>
          </a:p>
          <a:p>
            <a:pPr algn="l">
              <a:spcBef>
                <a:spcPts val="1300"/>
              </a:spcBef>
              <a:spcAft>
                <a:spcPts val="300"/>
              </a:spcAft>
            </a:pPr>
            <a:r>
              <a:rPr b="1" sz="2200">
                <a:solidFill>
                  <a:srgbClr val="00334D"/>
                </a:solidFill>
                <a:latin typeface="Segoe UI"/>
              </a:rPr>
              <a:t>የብሉይ ኪዳን ሕግጋት፦</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ዘፍ. 4፥9 («የወንድሜ ጠባቂ ነኝን?»)፤ ዘሌ. 25፥35፤ ዘዳ. 22፥1-4 (የወንድምህ በሬ ወይም አህያ ቢወድቅ አነሣሣው እንጂ ቸል አትበለው)፡፡</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፭ — በትንሹ አለመሳነፍ (አለመርካት)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የሉቃስ 10፥17-20 አምላካዊ መመሪያ፦</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ሰብዓው አርድዕት «አጋንንት ስንኳ በስምህ ተገዝተውልናል» ብለው በተመለሱ ጊዜ ጌታችን እንዲህ አላቸው፦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«መናፍስት ስለ ተገዙላችሁ በዚህ ደስ አይበላችሁ፥ ስማችሁ ግን በሰማያት ስለ ተጻፈ ደስ ይበላችሁ።»</a:t>
            </a:r>
          </a:p>
          <a:p>
            <a:pPr algn="l">
              <a:spcBef>
                <a:spcPts val="1300"/>
              </a:spcBef>
              <a:spcAft>
                <a:spcPts val="300"/>
              </a:spcAft>
            </a:pPr>
            <a:r>
              <a:rPr b="1" sz="2200">
                <a:solidFill>
                  <a:srgbClr val="00334D"/>
                </a:solidFill>
                <a:latin typeface="Segoe UI"/>
              </a:rPr>
              <a:t>የዮሐንስ 1፥50 ተስፋ፦</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«ከበለስ በታች አየሁህ ስላልሁህ አመንህን? ከዚህ የሚበልጥ ነገር ታያለህ።»</a:t>
            </a:r>
          </a:p>
          <a:p>
            <a:pPr algn="l">
              <a:spcBef>
                <a:spcPts val="1300"/>
              </a:spcBef>
              <a:spcAft>
                <a:spcPts val="300"/>
              </a:spcAft>
            </a:pPr>
            <a:r>
              <a:rPr b="1" sz="2200">
                <a:solidFill>
                  <a:srgbClr val="00334D"/>
                </a:solidFill>
                <a:latin typeface="Segoe UI"/>
              </a:rPr>
              <a:t>መንፈሳዊ ትርጉሙ፦</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በጊዜያዊ ስኬት ብቻ ሳንረካ ለታላቁ መንግሥተ ሰማያት ክብር መትጋት፡፡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፮ — የሌላውን ሐሳብና ምክር መስማት (አድማጭ መሆን)</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እግዚአብሔር የሰዎችን ልመና ይሰማል (ዘፍ. 18፥20-25)፦</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አብርሃም ስለ ሰዶምና ገሞራ በእግዚአብሔር ፊት ቆሞ «በውኑ ጻድቁን ከኃጢአተኛ ጋር ታጠፋለህን?» ብሎ ሲማልድ እግዚአብሔር ሐሳቡን ተቀበለው፡፡</a:t>
            </a:r>
          </a:p>
          <a:p>
            <a:pPr algn="l">
              <a:spcBef>
                <a:spcPts val="1300"/>
              </a:spcBef>
              <a:spcAft>
                <a:spcPts val="300"/>
              </a:spcAft>
            </a:pPr>
            <a:r>
              <a:rPr b="1" sz="2200">
                <a:solidFill>
                  <a:srgbClr val="00334D"/>
                </a:solidFill>
                <a:latin typeface="Segoe UI"/>
              </a:rPr>
              <a:t>የኢሳይያስ 1፥18 እና 41፥21 ጥሪ፦</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«ኑና እንዋቀስ ይላል እግዚአብሔር፤ ኃጢአታችሁ እንደ አለላ ብትሆን እንደ አመዳይ ትነጻለች።»</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«ክርክራችሁን አቅርቡ፥ ማስረጃችሁን አምጡ ይላል የያዕቆብ ንጉሥ።»</a:t>
            </a:r>
          </a:p>
          <a:p>
            <a:pPr algn="l">
              <a:spcBef>
                <a:spcPts val="1300"/>
              </a:spcBef>
              <a:spcAft>
                <a:spcPts val="300"/>
              </a:spcAft>
            </a:pPr>
            <a:r>
              <a:rPr b="1" sz="2200">
                <a:solidFill>
                  <a:srgbClr val="00334D"/>
                </a:solidFill>
                <a:latin typeface="Segoe UI"/>
              </a:rPr>
              <a:t>የማቴዎስ 16፥16፦</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ጌታችን ደቀ መዛሙርቱን «ሰዎች የሰውን ልጅ ማን እንደ ሆነ ይሉታል?» በማለት ጠየቃቸው፡፡</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፯ — ደካማ ጎንን መቀበል (ራስን መመርመር)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የራእይ 2፥1-5 የኤፌሶን መልእክት፦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«ሥራህንና ድካምህን ትዕግሥትህንም አውቃለሁ... ታግሠህማል፥ ስለ ስሜም ብለህ ጸንተህ አልደከምህም፤»</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«ዳሩ ግን የምነቅፍብህ ነገር አለኝ፥ የቀደመውን ፍቅርህን ትተሃልና፤ እንግዲህ ከወዴት እንደ ወደቅህ አስብ፥ ንስሐም ግባ፥ የቀደመውንም ሥራህን አድርግ።»</a:t>
            </a:r>
          </a:p>
          <a:p>
            <a:pPr algn="l">
              <a:spcBef>
                <a:spcPts val="1800"/>
              </a:spcBef>
              <a:spcAft>
                <a:spcPts val="300"/>
              </a:spcAft>
            </a:pPr>
            <a:r>
              <a:rPr b="1" sz="2400">
                <a:solidFill>
                  <a:srgbClr val="00334D"/>
                </a:solidFill>
                <a:latin typeface="Segoe UI"/>
              </a:rPr>
              <a:t>የሐዋርያው ተልዕኮ፦</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የራስን ድካምና ጉድለት አምኖ ንስሐ መግባትና መንፈሳዊ ፍቅርን ማደስ፡፡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፰ — መረጃን መፈለግ፣ መለዋወጥና መጠቀም</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«መኑ የብልዎ ሰብእ ለወልደ ዕጉዋለ እመሕያው»፦</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ጌታችን በፊልጶስ ቂሣርያ አገር ስለ ሰዎች ግንዛቤ እንደጠየቀ ሁሉ፣ አገልጋይም የሚሠራበትን አካባቢ መረጃ በሚገባ ማወቅ አለበት፡፡</a:t>
            </a:r>
          </a:p>
          <a:p>
            <a:pPr algn="l">
              <a:spcBef>
                <a:spcPts val="1800"/>
              </a:spcBef>
              <a:spcAft>
                <a:spcPts val="300"/>
              </a:spcAft>
            </a:pPr>
            <a:r>
              <a:rPr b="1" sz="2400">
                <a:solidFill>
                  <a:srgbClr val="00334D"/>
                </a:solidFill>
                <a:latin typeface="Segoe UI"/>
              </a:rPr>
              <a:t>የመረጃ አስፈላጊነት፦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የወንጌል አገልግሎትን በእውቀት፣ በጥናት፣ በተጨባጭ መረጃና በዘመኑ ግንዛቤ መምራት፡፡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፱ — ጽኑ ዓላማ እና ቁርጠኝነት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የውስጥ መንፈሳዊ ጽናት፦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«It is easy to say 'no!' when there is a strong 'yes!' burning from the inside.» (Stephen R. Covey)</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ከውስጥ የሚነድ ጠንካራ የወንጌል እምነትና ዓላማ ሲኖር፣ ለፈተናዎችና ለስንፍና «አይሆንም!» ማለት እጅግ ቀላል ይሆናል፡፡</a:t>
            </a:r>
          </a:p>
          <a:p>
            <a:pPr algn="l">
              <a:spcBef>
                <a:spcPts val="1800"/>
              </a:spcBef>
              <a:spcAft>
                <a:spcPts val="300"/>
              </a:spcAft>
            </a:pPr>
            <a:r>
              <a:rPr b="1" sz="2400">
                <a:solidFill>
                  <a:srgbClr val="00334D"/>
                </a:solidFill>
                <a:latin typeface="Segoe UI"/>
              </a:rPr>
              <a:t>የቁርጠኝነት ኃይል፦</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ምንም ዓይነት ፈተና ቢመጣ የማይናወጥ ጽኑ የወንጌል አቋም መያዝ፡፡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፲ — አሳታፊነትና የቡድን አገልግሎት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የቅድስት ፌቤን አርአያነት (ሮሜ 16፥1-2)፦</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«በክንክራኦስ ባለች ቤተ ክርስቲያን አገልጋይ የምትሆን እኅታችንን ፌቤንን አደራ ብያችኋለሁ፤ እርስዋ ለብዙዎች ለእኔም ለራሴ ደጋፊ ነበረችና።»</a:t>
            </a:r>
          </a:p>
          <a:p>
            <a:pPr algn="l">
              <a:spcBef>
                <a:spcPts val="1800"/>
              </a:spcBef>
              <a:spcAft>
                <a:spcPts val="300"/>
              </a:spcAft>
            </a:pPr>
            <a:r>
              <a:rPr b="1" sz="2400">
                <a:solidFill>
                  <a:srgbClr val="00334D"/>
                </a:solidFill>
                <a:latin typeface="Segoe UI"/>
              </a:rPr>
              <a:t>የጵርስቅላና አቂላ ተጋድሎ (ሮሜ 16፥3-4፤ ሐዋ. 18፥26)፦</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«ስለ ነፍሴ ነፍሳቸውን ለሞት አቀረቡ... አጵሎስንም ወስደው የእግዚአብሔርን መንገድ ከፊት ይልቅ በትክክል ገለጡለት።»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«አቂላና ጵርስቅላ በቤታቸው ካለች ቤተ ክርስቲያን ጋር በጌታ እጅግ ሰላምታ ያቀርቡላችኋል።» (1ኛ ቆሮ. 16፥19)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መርህ ፲ — አሳታፊነትና የቡድን አገልግሎት ( )</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የአብድዩ ታላቅ ተጋድሎ (1ኛ ነገ. 18፥7-13)፦</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«ኤልዛቤል የእግዚአብሔርን ነቢያት ባስገደለች ጊዜ፥ መቶውን የእግዚአብሔር ነቢያት ወስጄ አምሳ አምሳውን በዋሻ ውስጥ ሸሽጌ እንጀራና ውኃ መገብኋቸው።»</a:t>
            </a:r>
          </a:p>
          <a:p>
            <a:pPr algn="l">
              <a:spcBef>
                <a:spcPts val="1800"/>
              </a:spcBef>
              <a:spcAft>
                <a:spcPts val="300"/>
              </a:spcAft>
            </a:pPr>
            <a:r>
              <a:rPr b="1" sz="2400">
                <a:solidFill>
                  <a:srgbClr val="00334D"/>
                </a:solidFill>
                <a:latin typeface="Segoe UI"/>
              </a:rPr>
              <a:t>የታናሿ ብላቴና ታሪክ (2ኛ ነገ. 5፥2-4)፦</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ከእስራኤል የተማረከችው ታናሽ ብላቴና የንዕማን ሚስትን በማገልገል፣ ለንዕማን ከለምጽ መዳንና እግዚአብሔርን ወደ ማመን መምጣት ዋነኛ ምክንያት ሆነች፡፡</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ሐዋርያዊ ተልዕኮ  ❖</a:t>
            </a:r>
          </a:p>
          <a:p>
            <a:pPr algn="ctr">
              <a:spcBef>
                <a:spcPts val="2400"/>
              </a:spcBef>
            </a:pPr>
            <a:r>
              <a:rPr b="1" sz="3800">
                <a:solidFill>
                  <a:srgbClr val="D4AF37"/>
                </a:solidFill>
                <a:latin typeface="Segoe UI"/>
              </a:rPr>
              <a:t>ክፍል ፮፦ የሐዋርያ ጥሪ፣ ፈተናዎችና ማጠቃለያ</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የእግዚአብሔር ጥሪና መመዘኛዎች</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000"/>
              </a:spcBef>
              <a:spcAft>
                <a:spcPts val="300"/>
              </a:spcAft>
            </a:pPr>
            <a:r>
              <a:rPr b="1" sz="2000">
                <a:solidFill>
                  <a:srgbClr val="00334D"/>
                </a:solidFill>
                <a:latin typeface="Segoe UI"/>
              </a:rPr>
              <a:t>የተጠሩ ቅዱሳን አባቶች ምሳሌ፦</a:t>
            </a:r>
          </a:p>
          <a:p>
            <a:pPr algn="l">
              <a:spcBef>
                <a:spcPts val="200"/>
              </a:spcBef>
              <a:spcAft>
                <a:spcPts val="500"/>
              </a:spcAft>
            </a:pPr>
            <a:r>
              <a:rPr b="1" sz="1800">
                <a:solidFill>
                  <a:srgbClr val="D4AF37"/>
                </a:solidFill>
                <a:latin typeface="Segoe UI"/>
              </a:rPr>
              <a:t>   •  </a:t>
            </a:r>
            <a:r>
              <a:rPr b="1" sz="1800">
                <a:solidFill>
                  <a:srgbClr val="1A202C"/>
                </a:solidFill>
                <a:latin typeface="Segoe UI"/>
              </a:rPr>
              <a:t>ሙሴ፦</a:t>
            </a:r>
            <a:r>
              <a:rPr b="0" sz="1800">
                <a:solidFill>
                  <a:srgbClr val="2D3748"/>
                </a:solidFill>
                <a:latin typeface="Segoe UI"/>
              </a:rPr>
              <a:t> በግ ሲጠብቅ ተጠራ (ዘጸ. 3፥1-10)</a:t>
            </a:r>
          </a:p>
          <a:p>
            <a:pPr algn="l">
              <a:spcBef>
                <a:spcPts val="200"/>
              </a:spcBef>
              <a:spcAft>
                <a:spcPts val="500"/>
              </a:spcAft>
            </a:pPr>
            <a:r>
              <a:rPr b="1" sz="1800">
                <a:solidFill>
                  <a:srgbClr val="D4AF37"/>
                </a:solidFill>
                <a:latin typeface="Segoe UI"/>
              </a:rPr>
              <a:t>   •  </a:t>
            </a:r>
            <a:r>
              <a:rPr b="1" sz="1800">
                <a:solidFill>
                  <a:srgbClr val="1A202C"/>
                </a:solidFill>
                <a:latin typeface="Segoe UI"/>
              </a:rPr>
              <a:t>ዳዊት፦</a:t>
            </a:r>
            <a:r>
              <a:rPr b="0" sz="1800">
                <a:solidFill>
                  <a:srgbClr val="2D3748"/>
                </a:solidFill>
                <a:latin typeface="Segoe UI"/>
              </a:rPr>
              <a:t> በጎችን ሲያሰማራ ተመረጠ (1ኛ ሳሙ. 16፥13)</a:t>
            </a:r>
          </a:p>
          <a:p>
            <a:pPr algn="l">
              <a:spcBef>
                <a:spcPts val="200"/>
              </a:spcBef>
              <a:spcAft>
                <a:spcPts val="500"/>
              </a:spcAft>
            </a:pPr>
            <a:r>
              <a:rPr b="1" sz="1800">
                <a:solidFill>
                  <a:srgbClr val="D4AF37"/>
                </a:solidFill>
                <a:latin typeface="Segoe UI"/>
              </a:rPr>
              <a:t>   •  </a:t>
            </a:r>
            <a:r>
              <a:rPr b="1" sz="1800">
                <a:solidFill>
                  <a:srgbClr val="1A202C"/>
                </a:solidFill>
                <a:latin typeface="Segoe UI"/>
              </a:rPr>
              <a:t>ኤልሳዕ፦</a:t>
            </a:r>
            <a:r>
              <a:rPr b="0" sz="1800">
                <a:solidFill>
                  <a:srgbClr val="2D3748"/>
                </a:solidFill>
                <a:latin typeface="Segoe UI"/>
              </a:rPr>
              <a:t> በእርሻ ላይ በሬዎችን ሲያርስ ተጠራ (1ኛ ነገ. 19፥19)</a:t>
            </a:r>
          </a:p>
          <a:p>
            <a:pPr algn="l">
              <a:spcBef>
                <a:spcPts val="200"/>
              </a:spcBef>
              <a:spcAft>
                <a:spcPts val="500"/>
              </a:spcAft>
            </a:pPr>
            <a:r>
              <a:rPr b="1" sz="1800">
                <a:solidFill>
                  <a:srgbClr val="D4AF37"/>
                </a:solidFill>
                <a:latin typeface="Segoe UI"/>
              </a:rPr>
              <a:t>   •  </a:t>
            </a:r>
            <a:r>
              <a:rPr b="1" sz="1800">
                <a:solidFill>
                  <a:srgbClr val="1A202C"/>
                </a:solidFill>
                <a:latin typeface="Segoe UI"/>
              </a:rPr>
              <a:t>አሞጽ፦</a:t>
            </a:r>
            <a:r>
              <a:rPr b="0" sz="1800">
                <a:solidFill>
                  <a:srgbClr val="2D3748"/>
                </a:solidFill>
                <a:latin typeface="Segoe UI"/>
              </a:rPr>
              <a:t> የሾላ ፍሬ ሲለቅም የእግዚአብሔር ድምፅ መጣለት (አሞ. 1፥1)</a:t>
            </a:r>
          </a:p>
          <a:p>
            <a:pPr algn="l">
              <a:spcBef>
                <a:spcPts val="200"/>
              </a:spcBef>
              <a:spcAft>
                <a:spcPts val="500"/>
              </a:spcAft>
            </a:pPr>
            <a:r>
              <a:rPr b="1" sz="1800">
                <a:solidFill>
                  <a:srgbClr val="D4AF37"/>
                </a:solidFill>
                <a:latin typeface="Segoe UI"/>
              </a:rPr>
              <a:t>   •  </a:t>
            </a:r>
            <a:r>
              <a:rPr b="1" sz="1800">
                <a:solidFill>
                  <a:srgbClr val="1A202C"/>
                </a:solidFill>
                <a:latin typeface="Segoe UI"/>
              </a:rPr>
              <a:t>ጴጥሮስና ዮሐንስ፦</a:t>
            </a:r>
            <a:r>
              <a:rPr b="0" sz="1800">
                <a:solidFill>
                  <a:srgbClr val="2D3748"/>
                </a:solidFill>
                <a:latin typeface="Segoe UI"/>
              </a:rPr>
              <a:t> መረብ ሲያጥቡና ዓሣ ሲያጠምዱ ተጠሩ (ማቴ. 4፥18)</a:t>
            </a:r>
          </a:p>
          <a:p>
            <a:pPr algn="l">
              <a:spcBef>
                <a:spcPts val="200"/>
              </a:spcBef>
              <a:spcAft>
                <a:spcPts val="500"/>
              </a:spcAft>
            </a:pPr>
            <a:r>
              <a:rPr b="1" sz="1800">
                <a:solidFill>
                  <a:srgbClr val="D4AF37"/>
                </a:solidFill>
                <a:latin typeface="Segoe UI"/>
              </a:rPr>
              <a:t>   •  </a:t>
            </a:r>
            <a:r>
              <a:rPr b="1" sz="1800">
                <a:solidFill>
                  <a:srgbClr val="1A202C"/>
                </a:solidFill>
                <a:latin typeface="Segoe UI"/>
              </a:rPr>
              <a:t>ጳውሎስ፦</a:t>
            </a:r>
            <a:r>
              <a:rPr b="0" sz="1800">
                <a:solidFill>
                  <a:srgbClr val="2D3748"/>
                </a:solidFill>
                <a:latin typeface="Segoe UI"/>
              </a:rPr>
              <a:t> በደማስቆ መንገድ ላይ ተመርጦ ታላቅ ሐዋርያ ሆነ (ሐዋ. 9፥1-6)</a:t>
            </a:r>
          </a:p>
          <a:p>
            <a:pPr algn="l">
              <a:spcBef>
                <a:spcPts val="1000"/>
              </a:spcBef>
              <a:spcAft>
                <a:spcPts val="300"/>
              </a:spcAft>
            </a:pPr>
            <a:r>
              <a:rPr b="1" sz="2000">
                <a:solidFill>
                  <a:srgbClr val="00334D"/>
                </a:solidFill>
                <a:latin typeface="Segoe UI"/>
              </a:rPr>
              <a:t>የጥሪው መገለጫዎች፦</a:t>
            </a:r>
          </a:p>
          <a:p>
            <a:pPr algn="l">
              <a:spcBef>
                <a:spcPts val="200"/>
              </a:spcBef>
              <a:spcAft>
                <a:spcPts val="500"/>
              </a:spcAft>
            </a:pPr>
            <a:r>
              <a:rPr b="1" sz="1800">
                <a:solidFill>
                  <a:srgbClr val="D4AF37"/>
                </a:solidFill>
                <a:latin typeface="Segoe UI"/>
              </a:rPr>
              <a:t>   •  </a:t>
            </a:r>
            <a:r>
              <a:rPr b="0" sz="1800">
                <a:solidFill>
                  <a:srgbClr val="2D3748"/>
                </a:solidFill>
                <a:latin typeface="Segoe UI"/>
              </a:rPr>
              <a:t>የልብ ቅንነት፣ መንፈሳዊ ቅንዓት፣ ትጋትና ወንጌልን ማስተማር የሕይወት ግዴታ መሆኑን ማወቅ፡፡</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ሐዋርያው ሊጠነቀቅባቸው የሚገቡ 4ቱ ዋና ፈተናዎች</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0" sz="2400">
                <a:solidFill>
                  <a:srgbClr val="1A202C"/>
                </a:solidFill>
                <a:latin typeface="Segoe UI"/>
              </a:rPr>
              <a:t>1. </a:t>
            </a:r>
            <a:r>
              <a:rPr b="1" sz="2400">
                <a:solidFill>
                  <a:srgbClr val="00334D"/>
                </a:solidFill>
                <a:latin typeface="Segoe UI"/>
              </a:rPr>
              <a:t>ከንቱ ውዳሴ፦</a:t>
            </a:r>
            <a:r>
              <a:rPr b="0" sz="2400">
                <a:solidFill>
                  <a:srgbClr val="1A202C"/>
                </a:solidFill>
                <a:latin typeface="Segoe UI"/>
              </a:rPr>
              <a:t> የራስን ክብር ከመፈለግና ከሰው ከንቱ ሙገሳ ራስን መጠበቅ፡፡</a:t>
            </a:r>
          </a:p>
          <a:p>
            <a:pPr algn="l">
              <a:spcBef>
                <a:spcPts val="1800"/>
              </a:spcBef>
              <a:spcAft>
                <a:spcPts val="300"/>
              </a:spcAft>
            </a:pPr>
            <a:r>
              <a:rPr b="0" i="1" sz="2400">
                <a:solidFill>
                  <a:srgbClr val="004D66"/>
                </a:solidFill>
                <a:latin typeface="Segoe UI"/>
              </a:rPr>
              <a:t>2. </a:t>
            </a:r>
            <a:r>
              <a:rPr b="1" sz="2400">
                <a:solidFill>
                  <a:srgbClr val="00334D"/>
                </a:solidFill>
                <a:latin typeface="Segoe UI"/>
              </a:rPr>
              <a:t>ወገንተኝነትና መከፋፈል፦</a:t>
            </a:r>
            <a:r>
              <a:rPr b="0" i="1" sz="2400">
                <a:solidFill>
                  <a:srgbClr val="004D66"/>
                </a:solidFill>
                <a:latin typeface="Segoe UI"/>
              </a:rPr>
              <a:t> «እኔ የጳውሎስ፣ እኔ የአጵሎስ፣ እኔ የኬፋ» የሚል ክፍፍልን ማስወገድ (1ኛ ቆሮ. 3፥1-12)፡፡</a:t>
            </a:r>
          </a:p>
          <a:p>
            <a:pPr algn="l">
              <a:spcBef>
                <a:spcPts val="1800"/>
              </a:spcBef>
              <a:spcAft>
                <a:spcPts val="300"/>
              </a:spcAft>
            </a:pPr>
            <a:r>
              <a:rPr b="0" sz="2400">
                <a:solidFill>
                  <a:srgbClr val="1A202C"/>
                </a:solidFill>
                <a:latin typeface="Segoe UI"/>
              </a:rPr>
              <a:t>3. </a:t>
            </a:r>
            <a:r>
              <a:rPr b="1" sz="2400">
                <a:solidFill>
                  <a:srgbClr val="00334D"/>
                </a:solidFill>
                <a:latin typeface="Segoe UI"/>
              </a:rPr>
              <a:t>ለምድራዊ ጥቅም ማገልገል፦</a:t>
            </a:r>
            <a:r>
              <a:rPr b="0" sz="2400">
                <a:solidFill>
                  <a:srgbClr val="1A202C"/>
                </a:solidFill>
                <a:latin typeface="Segoe UI"/>
              </a:rPr>
              <a:t> የጥቅመኝነትንና የስግብግብነትን ወጥመድ በፍጹም መራቅ፡፡</a:t>
            </a:r>
          </a:p>
          <a:p>
            <a:pPr algn="l">
              <a:spcBef>
                <a:spcPts val="1800"/>
              </a:spcBef>
              <a:spcAft>
                <a:spcPts val="300"/>
              </a:spcAft>
            </a:pPr>
            <a:r>
              <a:rPr b="0" sz="2400">
                <a:solidFill>
                  <a:srgbClr val="1A202C"/>
                </a:solidFill>
                <a:latin typeface="Segoe UI"/>
              </a:rPr>
              <a:t>4. </a:t>
            </a:r>
            <a:r>
              <a:rPr b="1" sz="2400">
                <a:solidFill>
                  <a:srgbClr val="00334D"/>
                </a:solidFill>
                <a:latin typeface="Segoe UI"/>
              </a:rPr>
              <a:t>ልዩ ልዩ ተግዳሮቶች፦</a:t>
            </a:r>
            <a:r>
              <a:rPr b="0" sz="2400">
                <a:solidFill>
                  <a:srgbClr val="1A202C"/>
                </a:solidFill>
                <a:latin typeface="Segoe UI"/>
              </a:rPr>
              <a:t> ከራስ ድካም፣ ከባለሥልጣናት፣ ከወግ አጥባቂዎችና ከመናፍቃን የሚመጡ ፈተናዎችን በትዕግሥት ማለፍ፡፡</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ማጠቃለያና የወንጌል አደራ</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የሐዋርያው ቃል (1ኛ ቆሮ. 9፥16)፦</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«ወንጌልን ብሰብክ እንኳ የምመካበት የለኝም፤ ግድ ደርሶብኝ ነውና፤ ወንጌልንም ባልሰብክ ወዮልኝ!»</a:t>
            </a:r>
          </a:p>
          <a:p>
            <a:pPr algn="l">
              <a:spcBef>
                <a:spcPts val="1800"/>
              </a:spcBef>
              <a:spcAft>
                <a:spcPts val="300"/>
              </a:spcAft>
            </a:pPr>
            <a:r>
              <a:rPr b="1" sz="2400">
                <a:solidFill>
                  <a:srgbClr val="00334D"/>
                </a:solidFill>
                <a:latin typeface="Segoe UI"/>
              </a:rPr>
              <a:t>የዘላለም ክብር ተስፋ (ዳን. 12፥3)፦</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«ጥበበኞቹም እንደ ሰማይ ፀዳል፥ ብዙ ሰዎችንም ወደ ጽድቅ የሚመልሱ እንደ ከዋክብት ለዘላለም ይደምቃሉ።»</a:t>
            </a:r>
          </a:p>
          <a:p>
            <a:pPr algn="l">
              <a:spcBef>
                <a:spcPts val="1800"/>
              </a:spcBef>
              <a:spcAft>
                <a:spcPts val="300"/>
              </a:spcAft>
            </a:pPr>
            <a:r>
              <a:rPr b="1" sz="2400">
                <a:solidFill>
                  <a:srgbClr val="00334D"/>
                </a:solidFill>
                <a:latin typeface="Segoe UI"/>
              </a:rPr>
              <a:t>ወስብሐት ለእግዚአብሔር ወለወላዲቱ ድንግል ወለመስቀሉ ክቡር አሜን!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