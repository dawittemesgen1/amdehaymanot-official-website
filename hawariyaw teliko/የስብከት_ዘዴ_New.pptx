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4D"/>
        </a:solidFill>
        <a:effectLst/>
      </p:bgPr>
    </p:bg>
    <p:spTree>
      <p:nvGrpSpPr>
        <p:cNvPr id="1" name=""/>
        <p:cNvGrpSpPr/>
        <p:nvPr/>
      </p:nvGrpSpPr>
      <p:grpSpPr/>
      <p:sp>
        <p:nvSpPr>
          <p:cNvPr id="2" name="Title 1"/>
          <p:cNvSpPr>
            <a:spLocks noGrp="1"/>
          </p:cNvSpPr>
          <p:nvPr>
            <p:ph type="ctrTitle"/>
          </p:nvPr>
        </p:nvSpPr>
        <p:spPr>
          <a:xfrm>
            <a:off x="457200" y="2286000"/>
            <a:ext cx="8229600" cy="0"/>
          </a:xfrm>
        </p:spPr>
        <p:txBody>
          <a:bodyPr/>
          <a:lstStyle/>
          <a:p>
            <a:pPr algn="ctr"/>
            <a:r>
              <a:rPr b="1" sz="4400">
                <a:solidFill>
                  <a:srgbClr val="D4AF37"/>
                </a:solidFill>
                <a:latin typeface="Nyala"/>
              </a:rPr>
              <a:t>የስብከት ዘዴ</a:t>
            </a:r>
          </a:p>
        </p:txBody>
      </p:sp>
      <p:sp>
        <p:nvSpPr>
          <p:cNvPr id="3" name="Subtitle 2"/>
          <p:cNvSpPr>
            <a:spLocks noGrp="1"/>
          </p:cNvSpPr>
          <p:nvPr>
            <p:ph type="subTitle" idx="1"/>
          </p:nvPr>
        </p:nvSpPr>
        <p:spPr>
          <a:xfrm>
            <a:off x="457200" y="3657600"/>
            <a:ext cx="8229600" cy="0"/>
          </a:xfrm>
        </p:spPr>
        <p:txBody>
          <a:bodyPr/>
          <a:lstStyle/>
          <a:p>
            <a:pPr algn="ctr"/>
            <a:r>
              <a:rPr b="0" sz="2800">
                <a:solidFill>
                  <a:srgbClr val="F5F5F5"/>
                </a:solidFill>
              </a:rPr>
              <a:t>Homiletics (Preaching Methods)</a:t>
            </a:r>
          </a:p>
        </p:txBody>
      </p:sp>
      <p:sp>
        <p:nvSpPr>
          <p:cNvPr id="4" name="Rectangle 3"/>
          <p:cNvSpPr/>
          <p:nvPr/>
        </p:nvSpPr>
        <p:spPr>
          <a:xfrm>
            <a:off x="914400" y="1371600"/>
            <a:ext cx="7315200" cy="50800"/>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D4AF37"/>
        </a:solidFill>
        <a:effectLst/>
      </p:bgPr>
    </p:bg>
    <p:spTree>
      <p:nvGrpSpPr>
        <p:cNvPr id="1" name=""/>
        <p:cNvGrpSpPr/>
        <p:nvPr/>
      </p:nvGrpSpPr>
      <p:grpSpPr/>
      <p:sp>
        <p:nvSpPr>
          <p:cNvPr id="2" name="Title 1"/>
          <p:cNvSpPr>
            <a:spLocks noGrp="1"/>
          </p:cNvSpPr>
          <p:nvPr>
            <p:ph type="ctrTitle"/>
          </p:nvPr>
        </p:nvSpPr>
        <p:spPr>
          <a:xfrm>
            <a:off x="457200" y="2743200"/>
            <a:ext cx="8229600" cy="0"/>
          </a:xfrm>
        </p:spPr>
        <p:txBody>
          <a:bodyPr/>
          <a:lstStyle/>
          <a:p>
            <a:pPr algn="ctr"/>
            <a:r>
              <a:rPr b="1" sz="5000">
                <a:solidFill>
                  <a:srgbClr val="00334D"/>
                </a:solidFill>
              </a:rPr>
              <a:t>ክፍል 1: ዋና ትምህርት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መግቢያ</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ySBkt wNg@L xgLGlÖT yQDST b@tKRSTÃN êÂW tL:÷Â xgLGlÖT nWÝÝ</a:t>
            </a:r>
          </a:p>
          <a:p>
            <a:pPr>
              <a:spcAft>
                <a:spcPts val="1000"/>
              </a:spcAft>
            </a:pPr>
            <a:r>
              <a:rPr sz="2200">
                <a:solidFill>
                  <a:srgbClr val="333333"/>
                </a:solidFill>
              </a:rPr>
              <a:t>MKNÃt$M yQDST b@tKRSTÃN êÂW tL:÷ Ã§mn# sãCN ¥úmNÝ Ãmn# M:mÂNN ¥{ÂT XÂ xMnW ynb„ ngR GN btlÃy MKNÃT y‰ቁTN ¥QrB s!çN YH xgLGlÖT dGä bên¾nT y¸f[mW ”l XGz!x!B/@RN b¥St¥R nWÝ¿</a:t>
            </a:r>
          </a:p>
          <a:p>
            <a:pPr>
              <a:spcAft>
                <a:spcPts val="1000"/>
              </a:spcAft>
            </a:pPr>
            <a:r>
              <a:rPr sz="2200">
                <a:solidFill>
                  <a:srgbClr val="333333"/>
                </a:solidFill>
              </a:rPr>
              <a:t>Slz!H SBkt wNg@L yb@tKRSTÃN ên¾WÂ tqÄ¸W tL:÷ê nWÝÝ</a:t>
            </a:r>
          </a:p>
          <a:p>
            <a:pPr>
              <a:spcAft>
                <a:spcPts val="1000"/>
              </a:spcAft>
            </a:pPr>
            <a:r>
              <a:rPr sz="2200">
                <a:solidFill>
                  <a:srgbClr val="333333"/>
                </a:solidFill>
              </a:rPr>
              <a:t>yz!H ySBkt zÁ TMHRT ›§¥M lSBkt wNg@L xgLGlÖT y¸\¥„ sÆKÃN lxGLGlÖቱ$ Bቁ Yçn# zND SlSBkt wNg@L xgLGlÖT GN²b@ lmS-T ytzUj mDBL nWÝÝ</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ይዘት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መግብያ</a:t>
            </a:r>
          </a:p>
          <a:p>
            <a:pPr>
              <a:spcAft>
                <a:spcPts val="1000"/>
              </a:spcAft>
            </a:pPr>
            <a:r>
              <a:rPr sz="2200">
                <a:solidFill>
                  <a:srgbClr val="333333"/>
                </a:solidFill>
              </a:rPr>
              <a:t>1. ስብከትና የስብከት ታሪክ</a:t>
            </a:r>
          </a:p>
          <a:p>
            <a:pPr>
              <a:spcAft>
                <a:spcPts val="1000"/>
              </a:spcAft>
            </a:pPr>
            <a:r>
              <a:rPr sz="2200">
                <a:solidFill>
                  <a:srgbClr val="333333"/>
                </a:solidFill>
              </a:rPr>
              <a:t>2.ለሰባኪዉ የሚያስፈልገዉ ምንድን ነዉ;</a:t>
            </a:r>
          </a:p>
          <a:p>
            <a:pPr>
              <a:spcAft>
                <a:spcPts val="1000"/>
              </a:spcAft>
            </a:pPr>
            <a:r>
              <a:rPr sz="2200">
                <a:solidFill>
                  <a:srgbClr val="333333"/>
                </a:solidFill>
              </a:rPr>
              <a:t>3.የስብከት ዓይነቶች</a:t>
            </a:r>
          </a:p>
          <a:p>
            <a:pPr>
              <a:spcAft>
                <a:spcPts val="1000"/>
              </a:spcAft>
            </a:pPr>
            <a:r>
              <a:rPr sz="2200">
                <a:solidFill>
                  <a:srgbClr val="333333"/>
                </a:solidFill>
              </a:rPr>
              <a:t>4.ስብከት በሚዘጋጀበት ወቅት ታሳቢ የሚደረጉ ጉዳዮች</a:t>
            </a:r>
          </a:p>
          <a:p>
            <a:pPr>
              <a:spcAft>
                <a:spcPts val="1000"/>
              </a:spcAft>
            </a:pPr>
            <a:r>
              <a:rPr sz="2200">
                <a:solidFill>
                  <a:srgbClr val="333333"/>
                </a:solidFill>
              </a:rPr>
              <a:t>5. የስብከት ዝግጅት</a:t>
            </a:r>
          </a:p>
          <a:p>
            <a:pPr>
              <a:spcAft>
                <a:spcPts val="1000"/>
              </a:spcAft>
            </a:pPr>
            <a:r>
              <a:rPr sz="2200">
                <a:solidFill>
                  <a:srgbClr val="333333"/>
                </a:solidFill>
              </a:rPr>
              <a:t>6. ሐዋሪያና ሐዋረያዊነት ምንነት</a:t>
            </a:r>
          </a:p>
          <a:p>
            <a:pPr>
              <a:spcAft>
                <a:spcPts val="1000"/>
              </a:spcAft>
            </a:pPr>
            <a:r>
              <a:rPr sz="2200">
                <a:solidFill>
                  <a:srgbClr val="333333"/>
                </a:solidFill>
              </a:rPr>
              <a:t>7. የሐዋሪያዊ ተልእኮ ታሪክ በመጽሐፍ ቅዱስ</a:t>
            </a:r>
          </a:p>
          <a:p>
            <a:pPr>
              <a:spcAft>
                <a:spcPts val="1000"/>
              </a:spcAft>
            </a:pPr>
            <a:r>
              <a:rPr sz="2200">
                <a:solidFill>
                  <a:srgbClr val="333333"/>
                </a:solidFill>
              </a:rPr>
              <a:t>8. የሐዋሪያዊነት መሰረቶች</a:t>
            </a:r>
          </a:p>
          <a:p>
            <a:pPr>
              <a:spcAft>
                <a:spcPts val="1000"/>
              </a:spcAft>
            </a:pPr>
            <a:r>
              <a:rPr sz="2200">
                <a:solidFill>
                  <a:srgbClr val="333333"/>
                </a:solidFill>
              </a:rPr>
              <a:t>9. ሐዋሪያ ማን ነው</a:t>
            </a:r>
          </a:p>
          <a:p>
            <a:pPr>
              <a:spcAft>
                <a:spcPts val="1000"/>
              </a:spcAft>
            </a:pPr>
            <a:r>
              <a:rPr sz="2200">
                <a:solidFill>
                  <a:srgbClr val="333333"/>
                </a:solidFill>
              </a:rPr>
              <a:t>10. ሐዋሪያ ሊጠነቀቅባቸው የሚገቡ ጉዳዮች</a:t>
            </a:r>
          </a:p>
          <a:p>
            <a:pPr>
              <a:spcAft>
                <a:spcPts val="1000"/>
              </a:spcAft>
            </a:pPr>
            <a:r>
              <a:rPr sz="2200">
                <a:solidFill>
                  <a:srgbClr val="333333"/>
                </a:solidFill>
              </a:rPr>
              <a:t>11. ፈተና ከወዴት ሊመጣ ይችላል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 ስብከትና የስብከት ታሪክ</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ሀ. የስብከት ትርጉም</a:t>
            </a:r>
          </a:p>
          <a:p>
            <a:pPr>
              <a:spcAft>
                <a:spcPts val="1000"/>
              </a:spcAft>
            </a:pPr>
            <a:r>
              <a:rPr sz="2200">
                <a:solidFill>
                  <a:srgbClr val="333333"/>
                </a:solidFill>
              </a:rPr>
              <a:t>ስብከት የሚለው ቃል ሰበከ አስተማረ፣ አዋጅ ነገረ ከሚለው የግዕዝ ቃል የተገኘ ነው፡፡</a:t>
            </a:r>
          </a:p>
          <a:p>
            <a:pPr>
              <a:spcAft>
                <a:spcPts val="1000"/>
              </a:spcAft>
            </a:pPr>
            <a:r>
              <a:rPr sz="2200">
                <a:solidFill>
                  <a:srgbClr val="333333"/>
                </a:solidFill>
              </a:rPr>
              <a:t>የቤተክርስቲያን ዋናው ተልዕኮዋ ሰዎችን ካለማመን ወደ ማመን ማምጣት፣ ያመኑትን ደግሞ በእምነታቸው ማጽናት ነው፡፡</a:t>
            </a:r>
          </a:p>
          <a:p>
            <a:pPr>
              <a:spcAft>
                <a:spcPts val="1000"/>
              </a:spcAft>
            </a:pPr>
            <a:r>
              <a:rPr sz="2200">
                <a:solidFill>
                  <a:srgbClr val="333333"/>
                </a:solidFill>
              </a:rPr>
              <a:t>ስብከት የቤተክርስቲያን ትልቁ የአገሌግልት ክፍል ነው፡፡ ‹‹በስብከት ሞኝነት የሚያምኑትን ሊያድን የእግዚአብሔር በጎ ፈቃድ ሆኖአልና›› /1ቆሮ 1፡21/ እንዲል፡፡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ከዚህ ጽንሰ ሀሳብ በመነሳት ስብከት፡-</a:t>
            </a:r>
          </a:p>
          <a:p>
            <a:pPr>
              <a:spcAft>
                <a:spcPts val="1000"/>
              </a:spcAft>
            </a:pPr>
            <a:r>
              <a:rPr sz="2200">
                <a:solidFill>
                  <a:srgbClr val="333333"/>
                </a:solidFill>
              </a:rPr>
              <a:t>1. የአምልኮ ክፍል ነው</a:t>
            </a:r>
          </a:p>
          <a:p>
            <a:pPr>
              <a:spcAft>
                <a:spcPts val="1000"/>
              </a:spcAft>
            </a:pPr>
            <a:r>
              <a:rPr sz="2200">
                <a:solidFill>
                  <a:srgbClr val="333333"/>
                </a:solidFill>
              </a:rPr>
              <a:t>እግዚአብሔር የምናመልከው አምላካችን ነው፡፡ ማምለክ፣ ማመንና መዳን መሠረቱ መሰማቱ ላይ ነው፡፡</a:t>
            </a:r>
          </a:p>
          <a:p>
            <a:pPr>
              <a:spcAft>
                <a:spcPts val="1000"/>
              </a:spcAft>
            </a:pPr>
            <a:r>
              <a:rPr sz="2200">
                <a:solidFill>
                  <a:srgbClr val="333333"/>
                </a:solidFill>
              </a:rPr>
              <a:t>ስለሆነም የምናመልከው አምላክ ምንነት መስማት፣ ሰምቶም እግዚአብሔርነቱን እንደሚገባ መረዳት የምንችለው በስብከት ነው፡፡ ሮሜ. 10፡10-17</a:t>
            </a:r>
          </a:p>
          <a:p>
            <a:pPr>
              <a:spcAft>
                <a:spcPts val="1000"/>
              </a:spcAft>
            </a:pPr>
            <a:r>
              <a:rPr sz="2200">
                <a:solidFill>
                  <a:srgbClr val="333333"/>
                </a:solidFill>
              </a:rPr>
              <a:t>2. ትዕዛዘ እግዚአብሔር ነው</a:t>
            </a:r>
          </a:p>
          <a:p>
            <a:pPr>
              <a:spcAft>
                <a:spcPts val="1000"/>
              </a:spcAft>
            </a:pPr>
            <a:r>
              <a:rPr sz="2200">
                <a:solidFill>
                  <a:srgbClr val="333333"/>
                </a:solidFill>
              </a:rPr>
              <a:t>ጌታችን ኢየሱስ ክርስቶስ ደቀ መዛሙርቱን የጠራበትና የመረጠበት ዓላማና የመጨረሻው ትእዛዝ ስብከት ነው፡፡ ማር 16፡15፡፡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3. ስለ እግዚአብሔር የምንመሰክርበት ነው</a:t>
            </a:r>
          </a:p>
          <a:p>
            <a:pPr>
              <a:spcAft>
                <a:spcPts val="1000"/>
              </a:spcAft>
            </a:pPr>
            <a:r>
              <a:rPr sz="2200">
                <a:solidFill>
                  <a:srgbClr val="333333"/>
                </a:solidFill>
              </a:rPr>
              <a:t>ምስክርነት ማለት ያዩትንና የሰሙትን እውነት ያላዩ እንዲያዩ፣ ያልሰሙም እንዲሰሙና እውነት የሆነውን ነገር እንዲያረጋግጡ በሆነው ሁሉ መናገርና መግለጽ ነው፡፡ መጥምቀ መለኮትና ወንጌሊዊው ቅደስ ዮሐንስ ይህን እውነት መስክረዋል፡፡ ጌታም ስለ ምስክርነቱ አስተሩዋል ዮሐ. 1፡6፣ 1ዮሐ 1፡1፣ ማቴ 10፡32/</a:t>
            </a:r>
          </a:p>
          <a:p>
            <a:pPr>
              <a:spcAft>
                <a:spcPts val="1000"/>
              </a:spcAft>
            </a:pPr>
            <a:r>
              <a:rPr sz="2200">
                <a:solidFill>
                  <a:srgbClr val="333333"/>
                </a:solidFill>
              </a:rPr>
              <a:t>4. የእግዚአብሔር መንግሥት የምትገለጥበት ነው</a:t>
            </a:r>
          </a:p>
          <a:p>
            <a:pPr>
              <a:spcAft>
                <a:spcPts val="1000"/>
              </a:spcAft>
            </a:pPr>
            <a:r>
              <a:rPr sz="2200">
                <a:solidFill>
                  <a:srgbClr val="333333"/>
                </a:solidFill>
              </a:rPr>
              <a:t>መንግሥተ ሰማያት እግዚአብሔርን ለሚወዱና እንደ ፈቃዱ ለሚኖሩ የተዘጋጀች ናት፡፡</a:t>
            </a:r>
          </a:p>
          <a:p>
            <a:pPr>
              <a:spcAft>
                <a:spcPts val="1000"/>
              </a:spcAft>
            </a:pPr>
            <a:r>
              <a:rPr sz="2200">
                <a:solidFill>
                  <a:srgbClr val="333333"/>
                </a:solidFill>
              </a:rPr>
              <a:t>መንግሥተ ሰማያትም የምትገለጠው /የመትሰበከው/ በስብከት ብቻ ነው፡፡ማር 1፡21/</a:t>
            </a:r>
          </a:p>
          <a:p>
            <a:pPr>
              <a:spcAft>
                <a:spcPts val="1000"/>
              </a:spcAft>
            </a:pPr>
            <a:r>
              <a:rPr sz="2200">
                <a:solidFill>
                  <a:srgbClr val="333333"/>
                </a:solidFill>
              </a:rPr>
              <a:t>ቅዱስ ጳውሎስ ‹ማንም ሳይከለክለው የእግዚአብሔርን መንግሥት እየሰበከ ስለ ጌታ ኢየሱስ ክርሰቶስም እጅግ ገልጦ ያስተምር ነበር ተብሎ ተነግሮለታል፡፡ ሐዋ 28፡41፡፡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ጌታችን ኢየሱስ ክርሰቶስ ደቀ መዛሙርቱን በጨለማ የምንግራችሁን በብርሃን ተናገሩ በጆሮም የምትሰሙትን በሰገነት ስበኩ በማለት አዝዞቸዋል፡፡ ማቴ 10÷27</a:t>
            </a:r>
          </a:p>
          <a:p>
            <a:pPr>
              <a:spcAft>
                <a:spcPts val="1000"/>
              </a:spcAft>
            </a:pPr>
            <a:r>
              <a:rPr sz="2200">
                <a:solidFill>
                  <a:srgbClr val="333333"/>
                </a:solidFill>
              </a:rPr>
              <a:t>በእነዚህ ነጥቦች መሠረት ስብከት በሦስት የተከፈለ ምሥጢራዊ ትርጉምን ይዞ ይገኛል፡፡</a:t>
            </a:r>
          </a:p>
          <a:p>
            <a:pPr>
              <a:spcAft>
                <a:spcPts val="1000"/>
              </a:spcAft>
            </a:pPr>
            <a:r>
              <a:rPr sz="2200">
                <a:solidFill>
                  <a:srgbClr val="333333"/>
                </a:solidFill>
              </a:rPr>
              <a:t>1. ኬሪግማቲክ ፡ የማያምኑ አረማውያን ወደ እግዚአብሔር የምንመልስበት</a:t>
            </a:r>
          </a:p>
          <a:p>
            <a:pPr>
              <a:spcAft>
                <a:spcPts val="1000"/>
              </a:spcAft>
            </a:pPr>
            <a:r>
              <a:rPr sz="2200">
                <a:solidFill>
                  <a:srgbClr val="333333"/>
                </a:solidFill>
              </a:rPr>
              <a:t>2. ዲያሌክቴክ፡ አዳዲሰ አማንያንን በእምነት የምናጸናበት</a:t>
            </a:r>
          </a:p>
          <a:p>
            <a:pPr>
              <a:spcAft>
                <a:spcPts val="1000"/>
              </a:spcAft>
            </a:pPr>
            <a:r>
              <a:rPr sz="2200">
                <a:solidFill>
                  <a:srgbClr val="333333"/>
                </a:solidFill>
              </a:rPr>
              <a:t>3. ፕራግማቲክ፡ በእምነት፣በእውቀት የበሰሉትን ለቅድስና ሕይወት የምናበቃበት ስብከት ነው፡፡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 የስብከት ታሪክ</a:t>
            </a:r>
          </a:p>
          <a:p>
            <a:pPr>
              <a:spcAft>
                <a:spcPts val="1000"/>
              </a:spcAft>
            </a:pPr>
            <a:r>
              <a:rPr sz="2200">
                <a:solidFill>
                  <a:srgbClr val="333333"/>
                </a:solidFill>
              </a:rPr>
              <a:t>ከቅዱሳን መጽሐፍትም ሆነ ከታሪክ መዛግብት እንደምንረዳው የስብከት አጀማመርና ዕድገት አለው፡፡በዚሁ መሰረት የስብከት አመጣጥ፡</a:t>
            </a:r>
          </a:p>
          <a:p>
            <a:pPr>
              <a:spcAft>
                <a:spcPts val="1000"/>
              </a:spcAft>
            </a:pPr>
            <a:r>
              <a:rPr sz="2200">
                <a:solidFill>
                  <a:srgbClr val="333333"/>
                </a:solidFill>
              </a:rPr>
              <a:t>ከዓለመ መላእክት፡ መላእክት በተፈጠሩበት በመጀመሪያው ቀን የ መላእክት አለቃ የነበረው ሳጥናኤሌ የተፈጠረበትን ዓላማ በመሳት ክህደትንና ሐሰተኛነትን ከራሱ አፍልቆ እኔ ፈጠርኳችሁ› ባለ ጊዜ ቅደስ ገብርኤል ‹ንቁም በብህላዊነ እስከ ንረክቡ ለአምላክነ በማለት መላእክትን አጽናንቷል አረጋግቷል፡፡</a:t>
            </a:r>
          </a:p>
          <a:p>
            <a:pPr>
              <a:spcAft>
                <a:spcPts val="1000"/>
              </a:spcAft>
            </a:pPr>
            <a:r>
              <a:rPr sz="2200">
                <a:solidFill>
                  <a:srgbClr val="333333"/>
                </a:solidFill>
              </a:rPr>
              <a:t>ስብከት ማለት ‹ማጽናናት ማረጋጋት› ማለት ነውና፡፡ ምሳ. 1፡35፣ ኢሳ. 40፡1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2. በሕገ ሌቡና</a:t>
            </a:r>
          </a:p>
          <a:p>
            <a:pPr>
              <a:spcAft>
                <a:spcPts val="1000"/>
              </a:spcAft>
            </a:pPr>
            <a:r>
              <a:rPr sz="2200">
                <a:solidFill>
                  <a:srgbClr val="333333"/>
                </a:solidFill>
              </a:rPr>
              <a:t>ሕገ ሌቡና የምንለው ከአዳም እስከ ሙሴ ያለው ዘመነ አበው ነው፡፡ በዚህ ጊዜ ሄኖክ ኃጢአተኞች ከኃጢአታቸው እንዲመለሱ፣ ኖኅም ሊመጣ ካለው የጥፋት ውሃ እንዲያመልጡ፣ አብርሃም የዑር ምድር ሰዎች ከጣኦት አምልኮ ወደ እግዚአብሔር እንዲመለሱ ሰብከዋል፡፡ ይሁ 14፣ 2ጴጥ 2፡5፣ ኩፋ 11፡14፡፡</a:t>
            </a:r>
          </a:p>
          <a:p>
            <a:pPr>
              <a:spcAft>
                <a:spcPts val="1000"/>
              </a:spcAft>
            </a:pPr>
            <a:r>
              <a:rPr sz="2200">
                <a:solidFill>
                  <a:srgbClr val="333333"/>
                </a:solidFill>
              </a:rPr>
              <a:t>3. በሕገ ኦሪት</a:t>
            </a:r>
          </a:p>
          <a:p>
            <a:pPr>
              <a:spcAft>
                <a:spcPts val="1000"/>
              </a:spcAft>
            </a:pPr>
            <a:r>
              <a:rPr sz="2200">
                <a:solidFill>
                  <a:srgbClr val="333333"/>
                </a:solidFill>
              </a:rPr>
              <a:t>ከሙሴ ጀምሮ እስከ መጥምቀ መለኮት ቅዱስ ዮሐንስ ያለው ዘመን በአጠቃላይ ዘመነ ኦሪት ይባላል፡፡ በዚህ ዘመን የስብከት አገልግሎት ያደገበት፣ መጽሐፋዊ የሆነት እንደሆነ እንገነዘባለን፡፡ ነቢያት ‹እግዚአብሔር እንዲህ ይላል› እያሉ በቃልም በጽሑፍም ሰብከዋል፡፡ ሕዝበ እስራኤል ከግብጽ ባርነት ነፃ የወጡት በስብከት ነው፡፡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4. በዘመነ ወንጌል</a:t>
            </a:r>
          </a:p>
          <a:p>
            <a:pPr>
              <a:spcAft>
                <a:spcPts val="1000"/>
              </a:spcAft>
            </a:pPr>
            <a:r>
              <a:rPr sz="2200">
                <a:solidFill>
                  <a:srgbClr val="333333"/>
                </a:solidFill>
              </a:rPr>
              <a:t>ዘመነ ወንጌል የምንለው የአዲስ ኪዳንን ዘመን ነው፡፡ የዘመነ ወንጌል የመጀመሪያው በር ከፋችና መንገድ ጠራጊ ሰባኪ መጥምቀ መለኮት ቅደስ ዮሐንስ ነው፡፡ የዮሐንስ አገልግሎት ሰማዕትነት ከአዲስ ኪዳን እንደሚቆጠር የመሰከረለት ጌታችን ኢየሱስ ክርስቶስ ነውÝÝ ማቴ 23፡ 35</a:t>
            </a:r>
          </a:p>
          <a:p>
            <a:pPr>
              <a:spcAft>
                <a:spcPts val="1000"/>
              </a:spcAft>
            </a:pPr>
            <a:r>
              <a:rPr sz="2200">
                <a:solidFill>
                  <a:srgbClr val="333333"/>
                </a:solidFill>
              </a:rPr>
              <a:t>መንግሥተ ሰማያት ቀርባለችና ንስሐ ግቡ እያለ ክርስቶስንና ክርስትናን ያስተዋወቀ ዮሐንስ ነውና፡፡ ማቴ 3፡2</a:t>
            </a:r>
          </a:p>
          <a:p>
            <a:pPr>
              <a:spcAft>
                <a:spcPts val="1000"/>
              </a:spcAft>
            </a:pPr>
            <a:r>
              <a:rPr sz="2200">
                <a:solidFill>
                  <a:srgbClr val="333333"/>
                </a:solidFill>
              </a:rPr>
              <a:t>ጌታችን ኢየሱስ ክርስቶስ በከተማ በገጠር በተራራ በባሕር ዳርቻ በሠርግና በለቅሶ ቤት በየመንገዱ ሁሉ ከሥፍራ ሥፈፍራ እየተንቀሳቀሰ ‹የእግዚአብሔር መንግሥት ወንጌልን ሰበከ፡፡ ማር 1፡14-15)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ከእርሱ ዕርገት በኃላም ቅደሳን ሐዋርያት በተለይም የተስፋውን ቃል ከተቀበሉ በኋላ፡</a:t>
            </a:r>
          </a:p>
          <a:p>
            <a:pPr>
              <a:spcAft>
                <a:spcPts val="1000"/>
              </a:spcAft>
            </a:pPr>
            <a:r>
              <a:rPr sz="2200">
                <a:solidFill>
                  <a:srgbClr val="333333"/>
                </a:solidFill>
              </a:rPr>
              <a:t>በአይሁድ ምኩራብ</a:t>
            </a:r>
          </a:p>
          <a:p>
            <a:pPr>
              <a:spcAft>
                <a:spcPts val="1000"/>
              </a:spcAft>
            </a:pPr>
            <a:r>
              <a:rPr sz="2200">
                <a:solidFill>
                  <a:srgbClr val="333333"/>
                </a:solidFill>
              </a:rPr>
              <a:t>በአምልኮ ጣኦታት ቤቶች</a:t>
            </a:r>
          </a:p>
          <a:p>
            <a:pPr>
              <a:spcAft>
                <a:spcPts val="1000"/>
              </a:spcAft>
            </a:pPr>
            <a:r>
              <a:rPr sz="2200">
                <a:solidFill>
                  <a:srgbClr val="333333"/>
                </a:solidFill>
              </a:rPr>
              <a:t>በፍልስፍና ት/ቤቶች እና በየአደባባዩ</a:t>
            </a:r>
          </a:p>
          <a:p>
            <a:pPr>
              <a:spcAft>
                <a:spcPts val="1000"/>
              </a:spcAft>
            </a:pPr>
            <a:r>
              <a:rPr sz="2200">
                <a:solidFill>
                  <a:srgbClr val="333333"/>
                </a:solidFill>
              </a:rPr>
              <a:t>በለቅሶ ቤት ከተጋድሎ ጋር ሰብከዋል</a:t>
            </a:r>
          </a:p>
          <a:p>
            <a:pPr>
              <a:spcAft>
                <a:spcPts val="1000"/>
              </a:spcAft>
            </a:pPr>
            <a:r>
              <a:rPr sz="2200">
                <a:solidFill>
                  <a:srgbClr val="333333"/>
                </a:solidFill>
              </a:rPr>
              <a:t>ከሐዋርያት በኋላም የእነርሱ ተከታዮች ሐዋርያውያን አበው ፣ በዘመነ ሰማዕታት፣ በዘመነ ሊቃውንትም ስብከተ ወንጌል፡</a:t>
            </a:r>
          </a:p>
          <a:p>
            <a:pPr>
              <a:spcAft>
                <a:spcPts val="1000"/>
              </a:spcAft>
            </a:pPr>
            <a:r>
              <a:rPr sz="2200">
                <a:solidFill>
                  <a:srgbClr val="333333"/>
                </a:solidFill>
              </a:rPr>
              <a:t>በቃል          በጽሑፍ     በትርጉም ሥራ          በድንቃድንቅ ተአምራት</a:t>
            </a:r>
          </a:p>
          <a:p>
            <a:pPr>
              <a:spcAft>
                <a:spcPts val="1000"/>
              </a:spcAft>
            </a:pPr>
            <a:r>
              <a:rPr sz="2200">
                <a:solidFill>
                  <a:srgbClr val="333333"/>
                </a:solidFill>
              </a:rPr>
              <a:t>በክርስቲያኖች የአንድነትና የፍቅር ኑሮ                በተለያዩ ተጋድልዎች ማስፋፋት ችለዋል፡፡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ሐ. ስብከተ ወንጌል በኢትዮጵያ፡</a:t>
            </a:r>
          </a:p>
          <a:p>
            <a:pPr>
              <a:spcAft>
                <a:spcPts val="1000"/>
              </a:spcAft>
            </a:pPr>
            <a:r>
              <a:rPr sz="2200">
                <a:solidFill>
                  <a:srgbClr val="333333"/>
                </a:solidFill>
              </a:rPr>
              <a:t>ክርስትና ወደ ኢትዮጵያ የገባው በጀንደረባው አማካይነት እንደሆነ የታወቀ እውነት ነው፡፡ ይህ ማለት ግን ቅድመ ክርስትና የብሉይ ኪዳን ሥርዓተ አምልኮ ወደ ኢትዮጵያ እንደገባና የኦሪት ሥርዓተ አምልኮ መስፋፋቱን ሳንዘነጋ ነው፡፡</a:t>
            </a:r>
          </a:p>
          <a:p>
            <a:pPr>
              <a:spcAft>
                <a:spcPts val="1000"/>
              </a:spcAft>
            </a:pPr>
            <a:r>
              <a:rPr sz="2200">
                <a:solidFill>
                  <a:srgbClr val="333333"/>
                </a:solidFill>
              </a:rPr>
              <a:t>ጃንደረባው ባኮስ በ35 ዓ.ም ያሰገባውን የምሥራች ወንጌል ስብከት ያቀጣጠለውና ወደ ብሔራዊነት ደረጃ ከፍ ያደረገው የሥነ ጽሑፍ ይዘት የፊደል ቅርጽና ሆሄ አሁን ባለበት ደረጃ አገሌግሎት እንዲሰጥ ያደረገው ቅዱስ ፌሬምናጦስ ከነገሥታቱ ጋር በመሆን ነው፡፡ እስከ ዮዲት መነሣት ድረስ ነገሥታቱ፣ ዘጠኙ ቅዱሳን ቅዱስ ያሬድ መጻሕፍትን በመተርጎም ስብከተ ወንጌልና የምንኩስና ሕይወት እንዲሰፋ አድርገዋል፡፡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ከዮዲት መነሣት በኃላ ደብዝዞ የነበረው የስብከተ ወንጌል እንቅስቃሴ ትንሣኤ ያገኘው ወርቃማው ከሚባለው ከ11ኛው እስከ 14ኛው በነበረው ክፍለ ዘመን ውስጥ ነው፡፡</a:t>
            </a:r>
          </a:p>
          <a:p>
            <a:pPr>
              <a:spcAft>
                <a:spcPts val="1000"/>
              </a:spcAft>
            </a:pPr>
            <a:r>
              <a:rPr sz="2200">
                <a:solidFill>
                  <a:srgbClr val="333333"/>
                </a:solidFill>
              </a:rPr>
              <a:t>በዚህ ዘመን፡</a:t>
            </a:r>
          </a:p>
          <a:p>
            <a:pPr>
              <a:spcAft>
                <a:spcPts val="1000"/>
              </a:spcAft>
            </a:pPr>
            <a:r>
              <a:rPr sz="2200">
                <a:solidFill>
                  <a:srgbClr val="333333"/>
                </a:solidFill>
              </a:rPr>
              <a:t>በዮዲት ምክንያት ወደ አረማዊነት ሂዶ የነበረው ወደ ክርስትና ተመልሷል፡፡</a:t>
            </a:r>
          </a:p>
          <a:p>
            <a:pPr>
              <a:spcAft>
                <a:spcPts val="1000"/>
              </a:spcAft>
            </a:pPr>
            <a:r>
              <a:rPr sz="2200">
                <a:solidFill>
                  <a:srgbClr val="333333"/>
                </a:solidFill>
              </a:rPr>
              <a:t>በርካታ መጻሕፍት ተጽፈዋል</a:t>
            </a:r>
          </a:p>
          <a:p>
            <a:pPr>
              <a:spcAft>
                <a:spcPts val="1000"/>
              </a:spcAft>
            </a:pPr>
            <a:r>
              <a:rPr sz="2200">
                <a:solidFill>
                  <a:srgbClr val="333333"/>
                </a:solidFill>
              </a:rPr>
              <a:t>ብዙ ገዳማት ተገድመዋል</a:t>
            </a:r>
          </a:p>
          <a:p>
            <a:pPr>
              <a:spcAft>
                <a:spcPts val="1000"/>
              </a:spcAft>
            </a:pPr>
            <a:r>
              <a:rPr sz="2200">
                <a:solidFill>
                  <a:srgbClr val="333333"/>
                </a:solidFill>
              </a:rPr>
              <a:t>ሥርዓተ ምንኩስና ተስፋፍቷል</a:t>
            </a:r>
          </a:p>
          <a:p>
            <a:pPr>
              <a:spcAft>
                <a:spcPts val="1000"/>
              </a:spcAft>
            </a:pPr>
            <a:r>
              <a:rPr sz="2200">
                <a:solidFill>
                  <a:srgbClr val="333333"/>
                </a:solidFill>
              </a:rPr>
              <a:t>ብዙ የአብነት ትምህርት ቤቶች ተከፍተው የስብከተ ወንጌል ማዕከል በመሆን አገልግለዋል፡፡</a:t>
            </a:r>
          </a:p>
          <a:p>
            <a:pPr>
              <a:spcAft>
                <a:spcPts val="1000"/>
              </a:spcAft>
            </a:pPr>
            <a:r>
              <a:rPr sz="2200">
                <a:solidFill>
                  <a:srgbClr val="333333"/>
                </a:solidFill>
              </a:rPr>
              <a:t>ድንቅ የሆነው የቅዱስ ላሊበላ ሥራዎች የዚህ ዘመን ውጤቶች ናቸው፡፡ወዘተ</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የግራኝ መሐመድ መነሣት ለስብከተ ወንጌል፣ ለክርስትና መዳከም ዋና ምክንያት ነው፡፡ በዚህ ዘመን ብዙ ጥፋት በቤተክርስቲያን እና በሀገሪቱ ላይ ደርሷል፡፡ አሻራዎቹም 500 ዘመናት ተሻግረው ዛሬም ድረስ ተጽእኖ እንደፈጠሩ ነው፡፡</a:t>
            </a:r>
          </a:p>
          <a:p>
            <a:pPr>
              <a:spcAft>
                <a:spcPts val="1000"/>
              </a:spcAft>
            </a:pPr>
            <a:r>
              <a:rPr sz="2200">
                <a:solidFill>
                  <a:srgbClr val="333333"/>
                </a:solidFill>
              </a:rPr>
              <a:t>ለምሳሌ፡</a:t>
            </a:r>
          </a:p>
          <a:p>
            <a:pPr>
              <a:spcAft>
                <a:spcPts val="1000"/>
              </a:spcAft>
            </a:pPr>
            <a:r>
              <a:rPr sz="2200">
                <a:solidFill>
                  <a:srgbClr val="333333"/>
                </a:solidFill>
              </a:rPr>
              <a:t>ሙስሊምና ክርስቲያን መጋባት</a:t>
            </a:r>
          </a:p>
          <a:p>
            <a:pPr>
              <a:spcAft>
                <a:spcPts val="1000"/>
              </a:spcAft>
            </a:pPr>
            <a:r>
              <a:rPr sz="2200">
                <a:solidFill>
                  <a:srgbClr val="333333"/>
                </a:solidFill>
              </a:rPr>
              <a:t>የቤተ ክህነት የሙያ ደረጃ ዝቅ ማለት</a:t>
            </a:r>
          </a:p>
          <a:p>
            <a:pPr>
              <a:spcAft>
                <a:spcPts val="1000"/>
              </a:spcAft>
            </a:pPr>
            <a:r>
              <a:rPr sz="2200">
                <a:solidFill>
                  <a:srgbClr val="333333"/>
                </a:solidFill>
              </a:rPr>
              <a:t>የአረማዊነት ባሕል መቀላቀል</a:t>
            </a:r>
          </a:p>
          <a:p>
            <a:pPr>
              <a:spcAft>
                <a:spcPts val="1000"/>
              </a:spcAft>
            </a:pPr>
            <a:r>
              <a:rPr sz="2200">
                <a:solidFill>
                  <a:srgbClr val="333333"/>
                </a:solidFill>
              </a:rPr>
              <a:t>ያለ ንስሐ አባት መኖር</a:t>
            </a:r>
          </a:p>
          <a:p>
            <a:pPr>
              <a:spcAft>
                <a:spcPts val="1000"/>
              </a:spcAft>
            </a:pPr>
            <a:r>
              <a:rPr sz="2200">
                <a:solidFill>
                  <a:srgbClr val="333333"/>
                </a:solidFill>
              </a:rPr>
              <a:t>ያለ ምክረ ካህን ፣ ያለ ሥርዓተ ተክሊል መጋባት</a:t>
            </a:r>
          </a:p>
          <a:p>
            <a:pPr>
              <a:spcAft>
                <a:spcPts val="1000"/>
              </a:spcAft>
            </a:pPr>
            <a:r>
              <a:rPr sz="2200">
                <a:solidFill>
                  <a:srgbClr val="333333"/>
                </a:solidFill>
              </a:rPr>
              <a:t>ብዙ ሚስቶች ማግባት፣ ዕቁባት ማስቀመጥና የዝሙት መስፋፋት ፡፡</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2. ለሰባኪው የሚያስፈልገው ምንድን ነው ?</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ነቢያት ወደ ሕዝቡ ከመላካቸው በፊት ስለሚሄዱበት ጉዳይ በሕልም በራዕይ በተለያዩ መንገዶች ተገልጦ እግዚአብሔር ያነጋግራቸውና ተልኳቸውን ይፈጽሙ ነበር፡፡ሐዋርያትም ወደ ዓለም የምሥራቹን ወንጌል ይዘው ከመሄዳቸው በፊት ሦስት ዓመት ተምረዋል፡፡</a:t>
            </a:r>
          </a:p>
          <a:p>
            <a:pPr>
              <a:spcAft>
                <a:spcPts val="1000"/>
              </a:spcAft>
            </a:pPr>
            <a:r>
              <a:rPr sz="2200">
                <a:solidFill>
                  <a:srgbClr val="333333"/>
                </a:solidFill>
              </a:rPr>
              <a:t>ስለዚህ ሰባኪዉ፡-</a:t>
            </a:r>
          </a:p>
          <a:p>
            <a:pPr>
              <a:spcAft>
                <a:spcPts val="1000"/>
              </a:spcAft>
            </a:pPr>
            <a:r>
              <a:rPr sz="2200">
                <a:solidFill>
                  <a:srgbClr val="333333"/>
                </a:solidFill>
              </a:rPr>
              <a:t>ሀ. ትምህርት</a:t>
            </a:r>
          </a:p>
          <a:p>
            <a:pPr>
              <a:spcAft>
                <a:spcPts val="1000"/>
              </a:spcAft>
            </a:pPr>
            <a:r>
              <a:rPr sz="2200">
                <a:solidFill>
                  <a:srgbClr val="333333"/>
                </a:solidFill>
              </a:rPr>
              <a:t>ዮሐንስ ደቀ መዛሙርቱን እንዳስተማረ ‹እንጸልይ ዘንድ አስተምረን› ብለው ለጠየቁት ሉቃ.11፡1 የተሰጣቸው መልስ አባታችን ሆይ በሰማያት የምትኖር የሚለው የዘውትር ጸሎት ነው፡፡ይህም ማለት ሰባኪው በየትኛውም ደረጃና ሁኔታ ውስጥ ቢሆን በሁሉም መንገድ ቃለ እግዚአብሔር የተማረ፣ ለመማር የተዘጋጀ፣ ሊሆን ይገባል፡፡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 በክርስቲያናዊ ሕይወት መኖር፡-1ጢሞ 3፡5 ሰው ግን የራሱን ቤት እንዲያስተዳድር ባያውቅ የእግዚአብሔርን ቤተ ክርስቲያን እንዴት ይጠብቃታል? እንደተባለ የእግዚአብሔር ሕዝብ የሚያገለግል ፣ ክርስቶስ የሰበከውን ቅዱስ ወንጌል የሚናገር አባቶች በቆሙበት የሰብከት ሰገነት የሚቆምና ምእመናንን ወደ እግዚአብሔር የሚጠራ ሰባኪ ሃይማኖቱ የቀና፣ ስነ ምግባሩ የተስተካከለ መሆን ይጠበቅበታል፡፡</a:t>
            </a:r>
          </a:p>
          <a:p>
            <a:pPr>
              <a:spcAft>
                <a:spcPts val="1000"/>
              </a:spcAft>
            </a:pPr>
            <a:r>
              <a:rPr sz="2200">
                <a:solidFill>
                  <a:srgbClr val="333333"/>
                </a:solidFill>
              </a:rPr>
              <a:t>ጌታችን ኢየሱስ ክርስቶስ እንደተናገረው ሰባኪው፡</a:t>
            </a:r>
          </a:p>
          <a:p>
            <a:pPr>
              <a:spcAft>
                <a:spcPts val="1000"/>
              </a:spcAft>
            </a:pPr>
            <a:r>
              <a:rPr sz="2200">
                <a:solidFill>
                  <a:srgbClr val="333333"/>
                </a:solidFill>
              </a:rPr>
              <a:t>የሚጣፍጥ ጨው</a:t>
            </a:r>
          </a:p>
          <a:p>
            <a:pPr>
              <a:spcAft>
                <a:spcPts val="1000"/>
              </a:spcAft>
            </a:pPr>
            <a:r>
              <a:rPr sz="2200">
                <a:solidFill>
                  <a:srgbClr val="333333"/>
                </a:solidFill>
              </a:rPr>
              <a:t>የሚያበራ መብራት</a:t>
            </a:r>
          </a:p>
          <a:p>
            <a:pPr>
              <a:spcAft>
                <a:spcPts val="1000"/>
              </a:spcAft>
            </a:pPr>
            <a:r>
              <a:rPr sz="2200">
                <a:solidFill>
                  <a:srgbClr val="333333"/>
                </a:solidFill>
              </a:rPr>
              <a:t>መሌካም መዓዛ ያለው መሆን አለበት፡፡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ማቴ 5÷16 መልካሙን ስራችሁን አይተው በሰማያት ያለውን አባታችሁን እንዲከብሩ ብርሃናችሁ  እንዲሁ በሰው ፊት ይብራ፡፡</a:t>
            </a:r>
          </a:p>
          <a:p>
            <a:pPr>
              <a:spcAft>
                <a:spcPts val="1000"/>
              </a:spcAft>
            </a:pPr>
            <a:r>
              <a:rPr sz="2200">
                <a:solidFill>
                  <a:srgbClr val="333333"/>
                </a:solidFill>
              </a:rPr>
              <a:t>ከእውቀት ይልቅ ተግባር ይስብካልና፡፡ በመድረክ የሚያሰገርምና የሚያስደነቅ ስብከት እየሰበኩ ከመድረክ ጀርባ ተራ ምእመን የማይደፈረውን የደፍረት ኃጢአት የሚያደርግና በወረደ የክርስትና ሕይወት የሚኖር ከሆነ እርሱም ትምህርቱም ይናቃል፡፡ ሰባኪው በክርስትና ሕይወት እየኖረ ሌላውን ኑሩና እንደ እኔ ሁኑ የሚል ስለሆነ</a:t>
            </a:r>
          </a:p>
          <a:p>
            <a:pPr>
              <a:spcAft>
                <a:spcPts val="1000"/>
              </a:spcAft>
            </a:pPr>
            <a:r>
              <a:rPr sz="2200">
                <a:solidFill>
                  <a:srgbClr val="333333"/>
                </a:solidFill>
              </a:rPr>
              <a:t>/1ቆሮ 11፡1/  እኔ ክርስቶስን እንደምመስል እናንተ ደግሞ እኔን ምሰሉ፡፡</a:t>
            </a:r>
          </a:p>
          <a:p>
            <a:pPr>
              <a:spcAft>
                <a:spcPts val="1000"/>
              </a:spcAft>
            </a:pPr>
            <a:r>
              <a:rPr sz="2200">
                <a:solidFill>
                  <a:srgbClr val="333333"/>
                </a:solidFill>
              </a:rPr>
              <a:t>1ጢሞ 4÷11 ይህን እዘዝና አስተምር፡፡ በቃልና በኑሮ በፍቅርም በእዉነትም በንህጽናም ለሚያምኑቱ ምሳሌ ሁን እንጂ ማንም ታናሽነትህን አይናቀው፡፡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የቀመለ…….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ሰባኪዉ በሁለም ነገር አርአያ መሆን አለበት፡</a:t>
            </a:r>
          </a:p>
          <a:p>
            <a:pPr>
              <a:spcAft>
                <a:spcPts val="1000"/>
              </a:spcAft>
            </a:pPr>
            <a:r>
              <a:rPr sz="2200">
                <a:solidFill>
                  <a:srgbClr val="333333"/>
                </a:solidFill>
              </a:rPr>
              <a:t>አንደበቱ የታረመ እጁ ንፁሕ የሆነ</a:t>
            </a:r>
          </a:p>
          <a:p>
            <a:pPr>
              <a:spcAft>
                <a:spcPts val="1000"/>
              </a:spcAft>
            </a:pPr>
            <a:r>
              <a:rPr sz="2200">
                <a:solidFill>
                  <a:srgbClr val="333333"/>
                </a:solidFill>
              </a:rPr>
              <a:t>በጾምና በሎት የሚታወቅ</a:t>
            </a:r>
          </a:p>
          <a:p>
            <a:pPr>
              <a:spcAft>
                <a:spcPts val="1000"/>
              </a:spcAft>
            </a:pPr>
            <a:r>
              <a:rPr sz="2200">
                <a:solidFill>
                  <a:srgbClr val="333333"/>
                </a:solidFill>
              </a:rPr>
              <a:t>የሚዉልበትና የሚያድርበት የተወሰነና የሚታወቅ</a:t>
            </a:r>
          </a:p>
          <a:p>
            <a:pPr>
              <a:spcAft>
                <a:spcPts val="1000"/>
              </a:spcAft>
            </a:pPr>
            <a:r>
              <a:rPr sz="2200">
                <a:solidFill>
                  <a:srgbClr val="333333"/>
                </a:solidFill>
              </a:rPr>
              <a:t>የሚገናኛቸው የዘወትር ጓደኞች ማንነት የታወቀ</a:t>
            </a:r>
          </a:p>
          <a:p>
            <a:pPr>
              <a:spcAft>
                <a:spcPts val="1000"/>
              </a:spcAft>
            </a:pPr>
            <a:r>
              <a:rPr sz="2200">
                <a:solidFill>
                  <a:srgbClr val="333333"/>
                </a:solidFill>
              </a:rPr>
              <a:t>በቅድስና ሕይወቱ የተመሰከረለት</a:t>
            </a:r>
          </a:p>
          <a:p>
            <a:pPr>
              <a:spcAft>
                <a:spcPts val="1000"/>
              </a:spcAft>
            </a:pPr>
            <a:r>
              <a:rPr sz="2200">
                <a:solidFill>
                  <a:srgbClr val="333333"/>
                </a:solidFill>
              </a:rPr>
              <a:t>በፍቅርና በትሕትናው የሚታወቅ</a:t>
            </a:r>
          </a:p>
          <a:p>
            <a:pPr>
              <a:spcAft>
                <a:spcPts val="1000"/>
              </a:spcAft>
            </a:pPr>
            <a:r>
              <a:rPr sz="2200">
                <a:solidFill>
                  <a:srgbClr val="333333"/>
                </a:solidFill>
              </a:rPr>
              <a:t>ትእግስትን የተላበሰ ጨዋ፣ ቁጥብና አስተዋይ የሚባል</a:t>
            </a:r>
          </a:p>
          <a:p>
            <a:pPr>
              <a:spcAft>
                <a:spcPts val="1000"/>
              </a:spcAft>
            </a:pPr>
            <a:r>
              <a:rPr sz="2200">
                <a:solidFill>
                  <a:srgbClr val="333333"/>
                </a:solidFill>
              </a:rPr>
              <a:t>የምሥጢራት ተሳታፊ የሆነ ወዘተ.</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የቀመለ…….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ሐ. በአርአያ ክህነት መኖር (መቀበል)</a:t>
            </a:r>
          </a:p>
          <a:p>
            <a:pPr>
              <a:spcAft>
                <a:spcPts val="1000"/>
              </a:spcAft>
            </a:pPr>
            <a:r>
              <a:rPr sz="2200">
                <a:solidFill>
                  <a:srgbClr val="333333"/>
                </a:solidFill>
              </a:rPr>
              <a:t>ክህነት ከእግዚአብሔር የተሰጠ የአገልግሎት ፀጋ ነው፡፡በሕገ ልቡና የነበሩ አበው በእግዚአብሔር ቸርነት ከህነትን እየተቀበሉ መሥዋዕት ይሰዉ ፣ ዓሥራት ይቀበሉ ነበር ዘፍ 4፡17፡፡</a:t>
            </a:r>
          </a:p>
          <a:p>
            <a:pPr>
              <a:spcAft>
                <a:spcPts val="1000"/>
              </a:spcAft>
            </a:pPr>
            <a:r>
              <a:rPr sz="2200">
                <a:solidFill>
                  <a:srgbClr val="333333"/>
                </a:solidFill>
              </a:rPr>
              <a:t>ሕገ ኦሪት ስትመሰረትም ከሌዊ ነገድ የሆነው አሮን ካህን ሆኖ ተሹሟሌ፡፡እርሱና ልጆቹ የቤተክርስቲያን ምሳሌ በነበራቸው ደብተራ ኦሪት አገልግሎታቸውን አከናውነዋል፡፡/ዘዳ 28፡1-30፣ ዕብ 9፡1/  ዘዳ 28፡1.30፣ ዕብ 9፡1</a:t>
            </a:r>
          </a:p>
          <a:p>
            <a:pPr>
              <a:spcAft>
                <a:spcPts val="1000"/>
              </a:spcAft>
            </a:pPr>
            <a:r>
              <a:rPr sz="2200">
                <a:solidFill>
                  <a:srgbClr val="333333"/>
                </a:solidFill>
              </a:rPr>
              <a:t>የጌታችን የመዳኃኒታችን የኢየሱስ ክርስቶስ ምሳሌ የሆነው መልከጼዴቅም በዘመነ ሐዲስ ጌታችን ኢየሱስ ክርሰቶስ ለመሠረተው አማናዊ ክህነት ታሪካዊ ነው፡፡ ዕብ 7፡20 ቤተክርስቲያን በምሥረታ ዋዜማ ላይ በነበረችበት ጊዜ ጌታችን ኢየሱስ ክርስቶስ አስቀድሞ የሠራው ለደቀ መዛሙርቱ ሥልጣነ ክህነት መስጠት ነበር፡፡ ዮሐ 20፡23</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ሐዋርያትም ወደ አገልግሎት በተሰማሩ ጊዜ በየሥፍራው ካህናትን ዲያቆናትን እየሹሙ አገልግሎቱን ወደ ላቀ ደረጃ አድርሰውታል፡፡ ሐዋ 6፡1-6፣ሐዋ 20፡28፡፡ ሥልጣነ ክህነት ለስብከተ ወንጌል መስፋፋት ትልቅና ሰፊ ድረሻ አለው፡፡</a:t>
            </a:r>
          </a:p>
          <a:p>
            <a:pPr>
              <a:spcAft>
                <a:spcPts val="1000"/>
              </a:spcAft>
            </a:pPr>
            <a:r>
              <a:rPr sz="2200">
                <a:solidFill>
                  <a:srgbClr val="333333"/>
                </a:solidFill>
              </a:rPr>
              <a:t>በኢትዮጵያ ቤተክርስቲያን የስብከተ ወንጌል ታሪክ በጃንደረባው ቢጀመርም የተሟላ ሆኖ የተፈጸመውና በተግባራዊነት ዕድገት ያሳየው ከፍሬምናጦስ የክህነት አገልግሎት በኃላ ነው፡፡ ከዚያ በፊት የክህነት አገልግሎት ባለመኖሩ ክርስትና ከገባበት ከ35 እስከ 330 ድረስ የክርስትናው ታሪክ የደበዘዘ ነው የክህነት አገልግሎት አልነበረምና፡፡</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የቀመለ…….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መ. ራስን አለመስበክ</a:t>
            </a:r>
          </a:p>
          <a:p>
            <a:pPr>
              <a:spcAft>
                <a:spcPts val="1000"/>
              </a:spcAft>
            </a:pPr>
            <a:r>
              <a:rPr sz="2200">
                <a:solidFill>
                  <a:srgbClr val="333333"/>
                </a:solidFill>
              </a:rPr>
              <a:t>ምንም እንኳን በሥልጣን፣ በፍቃድ፣ በሕልውና፣ በባሕርይ ከአብና ከመንፈስ ቅዱስ ጋር አንድ ትክክል ቢሆንም በተዋሐደው ሥጋ ምክንያት ወልድ ከአብ ዘንድ የተላከና ለአብ የታዘዘ ነው፡፡ የላከኝን ፍቃድ እንጂ ፍቃዴን ላደርግ አልሻምና በማለት እንደተናገርው፡፡ ዮሐ 5፡30</a:t>
            </a:r>
          </a:p>
          <a:p>
            <a:pPr>
              <a:spcAft>
                <a:spcPts val="1000"/>
              </a:spcAft>
            </a:pPr>
            <a:r>
              <a:rPr sz="2200">
                <a:solidFill>
                  <a:srgbClr val="333333"/>
                </a:solidFill>
              </a:rPr>
              <a:t>መጥምቀ መለኮት ዮሐንስም ስለ ራስህ ምን ትላለህ ብለው ለጠየቁት የሰጠው መልስ የጌታን መንገድ አቅኑ ብሎ በምድረ በዳ የሚጮህ ሰው ድምጽ እኔ ነኝ ብቻ ነበር ያለው፡፡ ዮሐ 1፡23</a:t>
            </a:r>
          </a:p>
          <a:p>
            <a:pPr>
              <a:spcAft>
                <a:spcPts val="1000"/>
              </a:spcAft>
            </a:pPr>
            <a:r>
              <a:rPr sz="2200">
                <a:solidFill>
                  <a:srgbClr val="333333"/>
                </a:solidFill>
              </a:rPr>
              <a:t>ዮሐንስ የክርስቶስን ፈቃድ እንጂ የራሱን የሚያውቀውን እውነተኛ ታሪኩን እንኳን መናገር አልፈለገም፡፡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ሐዋርያው ዮሐንስም በፍጥሞ ደሴት ታስሯል፡፡ የታሰረበት ቦታና ምክንያትም እንደ ሮማ ምክር ቤት ከባድ ነበር፡፡ ነገር ግን ‹ ስለ እግዚአብሔር ቃልና ስለ ኢየሱስ ክርሰቶሰ ምስክር ፍጥሞ በምትባል ደሴት ነበርኩ› በማለት ብቻ ነበር ራዕዩን የጻፈው / ራዕ 1፡19/</a:t>
            </a:r>
          </a:p>
          <a:p>
            <a:pPr>
              <a:spcAft>
                <a:spcPts val="1000"/>
              </a:spcAft>
            </a:pPr>
            <a:r>
              <a:rPr sz="2200">
                <a:solidFill>
                  <a:srgbClr val="333333"/>
                </a:solidFill>
              </a:rPr>
              <a:t>የእግዚአብሔርን መንግስት ወንጌል የሚሰብክ</a:t>
            </a:r>
          </a:p>
          <a:p>
            <a:pPr>
              <a:spcAft>
                <a:spcPts val="1000"/>
              </a:spcAft>
            </a:pPr>
            <a:r>
              <a:rPr sz="2200">
                <a:solidFill>
                  <a:srgbClr val="333333"/>
                </a:solidFill>
              </a:rPr>
              <a:t>ሐዋርያት የሰበኩትን የተጋደሉለትን</a:t>
            </a:r>
          </a:p>
          <a:p>
            <a:pPr>
              <a:spcAft>
                <a:spcPts val="1000"/>
              </a:spcAft>
            </a:pPr>
            <a:r>
              <a:rPr sz="2200">
                <a:solidFill>
                  <a:srgbClr val="333333"/>
                </a:solidFill>
              </a:rPr>
              <a:t>ሊቀውንት የተረጐሙትንና ያመሰጠሩትን</a:t>
            </a:r>
          </a:p>
          <a:p>
            <a:pPr>
              <a:spcAft>
                <a:spcPts val="1000"/>
              </a:spcAft>
            </a:pPr>
            <a:r>
              <a:rPr sz="2200">
                <a:solidFill>
                  <a:srgbClr val="333333"/>
                </a:solidFill>
              </a:rPr>
              <a:t>ሰማዕታት የተለያዩ ፀዋተው መከራዎችን የተቀበሉበትን ክርስቶስን  የሚሰብክ ሰባኪ የራሱን ነገር መናገር የለበትም፡፡</a:t>
            </a:r>
          </a:p>
          <a:p>
            <a:pPr>
              <a:spcAft>
                <a:spcPts val="1000"/>
              </a:spcAft>
            </a:pPr>
            <a:r>
              <a:rPr sz="2200">
                <a:solidFill>
                  <a:srgbClr val="333333"/>
                </a:solidFill>
              </a:rPr>
              <a:t>‹ብዙ ሰዎች ቸርነታቸውን ያወራሉ የታመነውን ሰው ግን ማን ያገኘዋል› ምሳ 20፡6</a:t>
            </a:r>
          </a:p>
          <a:p>
            <a:pPr>
              <a:spcAft>
                <a:spcPts val="1000"/>
              </a:spcAft>
            </a:pPr>
            <a:r>
              <a:rPr sz="2200">
                <a:solidFill>
                  <a:srgbClr val="333333"/>
                </a:solidFill>
              </a:rPr>
              <a:t>‹እግዚአብሔር የላክው የእግዚአብሔር ቃለ ይናገራል› ዮሐ. 3፡34</a:t>
            </a:r>
          </a:p>
          <a:p>
            <a:pPr>
              <a:spcAft>
                <a:spcPts val="1000"/>
              </a:spcAft>
            </a:pPr>
            <a:r>
              <a:rPr sz="2200">
                <a:solidFill>
                  <a:srgbClr val="333333"/>
                </a:solidFill>
              </a:rPr>
              <a:t>‹ ልቡናዬ መልካም ነገርን አፈለቀ /አወጣ/ ዳዊት ፣ሕርያቆስ›</a:t>
            </a:r>
          </a:p>
          <a:p>
            <a:pPr>
              <a:spcAft>
                <a:spcPts val="1000"/>
              </a:spcAft>
            </a:pPr>
            <a:r>
              <a:rPr sz="2200">
                <a:solidFill>
                  <a:srgbClr val="333333"/>
                </a:solidFill>
              </a:rPr>
              <a:t>‹እኛ ግን የተሰቀለውን ክርስቶስን እንሰብካለን› 1ቆሮ 1፡23 እንዲል እንደተባለ፡</a:t>
            </a:r>
          </a:p>
          <a:p>
            <a:pPr>
              <a:spcAft>
                <a:spcPts val="1000"/>
              </a:spcAft>
            </a:pPr>
            <a:r>
              <a:rPr sz="2200">
                <a:solidFill>
                  <a:srgbClr val="333333"/>
                </a:solidFill>
              </a:rPr>
              <a:t>እንዲሁም ቅዱስ ጳውሎስ ለጢሞቲዎስ በላከው መልእክቱ 1ኛ ጢሞ 4፡12 ላይ ለሚያምኑቱ ምሳሌ ሁን እንዳለን አንድ ሰባኪ እራሱን እየሰበከ መኖር እንደሌለበት ተምረናል፡፡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የቀመለ…….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ሠ. የተሰባክያንን ሥነ ሌቡና መረዳት</a:t>
            </a:r>
          </a:p>
          <a:p>
            <a:pPr>
              <a:spcAft>
                <a:spcPts val="1000"/>
              </a:spcAft>
            </a:pPr>
            <a:r>
              <a:rPr sz="2200">
                <a:solidFill>
                  <a:srgbClr val="333333"/>
                </a:solidFill>
              </a:rPr>
              <a:t>በመማር ማስተማር ሂደት ውስጥ የተሰባክያንን ስነ ልቡና ማወቅ ለስበከተ ወንጌል መስፋፋትና ውጤታማነት የላቀ አስተዋጽኦ አለው፡፡  ጌታችን በዚህ ምድር በነበረበት ጊዜ የተጠቀመበት ዘዴ የአድማጮችን የልብ ፍላጏት  መረዳት ነበር፡፡</a:t>
            </a:r>
          </a:p>
          <a:p>
            <a:pPr>
              <a:spcAft>
                <a:spcPts val="1000"/>
              </a:spcAft>
            </a:pPr>
            <a:r>
              <a:rPr sz="2200">
                <a:solidFill>
                  <a:srgbClr val="333333"/>
                </a:solidFill>
              </a:rPr>
              <a:t>ሊጠይቁት እንደሚፈልጉ ማውቀና መረዳት</a:t>
            </a:r>
          </a:p>
          <a:p>
            <a:pPr>
              <a:spcAft>
                <a:spcPts val="1000"/>
              </a:spcAft>
            </a:pPr>
            <a:r>
              <a:rPr sz="2200">
                <a:solidFill>
                  <a:srgbClr val="333333"/>
                </a:solidFill>
              </a:rPr>
              <a:t>መዳን እንደሚወዱ ማወቅ፣ ጠይቆ መረዳት</a:t>
            </a:r>
          </a:p>
          <a:p>
            <a:pPr>
              <a:spcAft>
                <a:spcPts val="1000"/>
              </a:spcAft>
            </a:pPr>
            <a:r>
              <a:rPr sz="2200">
                <a:solidFill>
                  <a:srgbClr val="333333"/>
                </a:solidFill>
              </a:rPr>
              <a:t>እንደራባቸውና ምግብ እንደሚያስፈልጋቸው መገንዘብ</a:t>
            </a:r>
          </a:p>
          <a:p>
            <a:pPr>
              <a:spcAft>
                <a:spcPts val="1000"/>
              </a:spcAft>
            </a:pPr>
            <a:r>
              <a:rPr sz="2200">
                <a:solidFill>
                  <a:srgbClr val="333333"/>
                </a:solidFill>
              </a:rPr>
              <a:t>ሊፈትኑት እንደሚጠየቁት ማወቅ ወዘተ…</a:t>
            </a:r>
          </a:p>
          <a:p>
            <a:pPr>
              <a:spcAft>
                <a:spcPts val="1000"/>
              </a:spcAft>
            </a:pPr>
            <a:r>
              <a:rPr sz="2200">
                <a:solidFill>
                  <a:srgbClr val="333333"/>
                </a:solidFill>
              </a:rPr>
              <a:t>ተሰባኪን ወይም አድማጭን የማወቅ ጠቀሜታው፡</a:t>
            </a:r>
          </a:p>
          <a:p>
            <a:pPr>
              <a:spcAft>
                <a:spcPts val="1000"/>
              </a:spcAft>
            </a:pPr>
            <a:r>
              <a:rPr sz="2200">
                <a:solidFill>
                  <a:srgbClr val="333333"/>
                </a:solidFill>
              </a:rPr>
              <a:t>1. የትምህርቱን ዓይነት ለመምረጥ            2. የትምህርቱን ይዘት ለመወሰን</a:t>
            </a:r>
          </a:p>
          <a:p>
            <a:pPr>
              <a:spcAft>
                <a:spcPts val="1000"/>
              </a:spcAft>
            </a:pPr>
            <a:r>
              <a:rPr sz="2200">
                <a:solidFill>
                  <a:srgbClr val="333333"/>
                </a:solidFill>
              </a:rPr>
              <a:t>3. የትምህርቱን መጠን ለመወሰን             4. የትምህርቱን ጊዜ ለመወሰን</a:t>
            </a:r>
          </a:p>
          <a:p>
            <a:pPr>
              <a:spcAft>
                <a:spcPts val="1000"/>
              </a:spcAft>
            </a:pPr>
            <a:r>
              <a:rPr sz="2200">
                <a:solidFill>
                  <a:srgbClr val="333333"/>
                </a:solidFill>
              </a:rPr>
              <a:t>5. የትምህርቱን አቀራረብ ለመወሰን        6. የምናስተምረበትን ዘዴ ለመምረጥ ወዘተ</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የቀመለ…….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ረ. የስብከት ሰዓትን መጠበቅ</a:t>
            </a:r>
          </a:p>
          <a:p>
            <a:pPr>
              <a:spcAft>
                <a:spcPts val="1000"/>
              </a:spcAft>
            </a:pPr>
            <a:r>
              <a:rPr sz="2200">
                <a:solidFill>
                  <a:srgbClr val="333333"/>
                </a:solidFill>
              </a:rPr>
              <a:t>ሰባኪው ሰብከቱን ወጤታማ ለማድረግ በጊዜ መወሰን ግድ ይለዋል፡፡ የሚጠቀምባቸውን ጊዜያት ወስኖ ማክበርና በአገባቡ ሥራ ላይ ማዋል፡፡ ሰዓት ከረዘመ ስብከቱ ሊንዛዛና አሰልቺ ሊሆን ይችላል፡፡</a:t>
            </a:r>
          </a:p>
          <a:p>
            <a:pPr>
              <a:spcAft>
                <a:spcPts val="1000"/>
              </a:spcAft>
            </a:pPr>
            <a:r>
              <a:rPr sz="2200">
                <a:solidFill>
                  <a:srgbClr val="333333"/>
                </a:solidFill>
              </a:rPr>
              <a:t>የስብከት ሰዓት እንደየሁኔታው ለመወሰን፡</a:t>
            </a:r>
          </a:p>
          <a:p>
            <a:pPr>
              <a:spcAft>
                <a:spcPts val="1000"/>
              </a:spcAft>
            </a:pPr>
            <a:r>
              <a:rPr sz="2200">
                <a:solidFill>
                  <a:srgbClr val="333333"/>
                </a:solidFill>
              </a:rPr>
              <a:t>ትምህርቱ የሚሰጥበት ቦታ፡ ቀዝቃዛ ፣ሞቃታማ፣ ዝናብ የሚበዛበት</a:t>
            </a:r>
          </a:p>
          <a:p>
            <a:pPr>
              <a:spcAft>
                <a:spcPts val="1000"/>
              </a:spcAft>
            </a:pPr>
            <a:r>
              <a:rPr sz="2200">
                <a:solidFill>
                  <a:srgbClr val="333333"/>
                </a:solidFill>
              </a:rPr>
              <a:t>2.ትምህርቱ የሚሰጠበት ሰዓት                3. በአካባቢው የተለመደ ምቹ ሰዓት</a:t>
            </a:r>
          </a:p>
          <a:p>
            <a:pPr>
              <a:spcAft>
                <a:spcPts val="1000"/>
              </a:spcAft>
            </a:pPr>
            <a:r>
              <a:rPr sz="2200">
                <a:solidFill>
                  <a:srgbClr val="333333"/>
                </a:solidFill>
              </a:rPr>
              <a:t>4. በአካባቢዉ ያሉ ሌሎች ተጽእኖዎች</a:t>
            </a:r>
          </a:p>
          <a:p>
            <a:pPr>
              <a:spcAft>
                <a:spcPts val="1000"/>
              </a:spcAft>
            </a:pPr>
            <a:r>
              <a:rPr sz="2200">
                <a:solidFill>
                  <a:srgbClr val="333333"/>
                </a:solidFill>
              </a:rPr>
              <a:t>- የአሕዛብ              - የመናፍቃን       - የፖለቲከኞች</a:t>
            </a:r>
          </a:p>
          <a:p>
            <a:pPr>
              <a:spcAft>
                <a:spcPts val="1000"/>
              </a:spcAft>
            </a:pPr>
            <a:r>
              <a:rPr sz="2200">
                <a:solidFill>
                  <a:srgbClr val="333333"/>
                </a:solidFill>
              </a:rPr>
              <a:t>- የኅብረተሰቡ አመለካከት እነዚህ ሁሉ ታሳቢ ሊደረጉ ይገባቸዋል፡፡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የቀመለ…….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ሰ. የስብከት ርዕስ መጠበቅ</a:t>
            </a:r>
          </a:p>
          <a:p>
            <a:pPr>
              <a:spcAft>
                <a:spcPts val="1000"/>
              </a:spcAft>
            </a:pPr>
            <a:r>
              <a:rPr sz="2200">
                <a:solidFill>
                  <a:srgbClr val="333333"/>
                </a:solidFill>
              </a:rPr>
              <a:t>ስብከት ርዕሱ ካልተጠበቀ ውጤታማ ሊሆን አይችልም፤ ምእመናኑ የሚጨብጡት ነገር አይኖራቸውም ሰባኪውም ትዝብት ውስጥ ይወድቃል፡፡</a:t>
            </a:r>
          </a:p>
          <a:p>
            <a:pPr>
              <a:spcAft>
                <a:spcPts val="1000"/>
              </a:spcAft>
            </a:pPr>
            <a:r>
              <a:rPr sz="2200">
                <a:solidFill>
                  <a:srgbClr val="333333"/>
                </a:solidFill>
              </a:rPr>
              <a:t>ርዕስ መጠበቅ የሚሰጠው ትምህርት ወጥና ያልተደባለቀ ያደርገዋል፡፡</a:t>
            </a:r>
          </a:p>
          <a:p>
            <a:pPr>
              <a:spcAft>
                <a:spcPts val="1000"/>
              </a:spcAft>
            </a:pPr>
            <a:r>
              <a:rPr sz="2200">
                <a:solidFill>
                  <a:srgbClr val="333333"/>
                </a:solidFill>
              </a:rPr>
              <a:t>ለምሳሌ፡-</a:t>
            </a:r>
          </a:p>
          <a:p>
            <a:pPr>
              <a:spcAft>
                <a:spcPts val="1000"/>
              </a:spcAft>
            </a:pPr>
            <a:r>
              <a:rPr sz="2200">
                <a:solidFill>
                  <a:srgbClr val="333333"/>
                </a:solidFill>
              </a:rPr>
              <a:t>- ስለ ምሥጢረ ሥላሴ ጀምሮ ስለ ጾም</a:t>
            </a:r>
          </a:p>
          <a:p>
            <a:pPr>
              <a:spcAft>
                <a:spcPts val="1000"/>
              </a:spcAft>
            </a:pPr>
            <a:r>
              <a:rPr sz="2200">
                <a:solidFill>
                  <a:srgbClr val="333333"/>
                </a:solidFill>
              </a:rPr>
              <a:t>- ስለ ቅዱስ ቁርባን ጀምሮ ስለ ሥዕል</a:t>
            </a:r>
          </a:p>
          <a:p>
            <a:pPr>
              <a:spcAft>
                <a:spcPts val="1000"/>
              </a:spcAft>
            </a:pPr>
            <a:r>
              <a:rPr sz="2200">
                <a:solidFill>
                  <a:srgbClr val="333333"/>
                </a:solidFill>
              </a:rPr>
              <a:t>- ስለ ክርስቶስ የባሕርይ አምላክነት ጀምሮ ስለ ታቦት የሚል ከሆነ አርባ ስህተት ይሆናል፡፡ ሰዓትና ርዕስ መጠበቅ የአንድ ሰባኪ መታወቅያዎች ናቸው፡፡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3.የስብከት ዓይነቶች፡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ሀ.ይዘትን መሠረት ያደረገ አከፋፈል፡፡</a:t>
            </a:r>
          </a:p>
          <a:p>
            <a:pPr>
              <a:spcAft>
                <a:spcPts val="1000"/>
              </a:spcAft>
            </a:pPr>
            <a:r>
              <a:rPr sz="2200">
                <a:solidFill>
                  <a:srgbClr val="333333"/>
                </a:solidFill>
              </a:rPr>
              <a:t>የስብከት ዓይነት በይዘታቸው በሦስት ይከፈላሉ፡፡ እነርሱም</a:t>
            </a:r>
          </a:p>
          <a:p>
            <a:pPr>
              <a:spcAft>
                <a:spcPts val="1000"/>
              </a:spcAft>
            </a:pPr>
            <a:r>
              <a:rPr sz="2200">
                <a:solidFill>
                  <a:srgbClr val="333333"/>
                </a:solidFill>
              </a:rPr>
              <a:t>1. ትምህርት ፡</a:t>
            </a:r>
          </a:p>
          <a:p>
            <a:pPr>
              <a:spcAft>
                <a:spcPts val="1000"/>
              </a:spcAft>
            </a:pPr>
            <a:r>
              <a:rPr sz="2200">
                <a:solidFill>
                  <a:srgbClr val="333333"/>
                </a:solidFill>
              </a:rPr>
              <a:t>በእውቀት ላይ የተመሠረተ</a:t>
            </a:r>
          </a:p>
          <a:p>
            <a:pPr>
              <a:spcAft>
                <a:spcPts val="1000"/>
              </a:spcAft>
            </a:pPr>
            <a:r>
              <a:rPr sz="2200">
                <a:solidFill>
                  <a:srgbClr val="333333"/>
                </a:solidFill>
              </a:rPr>
              <a:t>ተከታታይነት ያለው</a:t>
            </a:r>
          </a:p>
          <a:p>
            <a:pPr>
              <a:spcAft>
                <a:spcPts val="1000"/>
              </a:spcAft>
            </a:pPr>
            <a:r>
              <a:rPr sz="2200">
                <a:solidFill>
                  <a:srgbClr val="333333"/>
                </a:solidFill>
              </a:rPr>
              <a:t>በማስረጃ የተደገፈ</a:t>
            </a:r>
          </a:p>
          <a:p>
            <a:pPr>
              <a:spcAft>
                <a:spcPts val="1000"/>
              </a:spcAft>
            </a:pPr>
            <a:r>
              <a:rPr sz="2200">
                <a:solidFill>
                  <a:srgbClr val="333333"/>
                </a:solidFill>
              </a:rPr>
              <a:t>2. ትምህርታዊ ስብከት፡</a:t>
            </a:r>
          </a:p>
          <a:p>
            <a:pPr>
              <a:spcAft>
                <a:spcPts val="1000"/>
              </a:spcAft>
            </a:pPr>
            <a:r>
              <a:rPr sz="2200">
                <a:solidFill>
                  <a:srgbClr val="333333"/>
                </a:solidFill>
              </a:rPr>
              <a:t>በጥምረት የሚስጥ</a:t>
            </a:r>
          </a:p>
          <a:p>
            <a:pPr>
              <a:spcAft>
                <a:spcPts val="1000"/>
              </a:spcAft>
            </a:pPr>
            <a:r>
              <a:rPr sz="2200">
                <a:solidFill>
                  <a:srgbClr val="333333"/>
                </a:solidFill>
              </a:rPr>
              <a:t>መነሻው ትምህርት መድርሻው ስብከት የሆነ</a:t>
            </a:r>
          </a:p>
          <a:p>
            <a:pPr>
              <a:spcAft>
                <a:spcPts val="1000"/>
              </a:spcAft>
            </a:pPr>
            <a:r>
              <a:rPr sz="2200">
                <a:solidFill>
                  <a:srgbClr val="333333"/>
                </a:solidFill>
              </a:rPr>
              <a:t>ማስረጃ በመስጠት ሰውን ወደ ፈጣሪው የሚያቀርብ</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3. ስብከት ፡</a:t>
            </a:r>
          </a:p>
          <a:p>
            <a:pPr>
              <a:spcAft>
                <a:spcPts val="1000"/>
              </a:spcAft>
            </a:pPr>
            <a:r>
              <a:rPr sz="2200">
                <a:solidFill>
                  <a:srgbClr val="333333"/>
                </a:solidFill>
              </a:rPr>
              <a:t>ቀለል ባለ አገላለጽ የሚቀርብ</a:t>
            </a:r>
          </a:p>
          <a:p>
            <a:pPr>
              <a:spcAft>
                <a:spcPts val="1000"/>
              </a:spcAft>
            </a:pPr>
            <a:r>
              <a:rPr sz="2200">
                <a:solidFill>
                  <a:srgbClr val="333333"/>
                </a:solidFill>
              </a:rPr>
              <a:t>ማስረዳትና ማሳየት ላይ የሚያተኮር</a:t>
            </a:r>
          </a:p>
          <a:p>
            <a:pPr>
              <a:spcAft>
                <a:spcPts val="1000"/>
              </a:spcAft>
            </a:pPr>
            <a:r>
              <a:rPr sz="2200">
                <a:solidFill>
                  <a:srgbClr val="333333"/>
                </a:solidFill>
              </a:rPr>
              <a:t>የሰውን ልቡናና አእምሮ መማረክ እና መግዛት የሚችል</a:t>
            </a:r>
          </a:p>
          <a:p>
            <a:pPr>
              <a:spcAft>
                <a:spcPts val="1000"/>
              </a:spcAft>
            </a:pPr>
            <a:r>
              <a:rPr sz="2200">
                <a:solidFill>
                  <a:srgbClr val="333333"/>
                </a:solidFill>
              </a:rPr>
              <a:t>ሁለንተናዊ ስሜቱን የሚቆጣጠር</a:t>
            </a:r>
          </a:p>
          <a:p>
            <a:pPr>
              <a:spcAft>
                <a:spcPts val="1000"/>
              </a:spcAft>
            </a:pPr>
            <a:r>
              <a:rPr sz="2200">
                <a:solidFill>
                  <a:srgbClr val="333333"/>
                </a:solidFill>
              </a:rPr>
              <a:t>ምእመናን በሰሩት ኅጢአት ተጸጽተው ንስሐ እንዲገቡ የሚያደርግ</a:t>
            </a:r>
          </a:p>
          <a:p>
            <a:pPr>
              <a:spcAft>
                <a:spcPts val="1000"/>
              </a:spcAft>
            </a:pPr>
            <a:r>
              <a:rPr sz="2200">
                <a:solidFill>
                  <a:srgbClr val="333333"/>
                </a:solidFill>
              </a:rPr>
              <a:t>የእግዚአብሔርን ቁጣውን፣ ቸርነቱንና ፍቅሩን በአንድ ጊዜ የሚያሳይ</a:t>
            </a:r>
          </a:p>
          <a:p>
            <a:pPr>
              <a:spcAft>
                <a:spcPts val="1000"/>
              </a:spcAft>
            </a:pPr>
            <a:r>
              <a:rPr sz="2200">
                <a:solidFill>
                  <a:srgbClr val="333333"/>
                </a:solidFill>
              </a:rPr>
              <a:t>ጥያቄ</a:t>
            </a:r>
          </a:p>
          <a:p>
            <a:pPr>
              <a:spcAft>
                <a:spcPts val="1000"/>
              </a:spcAft>
            </a:pPr>
            <a:r>
              <a:rPr sz="2200">
                <a:solidFill>
                  <a:srgbClr val="333333"/>
                </a:solidFill>
              </a:rPr>
              <a:t>ከላይ ከተዘረዘሩት ሦስት የስብከት ዓይነቶች ለማዘጋጀትና ለማቅረብ የሚከብደው የትኛው ይመስላችሁዋል?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3.1 የትምህርት አቀራረብ</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ታሪካዊ /Historical/</a:t>
            </a:r>
          </a:p>
          <a:p>
            <a:pPr>
              <a:spcAft>
                <a:spcPts val="1000"/>
              </a:spcAft>
            </a:pPr>
            <a:r>
              <a:rPr sz="2200">
                <a:solidFill>
                  <a:srgbClr val="333333"/>
                </a:solidFill>
              </a:rPr>
              <a:t>ይህ ዘዴ አብዛኛውን ጊዜ በበዓላት ቀን የምናስተምርበት መንገድ ነው፡፡ በየበዓላቱ የዕለቱ ስንክሳር፣ ገድል፣ድርሳን ይነበባል፣ ይተረካል፡፡ ሰባኪውና የስብከቱ ቦታ የኦርቶድክስ ቤተክርስቲያን እንደመሆኑ እነዚህን አስቀድሞ አንብቦና አጥንቶ ለምእመናን ማስተማር ይጠበቅበታል፡፡</a:t>
            </a:r>
          </a:p>
          <a:p>
            <a:pPr>
              <a:spcAft>
                <a:spcPts val="1000"/>
              </a:spcAft>
            </a:pPr>
            <a:r>
              <a:rPr sz="2200">
                <a:solidFill>
                  <a:srgbClr val="333333"/>
                </a:solidFill>
              </a:rPr>
              <a:t>2 ነገረ ሃይማኖት /Dogmatic</a:t>
            </a:r>
          </a:p>
          <a:p>
            <a:pPr>
              <a:spcAft>
                <a:spcPts val="1000"/>
              </a:spcAft>
            </a:pPr>
            <a:r>
              <a:rPr sz="2200">
                <a:solidFill>
                  <a:srgbClr val="333333"/>
                </a:solidFill>
              </a:rPr>
              <a:t>ከስብከቶች ሁሉ ጠጣርና ከባድ የሚባለው የስብከት ዓይነት ነው፡፡ ይህን ትምህርት ለማስተማር ሰባኪው የሚከተለትን ነጠቦች ማስታዋል ይጠበቅበታል፡፡</a:t>
            </a:r>
          </a:p>
          <a:p>
            <a:pPr>
              <a:spcAft>
                <a:spcPts val="1000"/>
              </a:spcAft>
            </a:pPr>
            <a:r>
              <a:rPr sz="2200">
                <a:solidFill>
                  <a:srgbClr val="333333"/>
                </a:solidFill>
              </a:rPr>
              <a:t>ሀ. አንድ ነጥብ ላይ ብቻ ማተኮር</a:t>
            </a:r>
          </a:p>
          <a:p>
            <a:pPr>
              <a:spcAft>
                <a:spcPts val="1000"/>
              </a:spcAft>
            </a:pPr>
            <a:r>
              <a:rPr sz="2200">
                <a:solidFill>
                  <a:srgbClr val="333333"/>
                </a:solidFill>
              </a:rPr>
              <a:t>ለምሳሌ፡ ሀልዎተ እግዚአብሔር ፣ ምሥጢረ ሥላሴ</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 በሚገባ ማብራራት፡ ሊያስተምር የፈለገውን ነጥብ በሚገባ ማብራራት ይኖርበታል፡፡ የሚያበራራባቸው ዘዴዎችም፡</a:t>
            </a:r>
          </a:p>
          <a:p>
            <a:pPr>
              <a:spcAft>
                <a:spcPts val="1000"/>
              </a:spcAft>
            </a:pPr>
            <a:r>
              <a:rPr sz="2200">
                <a:solidFill>
                  <a:srgbClr val="333333"/>
                </a:solidFill>
              </a:rPr>
              <a:t>ምሳሌዎችን በማንሳት፡ ምሥጢረ ሥላሴን ማስተማር ቢፈልግ በፀሐይ፣ በእሳት፣ በሰው መስሎ ማስተማር</a:t>
            </a:r>
          </a:p>
          <a:p>
            <a:pPr>
              <a:spcAft>
                <a:spcPts val="1000"/>
              </a:spcAft>
            </a:pPr>
            <a:r>
              <a:rPr sz="2200">
                <a:solidFill>
                  <a:srgbClr val="333333"/>
                </a:solidFill>
              </a:rPr>
              <a:t>2. ስለ እመቤታችን አማላጅነት፡ የበላኤሰብን ታሪክ በማስታወስ መተረክ</a:t>
            </a:r>
          </a:p>
          <a:p>
            <a:pPr>
              <a:spcAft>
                <a:spcPts val="1000"/>
              </a:spcAft>
            </a:pPr>
            <a:r>
              <a:rPr sz="2200">
                <a:solidFill>
                  <a:srgbClr val="333333"/>
                </a:solidFill>
              </a:rPr>
              <a:t>3. ለትምህርት አስረጂ ጥቅሶችን በማንሳት</a:t>
            </a:r>
          </a:p>
          <a:p>
            <a:pPr>
              <a:spcAft>
                <a:spcPts val="1000"/>
              </a:spcAft>
            </a:pPr>
            <a:r>
              <a:rPr sz="2200">
                <a:solidFill>
                  <a:srgbClr val="333333"/>
                </a:solidFill>
              </a:rPr>
              <a:t>4. የሊቃውንትን ብሒል በመጠቀም</a:t>
            </a:r>
          </a:p>
          <a:p>
            <a:pPr>
              <a:spcAft>
                <a:spcPts val="1000"/>
              </a:spcAft>
            </a:pPr>
            <a:r>
              <a:rPr sz="2200">
                <a:solidFill>
                  <a:srgbClr val="333333"/>
                </a:solidFill>
              </a:rPr>
              <a:t>ሐ.የአባቶችን ቃላት መጠቀም፡ ሰባኪው በሚያስተምርበት ሰዓት የማይገቡ ቃላት ተጠቅሞ ምሥጢራትን እንዳያፋልስ የአባቶችን አባባል በሚገባ መጠቀም፡፡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ባለ አንድ ሐረግ ስብከት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ባለ አንድ ሐረግ ስብከት የሚባለው ሰባኪው ከመጽሐፍ ቅዱስ አንድ ሐረግ መዝዞ ያንን ተመርኩዞ የሚሰጥ ትምህርት ነው፡፡ ለምሳሌ ‹በፈተና የሚጸና የተባረከ ነው ያዕ 1፡12 ብሎ ከተነሣ፡</a:t>
            </a:r>
          </a:p>
          <a:p>
            <a:pPr>
              <a:spcAft>
                <a:spcPts val="1000"/>
              </a:spcAft>
            </a:pPr>
            <a:r>
              <a:rPr sz="2200">
                <a:solidFill>
                  <a:srgbClr val="333333"/>
                </a:solidFill>
              </a:rPr>
              <a:t>የፈተናን ምንነት</a:t>
            </a:r>
          </a:p>
          <a:p>
            <a:pPr>
              <a:spcAft>
                <a:spcPts val="1000"/>
              </a:spcAft>
            </a:pPr>
            <a:r>
              <a:rPr sz="2200">
                <a:solidFill>
                  <a:srgbClr val="333333"/>
                </a:solidFill>
              </a:rPr>
              <a:t>የፈተናን ዓይነት</a:t>
            </a:r>
          </a:p>
          <a:p>
            <a:pPr>
              <a:spcAft>
                <a:spcPts val="1000"/>
              </a:spcAft>
            </a:pPr>
            <a:r>
              <a:rPr sz="2200">
                <a:solidFill>
                  <a:srgbClr val="333333"/>
                </a:solidFill>
              </a:rPr>
              <a:t>ፈተና የሚመጣባቸውን መንገዶች</a:t>
            </a:r>
          </a:p>
          <a:p>
            <a:pPr>
              <a:spcAft>
                <a:spcPts val="1000"/>
              </a:spcAft>
            </a:pPr>
            <a:r>
              <a:rPr sz="2200">
                <a:solidFill>
                  <a:srgbClr val="333333"/>
                </a:solidFill>
              </a:rPr>
              <a:t>ፈተናን እንዴት ማለፍ ይቻላል</a:t>
            </a:r>
          </a:p>
          <a:p>
            <a:pPr>
              <a:spcAft>
                <a:spcPts val="1000"/>
              </a:spcAft>
            </a:pPr>
            <a:r>
              <a:rPr sz="2200">
                <a:solidFill>
                  <a:srgbClr val="333333"/>
                </a:solidFill>
              </a:rPr>
              <a:t>በፈተናው ጸንተው ያለፉ ቅዱሳን ሰወችን ታሪክ እያነሣ ከዘመኑና ከሰው ሕይወት ጋር በማዋሃድ በሰፊው ማስተማር ነው፡፡ ‹አንድ ሐረግ ሲስቡ ድር ይሰበስቡ› እንዲሉ፡፡</a:t>
            </a:r>
          </a:p>
          <a:p>
            <a:pPr>
              <a:spcAft>
                <a:spcPts val="1000"/>
              </a:spcAft>
            </a:pPr>
            <a:r>
              <a:rPr sz="2200">
                <a:solidFill>
                  <a:srgbClr val="333333"/>
                </a:solidFill>
              </a:rPr>
              <a:t>‹ባለ አንድ ሃረግ› የሚለው መነሻ ይሁን እንጂ ብዙ ዓይነት የስብከት ስልቶች አሉ፡፡</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ቅዳሴያዊ ስብከት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ይህ ዓይነት ስብከት ፣በጾም ወቅት በኪዳን የጸሎት ሰዓት፣ በንግስ ጊዜ፣ በሥርዓተ ቅዳሴ መካከል የሚሰጥ ትምህርት ነው፡፡ በቤተክርስቲያናችን ዋነኛው የስብከት ዘዴ ነው፡፡</a:t>
            </a:r>
          </a:p>
          <a:p>
            <a:pPr>
              <a:spcAft>
                <a:spcPts val="1000"/>
              </a:spcAft>
            </a:pPr>
            <a:r>
              <a:rPr sz="2200">
                <a:solidFill>
                  <a:srgbClr val="333333"/>
                </a:solidFill>
              </a:rPr>
              <a:t>ይህ የስብከት ዘዴ ብዙ ጥቅሞች አሉት፡</a:t>
            </a:r>
          </a:p>
          <a:p>
            <a:pPr>
              <a:spcAft>
                <a:spcPts val="1000"/>
              </a:spcAft>
            </a:pPr>
            <a:r>
              <a:rPr sz="2200">
                <a:solidFill>
                  <a:srgbClr val="333333"/>
                </a:solidFill>
              </a:rPr>
              <a:t>በአንድ ጊዜ ብዙ ሕዝብ ይገኝበታል</a:t>
            </a:r>
          </a:p>
          <a:p>
            <a:pPr>
              <a:spcAft>
                <a:spcPts val="1000"/>
              </a:spcAft>
            </a:pPr>
            <a:r>
              <a:rPr sz="2200">
                <a:solidFill>
                  <a:srgbClr val="333333"/>
                </a:solidFill>
              </a:rPr>
              <a:t>ሕዋሳት በሙሉ ተሳትፊ ያደርጋል</a:t>
            </a:r>
          </a:p>
          <a:p>
            <a:pPr>
              <a:spcAft>
                <a:spcPts val="1000"/>
              </a:spcAft>
            </a:pPr>
            <a:r>
              <a:rPr sz="2200">
                <a:solidFill>
                  <a:srgbClr val="333333"/>
                </a:solidFill>
              </a:rPr>
              <a:t>በሁሉም ንዋያተ ቅዱሳት ማስተማር ይቻላል</a:t>
            </a:r>
          </a:p>
          <a:p>
            <a:pPr>
              <a:spcAft>
                <a:spcPts val="1000"/>
              </a:spcAft>
            </a:pPr>
            <a:r>
              <a:rPr sz="2200">
                <a:solidFill>
                  <a:srgbClr val="333333"/>
                </a:solidFill>
              </a:rPr>
              <a:t>ከሕፃን እስከ አዋቂ ይታደሙበታል</a:t>
            </a:r>
          </a:p>
          <a:p>
            <a:pPr>
              <a:spcAft>
                <a:spcPts val="1000"/>
              </a:spcAft>
            </a:pPr>
            <a:r>
              <a:rPr sz="2200">
                <a:solidFill>
                  <a:srgbClr val="333333"/>
                </a:solidFill>
              </a:rPr>
              <a:t>በየጊዜው ስለሚሰጥ ትምህርቱ አይረሴ ይሆናል</a:t>
            </a:r>
          </a:p>
          <a:p>
            <a:pPr>
              <a:spcAft>
                <a:spcPts val="1000"/>
              </a:spcAft>
            </a:pPr>
            <a:r>
              <a:rPr sz="2200">
                <a:solidFill>
                  <a:srgbClr val="333333"/>
                </a:solidFill>
              </a:rPr>
              <a:t>ብዙ ታሪኮችንና ትምህርቶችን በአንድ ጊዜ ያቀርባል</a:t>
            </a:r>
          </a:p>
          <a:p>
            <a:pPr>
              <a:spcAft>
                <a:spcPts val="1000"/>
              </a:spcAft>
            </a:pPr>
            <a:r>
              <a:rPr sz="2200">
                <a:solidFill>
                  <a:srgbClr val="333333"/>
                </a:solidFill>
              </a:rPr>
              <a:t>ለምሳሌ፡ የቅዳሴው ምንባብ፣ ዜማው የ3ቱም የዜማ ስልት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4.ስብከት በሚዘጋጅበት ወቅት ሊታሳቡ የሚገባቸዉ ነገሮች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ሕዝብን ማወቅ፡</a:t>
            </a:r>
          </a:p>
          <a:p>
            <a:pPr>
              <a:spcAft>
                <a:spcPts val="1000"/>
              </a:spcAft>
            </a:pPr>
            <a:r>
              <a:rPr sz="2200">
                <a:solidFill>
                  <a:srgbClr val="333333"/>
                </a:solidFill>
              </a:rPr>
              <a:t>2. የስብከት ቦታዎችን ማወቅ ፡</a:t>
            </a:r>
          </a:p>
          <a:p>
            <a:pPr>
              <a:spcAft>
                <a:spcPts val="1000"/>
              </a:spcAft>
            </a:pPr>
            <a:r>
              <a:rPr sz="2200">
                <a:solidFill>
                  <a:srgbClr val="333333"/>
                </a:solidFill>
              </a:rPr>
              <a:t>ሀ. ቤተ ክርስቲያን፡</a:t>
            </a:r>
          </a:p>
          <a:p>
            <a:pPr>
              <a:spcAft>
                <a:spcPts val="1000"/>
              </a:spcAft>
            </a:pPr>
            <a:r>
              <a:rPr sz="2200">
                <a:solidFill>
                  <a:srgbClr val="333333"/>
                </a:solidFill>
              </a:rPr>
              <a:t>- በዘወትር የሰረክ መርሃ ግብር</a:t>
            </a:r>
          </a:p>
          <a:p>
            <a:pPr>
              <a:spcAft>
                <a:spcPts val="1000"/>
              </a:spcAft>
            </a:pPr>
            <a:r>
              <a:rPr sz="2200">
                <a:solidFill>
                  <a:srgbClr val="333333"/>
                </a:solidFill>
              </a:rPr>
              <a:t>- በኪዳን የጸሎት ሰአት</a:t>
            </a:r>
          </a:p>
          <a:p>
            <a:pPr>
              <a:spcAft>
                <a:spcPts val="1000"/>
              </a:spcAft>
            </a:pPr>
            <a:r>
              <a:rPr sz="2200">
                <a:solidFill>
                  <a:srgbClr val="333333"/>
                </a:solidFill>
              </a:rPr>
              <a:t>- በሳመንታዊ መርሃ ግብር</a:t>
            </a:r>
          </a:p>
          <a:p>
            <a:pPr>
              <a:spcAft>
                <a:spcPts val="1000"/>
              </a:spcAft>
            </a:pPr>
            <a:r>
              <a:rPr sz="2200">
                <a:solidFill>
                  <a:srgbClr val="333333"/>
                </a:solidFill>
              </a:rPr>
              <a:t>- በወርሃዊና አመታዊ በአላት</a:t>
            </a:r>
          </a:p>
          <a:p>
            <a:pPr>
              <a:spcAft>
                <a:spcPts val="1000"/>
              </a:spcAft>
            </a:pPr>
            <a:r>
              <a:rPr sz="2200">
                <a:solidFill>
                  <a:srgbClr val="333333"/>
                </a:solidFill>
              </a:rPr>
              <a:t>- ሌዩ ሌዩ መርሃ ግብር በማዘጋጀት</a:t>
            </a:r>
          </a:p>
          <a:p>
            <a:pPr>
              <a:spcAft>
                <a:spcPts val="1000"/>
              </a:spcAft>
            </a:pPr>
            <a:r>
              <a:rPr sz="2200">
                <a:solidFill>
                  <a:srgbClr val="333333"/>
                </a:solidFill>
              </a:rPr>
              <a:t>- በቀብረ ሰአት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 በሃዘን ቤት፡</a:t>
            </a:r>
          </a:p>
          <a:p>
            <a:pPr>
              <a:spcAft>
                <a:spcPts val="1000"/>
              </a:spcAft>
            </a:pPr>
            <a:r>
              <a:rPr sz="2200">
                <a:solidFill>
                  <a:srgbClr val="333333"/>
                </a:solidFill>
              </a:rPr>
              <a:t>በለቅሶ ቤት የሚገኙ ወገኖች ሃዘን ልቦናቸውን የሰበረባቸው፣መጽናትን የሚፈልጉ ናቸው፡፡ ሃዘንተኞች ሞትንና ሕይወትን፣ጽድቅንና ኩነኔን፣ የሚያስቡበት ምቹ አጋጣሚ ነው፡፡ በዙህ ቦታ ሰባኪው፡</a:t>
            </a:r>
          </a:p>
          <a:p>
            <a:pPr>
              <a:spcAft>
                <a:spcPts val="1000"/>
              </a:spcAft>
            </a:pPr>
            <a:r>
              <a:rPr sz="2200">
                <a:solidFill>
                  <a:srgbClr val="333333"/>
                </a:solidFill>
              </a:rPr>
              <a:t>1. ሃዘንተኞችን ለማጽናናት፡</a:t>
            </a:r>
          </a:p>
          <a:p>
            <a:pPr>
              <a:spcAft>
                <a:spcPts val="1000"/>
              </a:spcAft>
            </a:pPr>
            <a:r>
              <a:rPr sz="2200">
                <a:solidFill>
                  <a:srgbClr val="333333"/>
                </a:solidFill>
              </a:rPr>
              <a:t>- ተስፋ ተንሣኤን ማሳየት ዮሐ. 11፡25</a:t>
            </a:r>
          </a:p>
          <a:p>
            <a:pPr>
              <a:spcAft>
                <a:spcPts val="1000"/>
              </a:spcAft>
            </a:pPr>
            <a:r>
              <a:rPr sz="2200">
                <a:solidFill>
                  <a:srgbClr val="333333"/>
                </a:solidFill>
              </a:rPr>
              <a:t>- የሁለተኛውን ዓለም ኑሮ ማሳየት 2ቆሮ. 5፡1</a:t>
            </a:r>
          </a:p>
          <a:p>
            <a:pPr>
              <a:spcAft>
                <a:spcPts val="1000"/>
              </a:spcAft>
            </a:pPr>
            <a:r>
              <a:rPr sz="2200">
                <a:solidFill>
                  <a:srgbClr val="333333"/>
                </a:solidFill>
              </a:rPr>
              <a:t>- ሞት የሥጋ ባሕርይ መሆኑን መንገር መዝ 88፡48</a:t>
            </a:r>
          </a:p>
          <a:p>
            <a:pPr>
              <a:spcAft>
                <a:spcPts val="1000"/>
              </a:spcAft>
            </a:pPr>
            <a:r>
              <a:rPr sz="2200">
                <a:solidFill>
                  <a:srgbClr val="333333"/>
                </a:solidFill>
              </a:rPr>
              <a:t>2. አስተዛዛኙን ስለ ንስሐ መንገር፡</a:t>
            </a:r>
          </a:p>
          <a:p>
            <a:pPr>
              <a:spcAft>
                <a:spcPts val="1000"/>
              </a:spcAft>
            </a:pPr>
            <a:r>
              <a:rPr sz="2200">
                <a:solidFill>
                  <a:srgbClr val="333333"/>
                </a:solidFill>
              </a:rPr>
              <a:t>አስተዛዘኙ ሕዝብ የተለያየ እምነት፣ አመለካከት፣ጠባይ ያለው ነው፡፡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የቀጠለ….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ሐ. በሠርግ ቤት</a:t>
            </a:r>
          </a:p>
          <a:p>
            <a:pPr>
              <a:spcAft>
                <a:spcPts val="1000"/>
              </a:spcAft>
            </a:pPr>
            <a:r>
              <a:rPr sz="2200">
                <a:solidFill>
                  <a:srgbClr val="333333"/>
                </a:solidFill>
              </a:rPr>
              <a:t>በሠርግ ቤት የሚገኘው ሰው ሁሉ ከርሰቲያን አይደለም፡፡ የተሰበሰበውም ቃለ እግዚአብሔር እማራለሁ ብሎ አይደለም፡፡ በዚህ ሰአት ሰባኪው፡</a:t>
            </a:r>
          </a:p>
          <a:p>
            <a:pPr>
              <a:spcAft>
                <a:spcPts val="1000"/>
              </a:spcAft>
            </a:pPr>
            <a:r>
              <a:rPr sz="2200">
                <a:solidFill>
                  <a:srgbClr val="333333"/>
                </a:solidFill>
              </a:rPr>
              <a:t>አዲስ ተጋቢዎች (የዕለቱን ሙሽሮች)፤ ያላገቡትን</a:t>
            </a:r>
          </a:p>
          <a:p>
            <a:pPr>
              <a:spcAft>
                <a:spcPts val="1000"/>
              </a:spcAft>
            </a:pPr>
            <a:r>
              <a:rPr sz="2200">
                <a:solidFill>
                  <a:srgbClr val="333333"/>
                </a:solidFill>
              </a:rPr>
              <a:t>በትዳር ውስጥ ያሉትንም አንድ የሚያደርግ ስብከት መሰበክ ይጠበቅበታል፡፡</a:t>
            </a:r>
          </a:p>
          <a:p>
            <a:pPr>
              <a:spcAft>
                <a:spcPts val="1000"/>
              </a:spcAft>
            </a:pPr>
            <a:r>
              <a:rPr sz="2200">
                <a:solidFill>
                  <a:srgbClr val="333333"/>
                </a:solidFill>
              </a:rPr>
              <a:t>መ. በማረሚያ ቤት፡</a:t>
            </a:r>
          </a:p>
          <a:p>
            <a:pPr>
              <a:spcAft>
                <a:spcPts val="1000"/>
              </a:spcAft>
            </a:pPr>
            <a:r>
              <a:rPr sz="2200">
                <a:solidFill>
                  <a:srgbClr val="333333"/>
                </a:solidFill>
              </a:rPr>
              <a:t>በወህኒ ቤት የታሰሩ ሁሉ ወንጀለኞች አይደሉም</a:t>
            </a:r>
          </a:p>
          <a:p>
            <a:pPr>
              <a:spcAft>
                <a:spcPts val="1000"/>
              </a:spcAft>
            </a:pPr>
            <a:r>
              <a:rPr sz="2200">
                <a:solidFill>
                  <a:srgbClr val="333333"/>
                </a:solidFill>
              </a:rPr>
              <a:t>ወንጀል ሰርተው፣ኃጢአት መሆኑን አውቀው የሚጸጸቱ አሉ</a:t>
            </a:r>
          </a:p>
          <a:p>
            <a:pPr>
              <a:spcAft>
                <a:spcPts val="1000"/>
              </a:spcAft>
            </a:pPr>
            <a:r>
              <a:rPr sz="2200">
                <a:solidFill>
                  <a:srgbClr val="333333"/>
                </a:solidFill>
              </a:rPr>
              <a:t>ከታሰሩበት ቦታ ላሉ ወንጀል የሚሰሩም አሉ</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የኦርቶዶክሳዊ ስብከት ጠባያትን መከተል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የኦርቶዶክሳዊ ስብከት መለያ ጠባያት ባሕርያት የሚባሉት</a:t>
            </a:r>
          </a:p>
          <a:p>
            <a:pPr>
              <a:spcAft>
                <a:spcPts val="1000"/>
              </a:spcAft>
            </a:pPr>
            <a:r>
              <a:rPr sz="2200">
                <a:solidFill>
                  <a:srgbClr val="333333"/>
                </a:solidFill>
              </a:rPr>
              <a:t>1  መጽሐፋዊ</a:t>
            </a:r>
          </a:p>
          <a:p>
            <a:pPr>
              <a:spcAft>
                <a:spcPts val="1000"/>
              </a:spcAft>
            </a:pPr>
            <a:r>
              <a:rPr sz="2200">
                <a:solidFill>
                  <a:srgbClr val="333333"/>
                </a:solidFill>
              </a:rPr>
              <a:t>2. ነገረ መለኮት</a:t>
            </a:r>
          </a:p>
          <a:p>
            <a:pPr>
              <a:spcAft>
                <a:spcPts val="1000"/>
              </a:spcAft>
            </a:pPr>
            <a:r>
              <a:rPr sz="2200">
                <a:solidFill>
                  <a:srgbClr val="333333"/>
                </a:solidFill>
              </a:rPr>
              <a:t>3.ስርአተ ቤተክርስቲያን፡</a:t>
            </a:r>
          </a:p>
          <a:p>
            <a:pPr>
              <a:spcAft>
                <a:spcPts val="1000"/>
              </a:spcAft>
            </a:pPr>
            <a:r>
              <a:rPr sz="2200">
                <a:solidFill>
                  <a:srgbClr val="333333"/>
                </a:solidFill>
              </a:rPr>
              <a:t>4. ማኅበራዊ ኑሮን በተመለከተ፡</a:t>
            </a:r>
          </a:p>
          <a:p>
            <a:pPr>
              <a:spcAft>
                <a:spcPts val="1000"/>
              </a:spcAft>
            </a:pPr>
            <a:r>
              <a:rPr sz="2200">
                <a:solidFill>
                  <a:srgbClr val="333333"/>
                </a:solidFill>
              </a:rPr>
              <a:t>5. ጥምረት ያለው መሆን አለበት፡፡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5.የስብከት ዝግጅት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አንድ ስብከት ስድስት ንዑሳን ዘርፎች (ክፍሎች) አሉት፡፡ እነዚህም</a:t>
            </a:r>
          </a:p>
          <a:p>
            <a:pPr>
              <a:spcAft>
                <a:spcPts val="1000"/>
              </a:spcAft>
            </a:pPr>
            <a:r>
              <a:rPr sz="2200">
                <a:solidFill>
                  <a:srgbClr val="333333"/>
                </a:solidFill>
              </a:rPr>
              <a:t>1. ርእስ                                          4. ዋና ክፍል (ሐተታ)</a:t>
            </a:r>
          </a:p>
          <a:p>
            <a:pPr>
              <a:spcAft>
                <a:spcPts val="1000"/>
              </a:spcAft>
            </a:pPr>
            <a:r>
              <a:rPr sz="2200">
                <a:solidFill>
                  <a:srgbClr val="333333"/>
                </a:solidFill>
              </a:rPr>
              <a:t>2. አላማ                                       5. ምክር</a:t>
            </a:r>
          </a:p>
          <a:p>
            <a:pPr>
              <a:spcAft>
                <a:spcPts val="1000"/>
              </a:spcAft>
            </a:pPr>
            <a:r>
              <a:rPr sz="2200">
                <a:solidFill>
                  <a:srgbClr val="333333"/>
                </a:solidFill>
              </a:rPr>
              <a:t>3. መግቢያ                                    6. መደምደሚያ</a:t>
            </a:r>
          </a:p>
          <a:p>
            <a:pPr>
              <a:spcAft>
                <a:spcPts val="1000"/>
              </a:spcAft>
            </a:pPr>
            <a:r>
              <a:rPr sz="2200">
                <a:solidFill>
                  <a:srgbClr val="333333"/>
                </a:solidFill>
              </a:rPr>
              <a:t>ሰባኪዉ ተከታታይ ትምህርት፣ ረጅም ሰብከት፣ አጭር ሰብከት ለማዘጋጀት እነዚህን ቅደም ተከተል ማወቅ ይጠበቅበታል፡፡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 ርዕስ መምረጥ</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ርእስ በሚመረጥበት ጊዜ፡-</a:t>
            </a:r>
          </a:p>
          <a:p>
            <a:pPr>
              <a:spcAft>
                <a:spcPts val="1000"/>
              </a:spcAft>
            </a:pPr>
            <a:r>
              <a:rPr sz="2200">
                <a:solidFill>
                  <a:srgbClr val="333333"/>
                </a:solidFill>
              </a:rPr>
              <a:t>የሰዎችን ትኩረት የሚስብ</a:t>
            </a:r>
          </a:p>
          <a:p>
            <a:pPr>
              <a:spcAft>
                <a:spcPts val="1000"/>
              </a:spcAft>
            </a:pPr>
            <a:r>
              <a:rPr sz="2200">
                <a:solidFill>
                  <a:srgbClr val="333333"/>
                </a:solidFill>
              </a:rPr>
              <a:t>የተማሪዎችን የመማር ፍላጏት የመቀስቀስ ኃይል ያለው</a:t>
            </a:r>
          </a:p>
          <a:p>
            <a:pPr>
              <a:spcAft>
                <a:spcPts val="1000"/>
              </a:spcAft>
            </a:pPr>
            <a:r>
              <a:rPr sz="2200">
                <a:solidFill>
                  <a:srgbClr val="333333"/>
                </a:solidFill>
              </a:rPr>
              <a:t>አላማውን በትክክል መግለጽ የሚችል</a:t>
            </a:r>
          </a:p>
          <a:p>
            <a:pPr>
              <a:spcAft>
                <a:spcPts val="1000"/>
              </a:spcAft>
            </a:pPr>
            <a:r>
              <a:rPr sz="2200">
                <a:solidFill>
                  <a:srgbClr val="333333"/>
                </a:solidFill>
              </a:rPr>
              <a:t>አጠር ያለና ግልጽ የሆነ፡፡</a:t>
            </a:r>
          </a:p>
          <a:p>
            <a:pPr>
              <a:spcAft>
                <a:spcPts val="1000"/>
              </a:spcAft>
            </a:pPr>
            <a:r>
              <a:rPr sz="2200">
                <a:solidFill>
                  <a:srgbClr val="333333"/>
                </a:solidFill>
              </a:rPr>
              <a:t>የርዕስ አመራረጥ መርሆዎች፡</a:t>
            </a:r>
          </a:p>
          <a:p>
            <a:pPr>
              <a:spcAft>
                <a:spcPts val="1000"/>
              </a:spcAft>
            </a:pPr>
            <a:r>
              <a:rPr sz="2200">
                <a:solidFill>
                  <a:srgbClr val="333333"/>
                </a:solidFill>
              </a:rPr>
              <a:t>በሰማእያኑ ዘንድ አይረሴነት ያላቸው፣ በቀላሉ ሊረዱት የሚያስችል ቃላት</a:t>
            </a:r>
          </a:p>
          <a:p>
            <a:pPr>
              <a:spcAft>
                <a:spcPts val="1000"/>
              </a:spcAft>
            </a:pPr>
            <a:r>
              <a:rPr sz="2200">
                <a:solidFill>
                  <a:srgbClr val="333333"/>
                </a:solidFill>
              </a:rPr>
              <a:t>ሊተላለፍ የሚገባውን መልእክት ጠቅለል አድርጎ የያዘ ቃላት</a:t>
            </a:r>
          </a:p>
          <a:p>
            <a:pPr>
              <a:spcAft>
                <a:spcPts val="1000"/>
              </a:spcAft>
            </a:pPr>
            <a:r>
              <a:rPr sz="2200">
                <a:solidFill>
                  <a:srgbClr val="333333"/>
                </a:solidFill>
              </a:rPr>
              <a:t>ሰባኪው አብራርቶ ለማስተማር አመቺነት ያላቸው</a:t>
            </a:r>
          </a:p>
          <a:p>
            <a:pPr>
              <a:spcAft>
                <a:spcPts val="1000"/>
              </a:spcAft>
            </a:pPr>
            <a:r>
              <a:rPr sz="2200">
                <a:solidFill>
                  <a:srgbClr val="333333"/>
                </a:solidFill>
              </a:rPr>
              <a:t>ምሥጢራትን ያዘሉ ቃላት (ሐረጏች) ያዘለ፡፡</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2.የስብከቱን ዓላማ መለየት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አጠቃላይ የስብከት ዓላማ ምዕመናን ስለእግዚአብሔር ፍቅርና ኃልዎት ስላደረገልንም የማዳን ሥራ ተረድተውና ተገንዝበው እግዚአብሔርን በመውደድ ከኃጢአት ወደ ጽድቅ ከክፋት ወደ ደግነት እንዲመለሱ ማድረግ ቢሆንም በእያንዳንዱ ስብከት ከዚህ አጠቃላይ ዓላማ በማንሳት ትኩረት የሚደረግበት ዝርዝር ዓላማ ሊኖር ይገባል፡፡</a:t>
            </a:r>
          </a:p>
          <a:p>
            <a:pPr>
              <a:spcAft>
                <a:spcPts val="1000"/>
              </a:spcAft>
            </a:pPr>
            <a:r>
              <a:rPr sz="2200">
                <a:solidFill>
                  <a:srgbClr val="333333"/>
                </a:solidFill>
              </a:rPr>
              <a:t>ዓላማ የሚሰጠው ጥቅም፡-</a:t>
            </a:r>
          </a:p>
          <a:p>
            <a:pPr>
              <a:spcAft>
                <a:spcPts val="1000"/>
              </a:spcAft>
            </a:pPr>
            <a:r>
              <a:rPr sz="2200">
                <a:solidFill>
                  <a:srgbClr val="333333"/>
                </a:solidFill>
              </a:rPr>
              <a:t>ሀ. የተምህርቱን ዝግጅትና መደምደሚያ መልእክት ይቆጣጠራል</a:t>
            </a:r>
          </a:p>
          <a:p>
            <a:pPr>
              <a:spcAft>
                <a:spcPts val="1000"/>
              </a:spcAft>
            </a:pPr>
            <a:r>
              <a:rPr sz="2200">
                <a:solidFill>
                  <a:srgbClr val="333333"/>
                </a:solidFill>
              </a:rPr>
              <a:t>ለ. በትመህርቱ ውስጥ ሊካተቱ የማገባቸውን ሊካተቱ የማይገባቸውን ይወስናል</a:t>
            </a:r>
          </a:p>
          <a:p>
            <a:pPr>
              <a:spcAft>
                <a:spcPts val="1000"/>
              </a:spcAft>
            </a:pPr>
            <a:r>
              <a:rPr sz="2200">
                <a:solidFill>
                  <a:srgbClr val="333333"/>
                </a:solidFill>
              </a:rPr>
              <a:t>ሐ. የሚዛመዱ ሀሳቦችን ለመወሰን ይረዳል</a:t>
            </a:r>
          </a:p>
          <a:p>
            <a:pPr>
              <a:spcAft>
                <a:spcPts val="1000"/>
              </a:spcAft>
            </a:pPr>
            <a:r>
              <a:rPr sz="2200">
                <a:solidFill>
                  <a:srgbClr val="333333"/>
                </a:solidFill>
              </a:rPr>
              <a:t>መ. የትምህርቱን ዓላማ ለመፈጸም የሚረዱ ምሳሌዎችን ለመምረጥ</a:t>
            </a:r>
          </a:p>
          <a:p>
            <a:pPr>
              <a:spcAft>
                <a:spcPts val="1000"/>
              </a:spcAft>
            </a:pPr>
            <a:r>
              <a:rPr sz="2200">
                <a:solidFill>
                  <a:srgbClr val="333333"/>
                </a:solidFill>
              </a:rPr>
              <a:t>ሠ. ትመህርቱ ግቡን መምታቱን ለመመልከት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3. መግቢያ፡</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የአንድ ትምህርት መግቢያ ምእመኑን ይቀሰቅሳል</a:t>
            </a:r>
          </a:p>
          <a:p>
            <a:pPr>
              <a:spcAft>
                <a:spcPts val="1000"/>
              </a:spcAft>
            </a:pPr>
            <a:r>
              <a:rPr sz="2200">
                <a:solidFill>
                  <a:srgbClr val="333333"/>
                </a:solidFill>
              </a:rPr>
              <a:t>ርዕሰ ጉዳዩን የበለጠ ያስተዋውቃል</a:t>
            </a:r>
          </a:p>
          <a:p>
            <a:pPr>
              <a:spcAft>
                <a:spcPts val="1000"/>
              </a:spcAft>
            </a:pPr>
            <a:r>
              <a:rPr sz="2200">
                <a:solidFill>
                  <a:srgbClr val="333333"/>
                </a:solidFill>
              </a:rPr>
              <a:t>አላማውን በትክክል ይገልጣል</a:t>
            </a:r>
          </a:p>
          <a:p>
            <a:pPr>
              <a:spcAft>
                <a:spcPts val="1000"/>
              </a:spcAft>
            </a:pPr>
            <a:r>
              <a:rPr sz="2200">
                <a:solidFill>
                  <a:srgbClr val="333333"/>
                </a:solidFill>
              </a:rPr>
              <a:t>የሰማዕያኑን ትኩረት የሚሰብር የሚገዛ ይሆናል፡፡</a:t>
            </a:r>
          </a:p>
          <a:p>
            <a:pPr>
              <a:spcAft>
                <a:spcPts val="1000"/>
              </a:spcAft>
            </a:pPr>
            <a:r>
              <a:rPr sz="2200">
                <a:solidFill>
                  <a:srgbClr val="333333"/>
                </a:solidFill>
              </a:rPr>
              <a:t>ይህ ክፍል ሰባኪው ራሱን ከምዕመናኑ ጋር የሚያለማምድበት፡ የምዕመናኑን ዝግጅት የሚቃኝበት፤ ርዕሱን እና ዓላማውን የሚያስተዋውቅበት ጊዜ ነው፡፡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4. የትምህርቱ ዋና ክፍል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በተከታታይ ትመህርት ጊዜ ተማሪዎች በመግቢያ ከተሰጠው ገለጻና ከተመረጠው ርእስ አኳያ ከትምህርቱ በእውቀትም በሕይወትም ምን እንደሚጠብቁ መጠየቅና መረጃዎችን ማሰባሰብ፡፡</a:t>
            </a:r>
          </a:p>
          <a:p>
            <a:pPr>
              <a:spcAft>
                <a:spcPts val="1000"/>
              </a:spcAft>
            </a:pPr>
            <a:r>
              <a:rPr sz="2200">
                <a:solidFill>
                  <a:srgbClr val="333333"/>
                </a:solidFill>
              </a:rPr>
              <a:t>ትምህርቱን ለመምራት በሚቻልበት ሁለንተናዊ የማስተማሪያ ዘዴ በግልጽ ቋንቋ</a:t>
            </a:r>
          </a:p>
          <a:p>
            <a:pPr>
              <a:spcAft>
                <a:spcPts val="1000"/>
              </a:spcAft>
            </a:pPr>
            <a:r>
              <a:rPr sz="2200">
                <a:solidFill>
                  <a:srgbClr val="333333"/>
                </a:solidFill>
              </a:rPr>
              <a:t>ማስተማር፡፡</a:t>
            </a:r>
          </a:p>
          <a:p>
            <a:pPr>
              <a:spcAft>
                <a:spcPts val="1000"/>
              </a:spcAft>
            </a:pPr>
            <a:r>
              <a:rPr sz="2200">
                <a:solidFill>
                  <a:srgbClr val="333333"/>
                </a:solidFill>
              </a:rPr>
              <a:t>ተማሪዎችን አሳታፊ እንዲያደርግ በጥያቄና መልስ ማስተማር</a:t>
            </a:r>
          </a:p>
          <a:p>
            <a:pPr>
              <a:spcAft>
                <a:spcPts val="1000"/>
              </a:spcAft>
            </a:pPr>
            <a:r>
              <a:rPr sz="2200">
                <a:solidFill>
                  <a:srgbClr val="333333"/>
                </a:solidFill>
              </a:rPr>
              <a:t>በውይይት በቡድን ከፋፍሎ ማስተማር</a:t>
            </a:r>
          </a:p>
          <a:p>
            <a:pPr>
              <a:spcAft>
                <a:spcPts val="1000"/>
              </a:spcAft>
            </a:pPr>
            <a:r>
              <a:rPr sz="2200">
                <a:solidFill>
                  <a:srgbClr val="333333"/>
                </a:solidFill>
              </a:rPr>
              <a:t>ከትምህርቱ ጋር የሚሄድ ምሳሌዎችን መጠቀም</a:t>
            </a:r>
          </a:p>
          <a:p>
            <a:pPr>
              <a:spcAft>
                <a:spcPts val="1000"/>
              </a:spcAft>
            </a:pPr>
            <a:r>
              <a:rPr sz="2200">
                <a:solidFill>
                  <a:srgbClr val="333333"/>
                </a:solidFill>
              </a:rPr>
              <a:t>አጠር ያለ የቤት ስራ መስጠት</a:t>
            </a:r>
          </a:p>
          <a:p>
            <a:pPr>
              <a:spcAft>
                <a:spcPts val="1000"/>
              </a:spcAft>
            </a:pPr>
            <a:r>
              <a:rPr sz="2200">
                <a:solidFill>
                  <a:srgbClr val="333333"/>
                </a:solidFill>
              </a:rPr>
              <a:t>ለቀጣዩ አስተየየት መቀበል እና የእለቱን ማጠቃለያ መስጠት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5. የትምህርት ምክር</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 ትምህርቱን ከተማሪዎች እለታዊ ኑሮ ጋር አገናዝበን ካላስተማረን ያዘጋጀነው ትመህርት</a:t>
            </a:r>
          </a:p>
          <a:p>
            <a:pPr>
              <a:spcAft>
                <a:spcPts val="1000"/>
              </a:spcAft>
            </a:pPr>
            <a:r>
              <a:rPr sz="2200">
                <a:solidFill>
                  <a:srgbClr val="333333"/>
                </a:solidFill>
              </a:rPr>
              <a:t>ውጤት አይኖረውም፡፡</a:t>
            </a:r>
          </a:p>
          <a:p>
            <a:pPr>
              <a:spcAft>
                <a:spcPts val="1000"/>
              </a:spcAft>
            </a:pPr>
            <a:r>
              <a:rPr sz="2200">
                <a:solidFill>
                  <a:srgbClr val="333333"/>
                </a:solidFill>
              </a:rPr>
              <a:t>- የቤተ ክርስቲያን ትምህርት ከሕይወት ጋር ካልተዛመደ መንፈሳዊ ድርቀት ያስከትላል፡፡</a:t>
            </a:r>
          </a:p>
          <a:p>
            <a:pPr>
              <a:spcAft>
                <a:spcPts val="1000"/>
              </a:spcAft>
            </a:pPr>
            <a:r>
              <a:rPr sz="2200">
                <a:solidFill>
                  <a:srgbClr val="333333"/>
                </a:solidFill>
              </a:rPr>
              <a:t>ትመህርቱ በይዘቱና በአቀራረቡ እንከን የሌለው ቢሆን እንኳን የተማሪዎችን ሕይወት</a:t>
            </a:r>
          </a:p>
          <a:p>
            <a:pPr>
              <a:spcAft>
                <a:spcPts val="1000"/>
              </a:spcAft>
            </a:pPr>
            <a:r>
              <a:rPr sz="2200">
                <a:solidFill>
                  <a:srgbClr val="333333"/>
                </a:solidFill>
              </a:rPr>
              <a:t>ካልለወጠዉ ትርጉም አይኖረውም፡፡</a:t>
            </a:r>
          </a:p>
          <a:p>
            <a:pPr>
              <a:spcAft>
                <a:spcPts val="1000"/>
              </a:spcAft>
            </a:pPr>
            <a:r>
              <a:rPr sz="2200">
                <a:solidFill>
                  <a:srgbClr val="333333"/>
                </a:solidFill>
              </a:rPr>
              <a:t>የመጽሐፍ ቅዱስ ትመህርት ተግባራዊ እንዲሆን</a:t>
            </a:r>
          </a:p>
          <a:p>
            <a:pPr>
              <a:spcAft>
                <a:spcPts val="1000"/>
              </a:spcAft>
            </a:pPr>
            <a:r>
              <a:rPr sz="2200">
                <a:solidFill>
                  <a:srgbClr val="333333"/>
                </a:solidFill>
              </a:rPr>
              <a:t>ከእለት ተእለት ሕይወታቸው ጋር ወቅታዊ ማድረግ</a:t>
            </a:r>
          </a:p>
          <a:p>
            <a:pPr>
              <a:spcAft>
                <a:spcPts val="1000"/>
              </a:spcAft>
            </a:pPr>
            <a:r>
              <a:rPr sz="2200">
                <a:solidFill>
                  <a:srgbClr val="333333"/>
                </a:solidFill>
              </a:rPr>
              <a:t>መሆን ያለባቸውን እንዲሆኑ ትእዛዝ መስጠት</a:t>
            </a:r>
          </a:p>
          <a:p>
            <a:pPr>
              <a:spcAft>
                <a:spcPts val="1000"/>
              </a:spcAft>
            </a:pPr>
            <a:r>
              <a:rPr sz="2200">
                <a:solidFill>
                  <a:srgbClr val="333333"/>
                </a:solidFill>
              </a:rPr>
              <a:t>እግዚአብሔር ከሕዝቡ ምን እደሚፈልግ በግልጽ በመንገር ትምህርቱን ከሕይወታቸው ጋርተጨባጭ ማድረግ ወዘተ ይኖርበታል፡፡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6. የትምህርቱ መደምደሚያ</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መደምደሚያ መስጠት ትመህርቱን ሙሉና የተጨበጠ ያደርገዋል</a:t>
            </a:r>
          </a:p>
          <a:p>
            <a:pPr>
              <a:spcAft>
                <a:spcPts val="1000"/>
              </a:spcAft>
            </a:pPr>
            <a:r>
              <a:rPr sz="2200">
                <a:solidFill>
                  <a:srgbClr val="333333"/>
                </a:solidFill>
              </a:rPr>
              <a:t>የተለያዩ ክፍሎችን ያዋህዳል</a:t>
            </a:r>
          </a:p>
          <a:p>
            <a:pPr>
              <a:spcAft>
                <a:spcPts val="1000"/>
              </a:spcAft>
            </a:pPr>
            <a:r>
              <a:rPr sz="2200">
                <a:solidFill>
                  <a:srgbClr val="333333"/>
                </a:solidFill>
              </a:rPr>
              <a:t>የትምህርቱን ማእከላዊ ሀሳብ ያካልላል</a:t>
            </a:r>
          </a:p>
          <a:p>
            <a:pPr>
              <a:spcAft>
                <a:spcPts val="1000"/>
              </a:spcAft>
            </a:pPr>
            <a:r>
              <a:rPr sz="2200">
                <a:solidFill>
                  <a:srgbClr val="333333"/>
                </a:solidFill>
              </a:rPr>
              <a:t>የትመህርቱን ዓላማ ያስታውሳል</a:t>
            </a:r>
          </a:p>
          <a:p>
            <a:pPr>
              <a:spcAft>
                <a:spcPts val="1000"/>
              </a:spcAft>
            </a:pPr>
            <a:r>
              <a:rPr sz="2200">
                <a:solidFill>
                  <a:srgbClr val="333333"/>
                </a:solidFill>
              </a:rPr>
              <a:t>ትምህርቱን ያስተሳስራል</a:t>
            </a:r>
          </a:p>
          <a:p>
            <a:pPr>
              <a:spcAft>
                <a:spcPts val="1000"/>
              </a:spcAft>
            </a:pPr>
            <a:r>
              <a:rPr sz="2200">
                <a:solidFill>
                  <a:srgbClr val="333333"/>
                </a:solidFill>
              </a:rPr>
              <a:t>መልመጃ</a:t>
            </a:r>
          </a:p>
          <a:p>
            <a:pPr>
              <a:spcAft>
                <a:spcPts val="1000"/>
              </a:spcAft>
            </a:pPr>
            <a:r>
              <a:rPr sz="2200">
                <a:solidFill>
                  <a:srgbClr val="333333"/>
                </a:solidFill>
              </a:rPr>
              <a:t>ለስብከት የሚሆን ርዕስ ምረጡ</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D4AF37"/>
        </a:solidFill>
        <a:effectLst/>
      </p:bgPr>
    </p:bg>
    <p:spTree>
      <p:nvGrpSpPr>
        <p:cNvPr id="1" name=""/>
        <p:cNvGrpSpPr/>
        <p:nvPr/>
      </p:nvGrpSpPr>
      <p:grpSpPr/>
      <p:sp>
        <p:nvSpPr>
          <p:cNvPr id="2" name="Title 1"/>
          <p:cNvSpPr>
            <a:spLocks noGrp="1"/>
          </p:cNvSpPr>
          <p:nvPr>
            <p:ph type="ctrTitle"/>
          </p:nvPr>
        </p:nvSpPr>
        <p:spPr>
          <a:xfrm>
            <a:off x="457200" y="2743200"/>
            <a:ext cx="8229600" cy="0"/>
          </a:xfrm>
        </p:spPr>
        <p:txBody>
          <a:bodyPr/>
          <a:lstStyle/>
          <a:p>
            <a:pPr algn="ctr"/>
            <a:r>
              <a:rPr b="1" sz="5000">
                <a:solidFill>
                  <a:srgbClr val="00334D"/>
                </a:solidFill>
              </a:rPr>
              <a:t>ክፍል 2: ተጨማሪ ጥቅሶችና መረጃዎች</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በስመ አብ ወወልድ ወመንፈስ ቅዱስ አሐዱ አምላክ አሜን</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የስብከት ዘዴ</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ስብከተ ወንጌል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“እንግዲህ ያላመኑበትን እንዴት አድርገው ይጠሩታል? ባልሰሙትስ እንዴት ያምናሉ? ያለ ሰባኪስ እንዴት ይሰማሉ?” ሮሜ 10፡14-15</a:t>
            </a:r>
          </a:p>
          <a:p>
            <a:pPr>
              <a:spcAft>
                <a:spcPts val="1000"/>
              </a:spcAft>
            </a:pPr>
            <a:r>
              <a:rPr sz="2200">
                <a:solidFill>
                  <a:srgbClr val="333333"/>
                </a:solidFill>
              </a:rPr>
              <a:t>“አንዳንዶች ተከራካሪዎችንም ውቀሱ፥ አንዳንዶችንም ከእሳት ነጥቃችሁ አድኑ” ይሁዳ 22</a:t>
            </a:r>
          </a:p>
          <a:p>
            <a:pPr>
              <a:spcAft>
                <a:spcPts val="1000"/>
              </a:spcAft>
            </a:pPr>
            <a:r>
              <a:rPr sz="2200">
                <a:solidFill>
                  <a:srgbClr val="333333"/>
                </a:solidFill>
              </a:rPr>
              <a:t>“የወንጌል ሰባኪነትን ሥራ አድርግ፥ አገልግሎትህን ፈጽም።”   2 ጢሞ. 4፡5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“በወንጌልም ማኅበረተኛ እሆን ዘንድ ስለ ወንጌል ሁሉን አደርጋለሁ።” 1 ቆሮ. 9፡23</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“ብዙ ሰዎችን ወደ ጽድቅ የሚመልሱ እንደ ከዋክብት ለዘላለም ይደምቃሉ።” ዳን. 12፡3</a:t>
            </a:r>
          </a:p>
          <a:p>
            <a:pPr>
              <a:spcAft>
                <a:spcPts val="1000"/>
              </a:spcAft>
            </a:pPr>
            <a:r>
              <a:rPr sz="2200">
                <a:solidFill>
                  <a:srgbClr val="333333"/>
                </a:solidFill>
              </a:rPr>
              <a:t>“ወንድሞቼ ሆይ፥ ከእናንተ ማንም ከእውነት ቢስት አንዱም ቢመልሰው፣ ኃጢአተኛን ከተሳሳተበት መንገድ የሚመልሰው ነፍሱን ከሞት እንዲያድን፥ የኃጢአትንም ብዛት እንዲሸፍን ይወቅ።” ያዕ. 5፡19-20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“ስለዚህ እግዚአብሔር እንዲህ ይላል፦ . . . የከበረውንም ከተዋረደው ብትለይ እንደ አፌ ትሆናለህ።”  ኤር. 15፡19</a:t>
            </a:r>
          </a:p>
          <a:p>
            <a:pPr>
              <a:spcAft>
                <a:spcPts val="1000"/>
              </a:spcAft>
            </a:pPr>
            <a:r>
              <a:rPr sz="2200">
                <a:solidFill>
                  <a:srgbClr val="333333"/>
                </a:solidFill>
              </a:rPr>
              <a:t>“በመልካም የሚያስተዳድሩ ሽማግሌዎች፥ ይልቁንም በመስበክና በማስተማር የሚደክሙት፥ እጥፍ ክብር ይገባቸዋል።” 1 ጢሞ. 5፡17</a:t>
            </a:r>
          </a:p>
          <a:p>
            <a:pPr>
              <a:spcAft>
                <a:spcPts val="1000"/>
              </a:spcAft>
            </a:pPr>
            <a:r>
              <a:rPr sz="2200">
                <a:solidFill>
                  <a:srgbClr val="333333"/>
                </a:solidFill>
              </a:rPr>
              <a:t>“ወንጌልንም ባልሰብክ ወዮልኝ።” 1 ቆሮ. 9፡16</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“አንድ መክሊትም የተቀበለው ደግሞ ቀርቦ፡-ጌታ ሆይ፥ ካልዘራህባት የምታጭድ ካልበተንህባትም የምትሰበስብ ጨካኝ ሰው መሆንህን አውቃለሁ፤ ፈራሁም ሄጄም መክሊትህን በምድር ቀበርሁት፤ እነሆ፥ መክሊትህ አለህ አለ። ጌታውም መልሶ እንዲህ አለው፦ አንተ ክፉና ሃኬተኛ ባሪያ፥ ካልዘራሁባት እንዳጭድ ካልበተንሁባትም እንድሰበስብ ታውቃለህን? ስለዚህ ገንዘቤን ለለዋጮች አደራ ልትሰጠው በተገባህ ነበር፥ እኔም መጥቼ ያለኝን ከትርፉ ጋር እወስደው ነበር። ስለዚህ መክሊቱን ውሰዱበት አሥር መክሊትም ላለው ስጡት፡፡”</a:t>
            </a:r>
          </a:p>
          <a:p>
            <a:pPr>
              <a:spcAft>
                <a:spcPts val="1000"/>
              </a:spcAft>
            </a:pPr>
            <a:r>
              <a:rPr sz="2200">
                <a:solidFill>
                  <a:srgbClr val="333333"/>
                </a:solidFill>
              </a:rPr>
              <a:t>ማቴ. 25፡24-28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“ወደ እግዚአብሔር ዘንድ ንስሐንና በጌታችን በኢየሱስ ክርስቶስ ማመንን ለአይሁድና ለግሪክ ሰዎች እየመሰከርሁ በጉባኤም በየቤታችሁም አወራሁላችሁና አስተማርኋችሁ እንጂ ከሚጠቅማችሁ ነገር አንዳች ስንኳ አላስቀረሁባችሁም።</a:t>
            </a:r>
          </a:p>
          <a:p>
            <a:pPr>
              <a:spcAft>
                <a:spcPts val="1000"/>
              </a:spcAft>
            </a:pPr>
            <a:r>
              <a:rPr sz="2200">
                <a:solidFill>
                  <a:srgbClr val="333333"/>
                </a:solidFill>
              </a:rPr>
              <a:t>“. . . ስለዚህ እኔ ከሰው ሁሉ ደም ንጹሕ እንደ ሆንሁ ዛሬ በዚች ቀን እመሰክርላችኋለሁ። የእግዚአብሔርን ምክር ሁሉ ነግሬያችኋለሁና፥ ምንም አላስቀረሁባችሁም።”</a:t>
            </a:r>
          </a:p>
          <a:p>
            <a:pPr>
              <a:spcAft>
                <a:spcPts val="1000"/>
              </a:spcAft>
            </a:pPr>
            <a:r>
              <a:rPr sz="2200">
                <a:solidFill>
                  <a:srgbClr val="333333"/>
                </a:solidFill>
              </a:rPr>
              <a:t>የሐዋ. 20፡20-27</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“እኔ ኃጢአተኛውን፦ በእርግጥ ትሞታለህ ባልሁት ጊዜ፥ አንተም ባታስጠነቅቀው ነፍሱም እንድትድን ከክፉ መንገዱ ይመለስ ዘንድ ለኃጢአተኛው አስጠንቅቀህ ባትነግረው፥ ያ ኃጢአተኛ በኃጢአት ይሞታል፤ ደሙን ግን ከእጅህ እፈልጋለሁ።”</a:t>
            </a:r>
          </a:p>
          <a:p>
            <a:pPr>
              <a:spcAft>
                <a:spcPts val="1000"/>
              </a:spcAft>
            </a:pPr>
            <a:r>
              <a:rPr sz="2200">
                <a:solidFill>
                  <a:srgbClr val="333333"/>
                </a:solidFill>
              </a:rPr>
              <a:t>ሕዝ. 3፡18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“ደግሞ ጻድቁ ከጽድቁ ተመልሶ ኃጢአት በሠራ ጊዜ እኔ በፊቱም ዕንቅፋትን ሳደርግ፥ እርሱ ይሞታል አንተም አላስጠነቀቅኸውምና በኃጢአቱ ይሞታል ያደረጋትም ጽድቅ አትታሰብለትም፣ ነገር ግን ደሙን ከእጅህ እፈልጋለሁ።”</a:t>
            </a:r>
          </a:p>
          <a:p>
            <a:pPr>
              <a:spcAft>
                <a:spcPts val="1000"/>
              </a:spcAft>
            </a:pPr>
            <a:r>
              <a:rPr sz="2200">
                <a:solidFill>
                  <a:srgbClr val="333333"/>
                </a:solidFill>
              </a:rPr>
              <a:t>ሕዝ.  3፡20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“ኃጢአተኛውን፦ ኃጢአተኛ ሆይ፥ በእርግጥ ትሞታለህ ባልሁ ጊዜ፥ ኃጢአተኛውን ከመንገዱ ታስጠነቅቅ ዘንድ ባትናገር ያ ኃጢአተኛ በኃጢአቱ ይሞታል፥ ደሙን ግን ከእጅህ እፈልጋለሁ።”</a:t>
            </a:r>
          </a:p>
          <a:p>
            <a:pPr>
              <a:spcAft>
                <a:spcPts val="1000"/>
              </a:spcAft>
            </a:pPr>
            <a:r>
              <a:rPr sz="2200">
                <a:solidFill>
                  <a:srgbClr val="333333"/>
                </a:solidFill>
              </a:rPr>
              <a:t>ሕዝ.  33፡8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“እግዚአብሔርም ቃየንን አለው፦ ወንድምህ አቤል ወዴት ነው? እርሱም አለ፦ አላውቅም የወንድሜ ጠባቂው እኔ ነኝን?” ዘፍ. 4፡9</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“የወንድምህ በሬ ወይም በግ ጠፍቶ ብታይ ቸል አትበል፣ ወደ ወንድምህ መልሰው። እንዲህም በአህያው ወይም በልብሱ ታደርጋለህ፣ እንዲህም በወንድምህ በጠፋበት ነገር ሁሉ ባገኘኸው ጊዜ ታደርጋለህ ቸል ልትለው አይገባህም።</a:t>
            </a:r>
          </a:p>
          <a:p>
            <a:pPr>
              <a:spcAft>
                <a:spcPts val="1000"/>
              </a:spcAft>
            </a:pPr>
            <a:r>
              <a:rPr sz="2200">
                <a:solidFill>
                  <a:srgbClr val="333333"/>
                </a:solidFill>
              </a:rPr>
              <a:t>“የወንድምህ አህያ ወይም በሬው በመንገድ ወድቆ ብታይ ከእርሱ ጋር ሆነህ አነሣሣው እንጂ ቸል አትበለው። የወንድምህ አህያ ወይም በሬው በመንገድ ወድቆ ብታይ ከእርሱ ጋር ሆነህ አነሣሣው እንጂ ቸል አትበለው።”</a:t>
            </a:r>
          </a:p>
          <a:p>
            <a:pPr>
              <a:spcAft>
                <a:spcPts val="1000"/>
              </a:spcAft>
            </a:pPr>
            <a:r>
              <a:rPr sz="2200">
                <a:solidFill>
                  <a:srgbClr val="333333"/>
                </a:solidFill>
              </a:rPr>
              <a:t>ዘዳ. 22፡1-4</a:t>
            </a:r>
          </a:p>
          <a:p>
            <a:pPr>
              <a:spcAft>
                <a:spcPts val="1000"/>
              </a:spcAft>
            </a:pPr>
            <a:r>
              <a:rPr sz="2200">
                <a:solidFill>
                  <a:srgbClr val="333333"/>
                </a:solidFill>
              </a:rPr>
              <a:t>“ስለ ሌላው ወንድሙ መዳን ግድ የሌለው ሰው እርሱ ይድናል ብዬ አላምንም፡፡”</a:t>
            </a:r>
          </a:p>
          <a:p>
            <a:pPr>
              <a:spcAft>
                <a:spcPts val="1000"/>
              </a:spcAft>
            </a:pPr>
            <a:r>
              <a:rPr sz="2200">
                <a:solidFill>
                  <a:srgbClr val="333333"/>
                </a:solidFill>
              </a:rPr>
              <a:t>ቅዱስ ዮሐንስ አፈ ወርቅ</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፩. የስብከተ ወንጌል ዓላማ</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1. ያላመኑትን ማሳመን፣</a:t>
            </a:r>
          </a:p>
          <a:p>
            <a:pPr>
              <a:spcAft>
                <a:spcPts val="1000"/>
              </a:spcAft>
            </a:pPr>
            <a:r>
              <a:rPr sz="2200">
                <a:solidFill>
                  <a:srgbClr val="333333"/>
                </a:solidFill>
              </a:rPr>
              <a:t>“ብዙኃን እለ ይቤሉ መኑ ያርእየነ ሠናይቶ”</a:t>
            </a:r>
          </a:p>
          <a:p>
            <a:pPr>
              <a:spcAft>
                <a:spcPts val="1000"/>
              </a:spcAft>
            </a:pPr>
            <a:r>
              <a:rPr sz="2200">
                <a:solidFill>
                  <a:srgbClr val="333333"/>
                </a:solidFill>
              </a:rPr>
              <a:t>2. ያመኑትን ማጽነት፣</a:t>
            </a:r>
          </a:p>
          <a:p>
            <a:pPr>
              <a:spcAft>
                <a:spcPts val="1000"/>
              </a:spcAft>
            </a:pPr>
            <a:r>
              <a:rPr sz="2200">
                <a:solidFill>
                  <a:srgbClr val="333333"/>
                </a:solidFill>
              </a:rPr>
              <a:t>3. የጸኑትን መጠበቅ፣ መቀደስ፣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የስብከት ዓይነቶች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የማያምኑ አረማውያን ሰዎችን እግዚአብሔርን ካለማመን ወደ ማመን የምንመልስበት የስብከት ዓይነት (ኬሪግማቲክ)</a:t>
            </a:r>
          </a:p>
          <a:p>
            <a:pPr>
              <a:spcAft>
                <a:spcPts val="1000"/>
              </a:spcAft>
            </a:pPr>
            <a:r>
              <a:rPr sz="2200">
                <a:solidFill>
                  <a:srgbClr val="333333"/>
                </a:solidFill>
              </a:rPr>
              <a:t>ያመኑትን፣ ነገር ግን ያልጠነከሩትን አዲስ አማንያንን /ንዑስ ክርስቲያንን/ የምንጸናበት ስብከት (የማጽናት/ዲዳክቲክ)፣</a:t>
            </a:r>
          </a:p>
          <a:p>
            <a:pPr>
              <a:spcAft>
                <a:spcPts val="1000"/>
              </a:spcAft>
            </a:pPr>
            <a:r>
              <a:rPr sz="2200">
                <a:solidFill>
                  <a:srgbClr val="333333"/>
                </a:solidFill>
              </a:rPr>
              <a:t>አምነው የነበሩ፣ ነገር ግን በልዩ ልዩ ምክንያት የዓለማውያን ጠባይ የወረሳቸውን የማነጽ ስብከት (ዲዳክቲክና   ፓራክሌቲክ)</a:t>
            </a:r>
          </a:p>
          <a:p>
            <a:pPr>
              <a:spcAft>
                <a:spcPts val="1000"/>
              </a:spcAft>
            </a:pPr>
            <a:r>
              <a:rPr sz="2200">
                <a:solidFill>
                  <a:srgbClr val="333333"/>
                </a:solidFill>
              </a:rPr>
              <a:t>አምነው በምግባር የጸኑትን መጠበቅና ወደ ተግባራዊ አኗኗር የምንሸጋገርበት ለቅድስና ሕይወት የምናበቃበት የስብከት ዓይነት ናቸው፡፡</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፪. ሰባኪ የሚያስፈልጉት ነገሮች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ትምህርት</a:t>
            </a:r>
          </a:p>
          <a:p>
            <a:pPr>
              <a:spcAft>
                <a:spcPts val="1000"/>
              </a:spcAft>
            </a:pPr>
            <a:r>
              <a:rPr sz="2200">
                <a:solidFill>
                  <a:srgbClr val="333333"/>
                </a:solidFill>
              </a:rPr>
              <a:t>አንድ ሰባኪ ሳይማር ሌሎችን ለማስተማር አይችልምና በቅድሚያ በሚገባ መጽሐፍ ቅዱስን የተማረ መሆን አለበት፡፡</a:t>
            </a:r>
          </a:p>
          <a:p>
            <a:pPr>
              <a:spcAft>
                <a:spcPts val="1000"/>
              </a:spcAft>
            </a:pPr>
            <a:r>
              <a:rPr sz="2200">
                <a:solidFill>
                  <a:srgbClr val="333333"/>
                </a:solidFill>
              </a:rPr>
              <a:t>“ወደ ተራራም ወጣ፥ ራሱም የወደዳቸውን ወደ እርሱ ጠራ፥ ወደ እርሱም ሄዱ። ከእርሱም ጋር እንዲኖሩና ለመስበክ እንዲልካቸው፣  ድውዮችንም ሊፈውሱ አጋንንትንም ሊያወጡ ሥልጣን ይሆንላቸው ዘንድ አሥራ ሁለት አደረገ፤” ማር. 3፡13-15ከአባቶች እግር ሥር የተማረ መሆን አለበት</a:t>
            </a:r>
          </a:p>
          <a:p>
            <a:pPr>
              <a:spcAft>
                <a:spcPts val="1000"/>
              </a:spcAft>
            </a:pPr>
            <a:r>
              <a:rPr sz="2200">
                <a:solidFill>
                  <a:srgbClr val="333333"/>
                </a:solidFill>
              </a:rPr>
              <a:t>ከአባቶች ከሚቀዳው ምንጭ የጠጣና በትሕትና ራሱን ዝቅ በማድረግ ምስጠሩን እግዚአብሔር እንዲገልጥለት በጸሎት በመጠየቅ የተማረ መሆን አለበት፡፡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2.  መጻሕፍትን ማንበብ</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“ለማንበብና ለመምከር ለማስተማርም ተጠንቀቅ።” 1 ጢሞ. 4፡13</a:t>
            </a:r>
          </a:p>
          <a:p>
            <a:pPr>
              <a:spcAft>
                <a:spcPts val="1000"/>
              </a:spcAft>
            </a:pPr>
            <a:r>
              <a:rPr sz="2200">
                <a:solidFill>
                  <a:srgbClr val="333333"/>
                </a:solidFill>
              </a:rPr>
              <a:t>ሌሎች ተጨማሪ ይጠቅማሉ የሚላቸውን መጻሕፍቶች ዘመኑን በመዋጀት ማንበብ አለበት</a:t>
            </a:r>
          </a:p>
          <a:p>
            <a:pPr>
              <a:spcAft>
                <a:spcPts val="1000"/>
              </a:spcAft>
            </a:pPr>
            <a:r>
              <a:rPr sz="2200">
                <a:solidFill>
                  <a:srgbClr val="333333"/>
                </a:solidFill>
              </a:rPr>
              <a:t>ከሚያስተምራቸው ሰዎች በእውቀት ልቆ መገኘት አለበት፤ ካልሆነ ግን ቤተ ክርስቲያኗን ያስገምታታል፡፡</a:t>
            </a:r>
          </a:p>
          <a:p>
            <a:pPr>
              <a:spcAft>
                <a:spcPts val="1000"/>
              </a:spcAft>
            </a:pPr>
            <a:r>
              <a:rPr sz="2200">
                <a:solidFill>
                  <a:srgbClr val="333333"/>
                </a:solidFill>
              </a:rPr>
              <a:t>“ሰባኪውም ጠቢብ ስለ ሆነ ለሕዝቡ እውቀትን አስተማረ፣ እርሱም ብዙ ምሳሌዎችን መረመረና ፈላለገ፣ አስማማም።” መክ. 12፡9</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3. ከመስበኩ በፊት ቅድመ ዝግጅት ማድረግ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ሰባኪ መጋቢ ነው፡፡</a:t>
            </a:r>
          </a:p>
          <a:p>
            <a:pPr>
              <a:spcAft>
                <a:spcPts val="1000"/>
              </a:spcAft>
            </a:pPr>
            <a:r>
              <a:rPr sz="2200">
                <a:solidFill>
                  <a:srgbClr val="333333"/>
                </a:solidFill>
              </a:rPr>
              <a:t>ለዝግጅቱ በቂ ጊዜ በመስጠት መጻሕፍትን በማንበብ ማስታወሻ በመያዝ መዘጋጀት አለበት</a:t>
            </a:r>
          </a:p>
          <a:p>
            <a:pPr>
              <a:spcAft>
                <a:spcPts val="1000"/>
              </a:spcAft>
            </a:pPr>
            <a:r>
              <a:rPr sz="2200">
                <a:solidFill>
                  <a:srgbClr val="333333"/>
                </a:solidFill>
              </a:rPr>
              <a:t>በሚገባ ተዘጋጀቶ በመሄድ በሚገባ ቦታ የሚገባውን መልእክት አስተላልፎ መምጣት አለበት እንጂ በችኮላ ሳይዘጋጅ በመሄድ ዘበራርቆ መምጣት የለበትም፡፡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ለማን እንደሚሰብክ ማወቅ አለበት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የስብከት በተለያዩ ቦታዎችና ለተለያዩ ሰዎች ለምሳሌ፡-</a:t>
            </a:r>
          </a:p>
          <a:p>
            <a:pPr>
              <a:spcAft>
                <a:spcPts val="1000"/>
              </a:spcAft>
            </a:pPr>
            <a:r>
              <a:rPr sz="2200">
                <a:solidFill>
                  <a:srgbClr val="333333"/>
                </a:solidFill>
              </a:rPr>
              <a:t>በሐዘን ቤት፣</a:t>
            </a:r>
          </a:p>
          <a:p>
            <a:pPr>
              <a:spcAft>
                <a:spcPts val="1000"/>
              </a:spcAft>
            </a:pPr>
            <a:r>
              <a:rPr sz="2200">
                <a:solidFill>
                  <a:srgbClr val="333333"/>
                </a:solidFill>
              </a:rPr>
              <a:t>በሠርግ ቤት፣</a:t>
            </a:r>
          </a:p>
          <a:p>
            <a:pPr>
              <a:spcAft>
                <a:spcPts val="1000"/>
              </a:spcAft>
            </a:pPr>
            <a:r>
              <a:rPr sz="2200">
                <a:solidFill>
                  <a:srgbClr val="333333"/>
                </a:solidFill>
              </a:rPr>
              <a:t>በእስር ቤት…</a:t>
            </a:r>
          </a:p>
          <a:p>
            <a:pPr>
              <a:spcAft>
                <a:spcPts val="1000"/>
              </a:spcAft>
            </a:pPr>
            <a:r>
              <a:rPr sz="2200">
                <a:solidFill>
                  <a:srgbClr val="333333"/>
                </a:solidFill>
              </a:rPr>
              <a:t>ቦታውን፣</a:t>
            </a:r>
          </a:p>
          <a:p>
            <a:pPr>
              <a:spcAft>
                <a:spcPts val="1000"/>
              </a:spcAft>
            </a:pPr>
            <a:r>
              <a:rPr sz="2200">
                <a:solidFill>
                  <a:srgbClr val="333333"/>
                </a:solidFill>
              </a:rPr>
              <a:t>ሰዎቹ ያሉበትን ሁኔታ፣</a:t>
            </a:r>
          </a:p>
          <a:p>
            <a:pPr>
              <a:spcAft>
                <a:spcPts val="1000"/>
              </a:spcAft>
            </a:pPr>
            <a:r>
              <a:rPr sz="2200">
                <a:solidFill>
                  <a:srgbClr val="333333"/>
                </a:solidFill>
              </a:rPr>
              <a:t>የሰዎቹን የእውቀት ደረጃ፣</a:t>
            </a:r>
          </a:p>
          <a:p>
            <a:pPr>
              <a:spcAft>
                <a:spcPts val="1000"/>
              </a:spcAft>
            </a:pPr>
            <a:r>
              <a:rPr sz="2200">
                <a:solidFill>
                  <a:srgbClr val="333333"/>
                </a:solidFill>
              </a:rPr>
              <a:t>ባህልና እድሜ . . .</a:t>
            </a:r>
          </a:p>
          <a:p>
            <a:pPr>
              <a:spcAft>
                <a:spcPts val="1000"/>
              </a:spcAft>
            </a:pPr>
            <a:r>
              <a:rPr sz="2200">
                <a:solidFill>
                  <a:srgbClr val="333333"/>
                </a:solidFill>
              </a:rPr>
              <a:t>ለይቶ ማወቅ አለበት፡፡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“ኢየሱስም በምኩራቦቻቸው እያስተማረ፥ የመንግሥትንም ወንጌል እየሰበከ፥ በሕዝብም ያለውን ደዌና ሕማም ሁሉ እየፈወሰ፥ በከተማዎችና በመንደሮች ሁሉ ይዞር ነበር። “ብዙ ሕዝብም ባየ ጊዜ፥ እረኛ እንደ ሌላቸው በጎች ተጨንቀው ተጥለውም ነበርና አዘነላቸው።”</a:t>
            </a:r>
          </a:p>
          <a:p>
            <a:pPr>
              <a:spcAft>
                <a:spcPts val="1000"/>
              </a:spcAft>
            </a:pPr>
            <a:r>
              <a:rPr sz="2200">
                <a:solidFill>
                  <a:srgbClr val="333333"/>
                </a:solidFill>
              </a:rPr>
              <a:t>ማቴ. 9፡35-36</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4. ቀናዒነት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የክርስቶስ ወንጌል ለሁሉም ይዳረስ ዘንድ ሁሉም ይድኑ ዘንድ በትጋናት በቅናት ሌትና ቀን ደከመኝ ሰለቸኝ ሳይል መጋደል አለበት፡፡</a:t>
            </a:r>
          </a:p>
          <a:p>
            <a:pPr>
              <a:spcAft>
                <a:spcPts val="1000"/>
              </a:spcAft>
            </a:pPr>
            <a:r>
              <a:rPr sz="2200">
                <a:solidFill>
                  <a:srgbClr val="333333"/>
                </a:solidFill>
              </a:rPr>
              <a:t>“የቀረውንም ነገር ሳልቆጥር፥ ዕለት ዕለት 	የሚከብድብኝ  	የአብያተ 	ክርስቲያናት   	ሁሉ አሳብ ነው።”</a:t>
            </a:r>
          </a:p>
          <a:p>
            <a:pPr>
              <a:spcAft>
                <a:spcPts val="1000"/>
              </a:spcAft>
            </a:pPr>
            <a:r>
              <a:rPr sz="2200">
                <a:solidFill>
                  <a:srgbClr val="333333"/>
                </a:solidFill>
              </a:rPr>
              <a:t>2ኛ ወደ ቆሮ 11፥28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5. የማይፈራና የማያፍር መሆን</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“በወንጌል አላፍርም” ሮሜ 1፡16</a:t>
            </a:r>
          </a:p>
          <a:p>
            <a:pPr>
              <a:spcAft>
                <a:spcPts val="1000"/>
              </a:spcAft>
            </a:pPr>
            <a:r>
              <a:rPr sz="2200">
                <a:solidFill>
                  <a:srgbClr val="333333"/>
                </a:solidFill>
              </a:rPr>
              <a:t>ሰው ምን ይለኝ ይሆን በማለት ሳይጨናነቅ ጥበብ በተሞላበት በሁኔታ የእግዚአብሔርን ቃል በሚገባ ማስተላለፍ አለበት፡፡</a:t>
            </a:r>
          </a:p>
          <a:p>
            <a:pPr>
              <a:spcAft>
                <a:spcPts val="1000"/>
              </a:spcAft>
            </a:pPr>
            <a:r>
              <a:rPr sz="2200">
                <a:solidFill>
                  <a:srgbClr val="333333"/>
                </a:solidFill>
              </a:rPr>
              <a:t>“ነገር ግን የሠራዊት ጌታ እግዚአብሔርን ቀድሱት፣ የሚያስፈራችሁና የሚያስደነግጣችሁም እርሱ ይሁን።” ኢሳ 8፡13</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6. አለባበስ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አለባበሱ አርአያ ክህነትን የጠበቀ መሆን አለበት፡፡</a:t>
            </a:r>
          </a:p>
          <a:p>
            <a:pPr>
              <a:spcAft>
                <a:spcPts val="1000"/>
              </a:spcAft>
            </a:pPr>
            <a:r>
              <a:rPr sz="2200">
                <a:solidFill>
                  <a:srgbClr val="333333"/>
                </a:solidFill>
              </a:rPr>
              <a:t>ንጽሕናውን የመጠበቅና አግባብ ያለው አለባበስ መሆን አለበት</a:t>
            </a:r>
          </a:p>
          <a:p>
            <a:pPr>
              <a:spcAft>
                <a:spcPts val="1000"/>
              </a:spcAft>
            </a:pPr>
            <a:r>
              <a:rPr sz="2200">
                <a:solidFill>
                  <a:srgbClr val="333333"/>
                </a:solidFill>
              </a:rPr>
              <a:t>በጣም ከደረጃዉ የወረደ ወይም በጣም ዘመናዊ የሆነ ልብስ መልበስ የለበትም፡፡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7. ንግግሩ ኦርቶዶክሳዊ ላህይ ያለው መሆን አለበት፡፡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ሰባኪው የቤተ ክርስቲያን መቃን የመታው የቤተ ክርስቲያንን ቋንቋ በሚገባ የሚያውቅ መሆን አለበት፡፡</a:t>
            </a:r>
          </a:p>
          <a:p>
            <a:pPr>
              <a:spcAft>
                <a:spcPts val="1000"/>
              </a:spcAft>
            </a:pPr>
            <a:r>
              <a:rPr sz="2200">
                <a:solidFill>
                  <a:srgbClr val="333333"/>
                </a:solidFill>
              </a:rPr>
              <a:t>ጸያፍ የሆኑና ኦርቶዶክሳዊ ያልሆኑ ቃላትን መጠቀም የለበትም፡፡</a:t>
            </a:r>
          </a:p>
          <a:p>
            <a:pPr>
              <a:spcAft>
                <a:spcPts val="1000"/>
              </a:spcAft>
            </a:pPr>
            <a:r>
              <a:rPr sz="2200">
                <a:solidFill>
                  <a:srgbClr val="333333"/>
                </a:solidFill>
              </a:rPr>
              <a:t>የማይመጥኑ ወይም ለአድማጩ ከባድ የሆኑ ቃላትን መጠቀም የለበትም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8. ራሱን መስበክ የለበትም፡፡</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ዮሐንስ መጥምቅ ለጠየቁት ሰዎች መልስ ሲሰጥ እንዲህ አለ፡-</a:t>
            </a:r>
          </a:p>
          <a:p>
            <a:pPr>
              <a:spcAft>
                <a:spcPts val="1000"/>
              </a:spcAft>
            </a:pPr>
            <a:r>
              <a:rPr sz="2200">
                <a:solidFill>
                  <a:srgbClr val="333333"/>
                </a:solidFill>
              </a:rPr>
              <a:t>“እንኪያስ ማን ነህ? ኤልያስ ነህን? ብለው ጠየቁት፣ አይደለሁም አለ። ነቢዩ ነህን? አይደለሁም ብሎ መለሰ። እንኪያስ ማን ነህ? ለላኩን መልስ እንድንሰጥ፤ ስለራስህ ምን ትላለህ? አሉት። . . .</a:t>
            </a:r>
          </a:p>
          <a:p>
            <a:pPr>
              <a:spcAft>
                <a:spcPts val="1000"/>
              </a:spcAft>
            </a:pPr>
            <a:r>
              <a:rPr sz="2200">
                <a:solidFill>
                  <a:srgbClr val="333333"/>
                </a:solidFill>
              </a:rPr>
              <a:t>“ዮሐንስ መልሶ፦ እኔ በውኃ አጠምቃለሁ፤ ዳሩ ግን እናንተ የማታውቁት በመካከላችሁ ቆሞአል፤ እኔ የጫማውን ጠፍር ልፈታ የማይገባኝ፥ ከእኔ በኋላ የሚመጣው ከእኔ ይልቅ የሚከብር ይህ ነው አላቸው።” ዮሐ. 1፡21-27</a:t>
            </a:r>
          </a:p>
          <a:p>
            <a:pPr>
              <a:spcAft>
                <a:spcPts val="1000"/>
              </a:spcAft>
            </a:pPr>
            <a:r>
              <a:rPr sz="2200">
                <a:solidFill>
                  <a:srgbClr val="333333"/>
                </a:solidFill>
              </a:rPr>
              <a:t>አስፈላጊ በሚሆንበት ጊዜ ሳይበዛና ለጥሩ ምሳሌ ለመመሰል ከፈለገ እኛ እናንተ እያለ መናገር ይችላል</a:t>
            </a:r>
          </a:p>
          <a:p>
            <a:pPr>
              <a:spcAft>
                <a:spcPts val="1000"/>
              </a:spcAft>
            </a:pPr>
            <a:r>
              <a:rPr sz="2200">
                <a:solidFill>
                  <a:srgbClr val="333333"/>
                </a:solidFill>
              </a:rPr>
              <a:t>የራሱን ክብርና ዝና እንዲሁም ማንነት ለማስረዳትና ስለ እርሱ ለማሳወቅ  እገሌ ከተባለው ሊቅ ስማር . . . እያለ መድከም የለበትም፡፡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9. ርእሱን መጠበቅ</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አንድ ሰባኪ በግድ የለሽነት ተነስቶ ርእሱን ያልጠበቀ ስብከት ለአድማጮች ጥቅም የማይሰጥ ከመሆኑም ባሻገር ሰባኪውን ያስገምተዋል፡፡</a:t>
            </a:r>
          </a:p>
          <a:p>
            <a:pPr>
              <a:spcAft>
                <a:spcPts val="1000"/>
              </a:spcAft>
            </a:pPr>
            <a:r>
              <a:rPr sz="2200">
                <a:solidFill>
                  <a:srgbClr val="333333"/>
                </a:solidFill>
              </a:rPr>
              <a:t>ምስጢር ሳበኝ እያለ ትዝ ያለውን ሁሉ ማውራት የለበትም፡፡</a:t>
            </a:r>
          </a:p>
          <a:p>
            <a:pPr>
              <a:spcAft>
                <a:spcPts val="1000"/>
              </a:spcAft>
            </a:pPr>
            <a:r>
              <a:rPr sz="2200">
                <a:solidFill>
                  <a:srgbClr val="333333"/>
                </a:solidFill>
              </a:rPr>
              <a:t>የማያውቀውን ወይም እርግጠኛ ያልሆነበትን ነገር አለመድፈር</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10. ድምፁን መመጠን አለበት፡፡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ሰባኪው ድምጹ ለአድማጭ የሚረብሽና የሚሰቀጥጥ በጣም የሚጮኽ ወይም በጣም ፈዘዝ ያለ ለአድማጭ የሚሰለች መሆን የለበትም</a:t>
            </a:r>
          </a:p>
          <a:p>
            <a:pPr>
              <a:spcAft>
                <a:spcPts val="1000"/>
              </a:spcAft>
            </a:pPr>
            <a:r>
              <a:rPr sz="2200">
                <a:solidFill>
                  <a:srgbClr val="333333"/>
                </a:solidFill>
              </a:rPr>
              <a:t>በጣም መፍጠንም በጣም መጐተትም የለበትም፣ ትክክለኛና አግባብ ባለው ሁኔታ መሆን አለበት</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11. የሰባኪውና የአድማጩ ግንኙነት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ተረጋግተው ቦታቸውን እስኪይዙ ድረስ መጠበቅ አለበት፡፡</a:t>
            </a:r>
          </a:p>
          <a:p>
            <a:pPr>
              <a:spcAft>
                <a:spcPts val="1000"/>
              </a:spcAft>
            </a:pPr>
            <a:r>
              <a:rPr sz="2200">
                <a:solidFill>
                  <a:srgbClr val="333333"/>
                </a:solidFill>
              </a:rPr>
              <a:t>የአድማጮቹን ሁኔታ ይገምታል፡፡</a:t>
            </a:r>
          </a:p>
          <a:p>
            <a:pPr>
              <a:spcAft>
                <a:spcPts val="1000"/>
              </a:spcAft>
            </a:pPr>
            <a:r>
              <a:rPr sz="2200">
                <a:solidFill>
                  <a:srgbClr val="333333"/>
                </a:solidFill>
              </a:rPr>
              <a:t>ከዚያ በኋላ ለዕለቱ ተስማሚ በሆነ ርዕስ ትምህርቱን ይጀምራል፡፡</a:t>
            </a:r>
          </a:p>
          <a:p>
            <a:pPr>
              <a:spcAft>
                <a:spcPts val="1000"/>
              </a:spcAft>
            </a:pPr>
            <a:r>
              <a:rPr sz="2200">
                <a:solidFill>
                  <a:srgbClr val="333333"/>
                </a:solidFill>
              </a:rPr>
              <a:t>ዓይንን በአንድ ቦታ ላይ ወይም በአንድ ሰው ላይ ሳይተክሉ በአራቱም አቅጣጫ ቃኘት በማድረግ ሰልችቷቸው ወይም ደክመው እንዳይሆን ወይም አልገባቸው እያለ እንዳይሆን በዓይን ሁሉንም አድማጭ ለመቆጣጠር በመሞከር</a:t>
            </a:r>
          </a:p>
          <a:p>
            <a:pPr>
              <a:spcAft>
                <a:spcPts val="1000"/>
              </a:spcAft>
            </a:pPr>
            <a:r>
              <a:rPr sz="2200">
                <a:solidFill>
                  <a:srgbClr val="333333"/>
                </a:solidFill>
              </a:rPr>
              <a:t>በሚሰብክበት ጊዜ ጣራ ጣራ ወይም ወደ መሬት ማየት የለበትም፡፡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12. መመጠን (አለማርዘም)</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“በመጠን ኑሩ”</a:t>
            </a:r>
          </a:p>
          <a:p>
            <a:pPr>
              <a:spcAft>
                <a:spcPts val="1000"/>
              </a:spcAft>
            </a:pPr>
            <a:r>
              <a:rPr sz="2200">
                <a:solidFill>
                  <a:srgbClr val="333333"/>
                </a:solidFill>
              </a:rPr>
              <a:t>1 ጴጥ. 5፡8</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13. አላስፈላጊ እንቅስቃሴ ማድረግ የለበትም፡፡</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እጅን ማወራጨት</a:t>
            </a:r>
          </a:p>
          <a:p>
            <a:pPr>
              <a:spcAft>
                <a:spcPts val="1000"/>
              </a:spcAft>
            </a:pPr>
            <a:r>
              <a:rPr sz="2200">
                <a:solidFill>
                  <a:srgbClr val="333333"/>
                </a:solidFill>
              </a:rPr>
              <a:t>ራስን፣ . . .  ማከክ</a:t>
            </a:r>
          </a:p>
          <a:p>
            <a:pPr>
              <a:spcAft>
                <a:spcPts val="1000"/>
              </a:spcAft>
            </a:pPr>
            <a:r>
              <a:rPr sz="2200">
                <a:solidFill>
                  <a:srgbClr val="333333"/>
                </a:solidFill>
              </a:rPr>
              <a:t>ወዲያ ወዲህ መንጎራደድ</a:t>
            </a:r>
          </a:p>
          <a:p>
            <a:pPr>
              <a:spcAft>
                <a:spcPts val="1000"/>
              </a:spcAft>
            </a:pPr>
            <a:r>
              <a:rPr sz="2200">
                <a:solidFill>
                  <a:srgbClr val="333333"/>
                </a:solidFill>
              </a:rPr>
              <a:t>አላስፈላጊ ድግግሞሽ ማድረግ የለበትም፡፡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16. ራሱን መሆን አለበት፡፡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ሌሎችን ለመመምሰል መጣር የለበትም</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፫. የስብከት ዓይነቶች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ነገረ ሃይማኖታዊ ጉዳይ ላይ የተመሠረተ</a:t>
            </a:r>
          </a:p>
          <a:p>
            <a:pPr>
              <a:spcAft>
                <a:spcPts val="1000"/>
              </a:spcAft>
            </a:pPr>
            <a:r>
              <a:rPr sz="2200">
                <a:solidFill>
                  <a:srgbClr val="333333"/>
                </a:solidFill>
              </a:rPr>
              <a:t>ስለ መዳን</a:t>
            </a:r>
          </a:p>
          <a:p>
            <a:pPr>
              <a:spcAft>
                <a:spcPts val="1000"/>
              </a:spcAft>
            </a:pPr>
            <a:r>
              <a:rPr sz="2200">
                <a:solidFill>
                  <a:srgbClr val="333333"/>
                </a:solidFill>
              </a:rPr>
              <a:t>ስለ ምሥጢራት</a:t>
            </a:r>
          </a:p>
          <a:p>
            <a:pPr>
              <a:spcAft>
                <a:spcPts val="1000"/>
              </a:spcAft>
            </a:pPr>
            <a:r>
              <a:rPr sz="2200">
                <a:solidFill>
                  <a:srgbClr val="333333"/>
                </a:solidFill>
              </a:rPr>
              <a:t>ስለ ልደት</a:t>
            </a:r>
          </a:p>
          <a:p>
            <a:pPr>
              <a:spcAft>
                <a:spcPts val="1000"/>
              </a:spcAft>
            </a:pPr>
            <a:r>
              <a:rPr sz="2200">
                <a:solidFill>
                  <a:srgbClr val="333333"/>
                </a:solidFill>
              </a:rPr>
              <a:t>ስለ ንስሐ</a:t>
            </a:r>
          </a:p>
          <a:p>
            <a:pPr>
              <a:spcAft>
                <a:spcPts val="1000"/>
              </a:spcAft>
            </a:pPr>
            <a:r>
              <a:rPr sz="2200">
                <a:solidFill>
                  <a:srgbClr val="333333"/>
                </a:solidFill>
              </a:rPr>
              <a:t>ስለ ትንሣኤ</a:t>
            </a:r>
          </a:p>
          <a:p>
            <a:pPr>
              <a:spcAft>
                <a:spcPts val="1000"/>
              </a:spcAft>
            </a:pPr>
            <a:r>
              <a:rPr sz="2200">
                <a:solidFill>
                  <a:srgbClr val="333333"/>
                </a:solidFill>
              </a:rPr>
              <a:t>ስለ እግዚአብሔር መገለጥ</a:t>
            </a:r>
          </a:p>
          <a:p>
            <a:pPr>
              <a:spcAft>
                <a:spcPts val="1000"/>
              </a:spcAft>
            </a:pPr>
            <a:r>
              <a:rPr sz="2200">
                <a:solidFill>
                  <a:srgbClr val="333333"/>
                </a:solidFill>
              </a:rPr>
              <a:t>ስለ ዕርገት</a:t>
            </a:r>
          </a:p>
          <a:p>
            <a:pPr>
              <a:spcAft>
                <a:spcPts val="1000"/>
              </a:spcAft>
            </a:pPr>
            <a:r>
              <a:rPr sz="2200">
                <a:solidFill>
                  <a:srgbClr val="333333"/>
                </a:solidFill>
              </a:rPr>
              <a:t>ስለ ዳግም ምጽአት . . .</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2. አንድ ጥቅስ ተኮር</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“ከመጥምቁም ከዮሐንስ ዘመን ጀምሮ እስከ ዛሬ ድረስ መንግሥተ ሰማያት ትገፋለች፥ ግፈኞችም ይናጠቋታል፡፡” ማቴ. 11፡12</a:t>
            </a:r>
          </a:p>
          <a:p>
            <a:pPr>
              <a:spcAft>
                <a:spcPts val="1000"/>
              </a:spcAft>
            </a:pPr>
            <a:r>
              <a:rPr sz="2200">
                <a:solidFill>
                  <a:srgbClr val="333333"/>
                </a:solidFill>
              </a:rPr>
              <a:t>“ከሰማርያ አንዲት ሴት ውኃ ልትቀዳ መጣች። ኢየሱስም፦ ውኃ አጠጪኝ አላት፤ ደቀ መዛሙርቱ ምግብ ሊገዙ ወደ ከተማ ሄደው ነበርና።  ስለዚህ ሳምራዊቲቱ፡- አንተ የይሁዳ ሰው ስትሆን ሳምራዊት ሴት ከምሆን ከእኔ መጠጥ እንዴት ትለምናለህ? አለችው፤ አይሁድ ከሳምራውያን ጋር አይተባበሩም ነበርና። . . .”</a:t>
            </a:r>
          </a:p>
          <a:p>
            <a:pPr>
              <a:spcAft>
                <a:spcPts val="1000"/>
              </a:spcAft>
            </a:pPr>
            <a:r>
              <a:rPr sz="2200">
                <a:solidFill>
                  <a:srgbClr val="333333"/>
                </a:solidFill>
              </a:rPr>
              <a:t>ዮሐ. 4</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ማስታወሻ</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“አንዳንድ ጊዜ የጌታ መልአክ ወደ መጠመቂያይቱ ወርዶ ውኃውን ያናውጥ ነበርና፤ እንግዲህ ከውኃው መናወጥ በኋላ በመጀመሪያ የገባ ከማናቸው ካለበት ደዌ ጤናማ ይሆን ነበር። በዚያም ከሠላሳ ስምንት ዓመት ጀምሮ የታመመ አንድ ሰው ነበረ፤ ኢየሱስ ይህን ሰው ተኝቶ ባየ ጊዜ፥ እስከ አሁን ብዙ ዘመን እንዲሁ እንደ ነበረ አውቆ። ልትድን ትወዳለህን? አለው።”</a:t>
            </a:r>
          </a:p>
          <a:p>
            <a:pPr>
              <a:spcAft>
                <a:spcPts val="1000"/>
              </a:spcAft>
            </a:pPr>
            <a:r>
              <a:rPr sz="2200">
                <a:solidFill>
                  <a:srgbClr val="333333"/>
                </a:solidFill>
              </a:rPr>
              <a:t>ዮሐ. 5፡1-6</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3. ታሪክ ተኮር</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የእስራኤላውያንን ከግብጽ መውጣት</a:t>
            </a:r>
          </a:p>
          <a:p>
            <a:pPr>
              <a:spcAft>
                <a:spcPts val="1000"/>
              </a:spcAft>
            </a:pPr>
            <a:r>
              <a:rPr sz="2200">
                <a:solidFill>
                  <a:srgbClr val="333333"/>
                </a:solidFill>
              </a:rPr>
              <a:t>የእስራኤላውያን መማረክ</a:t>
            </a:r>
          </a:p>
          <a:p>
            <a:pPr>
              <a:spcAft>
                <a:spcPts val="1000"/>
              </a:spcAft>
            </a:pPr>
            <a:r>
              <a:rPr sz="2200">
                <a:solidFill>
                  <a:srgbClr val="333333"/>
                </a:solidFill>
              </a:rPr>
              <a:t>የሐዋርያት ወደ ዓለም መላክ</a:t>
            </a:r>
          </a:p>
          <a:p>
            <a:pPr>
              <a:spcAft>
                <a:spcPts val="1000"/>
              </a:spcAft>
            </a:pPr>
            <a:r>
              <a:rPr sz="2200">
                <a:solidFill>
                  <a:srgbClr val="333333"/>
                </a:solidFill>
              </a:rPr>
              <a:t>. . .</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4.  የአንድ ቅዱስ ሕይወት መሠረት ያደረገ</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ለምሳሌ</a:t>
            </a:r>
          </a:p>
          <a:p>
            <a:pPr>
              <a:spcAft>
                <a:spcPts val="1000"/>
              </a:spcAft>
            </a:pPr>
            <a:r>
              <a:rPr sz="2200">
                <a:solidFill>
                  <a:srgbClr val="333333"/>
                </a:solidFill>
              </a:rPr>
              <a:t>የሙሴ ሕይወት - በፊትና በኋላ</a:t>
            </a:r>
          </a:p>
          <a:p>
            <a:pPr>
              <a:spcAft>
                <a:spcPts val="1000"/>
              </a:spcAft>
            </a:pPr>
            <a:r>
              <a:rPr sz="2200">
                <a:solidFill>
                  <a:srgbClr val="333333"/>
                </a:solidFill>
              </a:rPr>
              <a:t>የኢሳይያስ ሕይወት - በፊትና በኋላ</a:t>
            </a:r>
          </a:p>
          <a:p>
            <a:pPr>
              <a:spcAft>
                <a:spcPts val="1000"/>
              </a:spcAft>
            </a:pPr>
            <a:r>
              <a:rPr sz="2200">
                <a:solidFill>
                  <a:srgbClr val="333333"/>
                </a:solidFill>
              </a:rPr>
              <a:t>የዮናስ ሕይወት - በፊትና በኋላ</a:t>
            </a:r>
          </a:p>
          <a:p>
            <a:pPr>
              <a:spcAft>
                <a:spcPts val="1000"/>
              </a:spcAft>
            </a:pPr>
            <a:r>
              <a:rPr sz="2200">
                <a:solidFill>
                  <a:srgbClr val="333333"/>
                </a:solidFill>
              </a:rPr>
              <a:t>የቅ. ጴጥሮስ ሕይወት - በፊትና በኋላ</a:t>
            </a:r>
          </a:p>
          <a:p>
            <a:pPr>
              <a:spcAft>
                <a:spcPts val="1000"/>
              </a:spcAft>
            </a:pPr>
            <a:r>
              <a:rPr sz="2200">
                <a:solidFill>
                  <a:srgbClr val="333333"/>
                </a:solidFill>
              </a:rPr>
              <a:t>የቅ. ጳውሎስ ሕይወት - በፊትና በኋላ</a:t>
            </a:r>
          </a:p>
          <a:p>
            <a:pPr>
              <a:spcAft>
                <a:spcPts val="1000"/>
              </a:spcAft>
            </a:pPr>
            <a:r>
              <a:rPr sz="2200">
                <a:solidFill>
                  <a:srgbClr val="333333"/>
                </a:solidFill>
              </a:rPr>
              <a:t>የሐዋርያት ሕይወት - በፊትና በኋላ</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፬. የስብከት  ክፍሎች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ርእስ</a:t>
            </a:r>
          </a:p>
          <a:p>
            <a:pPr>
              <a:spcAft>
                <a:spcPts val="1000"/>
              </a:spcAft>
            </a:pPr>
            <a:r>
              <a:rPr sz="2200">
                <a:solidFill>
                  <a:srgbClr val="333333"/>
                </a:solidFill>
              </a:rPr>
              <a:t>መግቢያ</a:t>
            </a:r>
          </a:p>
          <a:p>
            <a:pPr>
              <a:spcAft>
                <a:spcPts val="1000"/>
              </a:spcAft>
            </a:pPr>
            <a:r>
              <a:rPr sz="2200">
                <a:solidFill>
                  <a:srgbClr val="333333"/>
                </a:solidFill>
              </a:rPr>
              <a:t>ሐተታ (ማብራሪያ)</a:t>
            </a:r>
          </a:p>
          <a:p>
            <a:pPr>
              <a:spcAft>
                <a:spcPts val="1000"/>
              </a:spcAft>
            </a:pPr>
            <a:r>
              <a:rPr sz="2200">
                <a:solidFill>
                  <a:srgbClr val="333333"/>
                </a:solidFill>
              </a:rPr>
              <a:t>ዋና መልእክት</a:t>
            </a:r>
          </a:p>
          <a:p>
            <a:pPr>
              <a:spcAft>
                <a:spcPts val="1000"/>
              </a:spcAft>
            </a:pPr>
            <a:r>
              <a:rPr sz="2200">
                <a:solidFill>
                  <a:srgbClr val="333333"/>
                </a:solidFill>
              </a:rPr>
              <a:t>ማጠቃለያ</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፭. የወንጌል ስብከት መንገዶች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ብቻ ለብቻ (ለአንድ ሰው)</a:t>
            </a:r>
          </a:p>
          <a:p>
            <a:pPr>
              <a:spcAft>
                <a:spcPts val="1000"/>
              </a:spcAft>
            </a:pPr>
            <a:r>
              <a:rPr sz="2200">
                <a:solidFill>
                  <a:srgbClr val="333333"/>
                </a:solidFill>
              </a:rPr>
              <a:t>ለጥቂት ሰዎች (ለደቀ መዛሙርት፣ ለቤተሰቦች)</a:t>
            </a:r>
          </a:p>
          <a:p>
            <a:pPr>
              <a:spcAft>
                <a:spcPts val="1000"/>
              </a:spcAft>
            </a:pPr>
            <a:r>
              <a:rPr sz="2200">
                <a:solidFill>
                  <a:srgbClr val="333333"/>
                </a:solidFill>
              </a:rPr>
              <a:t>ለሕዝብ</a:t>
            </a:r>
          </a:p>
          <a:p>
            <a:pPr>
              <a:spcAft>
                <a:spcPts val="1000"/>
              </a:spcAft>
            </a:pPr>
            <a:r>
              <a:rPr sz="2200">
                <a:solidFill>
                  <a:srgbClr val="333333"/>
                </a:solidFill>
              </a:rPr>
              <a:t>ለማኅበር፣ . . .</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1. ብቻ ለብቻ (ለአንድ ሰው)</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ለሳምራዊቷ ሴት</a:t>
            </a:r>
          </a:p>
          <a:p>
            <a:pPr>
              <a:spcAft>
                <a:spcPts val="1000"/>
              </a:spcAft>
            </a:pPr>
            <a:r>
              <a:rPr sz="2200">
                <a:solidFill>
                  <a:srgbClr val="333333"/>
                </a:solidFill>
              </a:rPr>
              <a:t>“ሴቲቱም፡- ያደረግሁትን ሁሉ ነገረኝ ብላ ስለ መሰከረችው ቃል ከዚያች ከተማ የሰማርያ ሰዎች ብዙ አመኑበት። የሰማርያ ሰዎችም ወደ እርሱ በመጡ ጊዜ በእነርሱ ዘንድ እንዲኖር ለመኑት፤ በዚያም ሁለት ቀን ያህል ኖረ።</a:t>
            </a:r>
          </a:p>
          <a:p>
            <a:pPr>
              <a:spcAft>
                <a:spcPts val="1000"/>
              </a:spcAft>
            </a:pPr>
            <a:r>
              <a:rPr sz="2200">
                <a:solidFill>
                  <a:srgbClr val="333333"/>
                </a:solidFill>
              </a:rPr>
              <a:t>“ስለ ቃሉ ከፊተኞች ይልቅ ብዙ ሰዎች አመኑ፤ ሴቲቱንም። አሁን የምናምን ስለ ቃልሽ አይደለም፥ እኛ ራሳችን ሰምተነዋልና፤ እርሱም በእውነት ክርስቶስ የዓለም መድኃኒት እንደ ሆነ እናውቃለን ይሉአት ነበር።”</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ኒቆዲሞስ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“ከእነርሱ አንዱ በሌሊት ቀድሞ ወደ እርሱ መጥቶ የነበረ ኒቆዲሞስ፡- ሕጋችን አስቀድሞ ከእርሱ ሳይሰማ ምንስ እንዳደረገ ሳያውቅ በሰው ይፈርዳልን? አላቸው።”</a:t>
            </a:r>
          </a:p>
          <a:p>
            <a:pPr>
              <a:spcAft>
                <a:spcPts val="1000"/>
              </a:spcAft>
            </a:pPr>
            <a:r>
              <a:rPr sz="2200">
                <a:solidFill>
                  <a:srgbClr val="333333"/>
                </a:solidFill>
              </a:rPr>
              <a:t>ዮሐ. 7፡50-51</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ዮሴፍ ዘአርማትያስ</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“ከዚህም በኋላ አይሁድን ስለ ፈራ በስውር የኢየሱስ ደቀ መዝሙር የነበረ የአርማትያስ ዮሴፍ የኢየሱስን ሥጋ ሊወስድ ጲላጦስን ለመነ፤ ጲላጦስም ፈቀደለት። ስለዚህም መጥቶ የኢየሱስን ሥጋ ወሰደ። ደግሞም አስቀድሞ በሌሊት ወደ ኢየሱስ መጥቶ የነበረ ኒቆዲሞስ መቶ ንጥር የሚያህል የከርቤና የእሬት ቅልቅል ይዞ መጣ።</a:t>
            </a:r>
          </a:p>
          <a:p>
            <a:pPr>
              <a:spcAft>
                <a:spcPts val="1000"/>
              </a:spcAft>
            </a:pPr>
            <a:r>
              <a:rPr sz="2200">
                <a:solidFill>
                  <a:srgbClr val="333333"/>
                </a:solidFill>
              </a:rPr>
              <a:t>“የኢየሱስንም ሥጋ ወስደው እንደ አይሁድ አገናነዝ ልማድ ከሽቱ ጋር በተልባ እግር ልብስ ከፈኑት።”</a:t>
            </a:r>
          </a:p>
          <a:p>
            <a:pPr>
              <a:spcAft>
                <a:spcPts val="1000"/>
              </a:spcAft>
            </a:pPr>
            <a:r>
              <a:rPr sz="2200">
                <a:solidFill>
                  <a:srgbClr val="333333"/>
                </a:solidFill>
              </a:rPr>
              <a:t>ዮሐ. 19፡38-40</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2. ለጥቂት ሰዎች (ለደቀ መዛሙርት፣ ለቤተሰቦች)</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ልድያና ቤተሰቦቿ</a:t>
            </a:r>
          </a:p>
          <a:p>
            <a:pPr>
              <a:spcAft>
                <a:spcPts val="1000"/>
              </a:spcAft>
            </a:pPr>
            <a:r>
              <a:rPr sz="2200">
                <a:solidFill>
                  <a:srgbClr val="333333"/>
                </a:solidFill>
              </a:rPr>
              <a:t>“ከትያጥሮን ከተማም የመጣች ቀይ ሐር ሻጭ እግዚአብሔርን የምታመልክ ልድያ የሚሉአት አንዲት ሴት ትሰማ ነበረች፤ ጳውሎስም የሚናገረውን ታዳምጥ ዘንድ ጌታ ልብዋን ከፈተላት።</a:t>
            </a:r>
          </a:p>
          <a:p>
            <a:pPr>
              <a:spcAft>
                <a:spcPts val="1000"/>
              </a:spcAft>
            </a:pPr>
            <a:r>
              <a:rPr sz="2200">
                <a:solidFill>
                  <a:srgbClr val="333333"/>
                </a:solidFill>
              </a:rPr>
              <a:t>“እርስዋም ከቤተ ሰዎችዋ ጋር ከተጠመቀች በኋላ። በጌታ የማምን እንድሆን ከፈረዳችሁልኝ፥ ወደ ቤቴ ገብታችሁ ኑሩ ብላ ለመነችን፤ በግድም አለችን።”</a:t>
            </a:r>
          </a:p>
          <a:p>
            <a:pPr>
              <a:spcAft>
                <a:spcPts val="1000"/>
              </a:spcAft>
            </a:pPr>
            <a:r>
              <a:rPr sz="2200">
                <a:solidFill>
                  <a:srgbClr val="333333"/>
                </a:solidFill>
              </a:rPr>
              <a:t>የሐዋ. 16፡14-15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ለጵርስቅላ እና አቂላ</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“በክርስቶስ ኢየሱስ አብረውኝ ለሚሠሩ ለጵርስቅላና ለአቂላ ሰላምታ አቅርቡልኝ፤ እነርሱም ስለ ነፍሴ ነፍሳቸውን ለሞት አቀረቡ፥ የአሕዛብም አብያተ ክርስቲያናት ሁሉ የሚያመሰግኑአቸው ናቸው እንጂ እኔ ብቻ አይደለሁም፤</a:t>
            </a:r>
          </a:p>
          <a:p>
            <a:pPr>
              <a:spcAft>
                <a:spcPts val="1000"/>
              </a:spcAft>
            </a:pPr>
            <a:r>
              <a:rPr sz="2200">
                <a:solidFill>
                  <a:srgbClr val="333333"/>
                </a:solidFill>
              </a:rPr>
              <a:t>“በቤታቸውም ላለች ቤተ ክርስቲያን ሰላምታ አቅርቡልኝ። ከእስያ ለክርስቶስ በኵራት ለሆነው ለምወደው ለአጤኔጦን ሰላምታ አቅርቡልኝ።”</a:t>
            </a:r>
          </a:p>
          <a:p>
            <a:pPr>
              <a:spcAft>
                <a:spcPts val="1000"/>
              </a:spcAft>
            </a:pPr>
            <a:r>
              <a:rPr sz="2200">
                <a:solidFill>
                  <a:srgbClr val="333333"/>
                </a:solidFill>
              </a:rPr>
              <a:t>ሮሜ 16፡3-5</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a:xfrm>
            <a:off x="457200" y="182880"/>
            <a:ext cx="8229600" cy="731520"/>
          </a:xfrm>
        </p:spPr>
        <p:txBody>
          <a:bodyPr/>
          <a:lstStyle/>
          <a:p>
            <a:pPr algn="l"/>
            <a:r>
              <a:rPr b="1" sz="3200">
                <a:solidFill>
                  <a:srgbClr val="D4AF37"/>
                </a:solidFill>
              </a:rPr>
              <a:t>3. ለሕዝብ</a:t>
            </a:r>
          </a:p>
        </p:txBody>
      </p:sp>
      <p:sp>
        <p:nvSpPr>
          <p:cNvPr id="3" name="Content Placeholder 2"/>
          <p:cNvSpPr>
            <a:spLocks noGrp="1"/>
          </p:cNvSpPr>
          <p:nvPr>
            <p:ph idx="1"/>
          </p:nvPr>
        </p:nvSpPr>
        <p:spPr>
          <a:xfrm>
            <a:off x="457200" y="1371600"/>
            <a:ext cx="8229600" cy="5029200"/>
          </a:xfrm>
        </p:spPr>
        <p:txBody>
          <a:bodyPr/>
          <a:lstStyle/>
          <a:p>
            <a:pPr>
              <a:spcAft>
                <a:spcPts val="1000"/>
              </a:spcAft>
            </a:pPr>
            <a:r>
              <a:rPr sz="2200">
                <a:solidFill>
                  <a:srgbClr val="333333"/>
                </a:solidFill>
              </a:rPr>
              <a:t>“ሕዝቡንም አይቶ ወደ ተራራ ወጣ፤ በተቀመጠም ጊዜ ደቀ መዛሙርቱ ወደ እርሱ ቀረቡ፤ አፉንም ከፍቶ አስተማራቸው እንዲህም አለ፦ . . .”</a:t>
            </a:r>
          </a:p>
          <a:p>
            <a:pPr>
              <a:spcAft>
                <a:spcPts val="1000"/>
              </a:spcAft>
            </a:pPr>
            <a:r>
              <a:rPr sz="2200">
                <a:solidFill>
                  <a:srgbClr val="333333"/>
                </a:solidFill>
              </a:rPr>
              <a:t>ማቴ. 5፡1-2</a:t>
            </a:r>
          </a:p>
        </p:txBody>
      </p:sp>
      <p:sp>
        <p:nvSpPr>
          <p:cNvPr id="4" name="Rectangle 3"/>
          <p:cNvSpPr/>
          <p:nvPr/>
        </p:nvSpPr>
        <p:spPr>
          <a:xfrm>
            <a:off x="0" y="0"/>
            <a:ext cx="9144000" cy="1097280"/>
          </a:xfrm>
          <a:prstGeom prst="rect">
            <a:avLst/>
          </a:prstGeom>
          <a:solidFill>
            <a:srgbClr val="00334D"/>
          </a:solidFill>
          <a:ln>
            <a:solidFill>
              <a:srgbClr val="00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