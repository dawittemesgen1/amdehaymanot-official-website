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9144000"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365760"/>
            <a:ext cx="8412480" cy="6126480"/>
          </a:xfrm>
          <a:prstGeom prst="rect">
            <a:avLst/>
          </a:prstGeom>
          <a:noFill/>
          <a:ln w="12700">
            <a:solidFill>
              <a:srgbClr val="7862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560320" y="777240"/>
            <a:ext cx="4023360" cy="502920"/>
          </a:xfrm>
          <a:prstGeom prst="roundRect">
            <a:avLst/>
          </a:prstGeom>
          <a:solidFill>
            <a:srgbClr val="063852"/>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tIns="73152"/>
          <a:lstStyle/>
          <a:p>
            <a:pPr algn="ctr"/>
            <a:r>
              <a:rPr sz="1700" b="1">
                <a:solidFill>
                  <a:srgbClr val="F0D376"/>
                </a:solidFill>
                <a:latin typeface="Segoe UI"/>
              </a:rPr>
              <a:t>❖  የስብከት ዘዴ  ❖</a:t>
            </a:r>
          </a:p>
        </p:txBody>
      </p:sp>
      <p:sp>
        <p:nvSpPr>
          <p:cNvPr id="6" name="TextBox 5"/>
          <p:cNvSpPr txBox="1"/>
          <p:nvPr/>
        </p:nvSpPr>
        <p:spPr>
          <a:xfrm>
            <a:off x="548640" y="2011680"/>
            <a:ext cx="8046720" cy="1645920"/>
          </a:xfrm>
          <a:prstGeom prst="rect">
            <a:avLst/>
          </a:prstGeom>
          <a:noFill/>
        </p:spPr>
        <p:txBody>
          <a:bodyPr wrap="square">
            <a:spAutoFit/>
          </a:bodyPr>
          <a:lstStyle/>
          <a:p>
            <a:pPr algn="ctr"/>
            <a:r>
              <a:rPr b="1" sz="4600">
                <a:solidFill>
                  <a:srgbClr val="D4AF37"/>
                </a:solidFill>
                <a:latin typeface="Segoe UI"/>
              </a:rPr>
              <a:t>የስብከት ዘዴ (HOMILETICS)</a:t>
            </a:r>
          </a:p>
        </p:txBody>
      </p:sp>
      <p:sp>
        <p:nvSpPr>
          <p:cNvPr id="7" name="TextBox 6"/>
          <p:cNvSpPr txBox="1"/>
          <p:nvPr/>
        </p:nvSpPr>
        <p:spPr>
          <a:xfrm>
            <a:off x="731520" y="4297680"/>
            <a:ext cx="7680960" cy="1828800"/>
          </a:xfrm>
          <a:prstGeom prst="rect">
            <a:avLst/>
          </a:prstGeom>
          <a:noFill/>
        </p:spPr>
        <p:txBody>
          <a:bodyPr wrap="square">
            <a:spAutoFit/>
          </a:bodyPr>
          <a:lstStyle/>
          <a:p>
            <a:pPr algn="ctr"/>
            <a:r>
              <a:rPr sz="2100">
                <a:solidFill>
                  <a:srgbClr val="FFFFFF"/>
                </a:solidFill>
                <a:latin typeface="Segoe UI"/>
              </a:rPr>
              <a:t>የጅማ ደብረ ኤፍራታ ቅድስት ድንግል ማርያም ካቴድራል ዓምደ ሃይማኖት ሰንበት ትምህርት ቤት የትምህርት ክፍል የ2018 ዓ.ም የተተኪ መምህራን ስልጠና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800">
                <a:solidFill>
                  <a:srgbClr val="D4AF37"/>
                </a:solidFill>
                <a:latin typeface="Segoe UI"/>
              </a:rPr>
              <a:t>ማውጫ / ይዘት</a:t>
            </a:r>
          </a:p>
        </p:txBody>
      </p:sp>
      <p:sp>
        <p:nvSpPr>
          <p:cNvPr id="6" name="Rounded Rectangle 5"/>
          <p:cNvSpPr/>
          <p:nvPr/>
        </p:nvSpPr>
        <p:spPr>
          <a:xfrm>
            <a:off x="502920" y="132588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39903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፩</a:t>
            </a:r>
          </a:p>
        </p:txBody>
      </p:sp>
      <p:sp>
        <p:nvSpPr>
          <p:cNvPr id="8" name="TextBox 7"/>
          <p:cNvSpPr txBox="1"/>
          <p:nvPr/>
        </p:nvSpPr>
        <p:spPr>
          <a:xfrm>
            <a:off x="1261872" y="1362456"/>
            <a:ext cx="7223760" cy="548640"/>
          </a:xfrm>
          <a:prstGeom prst="rect">
            <a:avLst/>
          </a:prstGeom>
          <a:noFill/>
        </p:spPr>
        <p:txBody>
          <a:bodyPr wrap="square" lIns="45720" tIns="54864" bIns="0">
            <a:spAutoFit/>
          </a:bodyPr>
          <a:lstStyle/>
          <a:p>
            <a:pPr algn="l"/>
            <a:r>
              <a:rPr sz="1850" b="1">
                <a:solidFill>
                  <a:srgbClr val="00334D"/>
                </a:solidFill>
                <a:latin typeface="Segoe UI"/>
              </a:rPr>
              <a:t>የስብከት ትርጉምና ምንነት</a:t>
            </a:r>
          </a:p>
        </p:txBody>
      </p:sp>
      <p:sp>
        <p:nvSpPr>
          <p:cNvPr id="9" name="Rounded Rectangle 8"/>
          <p:cNvSpPr/>
          <p:nvPr/>
        </p:nvSpPr>
        <p:spPr>
          <a:xfrm>
            <a:off x="502920" y="205740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13055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፪</a:t>
            </a:r>
          </a:p>
        </p:txBody>
      </p:sp>
      <p:sp>
        <p:nvSpPr>
          <p:cNvPr id="11" name="TextBox 10"/>
          <p:cNvSpPr txBox="1"/>
          <p:nvPr/>
        </p:nvSpPr>
        <p:spPr>
          <a:xfrm>
            <a:off x="1261872" y="2093976"/>
            <a:ext cx="7223760" cy="548640"/>
          </a:xfrm>
          <a:prstGeom prst="rect">
            <a:avLst/>
          </a:prstGeom>
          <a:noFill/>
        </p:spPr>
        <p:txBody>
          <a:bodyPr wrap="square" lIns="45720" tIns="54864" bIns="0">
            <a:spAutoFit/>
          </a:bodyPr>
          <a:lstStyle/>
          <a:p>
            <a:pPr algn="l"/>
            <a:r>
              <a:rPr sz="1850" b="1">
                <a:solidFill>
                  <a:srgbClr val="00334D"/>
                </a:solidFill>
                <a:latin typeface="Segoe UI"/>
              </a:rPr>
              <a:t>የስብከት ታሪክ በዘመናት</a:t>
            </a:r>
          </a:p>
        </p:txBody>
      </p:sp>
      <p:sp>
        <p:nvSpPr>
          <p:cNvPr id="12" name="Rounded Rectangle 11"/>
          <p:cNvSpPr/>
          <p:nvPr/>
        </p:nvSpPr>
        <p:spPr>
          <a:xfrm>
            <a:off x="502920" y="278892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6207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፫</a:t>
            </a:r>
          </a:p>
        </p:txBody>
      </p:sp>
      <p:sp>
        <p:nvSpPr>
          <p:cNvPr id="14" name="TextBox 13"/>
          <p:cNvSpPr txBox="1"/>
          <p:nvPr/>
        </p:nvSpPr>
        <p:spPr>
          <a:xfrm>
            <a:off x="1261872" y="2825496"/>
            <a:ext cx="7223760" cy="548640"/>
          </a:xfrm>
          <a:prstGeom prst="rect">
            <a:avLst/>
          </a:prstGeom>
          <a:noFill/>
        </p:spPr>
        <p:txBody>
          <a:bodyPr wrap="square" lIns="45720" tIns="54864" bIns="0">
            <a:spAutoFit/>
          </a:bodyPr>
          <a:lstStyle/>
          <a:p>
            <a:pPr algn="l"/>
            <a:r>
              <a:rPr sz="1850" b="1">
                <a:solidFill>
                  <a:srgbClr val="00334D"/>
                </a:solidFill>
                <a:latin typeface="Segoe UI"/>
              </a:rPr>
              <a:t>ለሰባኪው የሚያስፈልጉ መሠረታዊ ነገሮች</a:t>
            </a:r>
          </a:p>
        </p:txBody>
      </p:sp>
      <p:sp>
        <p:nvSpPr>
          <p:cNvPr id="15" name="Rounded Rectangle 14"/>
          <p:cNvSpPr/>
          <p:nvPr/>
        </p:nvSpPr>
        <p:spPr>
          <a:xfrm>
            <a:off x="502920" y="352044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59359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፬</a:t>
            </a:r>
          </a:p>
        </p:txBody>
      </p:sp>
      <p:sp>
        <p:nvSpPr>
          <p:cNvPr id="17" name="TextBox 16"/>
          <p:cNvSpPr txBox="1"/>
          <p:nvPr/>
        </p:nvSpPr>
        <p:spPr>
          <a:xfrm>
            <a:off x="1261872" y="3557016"/>
            <a:ext cx="7223760" cy="548640"/>
          </a:xfrm>
          <a:prstGeom prst="rect">
            <a:avLst/>
          </a:prstGeom>
          <a:noFill/>
        </p:spPr>
        <p:txBody>
          <a:bodyPr wrap="square" lIns="45720" tIns="54864" bIns="0">
            <a:spAutoFit/>
          </a:bodyPr>
          <a:lstStyle/>
          <a:p>
            <a:pPr algn="l"/>
            <a:r>
              <a:rPr sz="1850" b="1">
                <a:solidFill>
                  <a:srgbClr val="00334D"/>
                </a:solidFill>
                <a:latin typeface="Segoe UI"/>
              </a:rPr>
              <a:t>የስብከት ዓይነቶችና የአቀራረብ ስልቶች</a:t>
            </a:r>
          </a:p>
        </p:txBody>
      </p:sp>
      <p:sp>
        <p:nvSpPr>
          <p:cNvPr id="18" name="Rounded Rectangle 17"/>
          <p:cNvSpPr/>
          <p:nvPr/>
        </p:nvSpPr>
        <p:spPr>
          <a:xfrm>
            <a:off x="502920" y="425196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432511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፭</a:t>
            </a:r>
          </a:p>
        </p:txBody>
      </p:sp>
      <p:sp>
        <p:nvSpPr>
          <p:cNvPr id="20" name="TextBox 19"/>
          <p:cNvSpPr txBox="1"/>
          <p:nvPr/>
        </p:nvSpPr>
        <p:spPr>
          <a:xfrm>
            <a:off x="1261872" y="4288536"/>
            <a:ext cx="7223760" cy="548640"/>
          </a:xfrm>
          <a:prstGeom prst="rect">
            <a:avLst/>
          </a:prstGeom>
          <a:noFill/>
        </p:spPr>
        <p:txBody>
          <a:bodyPr wrap="square" lIns="45720" tIns="54864" bIns="0">
            <a:spAutoFit/>
          </a:bodyPr>
          <a:lstStyle/>
          <a:p>
            <a:pPr algn="l"/>
            <a:r>
              <a:rPr sz="1850" b="1">
                <a:solidFill>
                  <a:srgbClr val="00334D"/>
                </a:solidFill>
                <a:latin typeface="Segoe UI"/>
              </a:rPr>
              <a:t>የወንጌል ስብከት መንገዶች</a:t>
            </a:r>
          </a:p>
        </p:txBody>
      </p:sp>
      <p:sp>
        <p:nvSpPr>
          <p:cNvPr id="21" name="Rounded Rectangle 20"/>
          <p:cNvSpPr/>
          <p:nvPr/>
        </p:nvSpPr>
        <p:spPr>
          <a:xfrm>
            <a:off x="502920" y="498348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505663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፮</a:t>
            </a:r>
          </a:p>
        </p:txBody>
      </p:sp>
      <p:sp>
        <p:nvSpPr>
          <p:cNvPr id="23" name="TextBox 22"/>
          <p:cNvSpPr txBox="1"/>
          <p:nvPr/>
        </p:nvSpPr>
        <p:spPr>
          <a:xfrm>
            <a:off x="1261872" y="5020056"/>
            <a:ext cx="7223760" cy="548640"/>
          </a:xfrm>
          <a:prstGeom prst="rect">
            <a:avLst/>
          </a:prstGeom>
          <a:noFill/>
        </p:spPr>
        <p:txBody>
          <a:bodyPr wrap="square" lIns="45720" tIns="54864" bIns="0">
            <a:spAutoFit/>
          </a:bodyPr>
          <a:lstStyle/>
          <a:p>
            <a:pPr algn="l"/>
            <a:r>
              <a:rPr sz="1850" b="1">
                <a:solidFill>
                  <a:srgbClr val="00334D"/>
                </a:solidFill>
                <a:latin typeface="Segoe UI"/>
              </a:rPr>
              <a:t>የስብከት ዝግጅት 6ቱ ክፍሎች</a:t>
            </a:r>
          </a:p>
        </p:txBody>
      </p:sp>
      <p:sp>
        <p:nvSpPr>
          <p:cNvPr id="24" name="Rounded Rectangle 23"/>
          <p:cNvSpPr/>
          <p:nvPr/>
        </p:nvSpPr>
        <p:spPr>
          <a:xfrm>
            <a:off x="502920" y="5715000"/>
            <a:ext cx="8138160" cy="621792"/>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5788152"/>
            <a:ext cx="493776" cy="475488"/>
          </a:xfrm>
          <a:prstGeom prst="roundRect">
            <a:avLst/>
          </a:prstGeom>
          <a:solidFill>
            <a:srgbClr val="002B40"/>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none" lIns="0" rIns="0" tIns="36576" bIns="0"/>
          <a:lstStyle/>
          <a:p>
            <a:pPr algn="ctr"/>
            <a:r>
              <a:rPr sz="1700" b="1">
                <a:solidFill>
                  <a:srgbClr val="D4AF37"/>
                </a:solidFill>
                <a:latin typeface="Segoe UI"/>
              </a:rPr>
              <a:t>፯</a:t>
            </a:r>
          </a:p>
        </p:txBody>
      </p:sp>
      <p:sp>
        <p:nvSpPr>
          <p:cNvPr id="26" name="TextBox 25"/>
          <p:cNvSpPr txBox="1"/>
          <p:nvPr/>
        </p:nvSpPr>
        <p:spPr>
          <a:xfrm>
            <a:off x="1261872" y="5751576"/>
            <a:ext cx="7223760" cy="548640"/>
          </a:xfrm>
          <a:prstGeom prst="rect">
            <a:avLst/>
          </a:prstGeom>
          <a:noFill/>
        </p:spPr>
        <p:txBody>
          <a:bodyPr wrap="square" lIns="45720" tIns="54864" bIns="0">
            <a:spAutoFit/>
          </a:bodyPr>
          <a:lstStyle/>
          <a:p>
            <a:pPr algn="l"/>
            <a:r>
              <a:rPr sz="1850" b="1">
                <a:solidFill>
                  <a:srgbClr val="00334D"/>
                </a:solidFill>
                <a:latin typeface="Segoe UI"/>
              </a:rPr>
              <a:t>ስብከት ሲዘጋጅ ታሳቢ የሚደረጉ ጉዳዮች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መግቢያ እና የትምህርቱ ዓላማ</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2400"/>
              </a:spcBef>
              <a:spcAft>
                <a:spcPts val="300"/>
              </a:spcAft>
            </a:pPr>
            <a:r>
              <a:rPr b="1" sz="2650">
                <a:solidFill>
                  <a:srgbClr val="00334D"/>
                </a:solidFill>
                <a:latin typeface="Segoe UI"/>
              </a:rPr>
              <a:t>መግቢያ፦</a:t>
            </a:r>
            <a:r>
              <a:rPr b="0" i="1" sz="2650">
                <a:solidFill>
                  <a:srgbClr val="004D66"/>
                </a:solidFill>
                <a:latin typeface="Segoe UI"/>
              </a:rPr>
              <a:t> ስብከት ማለት ሃይማኖትን ለሰው ማሳወቅ፣ ሰውን ወደ ሃይማኖት መጥራት ማለት ነው፡፡ ስብከት የሚለው ቃል «ሰብከ» ከሚለው የግዕዝ ግሥ የተገኘ ሲሆን ትርጉሙም፦ መናገር፣ መመስከር፣ ማስተማር፣ ማብሰር፣ ማወጅ፣ ማሰማት፣ ማስተዋወቅ ማለት ነው፡፡</a:t>
            </a:r>
          </a:p>
          <a:p>
            <a:pPr algn="l">
              <a:spcBef>
                <a:spcPts val="2400"/>
              </a:spcBef>
              <a:spcAft>
                <a:spcPts val="300"/>
              </a:spcAft>
            </a:pPr>
            <a:r>
              <a:rPr b="1" sz="2650">
                <a:solidFill>
                  <a:srgbClr val="00334D"/>
                </a:solidFill>
                <a:latin typeface="Segoe UI"/>
              </a:rPr>
              <a:t>የትምህርቱ ዓላማ፦</a:t>
            </a:r>
            <a:r>
              <a:rPr b="0" sz="2650">
                <a:solidFill>
                  <a:srgbClr val="1A202C"/>
                </a:solidFill>
                <a:latin typeface="Segoe UI"/>
              </a:rPr>
              <a:t> አገልጋዮች የቃለ እግዚአብሔርን ምስጢር ጠንቅቀው ተረድተው፣ በዕውቀትና በመንፈሳዊ ጥበብ ተዘጋጅተው ወንጌልን ለምእመናን በብቃት እንዲያስተምሩና የተተኪ መምህራን አገልግሎትን ማጠናከር ነው፡፡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፩፦ መግቢያ፣ ትርጉምና መሠረተ ሃሳቦች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ትርጉም እና ምንነት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ሥነ-መለኮታዊ ትርጉም፦</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ስብከት ሰውን ከእግዚአብሔር ጋር የሚያገናኝና የማዳን ሥራውን የሚያበስር የወንጌል ድምፅ ነው፡፡</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ሐዋርያው ቅዱስ ጳውሎስ «በስብከት ሞኝነት የሚያምኑትን ሊያድን የእግዚአብሔር በጎ ፈቃድ ሆኖአልና» በማለት የስብከትን ታላቅነት ይገልጻል (1ኛ ቆሮ. 1፥21)፡፡</a:t>
            </a:r>
          </a:p>
          <a:p>
            <a:pPr algn="l">
              <a:spcBef>
                <a:spcPts val="1800"/>
              </a:spcBef>
              <a:spcAft>
                <a:spcPts val="300"/>
              </a:spcAft>
            </a:pPr>
            <a:r>
              <a:rPr b="1" sz="2400">
                <a:solidFill>
                  <a:srgbClr val="00334D"/>
                </a:solidFill>
                <a:latin typeface="Segoe UI"/>
              </a:rPr>
              <a:t>የስብከት አስፈላጊነት፦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«እንግዲህ ያላመኑበትን እንዴት አድርገው ይጠሩታል? ባልሰሙትስ እንዴት ያምናሉ? ያለ ሰባኪስ እንዴት ይሰማሉ? መልካሙን የምሥራች የሚያወሩ እግሮቻቸው እንዴት ያማሩ ናቸው» (ሮሜ 10፥14-15)፡፡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ስብከት በኦርቶዶክሳዊ እይታ</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፩. የአምልኮ ክፍል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ስብከት አንዱና ዋነኛው የእግዚአብሔር አምልኮ መግለጫ ክፍል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«እምነት ከመስማት ነው መስማትም በእግዚአብሔር ቃል ነው» (ሮሜ 10፥17) እንዲል፤ ምእመናን የእግዚአብሔርን ቃል በመስማት ወደ ሙሉ እምነትና አምልኮ ይደርሳሉ፡፡</a:t>
            </a:r>
          </a:p>
          <a:p>
            <a:pPr algn="l">
              <a:spcBef>
                <a:spcPts val="1300"/>
              </a:spcBef>
              <a:spcAft>
                <a:spcPts val="300"/>
              </a:spcAft>
            </a:pPr>
            <a:r>
              <a:rPr b="1" sz="2200">
                <a:solidFill>
                  <a:srgbClr val="00334D"/>
                </a:solidFill>
                <a:latin typeface="Segoe UI"/>
              </a:rPr>
              <a:t>፪. ትዕዛዘ እግዚአብሔር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ጌታችን መድኃኒታችን ኢየሱስ ክርስቶስ ለደቀ መዛሙርቱ የሰጠው የማያልፍ ጽኑ ትእዛዝ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«ወደ ዓለም ሁሉ ሂዱ ወንጌልንም ለፍጥረት ሁሉ ስበኩ። ያመነ የተጠመቀም ይድናል፥ ያላመነ ግን ይፈረድበታል» (ማር. 16፥15-16)፡፡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ስብከት በኦርቶዶክሳዊ እይታ</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፫. ስለ እግዚአብሔር የምንመሰክርበት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የክርስቶስን አምላክነትና የማዳን ሥራ በድፍረት ለዓለም የምንመሰክርበት መድረክ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«ስለዚህ በሰው ፊት ለሚመሰክርልኝ ሁሉ እኔ ደግሞ በሰማያት ባለው በአባቴ ፊት እመሰክርለታለሁ» (ማቴ. 10፥32)፡፡</a:t>
            </a:r>
          </a:p>
          <a:p>
            <a:pPr algn="l">
              <a:spcBef>
                <a:spcPts val="1300"/>
              </a:spcBef>
              <a:spcAft>
                <a:spcPts val="300"/>
              </a:spcAft>
            </a:pPr>
            <a:r>
              <a:rPr b="1" sz="2200">
                <a:solidFill>
                  <a:srgbClr val="00334D"/>
                </a:solidFill>
                <a:latin typeface="Segoe UI"/>
              </a:rPr>
              <a:t>፬. የእግዚአብሔር መንግሥት የምትገለጥበት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የእግዚአብሔርን መንግሥትና ጽድቋን ለሰው ልጆች የምናበስርበት ሐዋርያዊ መንገድ ነው፡፡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«የእግዚአብሔርን መንግሥት እየሰበከ ስለ ጌታ ስለ ኢየሱስ ክርስቶስ የሚያስተምረውን ያለ ከልካይ በግልጥ ያስተምር ነበር» (ሐዋ. 28፥31)፡፡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3ቱ ምሥጢራዊ የስብከት ደረጃዎች</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1. ኬሪግማ (Kerygmatic — ዓዋጅ/ስብከት)፦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ከመሠረቱ ላልሰሙት፣ ለአሕዛብና ለእንግዶች የሚሰጥ የመጀመርያ የማብሰሪያ ዓዋጅ ነው («በጨለማ የምነግራችሁን በብርሃን ተናገሩ፤ በጆሮአችሁም የምትሰሙትን በሰገነት ላይ ስበኩ» ማቴ. 10፥27)፡፡</a:t>
            </a:r>
          </a:p>
          <a:p>
            <a:pPr algn="l">
              <a:spcBef>
                <a:spcPts val="1300"/>
              </a:spcBef>
              <a:spcAft>
                <a:spcPts val="300"/>
              </a:spcAft>
            </a:pPr>
            <a:r>
              <a:rPr b="1" sz="2200">
                <a:solidFill>
                  <a:srgbClr val="00334D"/>
                </a:solidFill>
                <a:latin typeface="Segoe UI"/>
              </a:rPr>
              <a:t>2. ዲዳክቲክ (Didactic — ትምህርት/ዕውቀት)፦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ስብከቱን አምነው ለተቀበሉት ምእመናን እምነታቸውን በእውቀት የሚያጸና ዝርዝር የሃይማኖት ትምህርት ነው፡፡</a:t>
            </a:r>
          </a:p>
          <a:p>
            <a:pPr algn="l">
              <a:spcBef>
                <a:spcPts val="1300"/>
              </a:spcBef>
              <a:spcAft>
                <a:spcPts val="300"/>
              </a:spcAft>
            </a:pPr>
            <a:r>
              <a:rPr b="1" sz="2200">
                <a:solidFill>
                  <a:srgbClr val="00334D"/>
                </a:solidFill>
                <a:latin typeface="Segoe UI"/>
              </a:rPr>
              <a:t>3. ፕራግማቲክ (Pragmatic — ተግባራዊ/መንፈሳዊ ዕድገት)፦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የተማሩትን ትምህርት በተግባር በሕይወት መኖርና ለሌሎች ምሳሌ መሆን ነው («ከፈተናቸው ታላቅነት የተነሣ ብዙዎች ይላሉ፦ በጎ ነገርን ማን ያሳየናል?» መዝ.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መጽሐፍ ቅዱስ ስለ ስብከተ ወንጌል</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በብሉይ ኪዳን፦</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«የምሥራች የምታወሪ ጽዮን ሆይ፥ ወደ ረጅም ተራራ ውጪ፤ የምሥራች የምታወሪ ኢየሩሳሌም ሆይ፥ ድምፅሽን በኃይል አንሺ... እነሆ፥ አምላካችሁ! ብለሽ ለይሁዳ ከተሞች ተናገሪ» (ኢሳ. 40፥9)</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«በታላቁ ጉባኤ ጽድቅን አወራሁ፤ እነሆ፥ ከንፈሮቼን አልከለክልም፤ አቤቱ፥ አንተ ታውቃለህ» (መዝ. 39፥9)</a:t>
            </a:r>
          </a:p>
          <a:p>
            <a:pPr algn="l">
              <a:spcBef>
                <a:spcPts val="1300"/>
              </a:spcBef>
              <a:spcAft>
                <a:spcPts val="300"/>
              </a:spcAft>
            </a:pPr>
            <a:r>
              <a:rPr b="1" sz="2200">
                <a:solidFill>
                  <a:srgbClr val="00334D"/>
                </a:solidFill>
                <a:latin typeface="Segoe UI"/>
              </a:rPr>
              <a:t>በሐዲስ ኪዳን፦</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«ኢየሱስም በምኵራቦቻቸው እያስተማረ፥ የመንግሥትንም ወንጌል እየሰበከ... በከተሞችና በመንደሮች ሁሉ ይዞር ነበር» (ማቴ. 9፥35)</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«ቃሉን ስበክ፥ በጊዜውም አለጊዜውም ጽና፥ በሙሉ ትዕግሥትና በትምህርት ዝለፍና ገሥጽ ምከርም» (2ኛ ጢሞ. 4፥2)</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«ወንጌልን ባልሰብክ ወዮልኝ!» (1ኛ ቆሮ. 9፥16)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ስለ ስብከት የተመሰሉ ምሳሌያት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የመክሊት ምሳሌ (ማቴ. 25፥14-30)፦</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አምስትና ሁለት መክሊት የተቀበሉት ነግደው አተረፉ፤ አንድ መክሊት የተቀበለው ግን መሬት ቆፍሮ ቀበረው፤ ጌታውም «አንተ ክፉና ሃኬተኛ ባሪያ» ብሎ ፈረደበት፡፡</a:t>
            </a:r>
          </a:p>
          <a:p>
            <a:pPr algn="l">
              <a:spcBef>
                <a:spcPts val="1300"/>
              </a:spcBef>
              <a:spcAft>
                <a:spcPts val="300"/>
              </a:spcAft>
            </a:pPr>
            <a:r>
              <a:rPr b="1" sz="2200">
                <a:solidFill>
                  <a:srgbClr val="00334D"/>
                </a:solidFill>
                <a:latin typeface="Segoe UI"/>
              </a:rPr>
              <a:t>ለሰባኪው ያለው መንፈሳዊ ትርጉም፦</a:t>
            </a:r>
          </a:p>
          <a:p>
            <a:pPr algn="l">
              <a:spcBef>
                <a:spcPts val="200"/>
              </a:spcBef>
              <a:spcAft>
                <a:spcPts val="700"/>
              </a:spcAft>
            </a:pPr>
            <a:r>
              <a:rPr b="1" sz="2000">
                <a:solidFill>
                  <a:srgbClr val="D4AF37"/>
                </a:solidFill>
                <a:latin typeface="Segoe UI"/>
              </a:rPr>
              <a:t>   •  </a:t>
            </a:r>
            <a:r>
              <a:rPr b="1" sz="2000">
                <a:solidFill>
                  <a:srgbClr val="1A202C"/>
                </a:solidFill>
                <a:latin typeface="Segoe UI"/>
              </a:rPr>
              <a:t>መክሊት፦</a:t>
            </a:r>
            <a:r>
              <a:rPr b="0" sz="2000">
                <a:solidFill>
                  <a:srgbClr val="2D3748"/>
                </a:solidFill>
                <a:latin typeface="Segoe UI"/>
              </a:rPr>
              <a:t> እግዚአብሔር ለሰባኪው የሰጠው የቃሉ እውቀት፣ ጥበብና የአገልግሎት ጸጋ ነው፡፡</a:t>
            </a:r>
          </a:p>
          <a:p>
            <a:pPr algn="l">
              <a:spcBef>
                <a:spcPts val="200"/>
              </a:spcBef>
              <a:spcAft>
                <a:spcPts val="700"/>
              </a:spcAft>
            </a:pPr>
            <a:r>
              <a:rPr b="1" sz="2000">
                <a:solidFill>
                  <a:srgbClr val="D4AF37"/>
                </a:solidFill>
                <a:latin typeface="Segoe UI"/>
              </a:rPr>
              <a:t>   •  </a:t>
            </a:r>
            <a:r>
              <a:rPr b="1" sz="2000">
                <a:solidFill>
                  <a:srgbClr val="1A202C"/>
                </a:solidFill>
                <a:latin typeface="Segoe UI"/>
              </a:rPr>
              <a:t>መነገድና ማትረፍ፦</a:t>
            </a:r>
            <a:r>
              <a:rPr b="0" sz="2000">
                <a:solidFill>
                  <a:srgbClr val="2D3748"/>
                </a:solidFill>
                <a:latin typeface="Segoe UI"/>
              </a:rPr>
              <a:t> ቃሉን ሳያስታጉሉ በትጋት በማስተማር ነፍሳትን ማዳንና ወደ መንግሥተ ሰማያት መምራት ነው፡፡</a:t>
            </a:r>
          </a:p>
          <a:p>
            <a:pPr algn="l">
              <a:spcBef>
                <a:spcPts val="200"/>
              </a:spcBef>
              <a:spcAft>
                <a:spcPts val="700"/>
              </a:spcAft>
            </a:pPr>
            <a:r>
              <a:rPr b="1" sz="2000">
                <a:solidFill>
                  <a:srgbClr val="D4AF37"/>
                </a:solidFill>
                <a:latin typeface="Segoe UI"/>
              </a:rPr>
              <a:t>   •  </a:t>
            </a:r>
            <a:r>
              <a:rPr b="1" sz="2000">
                <a:solidFill>
                  <a:srgbClr val="1A202C"/>
                </a:solidFill>
                <a:latin typeface="Segoe UI"/>
              </a:rPr>
              <a:t>መቅበርና አለማትረፍ፦</a:t>
            </a:r>
            <a:r>
              <a:rPr b="0" sz="2000">
                <a:solidFill>
                  <a:srgbClr val="2D3748"/>
                </a:solidFill>
                <a:latin typeface="Segoe UI"/>
              </a:rPr>
              <a:t> እውቀትን ደብቆ ባለማስተማር ጊዜን በከንቱ ማሳለፍ ነው፤ ይህም ከባድ ተጠያቂነትን ያስከትላል፡፡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የሰባኪው ኃላፊነት እና ተጠያቂነት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የጠባቂነት ኃላፊነት (ሕዝ. 33፥7-9)፦</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«የሰው ልጅ ሆይ፥ ለእስራኤል ቤት ጠባቂ አድርጌሃለሁ፤ ስለዚህ ከአፌ ቃልን በሰማህ ጊዜ ከእኔ ዘንድ አስጠንቅቃቸው። ኃጢአተኛውን፦ አንተ ኃጢአተኛ ሆይ፥ በእርግጥ ትሞታለህ ባልሁት ጊዜ... ደሙን ከእጅህ እፈልጋለሁ።»</a:t>
            </a:r>
          </a:p>
          <a:p>
            <a:pPr algn="l">
              <a:spcBef>
                <a:spcPts val="1800"/>
              </a:spcBef>
              <a:spcAft>
                <a:spcPts val="300"/>
              </a:spcAft>
            </a:pPr>
            <a:r>
              <a:rPr b="1" sz="2400">
                <a:solidFill>
                  <a:srgbClr val="00334D"/>
                </a:solidFill>
                <a:latin typeface="Segoe UI"/>
              </a:rPr>
              <a:t>የቅዱስ ጳውሎስ ምስክርነት (ሐዋ. 20፥26-27)፦</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«ስለዚህ እኔ ከሰው ሁሉ ደም ንጹሕ እንደ ሆንሁ ዛሬ በዚች ቀን እመሰክርላችኋለሁ፤ የእግዚአብሔርን ምክር ሁሉ ነግሬአችኋለሁና፥ ምንም አላስቀረሁባችሁም።»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የሰባኪው ኃላፊነት እና ተጠያቂነት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ተጠያቂነት በመጽሐፍ ቅዱስ፦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«የወንድምህ የደሙ ድምፅ ከምድር ወደ እኔ ይጮኻል» (ዘፍ. 4፥10)</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«እርስ በርሳቸው ከተገዳደሉት ሰዎች ደም ንጹሐን ነን» (ዘዳ. 21፥6-7)</a:t>
            </a:r>
          </a:p>
          <a:p>
            <a:pPr algn="l">
              <a:spcBef>
                <a:spcPts val="1300"/>
              </a:spcBef>
              <a:spcAft>
                <a:spcPts val="300"/>
              </a:spcAft>
            </a:pPr>
            <a:r>
              <a:rPr b="1" sz="2200">
                <a:solidFill>
                  <a:srgbClr val="00334D"/>
                </a:solidFill>
                <a:latin typeface="Segoe UI"/>
              </a:rPr>
              <a:t>የቅዱስ ዮሐንስ አፈወርቅ ማስጠንቀቂያ፦</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«ሰባኪው የሕዝቡን ድክመት እያየ በዝምታ ካለፈ፣ የእነርሱ ኃጢአት በእርሱ ራስ ላይ ይወድቃል፡፡»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 ቃለ እግዚአብሔርን ሳያዛባ፣ ለማንም ሳያዳላ፣ በቅንነትና በእውነት የማስተላለፍ ሰማያዊ አደራ አለበት፡፡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፪፦ የስብከት ታሪክ በዘመናት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ከዓለመ መላእክት እስከ ሕገ ልቡና</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በዓለመ መላእክት፦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ሳጥናኤል «እኔ ፈጣሪ ነኝ» ብሎ በካደ ጊዜ ቅዱስ ሚካኤል «በክብር ባለንበት ጸንተን እንቁም፤ ፈጣሪያችን እስኪገለጥ ድረስ አንናወጥ» በማለት የስብከትና የምስክርነት አገልግሎትን ጀምሯል፡፡</a:t>
            </a:r>
          </a:p>
          <a:p>
            <a:pPr algn="l">
              <a:spcBef>
                <a:spcPts val="1800"/>
              </a:spcBef>
              <a:spcAft>
                <a:spcPts val="300"/>
              </a:spcAft>
            </a:pPr>
            <a:r>
              <a:rPr b="1" sz="2400">
                <a:solidFill>
                  <a:srgbClr val="00334D"/>
                </a:solidFill>
                <a:latin typeface="Segoe UI"/>
              </a:rPr>
              <a:t>በዘመነ አበው (ሕገ ልቡና)፦</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ኖኅ ለ120 ዓመታት «ንስሐ ግቡ» እያለ ሰብኳል (2ኛ ጴጥ. 2፥5፤ ዕብ. 11፥7)፡፡</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መልከ ጼዴቅ፣ አብርሃም፣ ይስሐቅና ያዕቆብ በሕይወታቸውና በመሥዋዕታቸው የእግዚአብሔርን ስም ጠርተዋል፣ አስተምረዋል (ዘፍ. 12፥8)፡፡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በሕገ ኦሪት እና በዘመነ ወንጌል</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በሕገ ኦሪት፦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ሊቀ ነቢያት ሙሴ ሕጉን ተቀብሎ ለሕዝቡ አስተምሯል (ዘጸ. 24፥3)፡፡</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ነቢያት (ኢሳይያስ፣ ኤርምያስ፣ ሕዝቅኤል፣ ዮናስ...) ወደ ሕዝቡ ተልከው ንስሐንና ተስፋ መሲሕን ሰብከዋል፡፡</a:t>
            </a:r>
          </a:p>
          <a:p>
            <a:pPr algn="l">
              <a:spcBef>
                <a:spcPts val="1300"/>
              </a:spcBef>
              <a:spcAft>
                <a:spcPts val="300"/>
              </a:spcAft>
            </a:pPr>
            <a:r>
              <a:rPr b="1" sz="2200">
                <a:solidFill>
                  <a:srgbClr val="00334D"/>
                </a:solidFill>
                <a:latin typeface="Segoe UI"/>
              </a:rPr>
              <a:t>በዘመነ ወንጌል፦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መጥምቀ መለኮት ቅዱስ ዮሐንስ «መንግሥተ ሰማያት ቀርባለችና ንስሐ ግቡ» እያለ በምድረ በዳ ሰበከ (ማቴ. 3፥1-2)፡፡</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የሁሉ የበላይ የሆነው ጌታችን ኢየሱስ ክርስቶስ ራሱ በተራራ፣ በባሕር ዳር፣ በምኵራብና በመንደር ዞሮ አስተምሯል (ማቴ. 5፥1፤ ዮሐ. 7፥37)፡፡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በዘመነ ሐዋርያት እና ሊቃውንት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በዘመነ ሐዋርያት፦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ቅዱሳን ሐዋርያት በመንፈስ ቅዱስ ኃይል ተሞልተው «እስከ ምድር ዳርቻ ድረስ ምስክሮቼ ትሆናላችሁ» የተባሉትን አደራ ፈጽመዋል (ሐዋ. 1፥8፤ 2፥14)፡፡</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ሮማውያንን፣ ግሪካውያንንና አሕዛብን በስብከተ ወንጌል ማርከዋል፡፡</a:t>
            </a:r>
          </a:p>
          <a:p>
            <a:pPr algn="l">
              <a:spcBef>
                <a:spcPts val="1800"/>
              </a:spcBef>
              <a:spcAft>
                <a:spcPts val="300"/>
              </a:spcAft>
            </a:pPr>
            <a:r>
              <a:rPr b="1" sz="2400">
                <a:solidFill>
                  <a:srgbClr val="00334D"/>
                </a:solidFill>
                <a:latin typeface="Segoe UI"/>
              </a:rPr>
              <a:t>በዘመነ ሊቃውንት (የአበው ዘመን)፦</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ቅዱስ አትናቴዎስ፣ ቅዱስ ዮሐንስ አፈወርቅ፣ ቅዱስ ቄርሎስ፣ ቅዱስ ባስልዮስ እና ቅዱስ ጎርጎርዮስ በስብከታቸውና በድርሳናቸው መናፍቃንን አሳፍረዋል፣ ሃይማኖትን አጽንተዋል፡፡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ስብከተ ወንጌል በኢትዮጵያ (ጅማሮና መስፋፋት)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በብሉይ ኪዳን፦</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ንግሥተ ሳባ ወደ ኢየሩሳሌም ሄዳ የሰሎሞንን ጥበብ አይታ ወደ እግዚአብሔር አመነች (1ኛ ነገ. 10፥1-10)፤ የብሉይ ኪዳን እምነት ወደ ኢትዮጵያ ገባ፡፡</a:t>
            </a:r>
          </a:p>
          <a:p>
            <a:pPr algn="l">
              <a:spcBef>
                <a:spcPts val="1300"/>
              </a:spcBef>
              <a:spcAft>
                <a:spcPts val="300"/>
              </a:spcAft>
            </a:pPr>
            <a:r>
              <a:rPr b="1" sz="2200">
                <a:solidFill>
                  <a:srgbClr val="00334D"/>
                </a:solidFill>
                <a:latin typeface="Segoe UI"/>
              </a:rPr>
              <a:t>በሐዲስ ኪዳን ጅማሮ፦</a:t>
            </a:r>
          </a:p>
          <a:p>
            <a:pPr algn="l">
              <a:spcBef>
                <a:spcPts val="200"/>
              </a:spcBef>
              <a:spcAft>
                <a:spcPts val="700"/>
              </a:spcAft>
            </a:pPr>
            <a:r>
              <a:rPr b="1" sz="2000">
                <a:solidFill>
                  <a:srgbClr val="D4AF37"/>
                </a:solidFill>
                <a:latin typeface="Segoe UI"/>
              </a:rPr>
              <a:t>   •  </a:t>
            </a:r>
            <a:r>
              <a:rPr b="0" sz="2000">
                <a:solidFill>
                  <a:srgbClr val="2D3748"/>
                </a:solidFill>
                <a:latin typeface="Segoe UI"/>
              </a:rPr>
              <a:t>ጃንደረባው ባኮስ በቅዱስ ፊልጶስ እጅ ተጠምቆ ክርስትናን ይዞ ገባ (ሐዋ. 8፥26-39)፡፡</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ሐዋርያው ቅዱስ ማቴዎስ በኢትዮጵያ ወንጌልን ሰብኮ በሰማዕትነት ዐርፏል፡፡</a:t>
            </a:r>
          </a:p>
          <a:p>
            <a:pPr algn="l">
              <a:spcBef>
                <a:spcPts val="1300"/>
              </a:spcBef>
              <a:spcAft>
                <a:spcPts val="300"/>
              </a:spcAft>
            </a:pPr>
            <a:r>
              <a:rPr b="1" sz="2200">
                <a:solidFill>
                  <a:srgbClr val="00334D"/>
                </a:solidFill>
                <a:latin typeface="Segoe UI"/>
              </a:rPr>
              <a:t>ይፋዊ የክርስትና መስፋፋት፦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አባ ሰላማ ከሣቴ ብርሃን በ330 ዓ.ም ነገሥታቱን ኢዛናና ሳይዛናን አጥምቆ ክርስትናን ብሔራዊ ሃይማኖት አደረገ፡፡</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ተስዓቱ ቅዱሳን (9ኙ ቅዱሳን) በ5ኛው መቶ ክፍለ ዘመን ገዳማዊ ሕይወትን፣ ትምህርትንና የመጻሕፍት ትርጉምን አስፋፉ፡፡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ወርቃማው ዘመን እና የግራኝ መሐመድ ፈተና</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የስብከት ወርቃማው ዘመን (14ኛው ክ/ዘ)፦</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አቡነ ተክለ ሃይማኖት፣ አባ ኢየሱስ ሞዐ፣ አባ ጊዮርጊስ ዘጋስጫ እና ሌሎች ጻድቃን በስብከታቸውና በድርሰቶቻቸው አገሪቱን በወንጌል ብርሃን ሞሉ፡፡</a:t>
            </a:r>
          </a:p>
          <a:p>
            <a:pPr algn="l">
              <a:spcBef>
                <a:spcPts val="1800"/>
              </a:spcBef>
              <a:spcAft>
                <a:spcPts val="300"/>
              </a:spcAft>
            </a:pPr>
            <a:r>
              <a:rPr b="1" sz="2400">
                <a:solidFill>
                  <a:srgbClr val="00334D"/>
                </a:solidFill>
                <a:latin typeface="Segoe UI"/>
              </a:rPr>
              <a:t>የግራኝ መሐመድ ወረራ ፈተና (16ኛው ክ/ዘ)፦</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አብያተ ክርስቲያናትና የአብነት ት/ቤቶች ተቃጠሉ፣ መጻሕፍት ወደሙ፣ ካህናት ተገደሉ፡፡</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ከወረራው በኋላ ሕዝቡ ያለ ንስሐ አባትና ያለ ሥርዓተ ተክሊል መኖር፣ ባዕድ አምልኮና ማኅበራዊ ቀውስ ውስጥ ወደቀ፤ ይህም የወንጌል ስብከት ዳግም እንዲጠናከር አስገደደ፡፡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፫፦ ለሰባኪው የሚያስፈልጉ መሠረታዊ ነገሮች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ትምህርት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ሳይማሩ ማስተማር አይቻልም፦</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ነቢያት ወደ ሕዝቡ ከመላካቸው በፊት በሕልምና በራእይ እግዚአብሔር ያነጋግራቸው ነበር፤ ሐዋርያትም ወደ ዓለም ከመሰማራታቸው በፊት ሦስት ዓመት ተምረዋል፡፡</a:t>
            </a:r>
          </a:p>
          <a:p>
            <a:pPr algn="l">
              <a:spcBef>
                <a:spcPts val="1300"/>
              </a:spcBef>
              <a:spcAft>
                <a:spcPts val="300"/>
              </a:spcAft>
            </a:pPr>
            <a:r>
              <a:rPr b="1" sz="2200">
                <a:solidFill>
                  <a:srgbClr val="00334D"/>
                </a:solidFill>
                <a:latin typeface="Segoe UI"/>
              </a:rPr>
              <a:t>የማርቆስ 3፥13-15 ምስክርነት፦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«ወደ ተራራም ወጣ፥ ራሱም የወደዳቸውን ወደ እርሱ ጠራ፥ ወደ እርሱም ሄዱ። ከእርሱም ጋር እንዲኖሩና ለመስበክ እንዲልካቸው... አሥራ ሁለት አደረገ፤»</a:t>
            </a:r>
          </a:p>
          <a:p>
            <a:pPr algn="l">
              <a:spcBef>
                <a:spcPts val="1300"/>
              </a:spcBef>
              <a:spcAft>
                <a:spcPts val="300"/>
              </a:spcAft>
            </a:pPr>
            <a:r>
              <a:rPr b="1" sz="2200">
                <a:solidFill>
                  <a:srgbClr val="00334D"/>
                </a:solidFill>
                <a:latin typeface="Segoe UI"/>
              </a:rPr>
              <a:t>ከአባቶች እግር ሥር መማር፦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ከአባቶች ከሚቀዳው ንጹሕ ምንጭ የጠጣ፣ በትሕትና ራሱን ዝቅ በማድረግ ምስጢሩን እግዚአብሔር እንዲገልጥለት በጸሎት እየጠየቀ የተማረ ሊሆን ይገባል (ሉቃ. 11፥1)፡፡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፪. መጻሕፍትን ማንበብ</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መጻሕፍትን በትጋት ማንበብ፦</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«ለማንበብና ለመምከር ለማስተማርም ተጠንቀቅ» (1ኛ ጢሞ. 4፥13)</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«ሰባኪውም ጠቢብ ስለ ሆነ ለሕዝቡ እውቀትን አስተማረ፥ እርሱም ብዙ ምሳሌዎችን መረመረና ፈላለገ፥ አስማማም» (መክ. 12፥9)</a:t>
            </a:r>
          </a:p>
          <a:p>
            <a:pPr algn="l">
              <a:spcBef>
                <a:spcPts val="1300"/>
              </a:spcBef>
              <a:spcAft>
                <a:spcPts val="300"/>
              </a:spcAft>
            </a:pPr>
            <a:r>
              <a:rPr b="1" sz="2200">
                <a:solidFill>
                  <a:srgbClr val="00334D"/>
                </a:solidFill>
                <a:latin typeface="Segoe UI"/>
              </a:rPr>
              <a:t>ዘመኑን መዋጀትና እውቀትን ማዳበር፦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 ዘመኑን በመዋጀት ተጨማሪ መጻሕፍትን ማንበብ አለበት፡፡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ከሚያስተምራቸው ሰዎች በእውቀት ልቆ መገኘት አለበት፤ ካልሆነ ግን ቤተክርስቲያኗን ያስገምታታል፡፡</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፫. ቅድመ ዝግጅት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ሰባኪ መጋቢ ነው፦</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ለስብከቱ ዝግጅት በቂ ጊዜ በመስጠት፣ መጻሕፍትን በማንበብና ማስታወሻ በመያዝ በሚገባ መዘጋጀት አለበት፡፡</a:t>
            </a:r>
          </a:p>
          <a:p>
            <a:pPr algn="l">
              <a:spcBef>
                <a:spcPts val="1800"/>
              </a:spcBef>
              <a:spcAft>
                <a:spcPts val="300"/>
              </a:spcAft>
            </a:pPr>
            <a:r>
              <a:rPr b="1" sz="2400">
                <a:solidFill>
                  <a:srgbClr val="00334D"/>
                </a:solidFill>
                <a:latin typeface="Segoe UI"/>
              </a:rPr>
              <a:t>በጥንቃቄ መዘጋጀት፦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በሚገባ ተዘጋጅቶ በመሄድ በሚገባ ቦታ የሚገባውን መልእክት አስተላልፎ መምጣት አለበት፡፡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በችኮላ ሳይዘጋጁ በመሄድ ትምህርትን ከማዘበራረቅና ምእመናንን ከማደናገር መጠንቀቅ ይገባል፡፡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፬. በክርስቲያናዊ ሕይወት መኖር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ተግባር ከቃላት ይልቅ ይስብካል፦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«ሰው ግን የራሱን ቤት እንዲያስተዳድር ባያውቅ የእግዚአብሔርን ቤተ ክርስቲያን እንዴት ይጠብቃታል?» (1ኛ ጢሞ. 3፥5)</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«መልካሙን ሥራችሁን አይተው በሰማያት ያለውን አባታችሁን እንዲያከብሩ ብርሃናችሁ እንዲሁ በሰው ፊት ይብራ» (ማቴ. 5፥16)</a:t>
            </a:r>
          </a:p>
          <a:p>
            <a:pPr algn="l">
              <a:spcBef>
                <a:spcPts val="1300"/>
              </a:spcBef>
              <a:spcAft>
                <a:spcPts val="300"/>
              </a:spcAft>
            </a:pPr>
            <a:r>
              <a:rPr b="1" sz="2200">
                <a:solidFill>
                  <a:srgbClr val="00334D"/>
                </a:solidFill>
                <a:latin typeface="Segoe UI"/>
              </a:rPr>
              <a:t>የሕይወት ምሳሌነት ክብር፦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በመድረክ ላይ የተደነቀ ስብከት ሰብኮ ከመድረክ ጀርባ ተራ ሰው የማይደፍረውን ኃጢአት የሚሠራ ከሆነ እርሱም ትምህርቱም ይናቃሉ፡፡</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«በቃልና በኑሮ በፍቅርም በእምነትም በንጽሕናም ለሚያምኑት ምሳሌ ሁን» (1ኛ ጢሞ. 4፥12)</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«እኔ ክርስቶስን እንደምመስል እናንተ ደግሞ እኔን ምሰሉ» (1ኛ ቆሮ. 11፥1)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፭. የሰባኪው አርአያነትና ባሕርያት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መንፈሳዊና ግብረገባዊ መገለጫዎቹ፦</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አንደበቱ የታረመ፣ እጁ ከስርቆትና ከነውር ንጹሕ የሆነ</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በጾምና በጸሎት፣ በምሥጢራት ተሳትፎ የሚታወቅ</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የሚውልበትና የሚያድርበት ቦታ የተወሰነና የሚታወቅ</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የዘወትር ጓደኞቹና ወዳጆቹ ማንነት በበጎ የተመሰከረለት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በፍቅር፣ በትሕትና፣ በጨዋነትና በታጋሽነት የሚመላለስ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የቤተክርስቲያን መዓዛ ያለው፣ የሚጣፍጥ ጨውና የሚያበራ መብራት የሆነ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፮. በአርአያ ክህነት መኖር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የክህነት ጸጋና መሠረቱ፦</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ክህነት ከእግዚአብሔር የተሰጠ ታላቅ የአገልግሎት ጸጋ ነው (ዘጸ. 28፥1-30፤ ዕብ. 7፥20)፤ ጌታችን ለደቀ መዛሙርቱ ሥልጣነ ክህነትን ሰጥቷቸዋል (ዮሐ. 20፥23)፡፡</a:t>
            </a:r>
          </a:p>
          <a:p>
            <a:pPr algn="l">
              <a:spcBef>
                <a:spcPts val="1800"/>
              </a:spcBef>
              <a:spcAft>
                <a:spcPts val="300"/>
              </a:spcAft>
            </a:pPr>
            <a:r>
              <a:rPr b="1" sz="2400">
                <a:solidFill>
                  <a:srgbClr val="00334D"/>
                </a:solidFill>
                <a:latin typeface="Segoe UI"/>
              </a:rPr>
              <a:t>የክህነት ሚና በስብከተ ወንጌል፦</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ቅዱሳን ሐዋርያት በየሥፍራው ካህናትንና ዲያቆናትን እየሾሙ አገልግሎቱን አስፋፍተዋል (ሐዋ. 6፥1-6፤ 20፥28)፡፡</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በኢትዮጵያም ስብከተ ወንጌል የተሟላና ተግባራዊ ዕድገት ያሳየው ከአባ ሰላማ ከሣቴ ብርሃን የክህነት አገልግሎት ጀምሮ ነው፡፡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፯. ራስን አለመስበክ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የክርስቶስን ፈቃድ መከተል፦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«እኔ የላከኝን ፈቃድ እንጂ ፈቃዴን ላደርግ አልሻም» (ዮሐ. 5፥30)</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መጥምቀ መለኮት ዮሐንስ «የጌታን መንገድ አቅኑ ብሎ በምድረ በዳ የሚጮኽ ሰው ድምፅ እኔ ነኝ... እኔ የጫማውን ጠፍር ልፈታ የማይገባኝ» በማለት ራሱን ሳይሆን ጌታን አስተዋወቀ (ዮሐ. 1፥23-27)፡፡</a:t>
            </a:r>
          </a:p>
          <a:p>
            <a:pPr algn="l">
              <a:spcBef>
                <a:spcPts val="1300"/>
              </a:spcBef>
              <a:spcAft>
                <a:spcPts val="300"/>
              </a:spcAft>
            </a:pPr>
            <a:r>
              <a:rPr b="1" sz="2200">
                <a:solidFill>
                  <a:srgbClr val="00334D"/>
                </a:solidFill>
                <a:latin typeface="Segoe UI"/>
              </a:rPr>
              <a:t>ስለ ክርስቶስ ብቻ መመስከር፦</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«እኛ ግን የተሰቀለውን ክርስቶስን እንሰብካለን» (1ኛ ቆሮ. 1፥23)</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«እግዚአብሔር የላከው የእግዚአብሔርን ቃል ይናገራል» (ዮሐ. 3፥34)</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 የራሱን ክብር፣ እውቀትና ዝና ለማሳወቅ ከመጣር መቆጠብ አለበት፡፡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፰. መንፈሳዊ ቀናዒነት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የወንጌል ቅናትና ተጋድሎ፦</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የክርስቶስ ወንጌል ለሁሉም ይዳረስ ዘንድ ደከመኝ ሰለቸኝ ሳይሉ ሌትና ቀን መጋደል ነው፡፡</a:t>
            </a:r>
          </a:p>
          <a:p>
            <a:pPr algn="l">
              <a:spcBef>
                <a:spcPts val="1800"/>
              </a:spcBef>
              <a:spcAft>
                <a:spcPts val="300"/>
              </a:spcAft>
            </a:pPr>
            <a:r>
              <a:rPr b="1" sz="2400">
                <a:solidFill>
                  <a:srgbClr val="00334D"/>
                </a:solidFill>
                <a:latin typeface="Segoe UI"/>
              </a:rPr>
              <a:t>የቅዱስ ጳውሎስ ምስክርነት፦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«የቀረውንም ነገር ሳልቆጥር፥ ዕለት ዕለት የሚከብድብኝ የአብያተ ክርስቲያናት ሁሉ አሳብ ነው» (2ኛ ቆሮ. 11፥28)</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«ለደካሞች እንደ ደካማ ሆንሁ፤ በሁሉ መንገድ አንዳንዶችን አድን ዘንድ፥ ከሁሉ ጋር በሁሉ ነገር እንደ እነርሱ ሆንሁ» (1ኛ ቆሮ. 9፥22)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፱. አለመፍራትና አለማፈር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በወንጌል አለማፈር፦</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«በወንጌል አላፍርምና፤ አስቀድሞ ለአይሁዳዊ ደግሞም ለግሪክ ሰው ለሚያምኑ ሁሉ የእግዚአብሔር ኃይል ለማዳን ነውና» (ሮሜ 1፥16)</a:t>
            </a:r>
          </a:p>
          <a:p>
            <a:pPr algn="l">
              <a:spcBef>
                <a:spcPts val="1800"/>
              </a:spcBef>
              <a:spcAft>
                <a:spcPts val="300"/>
              </a:spcAft>
            </a:pPr>
            <a:r>
              <a:rPr b="1" sz="2400">
                <a:solidFill>
                  <a:srgbClr val="00334D"/>
                </a:solidFill>
                <a:latin typeface="Segoe UI"/>
              </a:rPr>
              <a:t>እግዚአብሔርን ብቻ መፍራት፦</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«የሠራዊት ጌታ እግዚአብሔርን ቀድሱት፤ የሚያስፈራችሁና የሚያስደነግጣችሁም እርሱ ይሁን» (ኢሳ. 8፥13)</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ሰው ምን ይለኛል በማለት ሳይጨነቁ ጥበብ በተሞላበት ሁኔታ የእግዚአብሔርን ቃል ማስተላለፍ ይገባል፡፡</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፲. የተሰባክያንን ሥነ-ልቡና መረዳት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000"/>
              </a:spcBef>
              <a:spcAft>
                <a:spcPts val="300"/>
              </a:spcAft>
            </a:pPr>
            <a:r>
              <a:rPr b="1" sz="2000">
                <a:solidFill>
                  <a:srgbClr val="00334D"/>
                </a:solidFill>
                <a:latin typeface="Segoe UI"/>
              </a:rPr>
              <a:t>የአድማጮችን ሁኔታና ፍላጎት ማወቅ፦</a:t>
            </a:r>
          </a:p>
          <a:p>
            <a:pPr algn="l">
              <a:spcBef>
                <a:spcPts val="200"/>
              </a:spcBef>
              <a:spcAft>
                <a:spcPts val="500"/>
              </a:spcAft>
            </a:pPr>
            <a:r>
              <a:rPr b="1" sz="1800">
                <a:solidFill>
                  <a:srgbClr val="D4AF37"/>
                </a:solidFill>
                <a:latin typeface="Segoe UI"/>
              </a:rPr>
              <a:t>   •  </a:t>
            </a:r>
            <a:r>
              <a:rPr b="0" sz="1800">
                <a:solidFill>
                  <a:srgbClr val="2D3748"/>
                </a:solidFill>
                <a:latin typeface="Segoe UI"/>
              </a:rPr>
              <a:t>ጌታችን በማስተማር አገልግሎቱ የአድማጮችን የልብ ፍላጎት፣ ሕመማቸውን፣ ጥያቄያቸውንና ፍላጎታቸውን ይረዳ ነበር (ማቴ. 9፥4፤ ዮሐ. 5፥6)፡፡</a:t>
            </a:r>
          </a:p>
          <a:p>
            <a:pPr algn="l">
              <a:spcBef>
                <a:spcPts val="1000"/>
              </a:spcBef>
              <a:spcAft>
                <a:spcPts val="300"/>
              </a:spcAft>
            </a:pPr>
            <a:r>
              <a:rPr b="1" sz="2000">
                <a:solidFill>
                  <a:srgbClr val="00334D"/>
                </a:solidFill>
                <a:latin typeface="Segoe UI"/>
              </a:rPr>
              <a:t>የተሰባኪን ሥነ-ልቡና የማወቅ 6ቱ ጥቅሞች፦</a:t>
            </a:r>
          </a:p>
          <a:p>
            <a:pPr algn="l">
              <a:spcBef>
                <a:spcPts val="200"/>
              </a:spcBef>
              <a:spcAft>
                <a:spcPts val="500"/>
              </a:spcAft>
            </a:pPr>
            <a:r>
              <a:rPr b="1" sz="1800">
                <a:solidFill>
                  <a:srgbClr val="D4AF37"/>
                </a:solidFill>
                <a:latin typeface="Segoe UI"/>
              </a:rPr>
              <a:t>   </a:t>
            </a:r>
            <a:r>
              <a:rPr b="0" sz="1800">
                <a:solidFill>
                  <a:srgbClr val="2D3748"/>
                </a:solidFill>
                <a:latin typeface="Segoe UI"/>
              </a:rPr>
              <a:t>1. የትምህርቱን ዓይነትና ርዕስ ለመምረጥ</a:t>
            </a:r>
          </a:p>
          <a:p>
            <a:pPr algn="l">
              <a:spcBef>
                <a:spcPts val="200"/>
              </a:spcBef>
              <a:spcAft>
                <a:spcPts val="500"/>
              </a:spcAft>
            </a:pPr>
            <a:r>
              <a:rPr b="1" sz="1800">
                <a:solidFill>
                  <a:srgbClr val="D4AF37"/>
                </a:solidFill>
                <a:latin typeface="Segoe UI"/>
              </a:rPr>
              <a:t>   </a:t>
            </a:r>
            <a:r>
              <a:rPr b="0" sz="1800">
                <a:solidFill>
                  <a:srgbClr val="2D3748"/>
                </a:solidFill>
                <a:latin typeface="Segoe UI"/>
              </a:rPr>
              <a:t>2. የትምህርቱን ይዘትና ጥልቀት ለመወሰን</a:t>
            </a:r>
          </a:p>
          <a:p>
            <a:pPr algn="l">
              <a:spcBef>
                <a:spcPts val="200"/>
              </a:spcBef>
              <a:spcAft>
                <a:spcPts val="500"/>
              </a:spcAft>
            </a:pPr>
            <a:r>
              <a:rPr b="1" sz="1800">
                <a:solidFill>
                  <a:srgbClr val="D4AF37"/>
                </a:solidFill>
                <a:latin typeface="Segoe UI"/>
              </a:rPr>
              <a:t>   </a:t>
            </a:r>
            <a:r>
              <a:rPr b="0" sz="1800">
                <a:solidFill>
                  <a:srgbClr val="2D3748"/>
                </a:solidFill>
                <a:latin typeface="Segoe UI"/>
              </a:rPr>
              <a:t>3. የትምህርቱን መጠንና ሰዓት ለመመጠን</a:t>
            </a:r>
          </a:p>
          <a:p>
            <a:pPr algn="l">
              <a:spcBef>
                <a:spcPts val="200"/>
              </a:spcBef>
              <a:spcAft>
                <a:spcPts val="500"/>
              </a:spcAft>
            </a:pPr>
            <a:r>
              <a:rPr b="1" sz="1800">
                <a:solidFill>
                  <a:srgbClr val="D4AF37"/>
                </a:solidFill>
                <a:latin typeface="Segoe UI"/>
              </a:rPr>
              <a:t>   </a:t>
            </a:r>
            <a:r>
              <a:rPr b="0" sz="1800">
                <a:solidFill>
                  <a:srgbClr val="2D3748"/>
                </a:solidFill>
                <a:latin typeface="Segoe UI"/>
              </a:rPr>
              <a:t>4. የምናስተምርበትን ዘዴና አቀራረብ ለመወሰን</a:t>
            </a:r>
          </a:p>
          <a:p>
            <a:pPr algn="l">
              <a:spcBef>
                <a:spcPts val="200"/>
              </a:spcBef>
              <a:spcAft>
                <a:spcPts val="500"/>
              </a:spcAft>
            </a:pPr>
            <a:r>
              <a:rPr b="1" sz="1800">
                <a:solidFill>
                  <a:srgbClr val="D4AF37"/>
                </a:solidFill>
                <a:latin typeface="Segoe UI"/>
              </a:rPr>
              <a:t>   </a:t>
            </a:r>
            <a:r>
              <a:rPr b="0" sz="1800">
                <a:solidFill>
                  <a:srgbClr val="2D3748"/>
                </a:solidFill>
                <a:latin typeface="Segoe UI"/>
              </a:rPr>
              <a:t>5. ተገቢ የሆኑ ምሳሌዎችን ለመምረጥ</a:t>
            </a:r>
          </a:p>
          <a:p>
            <a:pPr algn="l">
              <a:spcBef>
                <a:spcPts val="200"/>
              </a:spcBef>
              <a:spcAft>
                <a:spcPts val="500"/>
              </a:spcAft>
            </a:pPr>
            <a:r>
              <a:rPr b="1" sz="1800">
                <a:solidFill>
                  <a:srgbClr val="D4AF37"/>
                </a:solidFill>
                <a:latin typeface="Segoe UI"/>
              </a:rPr>
              <a:t>   </a:t>
            </a:r>
            <a:r>
              <a:rPr b="0" sz="1800">
                <a:solidFill>
                  <a:srgbClr val="2D3748"/>
                </a:solidFill>
                <a:latin typeface="Segoe UI"/>
              </a:rPr>
              <a:t>6. የአድማጩን ስሜትና መንፈሳዊ ፍላጎት ለመጠበቅ</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፲፩. አለባበስ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አርአያ ክህነትንና ሥርዓትን የጠበቀ አለባበስ፦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የሰባኪው አለባበስ የቤተክርስቲያንን ሥርዓትና ክብር የጠበቀ መሆን አለበት፡፡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ንጽሕናው የተጠበቀ፣ የማይዘነጥ፣ ጨዋነት የተሞላበት መሆን ይገባዋል፡፡</a:t>
            </a:r>
          </a:p>
          <a:p>
            <a:pPr algn="l">
              <a:spcBef>
                <a:spcPts val="1800"/>
              </a:spcBef>
              <a:spcAft>
                <a:spcPts val="300"/>
              </a:spcAft>
            </a:pPr>
            <a:r>
              <a:rPr b="1" sz="2400">
                <a:solidFill>
                  <a:srgbClr val="00334D"/>
                </a:solidFill>
                <a:latin typeface="Segoe UI"/>
              </a:rPr>
              <a:t>ከጽንፈኝነት መራቅ፦</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ከመጠን በላይ ዘመናዊና ያፈነገጠ፣ ወይም ደግሞ ከመጠን በላይ የረከሰና የተጣለ ልብስ መልበስ የለበትም፡፡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፲፪. የቤተክርስቲያን ቋንቋ (ላህይ)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ኦርቶዶክሳዊ ላህይ (ሥነ-መለኮታዊ አነጋገር)፦</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ሰባኪው የቤተክርስቲያን መቃን የመታ፣ የቤተክርስቲያንን ቋንቋና ሥነ-መለኮታዊ አገላለጽ ጠንቆቆ የሚያውቅ መሆን አለበት፡፡</a:t>
            </a:r>
          </a:p>
          <a:p>
            <a:pPr algn="l">
              <a:spcBef>
                <a:spcPts val="1800"/>
              </a:spcBef>
              <a:spcAft>
                <a:spcPts val="300"/>
              </a:spcAft>
            </a:pPr>
            <a:r>
              <a:rPr b="1" sz="2400">
                <a:solidFill>
                  <a:srgbClr val="00334D"/>
                </a:solidFill>
                <a:latin typeface="Segoe UI"/>
              </a:rPr>
              <a:t>ከአላስፈላጊ ቃላት መቆጠብ፦</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ጸያፍና ኦርቶዶክሳዊ ያልሆኑ ቃላትን፣ ዘለፋ የተቀላቀለባቸውን አነጋገሮች መጠቀም የለበትም፡፡</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ለአድማጩ የማይመጥኑ ወይም በጣም ከባድ የሆኑ ፈሊጣዊ ቃላትን ከመጠቀም መቆጠብ አለበት፡፡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፲፫. የመድረክ አቀራረብና ድምፅ</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ድምፅን በአግባቡ መመጠን፦</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ድምፁ በጣም የሚጮኽ የሚረብሽ ወይም በጣም ፈዛዛ አሰልቺ መሆን የለበትም፡፡</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በጣም መፍጠን ወይም ቃላትን እየጎተቱ መናገር ሳይሆን ግልጽና መጠነኛ መሆን አለበት፡፡</a:t>
            </a:r>
          </a:p>
          <a:p>
            <a:pPr algn="l">
              <a:spcBef>
                <a:spcPts val="1300"/>
              </a:spcBef>
              <a:spcAft>
                <a:spcPts val="300"/>
              </a:spcAft>
            </a:pPr>
            <a:r>
              <a:rPr b="1" sz="2200">
                <a:solidFill>
                  <a:srgbClr val="00334D"/>
                </a:solidFill>
                <a:latin typeface="Segoe UI"/>
              </a:rPr>
              <a:t>የመድረክ ሥነ-ሥርዓትና እንቅስቃሴ፦</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አድማጮች እስኪረጋጉ በትዕግሥት መጠበቅና ዓይንን በአራቱም አቅጣጫ ማዳረስ (ጣራ ወይም መሬት አለማየት)፡፡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አላስፈላጊ የእጅ ማወራጨት፣ ራስን ማከክ፣ ወዲያና ወዲህ መንጎራደድ ማስወገድና ራስን ሆኖ መቅረብ፡፡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፲፬. ሰዓትና ርዕስን በጥብቅ መጠበቅ</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ሰዓትን በመጠን መጠበቅ፦</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«በመጠን ኑሩ» (1ኛ ጴጥ. 5፥8)፤ ሰዓት ከረዘመ ስብከቱ ይንዛዛል፣ አድማጭም ይሰለቻል፡፡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የቦታውን፣ የሰዓቱንና የአካባቢውን ሁኔታዎች ታሳቢ በማድረግ በትክክለኛው ሰዓት ጀምሮ በሰዓቱ መጨረስ፡፡</a:t>
            </a:r>
          </a:p>
          <a:p>
            <a:pPr algn="l">
              <a:spcBef>
                <a:spcPts val="1300"/>
              </a:spcBef>
              <a:spcAft>
                <a:spcPts val="300"/>
              </a:spcAft>
            </a:pPr>
            <a:r>
              <a:rPr b="1" sz="2200">
                <a:solidFill>
                  <a:srgbClr val="00334D"/>
                </a:solidFill>
                <a:latin typeface="Segoe UI"/>
              </a:rPr>
              <a:t>የተሰጠውን ርዕስ በጥብቅ መጠበቅ፦</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ርዕስ መጠበቅ ትምህርቱ ወጥና ግልጽ መልእክት ያለው እንዲሆን ያደርጋል፡፡</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«ምስጢር ሳበኝ» እያሉ ከርዕሱ ውጪ መደባለቅ (ከሥላሴ ተነስቶ ስለ ጾም፣ ከቅዱስ ቁርባን ተነስቶ ስለ ሥዕል) አድማጭን ያደናግራል፤ የማያውቁትን ምስጢርም አለመድፈር፡፡</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፬፦ የስብከት ዓይነቶች እና የአቀራረብ ስልቶች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ዓይነቶች በይዘታቸው — ፩. ትምህርት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የትምህርት ምንነትና ባሕርያት፦</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በእውቀት ላይ የተመሠረተ፦</a:t>
            </a:r>
            <a:r>
              <a:rPr b="0" sz="2200">
                <a:solidFill>
                  <a:srgbClr val="2D3748"/>
                </a:solidFill>
                <a:latin typeface="Segoe UI"/>
              </a:rPr>
              <a:t> የቃለ እግዚአብሔርን እውቀትና ምሥጢር ሥርዓት ባለው መንገድ የሚያስተላልፍ ነው፡፡</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ተከታታይነት ያለው፦</a:t>
            </a:r>
            <a:r>
              <a:rPr b="0" sz="2200">
                <a:solidFill>
                  <a:srgbClr val="2D3748"/>
                </a:solidFill>
                <a:latin typeface="Segoe UI"/>
              </a:rPr>
              <a:t> ከአንዱ ርዕስ ወደ ሌላው በቅደም ተከተልና በተከታታይ የሚሰጥ ነው፡፡</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በማስረጃ የተደገፈ፦</a:t>
            </a:r>
            <a:r>
              <a:rPr b="0" sz="2200">
                <a:solidFill>
                  <a:srgbClr val="2D3748"/>
                </a:solidFill>
                <a:latin typeface="Segoe UI"/>
              </a:rPr>
              <a:t> ከመጽሐፍ ቅዱስና ከሊቃውንት መጻሕፍት በማስረጃ እየተደገፈ የሚቀርብ የዕውቀት መጋቢ ነው፡፡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ዓይነቶች በይዘታቸው — ፪. ትምህርታዊ ስብከት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የትምህርታዊ ስብከት ምንነትና ባሕርያት፦</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በጥምረት የሚሰጥ፦</a:t>
            </a:r>
            <a:r>
              <a:rPr b="0" sz="2200">
                <a:solidFill>
                  <a:srgbClr val="2D3748"/>
                </a:solidFill>
                <a:latin typeface="Segoe UI"/>
              </a:rPr>
              <a:t> የትምህርትና የስብከት ባሕርያትን አዋህዶ የያዘ ድንቅ የአቀራረብ ዘዴ ነው፡፡</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መነሻው ትምህርት መድረሻው ስብከት፦</a:t>
            </a:r>
            <a:r>
              <a:rPr b="0" sz="2200">
                <a:solidFill>
                  <a:srgbClr val="2D3748"/>
                </a:solidFill>
                <a:latin typeface="Segoe UI"/>
              </a:rPr>
              <a:t> በመረጃና በእውቀት ጀምሮ ሰውን ወደ ፈጣሪው የሚያቀርብና ወደ ንስሐ የሚመራ ነው፡፡</a:t>
            </a:r>
          </a:p>
          <a:p>
            <a:pPr algn="l">
              <a:spcBef>
                <a:spcPts val="200"/>
              </a:spcBef>
              <a:spcAft>
                <a:spcPts val="1000"/>
              </a:spcAft>
            </a:pPr>
            <a:r>
              <a:rPr b="1" sz="2200">
                <a:solidFill>
                  <a:srgbClr val="D4AF37"/>
                </a:solidFill>
                <a:latin typeface="Segoe UI"/>
              </a:rPr>
              <a:t>   •  </a:t>
            </a:r>
            <a:r>
              <a:rPr b="1" sz="2200">
                <a:solidFill>
                  <a:srgbClr val="1A202C"/>
                </a:solidFill>
                <a:latin typeface="Segoe UI"/>
              </a:rPr>
              <a:t>ማስረጃ በመስጠት ማስተማር፦</a:t>
            </a:r>
            <a:r>
              <a:rPr b="0" sz="2200">
                <a:solidFill>
                  <a:srgbClr val="2D3748"/>
                </a:solidFill>
                <a:latin typeface="Segoe UI"/>
              </a:rPr>
              <a:t> የቃሉን ማስረጃ እያሳየ የምእመናንን መንፈሳዊ ሕይወት የሚያነቃቃ ነው፡፡</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ዓይነቶች በይዘታቸው — ፫. ስብከት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የስብከት ምንነትና ባሕርያት፦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ቀለል ባለ አገላለጽ የሚቀርብ፤ ማስረዳትና ማሳየት ላይ የሚያተኩር፡፡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የሰውን ልቡናና አእምሮ መማረክና መግዛት የሚችል፤ ሁለንተናዊ ስሜትን የሚቆጣጠር፡፡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ምእመናን በሠሩት ኃጢአት ተጸጽተው ንስሐ እንዲገቡ የሚያደርግ፡፡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የእግዚአብሔርን ቁጣውን፣ ቸርነቱንና ፍቅሩን በአንድ ጊዜ የሚያሳይ፡፡</a:t>
            </a:r>
          </a:p>
          <a:p>
            <a:pPr algn="l">
              <a:spcBef>
                <a:spcPts val="1300"/>
              </a:spcBef>
              <a:spcAft>
                <a:spcPts val="300"/>
              </a:spcAft>
            </a:pPr>
            <a:r>
              <a:rPr b="1" sz="2200">
                <a:solidFill>
                  <a:srgbClr val="00334D"/>
                </a:solidFill>
                <a:latin typeface="Segoe UI"/>
              </a:rPr>
              <a:t>የውይይት ጥያቄ፦</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«ከላይ ከተዘረዘሩት ሦስት የስብከት ዓይነቶች ለማዘጋጀትና ለማቅረብ የሚከብደው የትኛው ይመስላችኋል?»</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የአቀራረብ ስልቶች — ፩. ታሪካዊ ስብከት (Historical)</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የታሪካዊ ስብከት ምንነት፦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አብዛኛውን ጊዜ በበዓላት ቀን የስንክሳር፣ የገድላትና የድርሳናት ታሪኮችን በማንሳትና በመተረክ የሚሰጥ የስብከት መንገድ ነው፡፡</a:t>
            </a:r>
          </a:p>
          <a:p>
            <a:pPr algn="l">
              <a:spcBef>
                <a:spcPts val="1300"/>
              </a:spcBef>
              <a:spcAft>
                <a:spcPts val="300"/>
              </a:spcAft>
            </a:pPr>
            <a:r>
              <a:rPr b="1" sz="2200">
                <a:solidFill>
                  <a:srgbClr val="00334D"/>
                </a:solidFill>
                <a:latin typeface="Segoe UI"/>
              </a:rPr>
              <a:t>መጽሐፍ ቅዱሳዊ የታሪክ ምሳሌዎች፦</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የእስራኤላውያን ከግብጽ ባርነት በክንድ መውጣት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የእስራኤላውያን በባቢሎን መማረክና መመለስ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የቅዱሳን ሐዋርያት ወደ ዓለም ሁሉ መላክና ተጋድሎ</a:t>
            </a:r>
          </a:p>
          <a:p>
            <a:pPr algn="l">
              <a:spcBef>
                <a:spcPts val="1300"/>
              </a:spcBef>
              <a:spcAft>
                <a:spcPts val="300"/>
              </a:spcAft>
            </a:pPr>
            <a:r>
              <a:rPr b="1" sz="2200">
                <a:solidFill>
                  <a:srgbClr val="00334D"/>
                </a:solidFill>
                <a:latin typeface="Segoe UI"/>
              </a:rPr>
              <a:t>የሰባኪው ዝግጅት፦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ሰባኪውና የስብከቱ ቦታ የኦርቶዶክስ ቤተክርስቲያን እንደመሆኑ እነዚህን ታሪኮች አስቀድሞ አንብቦና አጥንቶ ለምእመናን ማስተማር ይጠበቅበታል፡፡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የአቀራረብ ስልቶች — ፪. ነገረ ሃይማኖታዊ ስብከት (Dogmatic)</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የነገረ ሃይማኖት ምንነት፦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ከስብከቶች ሁሉ ጠጣርና ከባድ የሚባለው የስብከት ዓይነት ነው (ስለ መዳን፣ ስለ ምሥጢራት፣ ስለ ልደት፣ ስለ ንስሐ፣ ስለ ትንሣኤ፣ ስለ እግዚአብሔር መገለጥ፣ ስለ ዕርገት፣ ስለ ዳግም ምጽአት)፡፡</a:t>
            </a:r>
          </a:p>
          <a:p>
            <a:pPr algn="l">
              <a:spcBef>
                <a:spcPts val="1300"/>
              </a:spcBef>
              <a:spcAft>
                <a:spcPts val="300"/>
              </a:spcAft>
            </a:pPr>
            <a:r>
              <a:rPr b="1" sz="2200">
                <a:solidFill>
                  <a:srgbClr val="00334D"/>
                </a:solidFill>
                <a:latin typeface="Segoe UI"/>
              </a:rPr>
              <a:t>ሊታሰቡ የሚገባቸው 3ቱ መርሆዎች፦</a:t>
            </a:r>
          </a:p>
          <a:p>
            <a:pPr algn="l">
              <a:spcBef>
                <a:spcPts val="200"/>
              </a:spcBef>
              <a:spcAft>
                <a:spcPts val="700"/>
              </a:spcAft>
            </a:pPr>
            <a:r>
              <a:rPr b="1" sz="2000">
                <a:solidFill>
                  <a:srgbClr val="D4AF37"/>
                </a:solidFill>
                <a:latin typeface="Segoe UI"/>
              </a:rPr>
              <a:t>   •  </a:t>
            </a:r>
            <a:r>
              <a:rPr b="1" sz="2000">
                <a:solidFill>
                  <a:srgbClr val="1A202C"/>
                </a:solidFill>
                <a:latin typeface="Segoe UI"/>
              </a:rPr>
              <a:t>፩. አንድ ነጥብ ላይ ብቻ ማተኮር፦</a:t>
            </a:r>
            <a:r>
              <a:rPr b="0" sz="2000">
                <a:solidFill>
                  <a:srgbClr val="2D3748"/>
                </a:solidFill>
                <a:latin typeface="Segoe UI"/>
              </a:rPr>
              <a:t> ለምሳሌ ስለ ሀልዎተ እግዚአብሔር ወይም ስለ ምሥጢረ ሥላሴ ብቻ፡፡</a:t>
            </a:r>
          </a:p>
          <a:p>
            <a:pPr algn="l">
              <a:spcBef>
                <a:spcPts val="200"/>
              </a:spcBef>
              <a:spcAft>
                <a:spcPts val="700"/>
              </a:spcAft>
            </a:pPr>
            <a:r>
              <a:rPr b="1" sz="2000">
                <a:solidFill>
                  <a:srgbClr val="D4AF37"/>
                </a:solidFill>
                <a:latin typeface="Segoe UI"/>
              </a:rPr>
              <a:t>   •  </a:t>
            </a:r>
            <a:r>
              <a:rPr b="1" sz="2000">
                <a:solidFill>
                  <a:srgbClr val="1A202C"/>
                </a:solidFill>
                <a:latin typeface="Segoe UI"/>
              </a:rPr>
              <a:t>፪. በሚገባ ማብራራት፦</a:t>
            </a:r>
            <a:r>
              <a:rPr b="0" sz="2000">
                <a:solidFill>
                  <a:srgbClr val="2D3748"/>
                </a:solidFill>
                <a:latin typeface="Segoe UI"/>
              </a:rPr>
              <a:t> ምሳሌዎችን በማንሳት (ሥላሴን በፀሐይ፣ በእሳት፣ በሰው፤ ስለ እመቤታችን አማላጅነት የበላኤሰብን ታሪክ)፣ አስረጂ ጥቅሶችንና የሊቃውንትን ብሂል መጠቀም፡፡</a:t>
            </a:r>
          </a:p>
          <a:p>
            <a:pPr algn="l">
              <a:spcBef>
                <a:spcPts val="200"/>
              </a:spcBef>
              <a:spcAft>
                <a:spcPts val="700"/>
              </a:spcAft>
            </a:pPr>
            <a:r>
              <a:rPr b="1" sz="2000">
                <a:solidFill>
                  <a:srgbClr val="D4AF37"/>
                </a:solidFill>
                <a:latin typeface="Segoe UI"/>
              </a:rPr>
              <a:t>   •  </a:t>
            </a:r>
            <a:r>
              <a:rPr b="1" sz="2000">
                <a:solidFill>
                  <a:srgbClr val="1A202C"/>
                </a:solidFill>
                <a:latin typeface="Segoe UI"/>
              </a:rPr>
              <a:t>፫. የአባቶችን ቃላት መጠቀም፦</a:t>
            </a:r>
            <a:r>
              <a:rPr b="0" sz="2000">
                <a:solidFill>
                  <a:srgbClr val="2D3748"/>
                </a:solidFill>
                <a:latin typeface="Segoe UI"/>
              </a:rPr>
              <a:t> ምሥጢራትን እንዳያፋልስ ኦርቶዶክሳዊ የአባቶችን አገላለጽና ቃላት ጠብቆ ማስተማር፡፡</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የአቀራረብ ስልቶች — ፫. ባለ አንድ ሐረግ / ጥቅስ ተኮር ስብከት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የባለ አንድ ሐረግ ስብከት ምንነት፦</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ሰባኪው ከመጽሐፍ ቅዱስ አንድ ሐረግ ወይም ጥቅስ መዝዞ ያንን ተመርኩዞ የሚሰጥ ትምህርት ነው («አንድ ሐረግ ሲስቡ ድር ይሰበስቡ» እንዲሉ)፡፡</a:t>
            </a:r>
          </a:p>
          <a:p>
            <a:pPr algn="l">
              <a:spcBef>
                <a:spcPts val="1300"/>
              </a:spcBef>
              <a:spcAft>
                <a:spcPts val="300"/>
              </a:spcAft>
            </a:pPr>
            <a:r>
              <a:rPr b="1" sz="2200">
                <a:solidFill>
                  <a:srgbClr val="00334D"/>
                </a:solidFill>
                <a:latin typeface="Segoe UI"/>
              </a:rPr>
              <a:t>የአቀራረብ ምሳሌ («በፈተና የሚጸና የተባረከ ነው» ያዕ. 1፥12)፦</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የፈተናን ምንነትና ዓይነት ማብራራት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ፈተና የሚመጣባቸውን መንገዶችና ፈተናን እንዴት ማለፍ እንደሚቻል ማሳየት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በፈተናው ጸንተው ያለፉ ቅዱሳንን ታሪክ ከዘመኑና ከሰው ሕይወት ጋር በማዋሃድ ማስተማር</a:t>
            </a:r>
          </a:p>
          <a:p>
            <a:pPr algn="l">
              <a:spcBef>
                <a:spcPts val="1300"/>
              </a:spcBef>
              <a:spcAft>
                <a:spcPts val="300"/>
              </a:spcAft>
            </a:pPr>
            <a:r>
              <a:rPr b="1" sz="2200">
                <a:solidFill>
                  <a:srgbClr val="00334D"/>
                </a:solidFill>
                <a:latin typeface="Segoe UI"/>
              </a:rPr>
              <a:t>ተጨማሪ የመጽሐፍ ቅዱስ ምሳሌዎች፦</a:t>
            </a:r>
          </a:p>
          <a:p>
            <a:pPr algn="l">
              <a:spcBef>
                <a:spcPts val="200"/>
              </a:spcBef>
              <a:spcAft>
                <a:spcPts val="700"/>
              </a:spcAft>
            </a:pPr>
            <a:r>
              <a:rPr b="1" sz="2000">
                <a:solidFill>
                  <a:srgbClr val="D4AF37"/>
                </a:solidFill>
                <a:latin typeface="Segoe UI"/>
              </a:rPr>
              <a:t>   •  </a:t>
            </a:r>
            <a:r>
              <a:rPr b="0" i="1" sz="2000">
                <a:solidFill>
                  <a:srgbClr val="004D66"/>
                </a:solidFill>
                <a:latin typeface="Segoe UI"/>
              </a:rPr>
              <a:t>«ከመጥምቁ ከዮሐንስ ዘመን ጀምሮ...» (ማቴ. 11፥12)፤ ሳምራዊቷ ሴት (ዮሐ. 4)፤ የ38 ዓመቱ በሽተኛ «ልትድን ትወዳለህን?» (ዮሐ. 5፥1-6)፤ የአንድ ቅዱስ ሕይወት (የሙሴ፣ የኢሳይያስ፣ የዮናስ፣ የጴጥሮስ፣ የጳውሎስ ሕይወት በፊትና በኋላ)፡፡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የአቀራረብ ስልቶች — ፬. ቅዳሴያዊ ስብከት (Liturgical Homily)</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000"/>
              </a:spcBef>
              <a:spcAft>
                <a:spcPts val="300"/>
              </a:spcAft>
            </a:pPr>
            <a:r>
              <a:rPr b="1" sz="2000">
                <a:solidFill>
                  <a:srgbClr val="00334D"/>
                </a:solidFill>
                <a:latin typeface="Segoe UI"/>
              </a:rPr>
              <a:t>የቅዳሴያዊ ስብከት ምንነት፦</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በጾም ወቅት፣ በኪዳን የጸሎት ሰዓት፣ በንግስ ጊዜ፣ በሥርዓተ ቅዳሴ መካከል የሚሰጥ ትምህርት፤ በቤተክርስቲያናችን ዋነኛው የስብከት ዘዴ ነው፡፡</a:t>
            </a:r>
          </a:p>
          <a:p>
            <a:pPr algn="l">
              <a:spcBef>
                <a:spcPts val="1000"/>
              </a:spcBef>
              <a:spcAft>
                <a:spcPts val="300"/>
              </a:spcAft>
            </a:pPr>
            <a:r>
              <a:rPr b="1" sz="2000">
                <a:solidFill>
                  <a:srgbClr val="00334D"/>
                </a:solidFill>
                <a:latin typeface="Segoe UI"/>
              </a:rPr>
              <a:t>የቅዳሴያዊ ስብከት 6ቱ ታላላቅ ጥቅሞች፦</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በአንድ ጊዜ ብዙ ሕዝብ ይገኝበታል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የሰውን ሕዋሳት በሙሉ ተሳታፊ ያደርጋል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በሁሉም ንዋያተ ቅዱሳት (ሥዕላት፣ መስቀል፣ ጽና...) ማስተማር ይቻላል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ከሕፃናት እስከ አዋቂ ድረስ ሁሉም ይታደሙበታል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በየጊዜው ስለሚሰጥ ትምህርቱ አይረሴ ይሆናል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ብዙ ታሪኮችንና ትምህርቶችን በአንድ ጊዜ ያቀርባል (የቅዳሴው ምንባብ፣ ዜማው የ3ቱም የዜማ ስልት)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፭፦ የወንጌል ስብከት መንገዶች</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ብቻ ለብቻ — ለሳምራዊቷ ሴት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2400"/>
              </a:spcBef>
              <a:spcAft>
                <a:spcPts val="300"/>
              </a:spcAft>
            </a:pPr>
            <a:r>
              <a:rPr b="1" sz="2650">
                <a:solidFill>
                  <a:srgbClr val="00334D"/>
                </a:solidFill>
                <a:latin typeface="Segoe UI"/>
              </a:rPr>
              <a:t>ለሳምራዊቷ ሴት የተደረገ የወንጌል ተልዕኮ (ዮሐ. 4፥39-42)፦</a:t>
            </a:r>
          </a:p>
          <a:p>
            <a:pPr algn="l">
              <a:spcBef>
                <a:spcPts val="200"/>
              </a:spcBef>
              <a:spcAft>
                <a:spcPts val="1400"/>
              </a:spcAft>
            </a:pPr>
            <a:r>
              <a:rPr b="1" sz="2400">
                <a:solidFill>
                  <a:srgbClr val="D4AF37"/>
                </a:solidFill>
                <a:latin typeface="Segoe UI"/>
              </a:rPr>
              <a:t>   •  </a:t>
            </a:r>
            <a:r>
              <a:rPr b="0" sz="2400">
                <a:solidFill>
                  <a:srgbClr val="2D3748"/>
                </a:solidFill>
                <a:latin typeface="Segoe UI"/>
              </a:rPr>
              <a:t>ጌታችን መድኃኒታችን ኢየሱስ ክርስቶስ በያዕቆብ የውኃ ጉድጓድ አጠገብ ከአንዲት ሳምራዊት ሴት ጋር ብቻ ለብቻ ተገናኝቶ ሕያው የውኃ ምንጭ የሆነውን ቃሉን አስተማራት፡፡</a:t>
            </a:r>
          </a:p>
          <a:p>
            <a:pPr algn="l">
              <a:spcBef>
                <a:spcPts val="200"/>
              </a:spcBef>
              <a:spcAft>
                <a:spcPts val="1400"/>
              </a:spcAft>
            </a:pPr>
            <a:r>
              <a:rPr b="1" sz="2400">
                <a:solidFill>
                  <a:srgbClr val="D4AF37"/>
                </a:solidFill>
                <a:latin typeface="Segoe UI"/>
              </a:rPr>
              <a:t>   •  </a:t>
            </a:r>
            <a:r>
              <a:rPr b="0" i="1" sz="2400">
                <a:solidFill>
                  <a:srgbClr val="004D66"/>
                </a:solidFill>
                <a:latin typeface="Segoe UI"/>
              </a:rPr>
              <a:t>«ሴቲቱም፦ ያደረግሁትን ሁሉ ነገረኝ ብላ ስለ መሰከረችው ቃል ከዚያች ከተማ የሰማርያ ሰዎች ብዙ አመኑበት... ሴቲቱንም፦ አሁን የምናምን ስለ ቃልሽ አይደለም፥ እኛ ራሳችን ሰምተነዋልና፤ እርሱም በእውነት ክርስቶስ የዓለም መድኃኒት እንደ ሆነ እናውቃለን ይሉአት ነበር።»</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ብቻ ለብቻ — ለኒቆዲሞስና ለአርማትያስ ዮሴፍ</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ለኒቆዲሞስ የተደረገ ተልዕኮ (ዮሐ. 7፥50-51)፦</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«ከእነርሱ አንዱ በሌሊት ቀድሞ ወደ እርሱ መጥቶ የነበረ ኒቆዲሞስ፦ ሕጋችን አስቀድሞ ከእርሱ ሳይሰማ ምንስ እንዳደረገ ሳያውቅ በሰው ይፈርዳልን? አላቸው።»</a:t>
            </a:r>
          </a:p>
          <a:p>
            <a:pPr algn="l">
              <a:spcBef>
                <a:spcPts val="1800"/>
              </a:spcBef>
              <a:spcAft>
                <a:spcPts val="300"/>
              </a:spcAft>
            </a:pPr>
            <a:r>
              <a:rPr b="1" sz="2400">
                <a:solidFill>
                  <a:srgbClr val="00334D"/>
                </a:solidFill>
                <a:latin typeface="Segoe UI"/>
              </a:rPr>
              <a:t>ለአርማትያስ ዮሴፍ የተደረገ ተልዕኮ (ዮሐ. 19፥38-40)፦</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«ከዚህም በኋላ አይሁድን ስለ ፈራ በስውር የኢየሱስ ደቀ መዝሙር የነበረ የአርማትያስ ዮሴፍ የኢየሱስን ሥጋ ሊወስድ ጲላጦስን ለመነ፤ ጲላጦስም ፈቀደለት... ኒቆዲሞስ መቶ ንጥር የሚያህል የከርቤና የእሬት ቅልቅል ይዞ መጣ፤ የኢየሱስንም ሥጋ ወስደው... ከሽቱ ጋር በተልባ እግር ልብስ ከፈኑት።»</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፪. ለጥቂት ሰዎች (ለደቀ መዛሙርት፣ ለቤተሰብ)</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ልድያና ቤተሰቦቿ (ሐዋ. 16፥14-15)፦</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«ከትያጥሮን ከተማም የመጣች ቀይ ሐር ሻጭ እግዚአብሔርን የምታመልክ ልድያ የሚሉአት አንዲት ሴት ትሰማ ነበረች፤ ጳውሎስም የሚናገረውን ታዳምጥ ዘንድ ጌታ ልብዋን ከፈተላት፤ እርስዋም ከቤተ ሰዎችዋ ጋር ከተጠመቀች በኋላ፦ በጌታ የማምን እንድሆን ከፈረዳችሁልኝ፥ ወደ ቤቴ ገብታችሁ ኑሩ ብላ ለመነችን።»</a:t>
            </a:r>
          </a:p>
          <a:p>
            <a:pPr algn="l">
              <a:spcBef>
                <a:spcPts val="1800"/>
              </a:spcBef>
              <a:spcAft>
                <a:spcPts val="300"/>
              </a:spcAft>
            </a:pPr>
            <a:r>
              <a:rPr b="1" sz="2400">
                <a:solidFill>
                  <a:srgbClr val="00334D"/>
                </a:solidFill>
                <a:latin typeface="Segoe UI"/>
              </a:rPr>
              <a:t>ጵርስቅላና አቂላ (ሮሜ 16፥3-5፤ ሐዋ. 18፥26)፦</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«በክርስቶስ ኢየሱስ አብረውኝ ለሚሠሩ ለጵርስቅላና ለአቂላ ሰላምታ አቅርቡልኝ፤ እነርሱም ስለ ነፍሴ ነፍሳቸውን ለሞት አቀረቡ... በቤታቸውም ላለች ቤተ ክርስቲያን ሰላምታ አቅርቡልኝ... አጵሎስንም ወስደው የእግዚአብሔርን መንገድ ከፊት ይልቅ በትክክል ገለጡለት።»</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፫. ለሕዝብና ለማኅበር</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የተራራው ስብከት (ማቴ. 5፥1-2)፦</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«ሕዝቡንም አይቶ ወደ ተራራ ወጣ፤ በተቀመጠም ጊዜ ደቀ መዛሙርቱ ወደ እርሱ ቀረቡ፤ አፉንም ከፍቶ አስተማራቸው እንዲህም አለ፦ . . .»</a:t>
            </a:r>
          </a:p>
          <a:p>
            <a:pPr algn="l">
              <a:spcBef>
                <a:spcPts val="1800"/>
              </a:spcBef>
              <a:spcAft>
                <a:spcPts val="300"/>
              </a:spcAft>
            </a:pPr>
            <a:r>
              <a:rPr b="1" sz="2400">
                <a:solidFill>
                  <a:srgbClr val="00334D"/>
                </a:solidFill>
                <a:latin typeface="Segoe UI"/>
              </a:rPr>
              <a:t>የሕዝብ ስብከት ባሕርያት፦</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በታላላቅ በዓላት፣ በአደባባይ ጉባኤያትና በቤተክርስቲያን አውደ ምሕረት ለብዙሃን የሚሰጥ ስብከት ነው፡፡</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የተለያየ የዕድሜ፣ የትምህርትና የመረዳት አቅም ያላቸውን ምእመናን በአንድነት የሚያንጽ የጋራ የወንጌል ድግስ ነው፡፡</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፮፦ የስብከት ዝግጅት 6ቱ ክፍሎች</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፩. ርእስ መምረጥ (Title Selection)</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000"/>
              </a:spcBef>
              <a:spcAft>
                <a:spcPts val="300"/>
              </a:spcAft>
            </a:pPr>
            <a:r>
              <a:rPr b="1" sz="2000">
                <a:solidFill>
                  <a:srgbClr val="00334D"/>
                </a:solidFill>
                <a:latin typeface="Segoe UI"/>
              </a:rPr>
              <a:t>የርእስ መምረጥ አስፈላጊነት፦</a:t>
            </a:r>
          </a:p>
          <a:p>
            <a:pPr algn="l">
              <a:spcBef>
                <a:spcPts val="200"/>
              </a:spcBef>
              <a:spcAft>
                <a:spcPts val="500"/>
              </a:spcAft>
            </a:pPr>
            <a:r>
              <a:rPr b="1" sz="1800">
                <a:solidFill>
                  <a:srgbClr val="D4AF37"/>
                </a:solidFill>
                <a:latin typeface="Segoe UI"/>
              </a:rPr>
              <a:t>   •  </a:t>
            </a:r>
            <a:r>
              <a:rPr b="0" sz="1800">
                <a:solidFill>
                  <a:srgbClr val="2D3748"/>
                </a:solidFill>
                <a:latin typeface="Segoe UI"/>
              </a:rPr>
              <a:t>የሰዎችን ትኩረት የሚስብና የተማሪዎችን የመማር ፍላጎት የመቀስቀስ ኃይል ያለው መሆን አለበት፡፡</a:t>
            </a:r>
          </a:p>
          <a:p>
            <a:pPr algn="l">
              <a:spcBef>
                <a:spcPts val="200"/>
              </a:spcBef>
              <a:spcAft>
                <a:spcPts val="500"/>
              </a:spcAft>
            </a:pPr>
            <a:r>
              <a:rPr b="1" sz="1800">
                <a:solidFill>
                  <a:srgbClr val="D4AF37"/>
                </a:solidFill>
                <a:latin typeface="Segoe UI"/>
              </a:rPr>
              <a:t>   •  </a:t>
            </a:r>
            <a:r>
              <a:rPr b="0" sz="1800">
                <a:solidFill>
                  <a:srgbClr val="2D3748"/>
                </a:solidFill>
                <a:latin typeface="Segoe UI"/>
              </a:rPr>
              <a:t>የስብከቱን ዓላማ በትክክል የሚገልጽ፣ አጠር ያለና ግልጽ መሆን ይገባዋል፡፡</a:t>
            </a:r>
          </a:p>
          <a:p>
            <a:pPr algn="l">
              <a:spcBef>
                <a:spcPts val="1000"/>
              </a:spcBef>
              <a:spcAft>
                <a:spcPts val="300"/>
              </a:spcAft>
            </a:pPr>
            <a:r>
              <a:rPr b="1" sz="2000">
                <a:solidFill>
                  <a:srgbClr val="00334D"/>
                </a:solidFill>
                <a:latin typeface="Segoe UI"/>
              </a:rPr>
              <a:t>ዋና ዋና መርሆዎች፦</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በሰማዕያኑ ዘንድ አይረሴነት ያላቸው ቃላት</a:t>
            </a:r>
          </a:p>
          <a:p>
            <a:pPr algn="l">
              <a:spcBef>
                <a:spcPts val="200"/>
              </a:spcBef>
              <a:spcAft>
                <a:spcPts val="500"/>
              </a:spcAft>
            </a:pPr>
            <a:r>
              <a:rPr b="1" sz="1800">
                <a:solidFill>
                  <a:srgbClr val="D4AF37"/>
                </a:solidFill>
                <a:latin typeface="Segoe UI"/>
              </a:rPr>
              <a:t>   •  </a:t>
            </a:r>
            <a:r>
              <a:rPr b="0" sz="1800">
                <a:solidFill>
                  <a:srgbClr val="2D3748"/>
                </a:solidFill>
                <a:latin typeface="Segoe UI"/>
              </a:rPr>
              <a:t>በቀላሉ ሊረዱት የሚያስችል አገላለጽ</a:t>
            </a:r>
          </a:p>
          <a:p>
            <a:pPr algn="l">
              <a:spcBef>
                <a:spcPts val="200"/>
              </a:spcBef>
              <a:spcAft>
                <a:spcPts val="500"/>
              </a:spcAft>
            </a:pPr>
            <a:r>
              <a:rPr b="1" sz="1800">
                <a:solidFill>
                  <a:srgbClr val="D4AF37"/>
                </a:solidFill>
                <a:latin typeface="Segoe UI"/>
              </a:rPr>
              <a:t>   •  </a:t>
            </a:r>
            <a:r>
              <a:rPr b="0" sz="1800">
                <a:solidFill>
                  <a:srgbClr val="2D3748"/>
                </a:solidFill>
                <a:latin typeface="Segoe UI"/>
              </a:rPr>
              <a:t>ሊተላለፍ የሚገባውን መልእክት ጠቅለል አድርጎ የያዘ</a:t>
            </a:r>
          </a:p>
          <a:p>
            <a:pPr algn="l">
              <a:spcBef>
                <a:spcPts val="200"/>
              </a:spcBef>
              <a:spcAft>
                <a:spcPts val="500"/>
              </a:spcAft>
            </a:pPr>
            <a:r>
              <a:rPr b="1" sz="1800">
                <a:solidFill>
                  <a:srgbClr val="D4AF37"/>
                </a:solidFill>
                <a:latin typeface="Segoe UI"/>
              </a:rPr>
              <a:t>   •  </a:t>
            </a:r>
            <a:r>
              <a:rPr b="0" sz="1800">
                <a:solidFill>
                  <a:srgbClr val="2D3748"/>
                </a:solidFill>
                <a:latin typeface="Segoe UI"/>
              </a:rPr>
              <a:t>ሰባኪው አብራርቶ ለማስተማር አመቺነት ያለው</a:t>
            </a:r>
          </a:p>
          <a:p>
            <a:pPr algn="l">
              <a:spcBef>
                <a:spcPts val="200"/>
              </a:spcBef>
              <a:spcAft>
                <a:spcPts val="500"/>
              </a:spcAft>
            </a:pPr>
            <a:r>
              <a:rPr b="1" sz="1800">
                <a:solidFill>
                  <a:srgbClr val="D4AF37"/>
                </a:solidFill>
                <a:latin typeface="Segoe UI"/>
              </a:rPr>
              <a:t>   •  </a:t>
            </a:r>
            <a:r>
              <a:rPr b="0" sz="1800">
                <a:solidFill>
                  <a:srgbClr val="2D3748"/>
                </a:solidFill>
                <a:latin typeface="Segoe UI"/>
              </a:rPr>
              <a:t>ምሥጢራትን ያዘሉ ቃላትንና ሐረጎችን የያዘ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፪. የስብከቱን ዓላማ መለየት (Defining Purpose)</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አጠቃላይ የስብከት ዓላማ፦</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ምእመናን ስለ እግዚአብሔር ፍቅርና ሕልውና፣ ስላደረገልንም የማዳን ሥራ ተረድተው እግዚአብሔርን በመውደድ ከኃጢአት ወደ ጽድቅ፣ ከክፋት ወደ ደግነት እንዲመለሱ ማድረግ ነው፡፡</a:t>
            </a:r>
          </a:p>
          <a:p>
            <a:pPr algn="l">
              <a:spcBef>
                <a:spcPts val="1300"/>
              </a:spcBef>
              <a:spcAft>
                <a:spcPts val="300"/>
              </a:spcAft>
            </a:pPr>
            <a:r>
              <a:rPr b="1" sz="2200">
                <a:solidFill>
                  <a:srgbClr val="00334D"/>
                </a:solidFill>
                <a:latin typeface="Segoe UI"/>
              </a:rPr>
              <a:t>የዝርዝር ዓላማ ጥቅሞች፦</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የተማሪዎችን ዝግጅትና የመደምደሚያ መልእክት ይቆጣጠራል፡፡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በትምህርቱ ውስጥ ሊካተቱ የሚገባቸውንና የማይገባቸውን ይወስናል፡፡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የሚዛመዱ ሐሳቦችንና ተስማሚ ምሳሌዎችን ለመምረጥ ይረዳል፡፡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ትምህርቱ ግቡን በትክክል መምታቱን ለመመልከትና ለመለካት ያስችላል፡፡</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፫. መግቢያ (Introduction)</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የመግቢያ ሚናና ጠቀሜታ፦</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የአንድ ትምህርት መግቢያ ምእመኑን ይቀሰቅሳል፣ ርዕሰ ጉዳዩን የበለጠ ያስተዋውቃል፣ ዓላማውን በትክክል ይገልጣል፣ የሰማዕያኑን ትኩረት የሚገዛ ይሆናል፡፡</a:t>
            </a:r>
          </a:p>
          <a:p>
            <a:pPr algn="l">
              <a:spcBef>
                <a:spcPts val="1300"/>
              </a:spcBef>
              <a:spcAft>
                <a:spcPts val="300"/>
              </a:spcAft>
            </a:pPr>
            <a:r>
              <a:rPr b="1" sz="2200">
                <a:solidFill>
                  <a:srgbClr val="00334D"/>
                </a:solidFill>
                <a:latin typeface="Segoe UI"/>
              </a:rPr>
              <a:t>የሰባኪው ተግባር በመግቢያ ወቅት፦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 ራሱን ከምእመናኑ ጋር የሚያለማምድበት ጊዜ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የምእመናኑን ዝግጅትና ስሜት የሚቃኝበት ወቅት ነው፡፡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የዕለቱን ርዕስና ዓላማ በሚገባ የሚያስተዋውቅበት መድረክ ነው፡፡</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፬. የትምህርቱ ዋና ክፍል / ሐተታ (Body &amp; Exposition)</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የትምህርቱ ዋና ክፍል አዘገጃጀት፦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ከተመረጠው ርእስ አኳያ ከትምህርቱ በእውቀትም በሕይወትም ምን እንደሚጠብቁ መጠየቅና መረጃዎችን ማሰባሰብ፡፡</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በግልጽና ቀላል በሆነ ቋንቋ ማስተማር፡፡</a:t>
            </a:r>
          </a:p>
          <a:p>
            <a:pPr algn="l">
              <a:spcBef>
                <a:spcPts val="1300"/>
              </a:spcBef>
              <a:spcAft>
                <a:spcPts val="300"/>
              </a:spcAft>
            </a:pPr>
            <a:r>
              <a:rPr b="1" sz="2200">
                <a:solidFill>
                  <a:srgbClr val="00334D"/>
                </a:solidFill>
                <a:latin typeface="Segoe UI"/>
              </a:rPr>
              <a:t>የአቀራረብ ስልቶች፦</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ተማሪዎችን አሳታፊ እንዲያደርግ በጥያቄና መልስ፣ በውይይትና በቡድን ከፋፍሎ ማስተማር፡፡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ከትምህርቱ ጋር የሚሄዱ ተስማሚ ምሳሌዎችን መጠቀም፡፡</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አጠር ያለ የቤት ሥራ መስጠት፣ ለቀጣዩ አስተያየት መቀበልና የዕለቱን ማጠቃለያ መስጠት፡፡</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፭. የትምህርት ምክር (Practical Application)</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ከትምህርት ወደ ሕይወት መሸጋገር፦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ትምህርቱን ከተማሪዎች ዕለታዊ ኑሮ ጋር አገናዝበን ካላስተማርን ያዘጋጀነው ትምህርት ውጤት አይኖረውም፡፡</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የቤተክርስቲያን ትምህርት ከሕይወት ጋር ካልተዛመደ መንፈሳዊ ድርቀት ያስከትላል፡፡</a:t>
            </a:r>
          </a:p>
          <a:p>
            <a:pPr algn="l">
              <a:spcBef>
                <a:spcPts val="1300"/>
              </a:spcBef>
              <a:spcAft>
                <a:spcPts val="300"/>
              </a:spcAft>
            </a:pPr>
            <a:r>
              <a:rPr b="1" sz="2200">
                <a:solidFill>
                  <a:srgbClr val="00334D"/>
                </a:solidFill>
                <a:latin typeface="Segoe UI"/>
              </a:rPr>
              <a:t>የተግባራዊነት አስፈላጊነት፦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ትምህርቱ በይዘቱና በአቀራረቡ እንከን የሌለው ቢሆን እንኳን የተማሪዎችን ሕይወት ካልለወጠው ትርጉም አይኖረውም፡፡</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የመጽሐፍ ቅዱስ ትምህርት ተግባራዊ እንዲሆን እግዚአብሔር ከሕዝቡ ምን እንደሚፈልግ በግልጽ ማሳየት ይገባል፡፡</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፮. መደምደሚያ (Conclusion)</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የመደምደሚያ ተግባራት፦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ትምህርቱን ሙሉና የተሟላ ያደርገዋል፡፡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የትምህርቱን ማዕከላዊ ሐሳብ በአጭሩ ያጠቃልላል፡፡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የትምህርቱ ዋና ዓላማ መሳካቱን ያሳያል፡፡</a:t>
            </a:r>
          </a:p>
          <a:p>
            <a:pPr algn="l">
              <a:spcBef>
                <a:spcPts val="1300"/>
              </a:spcBef>
              <a:spcAft>
                <a:spcPts val="300"/>
              </a:spcAft>
            </a:pPr>
            <a:r>
              <a:rPr b="1" sz="2200">
                <a:solidFill>
                  <a:srgbClr val="00334D"/>
                </a:solidFill>
                <a:latin typeface="Segoe UI"/>
              </a:rPr>
              <a:t>የማጠቃለያ እርምጃዎች፦</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የተማሪዎችን ግንዛቤ ለመለካት ጥያቄዎች ይጠየቃሉ፡፡</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አጠር ያለ መልመጃ ወይም የቤት ሥራ ይሰጣል፡፡</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የመጨረሻ ማጠቃለያና መንፈሳዊ ጥሪ ይደረጋል፡፡</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2B40"/>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9144000"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7315200" cy="3474720"/>
          </a:xfrm>
          <a:prstGeom prst="roundRect">
            <a:avLst/>
          </a:prstGeom>
          <a:solidFill>
            <a:srgbClr val="04344D"/>
          </a:solid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594360"/>
          <a:lstStyle/>
          <a:p>
            <a:pPr algn="ctr"/>
            <a:r>
              <a:rPr sz="1800" b="1">
                <a:solidFill>
                  <a:srgbClr val="F0D376"/>
                </a:solidFill>
                <a:latin typeface="Segoe UI"/>
              </a:rPr>
              <a:t>❖  የስብከት ዘዴ  ❖</a:t>
            </a:r>
          </a:p>
          <a:p>
            <a:pPr algn="ctr">
              <a:spcBef>
                <a:spcPts val="2400"/>
              </a:spcBef>
            </a:pPr>
            <a:r>
              <a:rPr b="1" sz="3800">
                <a:solidFill>
                  <a:srgbClr val="D4AF37"/>
                </a:solidFill>
                <a:latin typeface="Segoe UI"/>
              </a:rPr>
              <a:t>ክፍል ፯፦ ስብከት ሲዘጋጅ ታሳቢ የሚደረጉ ጉዳዮች</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ቦታዎችን ማወቅ — ቤተ ክርስቲያን</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በቤተ ክርስቲያን ውስጥ የሚሰጡ የስብከት አጋጣሚዎች፦</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በዘወትር የሰርክ መርሐ ግብር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በኪዳን የጸሎት ሰዓት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በሳምንታዊ መርሐ ግብር</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በወርሃዊና ዓመታዊ በዓላት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ልዩ ልዩ መንፈሳዊ ጉባኤያትን በማዘጋጀት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በሥርዓተ ቀብር ሰዓት</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ቦታዎችን ማወቅ — በሐዘን ቤት እና በሠርግ ቤት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በሐዘን ቤት፦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ሐዘንተኞች ሞትንና ሕይወትን፣ ጽድቅንና ኩነኔን የሚያስቡበት ምቹ አጋጣሚ ነው፡፡</a:t>
            </a:r>
          </a:p>
          <a:p>
            <a:pPr algn="l">
              <a:spcBef>
                <a:spcPts val="200"/>
              </a:spcBef>
              <a:spcAft>
                <a:spcPts val="700"/>
              </a:spcAft>
            </a:pPr>
            <a:r>
              <a:rPr b="1" sz="2000">
                <a:solidFill>
                  <a:srgbClr val="D4AF37"/>
                </a:solidFill>
                <a:latin typeface="Segoe UI"/>
              </a:rPr>
              <a:t>   •  </a:t>
            </a:r>
            <a:r>
              <a:rPr b="1" sz="2000">
                <a:solidFill>
                  <a:srgbClr val="1A202C"/>
                </a:solidFill>
                <a:latin typeface="Segoe UI"/>
              </a:rPr>
              <a:t>፩. ሐዘንተኞችን ማጽናናት፦</a:t>
            </a:r>
            <a:r>
              <a:rPr b="0" sz="2000">
                <a:solidFill>
                  <a:srgbClr val="2D3748"/>
                </a:solidFill>
                <a:latin typeface="Segoe UI"/>
              </a:rPr>
              <a:t> ተስፋ ትንሣኤን ማሳየት (ዮሐ. 11፥25)፣ የሁለተኛውን ዓለም ኑሮ ማሳየት (2ኛ ቆሮ. 5፥1)፣ ሞት የሥጋ ባሕርይ መሆኑን መንገር (መዝ. 88፥48)፡፡</a:t>
            </a:r>
          </a:p>
          <a:p>
            <a:pPr algn="l">
              <a:spcBef>
                <a:spcPts val="200"/>
              </a:spcBef>
              <a:spcAft>
                <a:spcPts val="700"/>
              </a:spcAft>
            </a:pPr>
            <a:r>
              <a:rPr b="1" sz="2000">
                <a:solidFill>
                  <a:srgbClr val="D4AF37"/>
                </a:solidFill>
                <a:latin typeface="Segoe UI"/>
              </a:rPr>
              <a:t>   •  </a:t>
            </a:r>
            <a:r>
              <a:rPr b="1" sz="2000">
                <a:solidFill>
                  <a:srgbClr val="1A202C"/>
                </a:solidFill>
                <a:latin typeface="Segoe UI"/>
              </a:rPr>
              <a:t>፪. አስተዛዛኙን ስለ ንስሐ ማስተማር፡፡</a:t>
            </a:r>
          </a:p>
          <a:p>
            <a:pPr algn="l">
              <a:spcBef>
                <a:spcPts val="1300"/>
              </a:spcBef>
              <a:spcAft>
                <a:spcPts val="300"/>
              </a:spcAft>
            </a:pPr>
            <a:r>
              <a:rPr b="1" sz="2200">
                <a:solidFill>
                  <a:srgbClr val="00334D"/>
                </a:solidFill>
                <a:latin typeface="Segoe UI"/>
              </a:rPr>
              <a:t>በሠርግ ቤት፦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አዲስ ተጋቢዎችን (የዕለቱን ሙሽሮች)፣ ያላገቡትን ወጣቶች፣ እንዲሁም በትዳር ውስጥ ያሉትን አንድ የሚያደርግ ጋብቻን የሚያከብር ስብከት መስበክ፡፡</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የስብከት ቦታዎችን ማወቅ — በማረሚያ ቤት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2400"/>
              </a:spcBef>
              <a:spcAft>
                <a:spcPts val="300"/>
              </a:spcAft>
            </a:pPr>
            <a:r>
              <a:rPr b="1" sz="2650">
                <a:solidFill>
                  <a:srgbClr val="00334D"/>
                </a:solidFill>
                <a:latin typeface="Segoe UI"/>
              </a:rPr>
              <a:t>በማረሚያ ቤት የወንጌል ተልዕኮ፦</a:t>
            </a:r>
          </a:p>
          <a:p>
            <a:pPr algn="l">
              <a:spcBef>
                <a:spcPts val="200"/>
              </a:spcBef>
              <a:spcAft>
                <a:spcPts val="1400"/>
              </a:spcAft>
            </a:pPr>
            <a:r>
              <a:rPr b="1" sz="2400">
                <a:solidFill>
                  <a:srgbClr val="D4AF37"/>
                </a:solidFill>
                <a:latin typeface="Segoe UI"/>
              </a:rPr>
              <a:t>   •  </a:t>
            </a:r>
            <a:r>
              <a:rPr b="0" sz="2400">
                <a:solidFill>
                  <a:srgbClr val="2D3748"/>
                </a:solidFill>
                <a:latin typeface="Segoe UI"/>
              </a:rPr>
              <a:t>በወህኒ ቤት የታሰሩ ሁሉ ወንጀለኞች አይደሉም፤ ወንጀል ሠርተው፣ ኃጢአት መሆኑን አውቀው የሚጸጸቱ አሉ፡፡</a:t>
            </a:r>
          </a:p>
          <a:p>
            <a:pPr algn="l">
              <a:spcBef>
                <a:spcPts val="200"/>
              </a:spcBef>
              <a:spcAft>
                <a:spcPts val="1400"/>
              </a:spcAft>
            </a:pPr>
            <a:r>
              <a:rPr b="1" sz="2400">
                <a:solidFill>
                  <a:srgbClr val="D4AF37"/>
                </a:solidFill>
                <a:latin typeface="Segoe UI"/>
              </a:rPr>
              <a:t>   •  </a:t>
            </a:r>
            <a:r>
              <a:rPr b="0" sz="2400">
                <a:solidFill>
                  <a:srgbClr val="2D3748"/>
                </a:solidFill>
                <a:latin typeface="Segoe UI"/>
              </a:rPr>
              <a:t>ሰባኪው ተስፋ የሚሰጥ፣ የንስሐንና የእግዚአብሔርን ይቅርታ የሚያበስር የወንጌል መልእክት ይዞ መቅረብ አለበት፡፡</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የኦርቶዶክሳዊ ስብከት 5ቱ መለያ ጠባያት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፩. መጽሐፋዊ (Scriptural / Biblical)፦</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ስብከቱ በብሉይና በሐዲስ ኪዳን ቅዱሳት መጻሕፍት ላይ የተመሠረተ መሆን አለበት፡፡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ሰባኪው የራሱን ፍልስፍና ወይም የግል አስተያየት ሳይሆን፣ ሕያው የሆነውን የእግዚአብሔርን ቃል በማስረጃ አስደግፎ ማስተማር ይጠበቅበታል፡፡</a:t>
            </a:r>
          </a:p>
          <a:p>
            <a:pPr algn="l">
              <a:spcBef>
                <a:spcPts val="1300"/>
              </a:spcBef>
              <a:spcAft>
                <a:spcPts val="300"/>
              </a:spcAft>
            </a:pPr>
            <a:r>
              <a:rPr b="1" sz="2200">
                <a:solidFill>
                  <a:srgbClr val="00334D"/>
                </a:solidFill>
                <a:latin typeface="Segoe UI"/>
              </a:rPr>
              <a:t>፪. ነገረ መለኮታዊ (Theological / Dogmatic)፦</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የቤተክርስቲያንን የነገረ መለኮት (የዶግማ) ትምህርት፣ የምሥጢራተ ቤተክርስቲያንን እና የሃይማኖት አበውን መሠረት የጠበቀ መሆን አለበት፡፡</a:t>
            </a:r>
          </a:p>
          <a:p>
            <a:pPr algn="l">
              <a:spcBef>
                <a:spcPts val="200"/>
              </a:spcBef>
              <a:spcAft>
                <a:spcPts val="700"/>
              </a:spcAft>
            </a:pPr>
            <a:r>
              <a:rPr b="1" sz="2000">
                <a:solidFill>
                  <a:srgbClr val="D4AF37"/>
                </a:solidFill>
                <a:latin typeface="Segoe UI"/>
              </a:rPr>
              <a:t>   •  </a:t>
            </a:r>
            <a:r>
              <a:rPr b="0" sz="2000">
                <a:solidFill>
                  <a:srgbClr val="2D3748"/>
                </a:solidFill>
                <a:latin typeface="Segoe UI"/>
              </a:rPr>
              <a:t>ኦርቶዶክሳዊ እምነትንና ምሥጢራትን እንዳያፋልስ በጥንቃቄና በአባቶች አነጋገር ማስተማር ይገባዋል፡፡</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የኦርቶዶክሳዊ ስብከት 5ቱ መለያ ጠባያት</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300"/>
              </a:spcBef>
              <a:spcAft>
                <a:spcPts val="300"/>
              </a:spcAft>
            </a:pPr>
            <a:r>
              <a:rPr b="1" sz="2200">
                <a:solidFill>
                  <a:srgbClr val="00334D"/>
                </a:solidFill>
                <a:latin typeface="Segoe UI"/>
              </a:rPr>
              <a:t>፫. ሥርዓተ ቤተክርስቲያን (Ecclesiastical / Canonical)፦</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የኦርቶዶክስ ተዋሕዶ ቤተክርስቲያንን ሥርዓት፣ ቀኖናና ትውፊት የጠበቀ መሆን አለበት፡፡</a:t>
            </a:r>
          </a:p>
          <a:p>
            <a:pPr algn="l">
              <a:spcBef>
                <a:spcPts val="1300"/>
              </a:spcBef>
              <a:spcAft>
                <a:spcPts val="300"/>
              </a:spcAft>
            </a:pPr>
            <a:r>
              <a:rPr b="1" sz="2200">
                <a:solidFill>
                  <a:srgbClr val="00334D"/>
                </a:solidFill>
                <a:latin typeface="Segoe UI"/>
              </a:rPr>
              <a:t>፬. ማኅበራዊ ኑሮን ያገናዘበ (Contextual / Social Relevance)፦</a:t>
            </a:r>
          </a:p>
          <a:p>
            <a:pPr algn="l">
              <a:spcBef>
                <a:spcPts val="200"/>
              </a:spcBef>
              <a:spcAft>
                <a:spcPts val="700"/>
              </a:spcAft>
            </a:pPr>
            <a:r>
              <a:rPr b="1" sz="2000">
                <a:solidFill>
                  <a:srgbClr val="D4AF37"/>
                </a:solidFill>
                <a:latin typeface="Segoe UI"/>
              </a:rPr>
              <a:t>   •  </a:t>
            </a:r>
            <a:r>
              <a:rPr b="0" sz="2000">
                <a:solidFill>
                  <a:srgbClr val="2D3748"/>
                </a:solidFill>
                <a:latin typeface="Segoe UI"/>
              </a:rPr>
              <a:t>የምእመናንን ዕለታዊ ማኅበራዊ ኑሮ፣ ሥነ-ልቡና፣ ባሕልና ወቅታዊ ችግሮችን ያገናዘበና ተግባራዊ መፍትሔ የሚሰጥ መሆን አለበት፡፡</a:t>
            </a:r>
          </a:p>
          <a:p>
            <a:pPr algn="l">
              <a:spcBef>
                <a:spcPts val="1300"/>
              </a:spcBef>
              <a:spcAft>
                <a:spcPts val="300"/>
              </a:spcAft>
            </a:pPr>
            <a:r>
              <a:rPr b="1" sz="2200">
                <a:solidFill>
                  <a:srgbClr val="00334D"/>
                </a:solidFill>
                <a:latin typeface="Segoe UI"/>
              </a:rPr>
              <a:t>፭. ጥምረትና ወጥነት ያለው (Coherent &amp; Integrated)፦</a:t>
            </a:r>
          </a:p>
          <a:p>
            <a:pPr algn="l">
              <a:spcBef>
                <a:spcPts val="200"/>
              </a:spcBef>
              <a:spcAft>
                <a:spcPts val="700"/>
              </a:spcAft>
            </a:pPr>
            <a:r>
              <a:rPr b="1" sz="2000">
                <a:solidFill>
                  <a:srgbClr val="D4AF37"/>
                </a:solidFill>
                <a:latin typeface="Segoe UI"/>
              </a:rPr>
              <a:t>   •  </a:t>
            </a:r>
            <a:r>
              <a:rPr b="0" sz="2000">
                <a:solidFill>
                  <a:srgbClr val="2D3748"/>
                </a:solidFill>
                <a:latin typeface="Segoe UI"/>
              </a:rPr>
              <a:t>ትምህርቱ ከመግቢያው እስከ መደምደሚያው ድረስ ወጥ የሆነ መልእክት ያለው፣ የማይምታታና የሰማዕያንን ልብ ወደ ክርስቶስ የሚያቀርብ ጥምረት ሊኖረው ይገባል፡፡</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9144000" cy="1078992"/>
          </a:xfrm>
          <a:prstGeom prst="rect">
            <a:avLst/>
          </a:prstGeom>
          <a:solidFill>
            <a:srgbClr val="002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914400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219456"/>
            <a:ext cx="73152" cy="62179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
            <a:ext cx="8138160" cy="841248"/>
          </a:xfrm>
          <a:prstGeom prst="rect">
            <a:avLst/>
          </a:prstGeom>
          <a:noFill/>
        </p:spPr>
        <p:txBody>
          <a:bodyPr wrap="square">
            <a:spAutoFit/>
          </a:bodyPr>
          <a:lstStyle/>
          <a:p>
            <a:pPr algn="l"/>
            <a:r>
              <a:rPr b="1" sz="2700">
                <a:solidFill>
                  <a:srgbClr val="D4AF37"/>
                </a:solidFill>
                <a:latin typeface="Segoe UI"/>
              </a:rPr>
              <a:t>ማጠቃለያና የወንጌል አደራ</a:t>
            </a:r>
          </a:p>
        </p:txBody>
      </p:sp>
      <p:sp>
        <p:nvSpPr>
          <p:cNvPr id="6" name="Rounded Rectangle 5"/>
          <p:cNvSpPr/>
          <p:nvPr/>
        </p:nvSpPr>
        <p:spPr>
          <a:xfrm>
            <a:off x="365760" y="1243584"/>
            <a:ext cx="8412480" cy="5321808"/>
          </a:xfrm>
          <a:prstGeom prst="roundRect">
            <a:avLst/>
          </a:prstGeom>
          <a:solidFill>
            <a:srgbClr val="FFFFFF"/>
          </a:solidFill>
          <a:ln w="1524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47472" bIns="320040"/>
          <a:lstStyle/>
          <a:p>
            <a:pPr algn="l">
              <a:spcBef>
                <a:spcPts val="1800"/>
              </a:spcBef>
              <a:spcAft>
                <a:spcPts val="300"/>
              </a:spcAft>
            </a:pPr>
            <a:r>
              <a:rPr b="1" sz="2400">
                <a:solidFill>
                  <a:srgbClr val="00334D"/>
                </a:solidFill>
                <a:latin typeface="Segoe UI"/>
              </a:rPr>
              <a:t>የሐዋርያው ቅዱስ ጳውሎስ አደራ (2ኛ ጢሞ. 2፥15)፦</a:t>
            </a:r>
          </a:p>
          <a:p>
            <a:pPr algn="l">
              <a:spcBef>
                <a:spcPts val="200"/>
              </a:spcBef>
              <a:spcAft>
                <a:spcPts val="1000"/>
              </a:spcAft>
            </a:pPr>
            <a:r>
              <a:rPr b="1" sz="2200">
                <a:solidFill>
                  <a:srgbClr val="D4AF37"/>
                </a:solidFill>
                <a:latin typeface="Segoe UI"/>
              </a:rPr>
              <a:t>   •  </a:t>
            </a:r>
            <a:r>
              <a:rPr b="0" i="1" sz="2200">
                <a:solidFill>
                  <a:srgbClr val="004D66"/>
                </a:solidFill>
                <a:latin typeface="Segoe UI"/>
              </a:rPr>
              <a:t>«የእውነትን ቃል በቅንነት የማናገር የማያሳፍርም ሠራተኛ ሆነህ የተፈተነውን ራስህን ለእግዚአብሔር ልታቀርብ ትጋ።»</a:t>
            </a:r>
          </a:p>
          <a:p>
            <a:pPr algn="l">
              <a:spcBef>
                <a:spcPts val="1800"/>
              </a:spcBef>
              <a:spcAft>
                <a:spcPts val="300"/>
              </a:spcAft>
            </a:pPr>
            <a:r>
              <a:rPr b="1" sz="2400">
                <a:solidFill>
                  <a:srgbClr val="00334D"/>
                </a:solidFill>
                <a:latin typeface="Segoe UI"/>
              </a:rPr>
              <a:t>የሰባኪው ጽኑ አቋም፦</a:t>
            </a:r>
          </a:p>
          <a:p>
            <a:pPr algn="l">
              <a:spcBef>
                <a:spcPts val="200"/>
              </a:spcBef>
              <a:spcAft>
                <a:spcPts val="1000"/>
              </a:spcAft>
            </a:pPr>
            <a:r>
              <a:rPr b="1" sz="2200">
                <a:solidFill>
                  <a:srgbClr val="D4AF37"/>
                </a:solidFill>
                <a:latin typeface="Segoe UI"/>
              </a:rPr>
              <a:t>   •  </a:t>
            </a:r>
            <a:r>
              <a:rPr b="0" sz="2200">
                <a:solidFill>
                  <a:srgbClr val="2D3748"/>
                </a:solidFill>
                <a:latin typeface="Segoe UI"/>
              </a:rPr>
              <a:t>በሕይወትና በቃል እየመሰከሩ፣ ለቤተክርስቲያን ክብርና ለነፍሳት መዳን እስከ መጨረሻው በትጋት ማገልገል፡፡</a:t>
            </a:r>
          </a:p>
          <a:p>
            <a:pPr algn="l">
              <a:spcBef>
                <a:spcPts val="1800"/>
              </a:spcBef>
              <a:spcAft>
                <a:spcPts val="300"/>
              </a:spcAft>
            </a:pPr>
            <a:r>
              <a:rPr b="1" sz="2400">
                <a:solidFill>
                  <a:srgbClr val="00334D"/>
                </a:solidFill>
                <a:latin typeface="Segoe UI"/>
              </a:rPr>
              <a:t>ወስብሐት ለእግዚአብሔር ወለወላዲቱ ድንግል ወለመስቀሉ ክቡር አሜን!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