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36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55582DD-EA7A-498F-B8F6-1153C2D72F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600" b="0" u="none" strike="noStrike">
                <a:solidFill>
                  <a:srgbClr val="675E47"/>
                </a:solidFill>
                <a:effectLst/>
                <a:uFillTx/>
                <a:latin typeface="Cambria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600" b="0" u="none" strike="noStrike">
                <a:solidFill>
                  <a:srgbClr val="675E47"/>
                </a:solidFill>
                <a:effectLst/>
                <a:uFillTx/>
                <a:latin typeface="Cambria"/>
              </a:rPr>
              <a:t>Click to edit the title text format</a:t>
            </a: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550"/>
              </a:spcBef>
              <a:buClr>
                <a:srgbClr val="9CBEBD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550"/>
              </a:spcBef>
              <a:buClr>
                <a:srgbClr val="D2CB6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50"/>
              </a:spcBef>
              <a:buClr>
                <a:srgbClr val="95A39D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550"/>
              </a:spcBef>
              <a:buClr>
                <a:srgbClr val="C89F5D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550"/>
              </a:spcBef>
              <a:buClr>
                <a:srgbClr val="2F2B2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550"/>
              </a:spcBef>
              <a:buClr>
                <a:srgbClr val="2F2B2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defRPr>
            </a:lvl7pPr>
          </a:lstStyle>
          <a:p>
            <a:pPr marL="343080" indent="-228600" algn="l"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639720" lvl="1" indent="-228600" algn="l">
              <a:spcBef>
                <a:spcPts val="550"/>
              </a:spcBef>
              <a:buClr>
                <a:srgbClr val="9CBEBD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Second Outline Level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1004760" lvl="2" indent="-228600" algn="l">
              <a:spcBef>
                <a:spcPts val="550"/>
              </a:spcBef>
              <a:buClr>
                <a:srgbClr val="D2CB6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Third Outline Level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1279440" lvl="3" indent="-228600" algn="l">
              <a:spcBef>
                <a:spcPts val="550"/>
              </a:spcBef>
              <a:buClr>
                <a:srgbClr val="95A39D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Fourth Outline Level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1554120" lvl="4" indent="-228600" algn="l">
              <a:spcBef>
                <a:spcPts val="550"/>
              </a:spcBef>
              <a:buClr>
                <a:srgbClr val="C89F5D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Fifth Outline Level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1554120" lvl="5" indent="-228600" algn="l">
              <a:spcBef>
                <a:spcPts val="550"/>
              </a:spcBef>
              <a:buClr>
                <a:srgbClr val="2F2B2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Sixth Outline Level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1554120" lvl="6" indent="-228600" algn="l">
              <a:spcBef>
                <a:spcPts val="550"/>
              </a:spcBef>
              <a:buClr>
                <a:srgbClr val="2F2B2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Seventh Outline Level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4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rgbClr val="675E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rgbClr val="A9A5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1"/>
          </p:nvPr>
        </p:nvSpPr>
        <p:spPr>
          <a:xfrm>
            <a:off x="8551800" y="5668920"/>
            <a:ext cx="508320" cy="355680"/>
          </a:xfrm>
          <a:prstGeom prst="rect">
            <a:avLst/>
          </a:prstGeom>
          <a:noFill/>
          <a:ln w="19080">
            <a:solidFill>
              <a:srgbClr val="FFFFFF"/>
            </a:solidFill>
            <a:miter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05B4766-2E7B-49D0-B4A2-F9F2495698F6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 rot="16200000">
            <a:off x="7587360" y="4048920"/>
            <a:ext cx="23670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dt" idx="3"/>
          </p:nvPr>
        </p:nvSpPr>
        <p:spPr>
          <a:xfrm rot="16200000">
            <a:off x="7551720" y="1646280"/>
            <a:ext cx="24386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1" u="none" strike="noStrike">
                <a:solidFill>
                  <a:srgbClr val="2F2B20"/>
                </a:solidFill>
                <a:effectLst/>
                <a:uFillTx/>
                <a:latin typeface="Cambria"/>
              </a:rPr>
              <a:t>በስመ አብ ወወልድ ወመንፈስ ቅዱስ አሐዱ አምላክ አሜን</a:t>
            </a: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09680" indent="-40968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09680" indent="-409680" algn="ctr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ሐዋርያዊነት</a:t>
            </a: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09680" indent="-409680" algn="ctr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(</a:t>
            </a: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ሐዋርያዊ ተልእኮ</a:t>
            </a: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)</a:t>
            </a: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09680" indent="-4096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1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646DF4A-4CF6-4756-B2CF-D51C95C936C9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6840" y="612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56840" y="609120"/>
            <a:ext cx="8077320" cy="6248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1100"/>
              </a:spcBef>
              <a:buClr>
                <a:srgbClr val="A9A57C"/>
              </a:buClr>
              <a:buFont typeface="Wingdings" charset="2"/>
              <a:buChar char="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fr-FR" sz="4400" b="0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"</a:t>
            </a:r>
            <a:r>
              <a:rPr lang="fr-FR" sz="4400" b="0" u="none" strike="noStrike">
                <a:solidFill>
                  <a:srgbClr val="2F2B20"/>
                </a:solidFill>
                <a:effectLst/>
                <a:uFillTx/>
                <a:latin typeface="Times New Roman"/>
                <a:cs typeface="Times New Roman"/>
              </a:rPr>
              <a:t>እግዲህ ሂዱና 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Times New Roman"/>
                <a:cs typeface="Times New Roman"/>
              </a:rPr>
              <a:t>አሕዛብን ሁሉ በአብ በወልድና በመንፈስ ቅዱስ ስም እያጠመቃችኋቸው፥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ያዘዝኋችሁንም ሁሉ እንዲጠብቁ እያስተማራችኋቸው ደቀ መዛሙርት አድርጓቸው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Times New Roman"/>
                <a:cs typeface="Times New Roman"/>
              </a:rPr>
              <a:t>፤ እነሆም እኔ እስከ ዓለም ፍጻሜ ድረስ ሁልጊዜ ከእናንተ ጋር ነኝ፡፡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"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272880" indent="-272880">
              <a:lnSpc>
                <a:spcPct val="100000"/>
              </a:lnSpc>
              <a:spcBef>
                <a:spcPts val="2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1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272880" indent="-27288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ማቴ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28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19-20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272880" indent="-27288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4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E6BF29-DBB5-4FFA-BB10-147C721A7E3E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6840" y="4428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57200" y="762120"/>
            <a:ext cx="8305920" cy="579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1001"/>
              </a:spcBef>
              <a:buClr>
                <a:srgbClr val="A9A57C"/>
              </a:buClr>
              <a:buFont typeface="Wingdings" charset="2"/>
              <a:buChar char="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ከዚህም በኋላ ኢየሱስ ራሱ ለዘላለም ድኅነት የሆነውን የማይለወጠውን ቅዱስ ወንጌል ከፀሐይ መውጫ እስከ መጥለቂያው ድረስ በእጃቸው ላከው። 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ወደ ዓለም ሁሉ ሂዱ፣ ወንጌልንም ለፍጥረት ሁሉ ስበኩ። ያመነ የተጠመቀም ይድናል፥ ያላመነ ግን ይፈረድበታል፡፡” 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272880" indent="-27288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ማር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16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15-16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272880" indent="-27288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7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1D5B2B3-E1BD-4EFF-819D-C3B3934BC52F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6840" y="-3204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28600" y="457200"/>
            <a:ext cx="868680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 algn="just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እንግዲህ ያላመኑበትን እንዴት አድርገው ይጠሩታል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ባልሰሙትስ እንዴት ያምናሉ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ያለ ሰባኪስ እንዴት ይሰማሉ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ሮሜ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14-15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ወንጌልን ብሰብክ እንኳ የምመካበት የለኝም፤ ግድ ደርሶብኝ ነውና፤ ወንጌልንም ባልሰብክ ወዮልኝ።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ቆሮ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9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20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C5FF151-AB2C-448F-957B-37CFE45ADA4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6840" y="612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6840" y="456840"/>
            <a:ext cx="8534520" cy="6248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በወንጌልም ማኅበረተኛ እሆን ዘንድ ስለ ወንጌል ሁሉን አደርጋለሁ።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ቆሮ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9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23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ወንድሞች ሆይ፥ የሰበክሁላችሁን ደግሞም የተቀበላችሁትን በእርሱም ደግሞ የቆማችሁበትን በእርሱም ደግሞ የምትድኑበትን ወንጌል አሳስባችኋለሁ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፡፡”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ቆሮ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15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23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860B1EB-1D95-4ADE-8085-F7838B09487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457200" y="304920"/>
            <a:ext cx="8229600" cy="63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ጥበበኞቹም እንደ ሰማይ ፀዳል፥ ብዙ ሰዎችንም ወደ ጽድቅ የሚመልሱ እንደ ከዋክብት ለዘላለም ይደምቃሉ።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ዳን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12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3 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ወንድሞቼ ሆይ፥ ከእናንተ ማንም ከእውነት ቢስት አንዱም ቢመልሰው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ኃጢአተኛን ከተሳሳተበት መንገድ የሚመልሰው ነፍሱን ከሞት እንዲያድን፥ የኃጢአትንም ብዛት እንዲሸፍን ይወቅ።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ያዕ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5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19-20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25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083EA5-4E0E-41E6-8188-54AE3C4BD6D1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228240" y="304920"/>
            <a:ext cx="8915400" cy="6400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 algn="ctr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አንዳንዶች ተከራካሪዎችንም ውቀሱ፥ አንዳንዶችንም ከእሳት ነጥቃችሁ አድኑ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ይሁዳ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የወንጌል ሰባኪነትን ሥራ አድርግ፥ አገልግሎትህን ፈጽም።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ጢሞ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4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5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ስለዚህ እግዚአብሔር እንዲህ ይላል፦ 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. . .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የከበረውንም ከተዋረደው ብትለይ </a:t>
            </a:r>
            <a:r>
              <a:rPr lang="am-ET" sz="36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እንደ አፌ ትሆናለህ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ኤር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15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27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B38FD67-C437-4D2F-9D71-BE409976462A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152280" y="304560"/>
            <a:ext cx="8839440" cy="6553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 algn="just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በመልካም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የሚያስተዳድሩ ሽማግሌዎች፥ ይልቁንም በመስበክና በማስተማር የሚደክሙት፥ እጥፍ ክብር ይገባቸዋል።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ጢሞ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5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17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29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16DD243-2B63-4F65-8D92-D567AB7ED83E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600" b="0" u="none" strike="noStrike">
                <a:solidFill>
                  <a:srgbClr val="675E47"/>
                </a:solidFill>
                <a:effectLst/>
                <a:uFillTx/>
                <a:latin typeface="Cambria"/>
              </a:rPr>
              <a:t> </a:t>
            </a: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28600" y="152280"/>
            <a:ext cx="8763120" cy="6477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8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አንድ መክሊትም የተቀበለው ደግሞ ቀርቦ። ጌታ ሆይ፥ ካልዘራህባት የምታጭድ ካልበተንህባትም የምትሰበስብ ጨካኝ ሰው መሆንህን አውቃለሁ፤</a:t>
            </a:r>
            <a:r>
              <a:rPr lang="en-US" sz="3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ፈራሁም ሄጄም መክሊትህን በምድር ቀበርሁት፤ እነሆ፥ መክሊትህ አለህ አለ።</a:t>
            </a:r>
            <a:r>
              <a:rPr lang="en-US" sz="3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ጌታውም መልሶ እንዲህ አለው፦ አንተ ክፉና ሃኬተኛ ባሪያ፥ ካልዘራሁባት እንዳጭድ ካልበተንሁባትም እንድሰበስብ ታውቃለህን</a:t>
            </a:r>
            <a:r>
              <a:rPr lang="am-ET" sz="3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3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ስለዚህ ገንዘቤን ለለዋጮች አደራ ልትሰጠው በተገባህ ነበር፥ እኔም መጥቼ ያለኝን ከትርፉ ጋር እወስደው ነበር።</a:t>
            </a:r>
            <a:r>
              <a:rPr lang="en-US" sz="3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ስለዚህ መክሊቱን ውሰዱበት አሥር መክሊትም ላለው ስጡት</a:t>
            </a:r>
            <a:r>
              <a:rPr lang="en-US" sz="3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፡፡” </a:t>
            </a:r>
            <a:endParaRPr lang="en-US" sz="3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ማቴ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25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24-28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32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7D5ECCF-AC27-4371-98A3-28DEDB0403D0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6840" y="612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28600" y="609120"/>
            <a:ext cx="8610480" cy="6248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lnSpc>
                <a:spcPct val="90000"/>
              </a:lnSpc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የወንጌል ስብከት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የክርስትና መስፋፋት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በዓለም ሁሉ 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ይህ እስከ ዓለም ፍጻሜ ድረስ ይቀጥላል፡፡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በ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ምሳሌዎች አንጻር ተነሯግል፡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አንደኛው የሰናፍጭ ቅንጣት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ውጫዊ ዕድገት 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(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በቁጥር መብዛት፣ መስፋት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)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ሌላ ምሳሌ አቀረበላቸው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እንዲህም አለ፦ መንግሥተ ሰማያት ሰው ወስዶ በእርሻው የዘራትን የሰናፍጭ ቅንጣት ትመስላለች፤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እርስዋም ከዘር ሁሉ ታንሳለች፥ በአደገች ጊዜ ግን፥ ከአታክልቶች ትበልጣለች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የሰማይም ወፎች መጥተው በቅርንጫፎችዋ እስኪሰፍሩ ድረስ ዛፍ ትሆናለች።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ማቴ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13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31-32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35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239AD49-286E-4A88-BFCA-D9D91A4C538A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6840" y="4428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51920" y="685800"/>
            <a:ext cx="8534520" cy="5867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ሊጡን ሁሉ ቀስ በቀስ በሚያቦካው እርሾ  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ውሳጣዊ ለውጥና ዕድገት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ሌላ ምሳሌ ነገራቸው እንዲህም አለ፦ መንግሥተ ሰማያት ሁሉ እስኪቦካ ድረስ ሴት ወስዳ በሦስት መስፈሪያ ዱቄት የሸሸገችውን እርሾ ትመስላለች።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ማቴ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13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33</a:t>
            </a:r>
            <a:br>
              <a:rPr sz="3200"/>
            </a:b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38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6D6EB3F-75F3-4EDD-897F-2F15AABD38E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የወንጌል ስብከት መንገዶች</a:t>
            </a: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ብቻ ለብቻ 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(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ለአንድ ሰው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)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ለጥቂት ሰዎች 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(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ለደቀ መዛሙርት፣ ለቤተሰቦች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)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ለሕዝብ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ለማኅበር፣ 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. . . 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41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CC7251B-720E-4ECE-B0A4-9DC5F7A01FC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ብቻ ለብቻ </a:t>
            </a: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(</a:t>
            </a: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ለአንድ ሰው</a:t>
            </a: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)</a:t>
            </a: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28240" y="1599840"/>
            <a:ext cx="845820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66FF66"/>
                </a:solidFill>
                <a:effectLst/>
                <a:uFillTx/>
                <a:latin typeface="Calibri"/>
              </a:rPr>
              <a:t> ለሳምራዊቷ ሴት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ይሁዳን ትቶ ወደ ገሊላ ደግሞ ሄደ፤ ዳሩ ግን ደቀ መዛሙርቱ እንጂ ኢየሱስ ራሱ አላጠመቀም።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በሰማርያም ሊያልፍ ግድ ሆነበት።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. . .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ኢየሱስም መንገድ ከመሄድ ደክሞ በጕድጓድ አጠገብ እንዲህ ተቀመጠ፤ ጊዜውም ስድስት ሰዓት ያህል ነበረ።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ከሰማርያ አንዲት ሴት ውኃ ልትቀዳ መጣች። ኢየሱስም፦ ውኃ አጠጪኝ አላት፤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ደቀ መዛሙርቱ ምግብ ሊገዙ ወደ ከተማ ሄደው ነበርና።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44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1BB386E-7A40-49F2-9D57-0F1FD1353B4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6840" y="4428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28240" y="609480"/>
            <a:ext cx="8534520" cy="6019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ሴቲቱም እንስራዋን ትታ ወደ ከተማ ሄደች ለሰዎችም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ያደረግሁትን ሁሉ የነገረኝን ሰው ኑና እዩ፤ እንጃ እርሱ ክርስቶስ ይሆንን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አለች።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ከከተማ ወጥተው ወደ እርሱ ይመጡ ነበር።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 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ሴቲቱም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ያደረግሁትን ሁሉ ነገረኝ ብላ ስለ መሰከረችው ቃል ከዚያች ከተማ የሰማርያ ሰዎች ብዙ አመኑበት።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የሰማርያ ሰዎችም ወደ እርሱ በመጡ ጊዜ በእነርሱ ዘንድ እንዲኖር ለመኑት፤ በዚያም ሁለት ቀን ያህል ኖረ።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47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C2530C-97CC-4EA6-82B2-CFFEE1D34478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6840" y="612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52280" y="533160"/>
            <a:ext cx="8686800" cy="6172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ስለ ቃሉ ከፊተኞች ይልቅ ብዙ ሰዎች አመኑ፤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ሴቲቱንም። አሁን የምናምን ስለ ቃልሽ አይደለም፥ እኛ ራሳችን ሰምተነዋልና፤ እርሱም በእውነት ክርስቶስ የዓለም መድኃኒት እንደ ሆነ እናውቃለን ይሉአት ነበር።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ኒቆዲሞስ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ከእነርሱ አንዱ በሌሊት ቀድሞ ወደ እርሱ መጥቶ የነበረ ኒቆዲሞስ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ሕጋችን አስቀድሞ ከእርሱ ሳይሰማ ምንስ እንዳደረገ ሳያውቅ በሰው ይፈርዳልን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 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አላቸው።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ዮሐ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7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50-51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50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194C2AA-60B7-45C7-BF54-D233F82A68BA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467480" cy="102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1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ዮሴፍ ዘአርማትያስ</a:t>
            </a:r>
            <a:endParaRPr lang="en-US" sz="48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52280" y="1295280"/>
            <a:ext cx="8686800" cy="556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ከዚህም በኋላ አይሁድን ስለ ፈራ በስውር የኢየሱስ ደቀ መዝሙር የነበረ የአርማትያስ ዮሴፍ የኢየሱስን ሥጋ ሊወስድ ጲላጦስን ለመነ፤ ጲላጦስም ፈቀደለት። ስለዚህም መጥቶ የኢየሱስን ሥጋ ወሰደ።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ደግሞም አስቀድሞ በሌሊት ወደ ኢየሱስ መጥቶ የነበረ ኒቆዲሞስ መቶ ንጥር የሚያህል የከርቤና የእሬት ቅልቅል ይዞ መጣ።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የኢየሱስንም ሥጋ ወስደው እንደ አይሁድ አገናነዝ ልማድ ከሽቱ ጋር በተልባ እግር ልብስ ከፈኑት።</a:t>
            </a: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ዮሐ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19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3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38-40</a:t>
            </a: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7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53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FF6CF4-0322-4BB4-90A7-6AFC6934996F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 ለጥቂት ሰዎች 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(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ለደቀ መዛሙርት፣ ለቤተሰቦች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)</a:t>
            </a: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04920" y="1599840"/>
            <a:ext cx="861048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lnSpc>
                <a:spcPct val="90000"/>
              </a:lnSpc>
              <a:spcBef>
                <a:spcPts val="924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700" b="0" u="none" strike="noStrike">
                <a:solidFill>
                  <a:srgbClr val="66FF66"/>
                </a:solidFill>
                <a:effectLst/>
                <a:uFillTx/>
                <a:latin typeface="Calibri"/>
              </a:rPr>
              <a:t> ልድያና ቤተሰቦቿ </a:t>
            </a:r>
            <a:endParaRPr lang="en-US" sz="37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825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3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ከትያጥሮን ከተማም የመጣች ቀይ ሐር ሻጭ እግዚአብሔርን የምታመልክ ልድያ የሚሉአት አንዲት ሴት ትሰማ ነበረች፤ ጳውሎስም የሚናገረውን ታዳምጥ ዘንድ ጌታ ልብዋን ከፈተላት።</a:t>
            </a:r>
            <a:endParaRPr lang="en-US" sz="33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825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3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እርስዋም ከቤተ ሰዎችዋ ጋር ከተጠመቀች በኋላ። በጌታ የማምን እንድሆን ከፈረዳችሁልኝ፥ ወደ ቤቴ ገብታችሁ ኑሩ ብላ ለመነችን፤ በግድም አለችን።</a:t>
            </a:r>
            <a:r>
              <a:rPr lang="en-US" sz="33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33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90000"/>
              </a:lnSpc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የሐዋ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16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14-15</a:t>
            </a:r>
            <a:br>
              <a:rPr sz="2000"/>
            </a:br>
            <a:endParaRPr lang="en-US" sz="41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4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56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82CF03-6E4C-447A-9F7D-7CE99FEED8C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6840" y="19656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56840" y="685800"/>
            <a:ext cx="845820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lnSpc>
                <a:spcPct val="90000"/>
              </a:lnSpc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66FF66"/>
                </a:solidFill>
                <a:effectLst/>
                <a:uFillTx/>
                <a:latin typeface="Calibri"/>
              </a:rPr>
              <a:t>ለጵርስቅላ እና አቂላ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በክርስቶስ ኢየሱስ አብረውኝ ለሚሠሩ ለጵርስቅላና ለአቂላ ሰላምታ አቅርቡልኝ፤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እነርሱም ስለ ነፍሴ ነፍሳቸውን ለሞት አቀረቡ፥ የአሕዛብም አብያተ ክርስቲያናት ሁሉ የሚያመሰግኑአቸው ናቸው እንጂ እኔ ብቻ አይደለሁም፤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90000"/>
              </a:lnSpc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በቤታቸውም ላለች ቤተ ክርስቲያን ሰላምታ አቅርቡልኝ። ከእስያ ለክርስቶስ በኵራት ለሆነው ለምወደው ለአጤኔጦን ሰላምታ አቅርቡልኝ።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9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ሮሜ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3-5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59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593906A-4108-4E1F-B675-CE2D11BA0675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ለሕዝብ</a:t>
            </a:r>
            <a:endParaRPr lang="en-US" sz="44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56840" y="1600200"/>
            <a:ext cx="838188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ሕዝቡንም አይቶ ወደ ተራራ ወጣ፤ በተቀመጠም ጊዜ ደቀ መዛሙርቱ ወደ እርሱ ቀረቡ፤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አፉንም ከፍቶ አስተማራቸው እንዲህም አለ፦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. . .”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ማቴ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5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36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1-2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9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9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62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A43BA98-E3C8-4D9C-9850-1313E04A6A87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8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 ለሐዋርያዊ ተልእኮ መሠረታዊ የሆኑ ነገሮች</a:t>
            </a:r>
            <a:endParaRPr lang="en-US" sz="7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65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FAD069-FBDF-489E-8B59-D876AF1978E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1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፩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ሕዝቡ ያለበትን ተጨባጭ ሁኔታ መረዳት</a:t>
            </a: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14400" y="1447920"/>
            <a:ext cx="8020080" cy="5410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19040" indent="-382680">
              <a:lnSpc>
                <a:spcPct val="90000"/>
              </a:lnSpc>
              <a:spcBef>
                <a:spcPts val="1100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ኢየሱስም በምኩራቦቻቸው እያስተማረ፥ የመንግሥትንም ወንጌል እየሰበከ፥ በሕዝብም ያለውን ደዌና ሕማም ሁሉ እየፈወሰ፥ በከተማዎችና በመንደሮች ሁሉ ይዞር ነበር።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br>
              <a:rPr sz="4400"/>
            </a:b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ብዙ ሕዝብም ባየ ጊዜ፥ እረኛ እንደ ሌላቸው በጎች ተጨንቀው ተጥለውም ነበርና አዘነላቸው።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ማቴ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9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35-36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100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68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05D80AB-5AD7-4B54-9E7D-06C899CDA605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04560" y="0"/>
            <a:ext cx="8381880" cy="141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000" b="1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፪</a:t>
            </a:r>
            <a:r>
              <a:rPr lang="en-US" sz="4000" b="1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4000" b="1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መሠረቱ የምናገለግለውን ሕዝብ ማፍቀር ሊሆን ይገባል፡፡</a:t>
            </a:r>
            <a:endParaRPr lang="en-US" sz="40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28600" y="1523520"/>
            <a:ext cx="8763120" cy="5334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419040" indent="-382680">
              <a:lnSpc>
                <a:spcPct val="90000"/>
              </a:lnSpc>
              <a:spcBef>
                <a:spcPts val="924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7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7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በዚያን ጊዜ ደቀ መዛሙርቱን</a:t>
            </a:r>
            <a:r>
              <a:rPr lang="en-US" sz="37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37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am-ET" sz="37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መከሩስ ብዙ ነው፥ ሠራተኞች ግን ጥቂቶች ናቸው፤</a:t>
            </a:r>
            <a:r>
              <a:rPr lang="en-US" sz="37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7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እንግዲህ የመከሩን ጌታ ወደ መከሩ ሠራተኞች እንዲልክ ለምኑት አላቸው።</a:t>
            </a:r>
            <a:r>
              <a:rPr lang="en-US" sz="37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37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 algn="ctr">
              <a:lnSpc>
                <a:spcPct val="90000"/>
              </a:lnSpc>
              <a:spcBef>
                <a:spcPts val="9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7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US" sz="37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ማቴ</a:t>
            </a:r>
            <a:r>
              <a:rPr lang="en-US" sz="37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9</a:t>
            </a:r>
            <a:r>
              <a:rPr lang="en-US" sz="37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37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35-37</a:t>
            </a:r>
            <a:endParaRPr lang="en-US" sz="37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 algn="just">
              <a:lnSpc>
                <a:spcPct val="90000"/>
              </a:lnSpc>
              <a:spcBef>
                <a:spcPts val="11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1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አሥራ ሁለቱን ደቀ መዛሙርቱን ወደ እርሱ ጠርቶ፥ እንዲያወጡአቸው በርኩሳን መናፍስት ላይ ደዌንና ሕማምንም ሁሉ እንዲፈውሱ ሥልጣን ሰጣቸው።</a:t>
            </a:r>
            <a:r>
              <a:rPr lang="en-US" sz="4000" b="1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8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ማቴ</a:t>
            </a:r>
            <a:r>
              <a:rPr lang="en-US" sz="48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10</a:t>
            </a:r>
            <a:r>
              <a:rPr lang="en-US" sz="48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8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1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71" name="Slide Number Placeholder 2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D4EFA35-E243-4445-AA2D-38A7CCF28564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4960" y="12096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33520" y="762120"/>
            <a:ext cx="840096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1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4800" b="1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ኢየሱስም ከፋሲካ በዓል በፊት፥ ከዚህ ዓለም ወደ አብ የሚሄድበት ሰዓት እንደ ደረሰ አውቆ፥ በዚህ ዓለም ያሉትን ወገኖቹን የወደዳቸውን እስከ መጨረሻ ወደዳቸው።</a:t>
            </a:r>
            <a:r>
              <a:rPr lang="en-US" sz="4800" b="1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ዮሐ</a:t>
            </a:r>
            <a:r>
              <a:rPr lang="en-US" sz="60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13</a:t>
            </a:r>
            <a:r>
              <a:rPr lang="en-US" sz="60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6000" b="1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</a:t>
            </a: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74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7FFA52-9A7F-4D87-8393-1D7B538901F5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434960" y="612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04560" y="609120"/>
            <a:ext cx="8839080" cy="6248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ነገር ግን ሞግዚት የራስዋን ልጆች እንደምትከባከብ፥ በመካከላችሁ የዋሆች ሆንን፤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እንዲሁም እያፈቀርናችሁ የእግዚአብሔርን ወንጌል ለማካፈል ብቻ ሳይሆን የገዛ ነፍሳችንን ደግሞ እናካፍላችሁ ዘንድ በጎ ፈቃዳችን ነበረ፥ ለእኛ የተወደዳችሁ ሆናችሁ ነበርና።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“. . .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አባት ለልጆቹ እንደሚሆን ለእያንዳንዳችሁ እንደ ሆንን ታውቃላችሁና።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ተሰ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2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7-12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77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2012978-CA94-4B35-85A7-B9B7DEAAB799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6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፫</a:t>
            </a: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 </a:t>
            </a:r>
            <a:r>
              <a:rPr lang="en-US" sz="46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ለሰዎች ምክንያት አለመስጠት</a:t>
            </a: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56840" y="1599840"/>
            <a:ext cx="746748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19040" indent="-382680">
              <a:lnSpc>
                <a:spcPct val="90000"/>
              </a:lnSpc>
              <a:spcBef>
                <a:spcPts val="9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ወንድሞች ሆይ፥ ድካማችንና ጥረታችን ትዝ ይላችኋልና፤ ከእናንተ በአንዱ ስንኳ እንዳንከብድበት ሌሊትና ቀን እየሠራን፥ የእግዚአብሔርን ወንጌል ለእናንተ ሰበክን።</a:t>
            </a:r>
            <a:br>
              <a:rPr sz="3600"/>
            </a:b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0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በእናንተ በምታምኑ ዘንድ በእንዴት ያለ ቅድስናና ጽድቅ ነቀፋም በሌለበት ኑሮ እንደ ሄድን፥ እናንተና እግዚአብሔር ምስክሮች ናችሁ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ተሰ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2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9-10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80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E28A616-4365-4C7E-A23F-0A0452F2F1C9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434960" y="4428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04560" y="533160"/>
            <a:ext cx="8629560" cy="6095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419040" indent="-382680">
              <a:lnSpc>
                <a:spcPct val="80000"/>
              </a:lnSpc>
              <a:spcBef>
                <a:spcPts val="9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 . . .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ዳሩ ግን ይህ መብታችሁ ለደካሞች ዕንቅፋት እንዳይሆንባቸው ተጠንቀቁ።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አንተ እውቀት ያለህ በጣዖት ቤት በማዕድ ስትቀመጥ አንድ ሰው ቢያይህ፥ ደካማ ሰው ቢሆን ለጣዖት የተሠዋውን ለመብላት ሕሊናው አይታነጽበትምን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endParaRPr lang="en-US" sz="3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80000"/>
              </a:lnSpc>
              <a:spcBef>
                <a:spcPts val="4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9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80000"/>
              </a:lnSpc>
              <a:spcBef>
                <a:spcPts val="11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በአንተ እውቀትም ይህ ደካማ ይጠፋል፥ እርሱም ክርስቶስ የሞተለት ወንድም ነው።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እንዲህም ወንድሞችን እየበደላችሁ ደካማም የሆነውን ሕሊናቸውን እያቆሰላችሁ ክርስቶስን ትበድላላችሁ።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36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ስለዚህም መብል ወንድሜን የሚያሰናክለው ከሆነ፥ ወንድሜን እንዳላሰናክለው ለዘላለም ከቶ ሥጋ አልበላም።</a:t>
            </a:r>
            <a:r>
              <a:rPr lang="en-US" sz="36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ቆሮ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8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4-13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83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63E0C0C-B5E0-4E28-9393-EACF7EA0A7E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4960" y="12096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04560" y="609120"/>
            <a:ext cx="8629560" cy="6248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419040" indent="-382680">
              <a:lnSpc>
                <a:spcPct val="90000"/>
              </a:lnSpc>
              <a:spcBef>
                <a:spcPts val="11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ወንድምህንም በመብል ምክንያት የምታሳዝን ከሆንህ እንግዲህ በፍቅር አልተመላለስህም። ክርስቶስ ስለ እርሱ የሞተለትን እርሱን በመብልህ አታጥፋው።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እንግዲህ ለእናንተ ያለው መልካም ነገር አይሰደብ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ሮሜ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14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15-16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6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3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3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3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እንግዲህ ከዛሬ ጀምሮ እርስ በርሳችን አንፈራረድ፤ ይልቁን ግን ለወንድም እንቅፋትን ወይም ማሰናከያን ማንም እንዳያኖርበት ይህን ቍረጡ።</a:t>
            </a:r>
            <a:r>
              <a:rPr lang="en-US" sz="43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5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ሮሜ </a:t>
            </a:r>
            <a:r>
              <a:rPr lang="en-US" sz="5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14</a:t>
            </a:r>
            <a:r>
              <a:rPr lang="en-US" sz="5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5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13</a:t>
            </a:r>
            <a:endParaRPr lang="en-US" sz="5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86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B8911A9-4DA4-4905-8E49-35C004EE0DC4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1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፬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41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ለሰዎች መዳን ድርሻን የሚቻለውን ሁሉ ማድረግ</a:t>
            </a: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04560" y="1447560"/>
            <a:ext cx="8629560" cy="518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ጌታችን ለይሁዳ ያደረገው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ወደ እግዚአብሔር ዘንድ ንስሐንና በጌታችን በኢየሱስ ክርስቶስ ማመንን ለአይሁድና ለግሪክ ሰዎች እየመሰከርሁ በጉባኤም በየቤታችሁም አወራሁላችሁና አስተማርኋችሁ እንጂ ከሚጠቅማችሁ ነገር አንዳች ስንኳ አላስቀረሁባችሁም።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89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B2D4FB7-148C-4CFC-910B-A7474E5948E0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434960" y="-3204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04560" y="456840"/>
            <a:ext cx="8629560" cy="6172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34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“. . . </a:t>
            </a:r>
            <a:r>
              <a:rPr lang="am-ET" sz="4800" b="0" u="sng" strike="noStrike">
                <a:solidFill>
                  <a:srgbClr val="FFFF00"/>
                </a:solidFill>
                <a:effectLst/>
                <a:uFillTx/>
                <a:latin typeface="Nyala"/>
              </a:rPr>
              <a:t>ስለዚህ እኔ ከሰው ሁሉ ደም ንጹሕ እንደ ሆንሁ ዛሬ በዚች ቀን እመሰክርላችኋለሁ።</a:t>
            </a:r>
            <a:r>
              <a:rPr lang="en-US" sz="4800" b="0" u="sng" strike="noStrike">
                <a:solidFill>
                  <a:srgbClr val="FFFF00"/>
                </a:solidFill>
                <a:effectLst/>
                <a:uFillTx/>
                <a:latin typeface="Calibri"/>
              </a:rPr>
              <a:t> </a:t>
            </a:r>
            <a:r>
              <a:rPr lang="am-ET" sz="5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የእግዚአብሔርን ምክር ሁሉ ነግሬአችኋለሁና፥ ምንም አላስቀረሁባችሁም።</a:t>
            </a:r>
            <a:r>
              <a:rPr lang="en-US" sz="5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 </a:t>
            </a: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የሐዋ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20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20-27</a:t>
            </a: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92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C0BAAC9-8338-454D-A10A-305AF8C3EE4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8280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7200" y="685800"/>
            <a:ext cx="8229600" cy="6019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19040" indent="-382680">
              <a:lnSpc>
                <a:spcPct val="80000"/>
              </a:lnSpc>
              <a:spcBef>
                <a:spcPts val="11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እኔ ኃጢአተኛውን፦ በእርግጥ ትሞታለህ ባልሁት ጊዜ፥ አንተም ባታስጠነቅቀው ነፍሱም እንድትድን ከክፉ መንገዱ ይመለስ ዘንድ ለኃጢአተኛው አስጠንቅቀህ ባትነግረው፥ ያ ኃጢአተኛ በኃጢአት ይሞታል ደሙን ግን ከእጅህ እፈልጋለሁ።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 algn="ctr">
              <a:lnSpc>
                <a:spcPct val="80000"/>
              </a:lnSpc>
              <a:spcBef>
                <a:spcPts val="1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6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ሕዝ</a:t>
            </a:r>
            <a:r>
              <a:rPr lang="en-US" sz="56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</a:t>
            </a:r>
            <a:r>
              <a:rPr lang="en-US" sz="5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r>
              <a:rPr lang="en-US" sz="56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6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5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80000"/>
              </a:lnSpc>
              <a:spcBef>
                <a:spcPts val="1400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95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2EECAF7-1DB9-4F76-A5BB-59BF98C2ACFC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04920" y="457200"/>
            <a:ext cx="853416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ደግሞ ጻድቁ ከጽድቁ ተመልሶ ኃጢአት በሠራ ጊዜ እኔ በፊቱም ዕንቅፋትን ሳደርግ፥ እርሱ ይሞታል አንተም አላስጠነቀቅኸውምና በኃጢአቱ ይሞታል ያደረጋትም ጽድቅ 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አትታሰብለትም፣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ነገ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ር ግን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ደሙን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ከእጅህ እፈልጋለሁ።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  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ሕዝ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 3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20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98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4A05DE1-5C7C-4C89-8C9B-9169E2E83AC4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12096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57200" y="609120"/>
            <a:ext cx="8229600" cy="5397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ኃጢአተኛውን፦ ኃጢአተኛ ሆይ፥ በእርግጥ ትሞታለህ ባልሁ ጊዜ፥ ኃጢአተኛውን ከመንገዱ ታስጠነቅቅ ዘንድ ባትናገር ያ ኃጢአተኛ በኃጢአቱ ይሞታል፥ ደሙን ግን ከእጅህ እፈልጋለሁ።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ሕዝ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 33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8</a:t>
            </a: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34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01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2A957D2-1CA7-4AB9-90FE-B8909F421D4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434960" y="4428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04920" y="533160"/>
            <a:ext cx="8610480" cy="6095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22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እግዚአብሔርም ቃየንን አለው፦ ወንድምህ አቤል ወዴት ነው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እርሱም አለ፦ አላውቅም የወንድሜ ጠባቂው እኔ ነኝን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ዘፍ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4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9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ወንድምህ ቢደኸይ እጁም በአንተ ዘንድ ቢደክም፥ አጽናው እንደ እንግዳና እንደ መጻተኛም ከአንተ ጋር ይኑር።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ዘሌ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25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35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የወንድምህ በሬ ወይም በግ ጠፍቶ ብታይ ቸል አትበል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ወደ ወንድምህ መልሰው።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ዘዳ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. 22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1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04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DE45F19-92BF-46EE-8D0F-C411C65C6967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434960" y="6120"/>
            <a:ext cx="749952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56840" y="533520"/>
            <a:ext cx="8534520" cy="5867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የወንድምህ አህያ ወይም በሬው በመንገድ ወድቆ ብታይ ከእርሱ ጋር ሆነህ አነሣሣው እንጂ ቸል አትበለው።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ዘዳ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22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0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“ስለ ሌላው ወንድሙ መዳን ግድ የሌለው ሰው እርሱ ይድናል ብዬ አላምንም፡፡”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spcBef>
                <a:spcPts val="1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ቅዱስ ዮሐንስ አፈ ወርቅ</a:t>
            </a: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07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937B1E6-AEC8-49A3-BF0B-689CD60A5BD3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4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፭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በትንሹ አለመሳነፍ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(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አለመርካት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)</a:t>
            </a:r>
            <a:endParaRPr lang="en-US" sz="54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28600" y="1481040"/>
            <a:ext cx="8610480" cy="5376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ሰብዓውም በደስታ ተመልሰው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:-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ጌታ ሆይ፥ አጋንንት ስንኳ በስምህ ተገዝተውልናል አሉት።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እንዲህም አላቸው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ሰይጣንን እንደ መብረቅ ከሰማይ ሲወድቅ አየሁ።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እነሆ፥ እባቡንና ጊንጡን ትረግጡ ዘንድ፥ በጠላትም ኃይል ሁሉ ላይ ሥልጣን ሰጥቻችኋለሁ፥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10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E431DA-DA7F-42C5-8BC5-8E9B217C0EB6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6840" y="82800"/>
            <a:ext cx="746748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57200" y="761760"/>
            <a:ext cx="8229600" cy="5638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የሚጐዳችሁም ምንም የለም።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ነገር ግን መናፍስት ስለ ተገዙላችሁ በዚህ ደስ አይበላችሁ፥ ስማችሁ ግን በሰማያት ስለ ተጻፈ ደስ ይበላችሁ።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ሉቃ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10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17-20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13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EB63D9-2E38-42A5-98BD-4C38A2AF265E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8280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28240" y="609480"/>
            <a:ext cx="8458200" cy="6019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ናትናኤልም መልሶ፦ መምህር ሆይ፥ አንተ የእግዚአብሔር ልጅ ነህ፤ አንተ የእስራኤል ንጉሥ ነህ አለው።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ኢየሱስም መልሶ፦ </a:t>
            </a:r>
            <a:r>
              <a:rPr lang="am-ET" sz="48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ከበለስ በታች አየሁህ ስላልሁህ አመንህን</a:t>
            </a:r>
            <a:r>
              <a:rPr lang="am-ET" sz="48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? </a:t>
            </a:r>
            <a:r>
              <a:rPr lang="am-ET" sz="48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ከዚህ የሚበልጥ ነገር ታያለህ አለው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ዮሐ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50-52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16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CC936C-D842-4518-8BC4-C26409E0507A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8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፮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የሌላን ሰው ሃሳብ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(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ምክር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)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መስማት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(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ምክር መቀበል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)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፣ አድማጭ መሆን</a:t>
            </a:r>
            <a:endParaRPr lang="en-US" sz="48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28240" y="1480680"/>
            <a:ext cx="8458200" cy="5148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19040" indent="-382680">
              <a:lnSpc>
                <a:spcPct val="90000"/>
              </a:lnSpc>
              <a:spcBef>
                <a:spcPts val="1100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እግዚአብሔር የሰዎችን ሃሳብ ይሰማል፣ ይቀበላል፡፡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0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እግዚአብሔርም አለ፦ የሰዶምና የገሞራ ጩኸት እጅግ በዝቶአልና፥ ኃጢአታቸውም እጅግ ከብዳለችና፥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እንግዲህስ ወደ እኔ እንደ መጣች እንደ ጩኸትዋ አድርገው እንደ ሆነ ወርጄ አያለሁ እንዲሁም ባይሆን አውቃለሁ።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ሰዎቹም ከዚያ ፊታቸውን አቀኑ፥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19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222E9FE-818F-489E-A3F4-E130E8C39576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28240" y="1481040"/>
            <a:ext cx="84582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ወደ ሰዶምም ሄዱ አብርሃም ግን በእግዚአብሔር ፊት ገና ቆሞ ነበር።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አብርሃምም ቀረበ አለም። በውኑ ጻድቁን ከኃጢአተኛ ጋር ታጠፋለህን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አምሳ ጻድቃን በከተማይቱ ውስጥ ቢገኙ በውኑ ሁሉን ታጠፋለህን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22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AD15352-A0A5-4964-BEDF-9E2972785C1E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12096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04560" y="761760"/>
            <a:ext cx="8381880" cy="6095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ከተማይቱንስ በእርስዋ ስለሚገኙ አምሳ ጻድቃን አትምርምን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ይህ ከአንተ ይራቅ ጻድቁን ከኃጢአተኛ ጋር ትገድል ዘንድ፥ ጻድቁም እንደ ኃጢአተኛ ይሆን ዘንድ፥ እንደዚህ ያለው አድራጎት ከአንተ ይራቅ። የምድር ሁሉ ፈራጅ በቅን ፍርድ አይፈርድምን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 algn="ctr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ዘፍ</a:t>
            </a: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18</a:t>
            </a: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6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20-25</a:t>
            </a: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5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25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DC6E35-A540-4EBE-A644-CF76DBC0537E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8280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80520" y="685800"/>
            <a:ext cx="853452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19040" indent="-382680">
              <a:lnSpc>
                <a:spcPct val="90000"/>
              </a:lnSpc>
              <a:spcBef>
                <a:spcPts val="1100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ኑና እንዋቀስ ይላል እግዚአብሔር ኃጢአታችሁ እንደ አለላ ብትሆን እንደ አመዳይ ትነጻለች እንደ ደምም ብትቀላ እንደ ባዘቶ ትጠራለች።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 algn="ctr">
              <a:lnSpc>
                <a:spcPct val="9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ኢሳ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18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ክርክራችሁን አቅርቡ፥ ይላል እግዚአብሔር ማስረጃችሁን አምጡ፥ ይላል የያዕቆብ ንጉሥ።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ኢሳ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41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21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1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28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D1CF9E8-A75A-44DA-BAD1-4552BBBBE218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ኢየሱስም ወደ ፊልጶስ ቂሣርያ አገር በደረሰ ጊዜ ደቀ መዛሙርቱን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ሰዎች የሰውን ልጅ ማን እንደ ሆነ ይሉታል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ብሎ ጠየቀ።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ማቴ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16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31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337A208-505D-44B7-8FB3-485A711FE226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4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፯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ደካማ ጎንን መስማት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(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መቀበል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)</a:t>
            </a:r>
            <a:endParaRPr lang="en-US" sz="54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28600" y="1371600"/>
            <a:ext cx="868680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በኤፌሶን ወዳለው ወደ ቤተ ክርስቲያን መልአክ እንዲህ ብለህ ጻፍ። በቀኝ እጁ ሰባቱን ከዋክብት የያዘው በሰባቱም የወርቅ መቅረዞች መካከል የሚሄደው እንዲህ ይላል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3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001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ሥራህንና ድካምህን ትዕግሥትህንም አውቃለሁ፤ ክፉዎችንም ልትታገሥ እንዳትችል፥ እንዲሁም ሳይሆኑ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ሐዋርያት ነን የሚሉቱን መርምረህ ሐሰተኞች ሆነው እንዳገኘሃቸው አውቃለሁ፤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34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B0608B-D6DB-4710-9C88-22537D6BB897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8280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04560" y="685800"/>
            <a:ext cx="838188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419040" indent="-382680">
              <a:spcBef>
                <a:spcPts val="1100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ታግሠህማል፥ ስለ ስሜም ብለህ ጸንተህ አልደከምህም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፤ </a:t>
            </a:r>
            <a:r>
              <a:rPr lang="am-ET" sz="44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ዳሩ ግን የምነቅፍብህ ነገር አለኝ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፣</a:t>
            </a:r>
            <a:r>
              <a:rPr lang="am-ET" sz="44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 የቀደመውን ፍቅርህን ትተሃልና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።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spcBef>
                <a:spcPts val="1026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1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እንግዲህ ከወዴት እንደ ወደቅህ አስብ</a:t>
            </a:r>
            <a:r>
              <a:rPr lang="en-US" sz="41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</a:t>
            </a:r>
            <a:r>
              <a:rPr lang="am-ET" sz="41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ንስሐም ግባ</a:t>
            </a:r>
            <a:r>
              <a:rPr lang="en-US" sz="41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</a:t>
            </a:r>
            <a:r>
              <a:rPr lang="am-ET" sz="41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የቀደመውንም ሥራህን አድርግ፤ አለዚያ እመጣብሃለሁ</a:t>
            </a:r>
            <a:r>
              <a:rPr lang="en-US" sz="41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፣</a:t>
            </a:r>
            <a:r>
              <a:rPr lang="am-ET" sz="41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ንስሐም ባትገባ መቅረዝህን ከስፍራው እወስዳለሁ።</a:t>
            </a:r>
            <a:r>
              <a:rPr lang="en-US" sz="41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</a:t>
            </a:r>
            <a:endParaRPr lang="en-US" sz="41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 algn="ctr">
              <a:lnSpc>
                <a:spcPct val="100000"/>
              </a:lnSpc>
              <a:spcBef>
                <a:spcPts val="13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ራእ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1-5</a:t>
            </a:r>
            <a:endParaRPr lang="en-US" sz="5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spcBef>
                <a:spcPts val="4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spcBef>
                <a:spcPts val="499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37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433C98-53BF-40C6-B635-2972368DA1E1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2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4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፰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መረጃን መፈለግ፣ መለዋወጥና መጠቀም </a:t>
            </a:r>
            <a:endParaRPr lang="en-US" sz="44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55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መነ የብልዎ ሰብእ ለወልደ ዕጉዋለ እመሕያው</a:t>
            </a:r>
            <a:endParaRPr lang="en-US" sz="2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40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B91397-2693-493A-8F1F-715500C03EE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72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፱</a:t>
            </a:r>
            <a:r>
              <a:rPr lang="en-US" sz="72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72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ዓላማ እና ቁርጠኝነት </a:t>
            </a:r>
            <a:endParaRPr lang="en-US" sz="72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56840" y="1600200"/>
            <a:ext cx="7467480" cy="50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100000"/>
              </a:lnSpc>
              <a:spcBef>
                <a:spcPts val="1500"/>
              </a:spcBef>
              <a:buClr>
                <a:srgbClr val="A9A57C"/>
              </a:buClr>
              <a:buFont typeface="Wingdings" charset="2"/>
              <a:buChar char="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0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“It is easy to say ‘</a:t>
            </a:r>
            <a:r>
              <a:rPr lang="en-US" sz="6000" b="1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'no!</a:t>
            </a:r>
            <a:r>
              <a:rPr lang="en-US" sz="6000" b="0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’ when there is a strong ‘</a:t>
            </a:r>
            <a:r>
              <a:rPr lang="en-US" sz="6000" b="1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'yes!</a:t>
            </a:r>
            <a:r>
              <a:rPr lang="en-US" sz="6000" b="0" u="none" strike="noStrike">
                <a:solidFill>
                  <a:srgbClr val="2F2B20"/>
                </a:solidFill>
                <a:effectLst/>
                <a:uFillTx/>
                <a:latin typeface="Times New Roman"/>
                <a:ea typeface="Times New Roman"/>
              </a:rPr>
              <a:t>’ burning from the inside” </a:t>
            </a: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272880" indent="-272880" algn="r">
              <a:lnSpc>
                <a:spcPct val="10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 Stephen R. Covey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43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71837A9-8A65-4A43-96C5-5F136C8F2160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6840" y="151920"/>
            <a:ext cx="7467480" cy="126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4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፲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. </a:t>
            </a: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Cambria"/>
              </a:rPr>
              <a:t>አሳታፊነት</a:t>
            </a:r>
            <a:endParaRPr lang="en-US" sz="54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28240" y="1599840"/>
            <a:ext cx="845820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419040" indent="-382680">
              <a:lnSpc>
                <a:spcPct val="8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በክንክራኦስ ባለች ቤተ ክርስቲያን አገልጋይ የምትሆን እኅታችንን </a:t>
            </a:r>
            <a:r>
              <a:rPr lang="am-ET" sz="4800" b="0" u="none" strike="noStrike">
                <a:solidFill>
                  <a:srgbClr val="FFFF00"/>
                </a:solidFill>
                <a:effectLst/>
                <a:uFillTx/>
                <a:latin typeface="Nyala"/>
              </a:rPr>
              <a:t>ፌቤንን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አደራ ብያችኋለሁ፤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ለቅዱሳን እንደሚገባ በጌታ ተቀበሉአት፥ እርስዋ ለብዙዎች ለእኔም ለራሴ ደጋፊ ነበረችና፥ ከእናንተም በምትፈልገው በማናቸውም ነገር እርዱአት።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 algn="ctr">
              <a:lnSpc>
                <a:spcPct val="80000"/>
              </a:lnSpc>
              <a:spcBef>
                <a:spcPts val="13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300" b="0" u="none" strike="noStrike">
                <a:solidFill>
                  <a:srgbClr val="FFFF00"/>
                </a:solidFill>
                <a:effectLst/>
                <a:uFillTx/>
                <a:latin typeface="Nyala"/>
                <a:cs typeface="Times New Roman"/>
              </a:rPr>
              <a:t>ሮሜ </a:t>
            </a:r>
            <a:r>
              <a:rPr lang="en-US" sz="53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r>
              <a:rPr lang="en-US" sz="53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3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1-2</a:t>
            </a:r>
            <a:endParaRPr lang="en-US" sz="53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80000"/>
              </a:lnSpc>
              <a:spcBef>
                <a:spcPts val="13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3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46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BA2E5C4-3DBE-4D15-ACCB-CD04E189C731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19656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57200" y="685440"/>
            <a:ext cx="8229600" cy="5321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በክርስቶስ ኢየሱስ አብረውኝ ለሚሠሩ ለጵርስቅላና ለአቂላ ሰላምታ አቅርቡልኝ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፤ </a:t>
            </a:r>
            <a:r>
              <a:rPr lang="am-ET" sz="48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እነርሱም ስለ ነፍሴ ነፍሳቸውን ለሞት አቀረቡ፥ የአሕዛብም አብያተ ክርስቲያናት ሁሉ የሚያመሰግኑአቸው ናቸው እንጂ እኔ ብቻ አይደለሁም</a:t>
            </a:r>
            <a:r>
              <a:rPr lang="en-US" sz="48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፡፡” </a:t>
            </a:r>
            <a:r>
              <a:rPr lang="am-ET" sz="4800" b="0" u="none" strike="noStrike">
                <a:solidFill>
                  <a:srgbClr val="FFFF00"/>
                </a:solidFill>
                <a:effectLst/>
                <a:uFillTx/>
                <a:latin typeface="Nyala"/>
                <a:cs typeface="Times New Roman"/>
              </a:rPr>
              <a:t>ሮሜ 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3-4</a:t>
            </a: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99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49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37CCD94-BC29-4DC0-B76B-6B51DC5B435C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04560" y="533520"/>
            <a:ext cx="8381880" cy="63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እርሱም 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(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አጵሎስ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)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በምኵራብ ገልጦ ይናገር ጀመር። ጵርስቅላና አቂላም በሰሙት ጊዜ፥ ወስደው የእግዚአብሔርን መንገድ ከፊት ይልቅ በትክክል ገለጡለት።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የሐዋ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18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26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የእስያ አብያተ ክርስቲያናት ሰላምታ ያቀርቡላችኋል። አቂላና ጵርስቅላ በቤታቸው ካለች ቤተ ክርስቲያን ጋር በጌታ እጅግ ሰላምታ ያቀርቡላችኋል።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am-ET" sz="4400" b="0" u="none" strike="noStrike">
                <a:solidFill>
                  <a:srgbClr val="FFFF00"/>
                </a:solidFill>
                <a:effectLst/>
                <a:uFillTx/>
                <a:latin typeface="Nyala"/>
                <a:ea typeface="Times New Roman"/>
              </a:rPr>
              <a:t>1</a:t>
            </a:r>
            <a:r>
              <a:rPr lang="am-ET" sz="4400" b="0" u="none" strike="noStrike">
                <a:solidFill>
                  <a:srgbClr val="FFFF00"/>
                </a:solidFill>
                <a:effectLst/>
                <a:uFillTx/>
                <a:latin typeface="Nyala"/>
                <a:cs typeface="Times New Roman"/>
              </a:rPr>
              <a:t>ኛ ቆሮ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16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r>
              <a:rPr lang="am-ET" sz="4400" b="0" u="none" strike="noStrike">
                <a:solidFill>
                  <a:srgbClr val="FFFF00"/>
                </a:solidFill>
                <a:effectLst/>
                <a:uFillTx/>
                <a:latin typeface="Nyala"/>
                <a:ea typeface="Times New Roman"/>
              </a:rPr>
              <a:t> 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52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7AF9B1B-1D57-4C7E-8314-3E2E457DB5F2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15912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57200" y="685440"/>
            <a:ext cx="8229600" cy="571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343080" indent="-228600"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“. . .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እኔም ባሪያህ ከትንሽነቴ ጀምሬ እግዚአብሔርን እፈራ ነበር።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ኤልዛቤል የእግዚአብሔርን ነቢያት ባስገደለች ጊዜ፥ መቶውን የእግዚአብሔር ነቢያት ወስጄ፥ አምሳ አምሳውንም በዋሻ ውስጥ ሸሽጌ፥ እንጀራና ውኃ የመገብኋቸው፥ ይህ ያደርግሁት ነገር በውኑ ለጌታዬ አልታወቀህምን</a:t>
            </a:r>
            <a:r>
              <a:rPr lang="am-ET" sz="44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?</a:t>
            </a:r>
            <a:r>
              <a:rPr lang="en-US" sz="44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ነገ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18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7-13</a:t>
            </a: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lnSpc>
                <a:spcPct val="100000"/>
              </a:lnSpc>
              <a:spcBef>
                <a:spcPts val="1100"/>
              </a:spcBef>
              <a:buClr>
                <a:srgbClr val="A9A57C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55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B8DC03-EBBE-4BF7-8FFA-9E9FD3515DB8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960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56840" y="685800"/>
            <a:ext cx="8381880" cy="5867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19040" indent="-382680">
              <a:lnSpc>
                <a:spcPct val="90000"/>
              </a:lnSpc>
              <a:spcBef>
                <a:spcPts val="10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ከሶርያውያንም አገር አደጋ ጣዮች ወጥተው ነበር፥ ከእስራኤልም ምድር ታናሽ ብላቴና ሴት ማርከው ነበር የንዕማንንም ሚስት ታገለግል ነበር።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እመቤትዋንም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፡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- 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ጌታዬ በሰማርያ ካለው ከነቢዩ ፊት ቢደርስ ኖሮ ከለምጹ በፈወሰው ነበር አለቻት።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 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“</a:t>
            </a:r>
            <a:r>
              <a:rPr lang="am-ET" sz="4000" b="0" u="none" strike="noStrike">
                <a:solidFill>
                  <a:srgbClr val="2F2B20"/>
                </a:solidFill>
                <a:effectLst/>
                <a:uFillTx/>
                <a:latin typeface="Nyala"/>
              </a:rPr>
              <a:t>ንዕማንም ገብቶ ለጌታው። ከእስራኤል አገር የሆነች አንዲት ብላቴና እንዲህና እንዲህ ብላለች ብሎ ነገረው።</a:t>
            </a:r>
            <a:r>
              <a:rPr lang="en-US" sz="4000" b="0" u="none" strike="noStrike">
                <a:solidFill>
                  <a:srgbClr val="2F2B20"/>
                </a:solidFill>
                <a:effectLst/>
                <a:uFillTx/>
                <a:latin typeface="Calibri"/>
              </a:rPr>
              <a:t>”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 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ነገ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. 5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2-4</a:t>
            </a: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419040" indent="-382680">
              <a:lnSpc>
                <a:spcPct val="90000"/>
              </a:lnSpc>
              <a:spcBef>
                <a:spcPts val="1001"/>
              </a:spcBef>
              <a:buClr>
                <a:srgbClr val="A9A57C"/>
              </a:buClr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58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43BE966-4D8A-4C6B-8CC0-2B5E30994143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62012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600" b="0" u="none" strike="noStrike">
              <a:solidFill>
                <a:srgbClr val="675E47"/>
              </a:solidFill>
              <a:effectLst/>
              <a:uFillTx/>
              <a:latin typeface="Cambria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56840" y="1599840"/>
            <a:ext cx="7620120" cy="480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22860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60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  <a:p>
            <a:pPr marL="343080" indent="-228600">
              <a:spcBef>
                <a:spcPts val="18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ስብሐት ለእግዚአብሔር</a:t>
            </a:r>
            <a:r>
              <a:rPr lang="en-US" sz="7200" b="0" u="none" strike="noStrike">
                <a:solidFill>
                  <a:srgbClr val="FFFF00"/>
                </a:solidFill>
                <a:effectLst/>
                <a:uFillTx/>
                <a:latin typeface="Calibri"/>
              </a:rPr>
              <a:t>!</a:t>
            </a:r>
            <a:endParaRPr lang="en-US" sz="7200" b="0" u="none" strike="noStrike">
              <a:solidFill>
                <a:srgbClr val="2F2B20"/>
              </a:solidFill>
              <a:effectLst/>
              <a:uFillTx/>
              <a:latin typeface="Calibri"/>
            </a:endParaRPr>
          </a:p>
        </p:txBody>
      </p:sp>
      <p:sp>
        <p:nvSpPr>
          <p:cNvPr id="161" name="Slide Number Placeholder 3"/>
          <p:cNvSpPr/>
          <p:nvPr/>
        </p:nvSpPr>
        <p:spPr>
          <a:xfrm>
            <a:off x="8531280" y="5648400"/>
            <a:ext cx="549360" cy="396720"/>
          </a:xfrm>
          <a:prstGeom prst="bracketPair">
            <a:avLst>
              <a:gd name="adj" fmla="val 17949"/>
            </a:avLst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08DC5F3-46C0-4FC0-AB64-6C56C22DC9DF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800" b="0" u="none" strike="noStrike">
              <a:solidFill>
                <a:srgbClr val="2F2B2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9776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2010-04-24T20:00:19Z</dcterms:created>
  <dc:creator>birhanu</dc:creator>
  <dc:description/>
  <dc:language>en-US</dc:language>
  <cp:lastModifiedBy>user</cp:lastModifiedBy>
  <dcterms:modified xsi:type="dcterms:W3CDTF">2017-06-28T12:39:37Z</dcterms:modified>
  <cp:revision>688</cp:revision>
  <dc:subject/>
  <dc:title>የመናፍቃን እንቅስቃሴ በኢትዮጵያ</dc:title>
</cp:coreProperties>
</file>