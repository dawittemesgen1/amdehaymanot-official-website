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4D"/>
        </a:solidFill>
        <a:effectLst/>
      </p:bgPr>
    </p:bg>
    <p:spTree>
      <p:nvGrpSpPr>
        <p:cNvPr id="1" name=""/>
        <p:cNvGrpSpPr/>
        <p:nvPr/>
      </p:nvGrpSpPr>
      <p:grpSpPr/>
      <p:sp>
        <p:nvSpPr>
          <p:cNvPr id="2" name="Title 1"/>
          <p:cNvSpPr>
            <a:spLocks noGrp="1"/>
          </p:cNvSpPr>
          <p:nvPr>
            <p:ph type="ctrTitle"/>
          </p:nvPr>
        </p:nvSpPr>
        <p:spPr>
          <a:xfrm>
            <a:off x="457200" y="2286000"/>
            <a:ext cx="8229600" cy="0"/>
          </a:xfrm>
        </p:spPr>
        <p:txBody>
          <a:bodyPr/>
          <a:lstStyle/>
          <a:p>
            <a:pPr algn="ctr"/>
            <a:r>
              <a:rPr b="1" sz="4400">
                <a:solidFill>
                  <a:srgbClr val="D4AF37"/>
                </a:solidFill>
                <a:latin typeface="Nyala"/>
              </a:rPr>
              <a:t>ሐዋርያዊ ተልዕኮ</a:t>
            </a:r>
          </a:p>
        </p:txBody>
      </p:sp>
      <p:sp>
        <p:nvSpPr>
          <p:cNvPr id="3" name="Subtitle 2"/>
          <p:cNvSpPr>
            <a:spLocks noGrp="1"/>
          </p:cNvSpPr>
          <p:nvPr>
            <p:ph type="subTitle" idx="1"/>
          </p:nvPr>
        </p:nvSpPr>
        <p:spPr>
          <a:xfrm>
            <a:off x="457200" y="3657600"/>
            <a:ext cx="8229600" cy="0"/>
          </a:xfrm>
        </p:spPr>
        <p:txBody>
          <a:bodyPr/>
          <a:lstStyle/>
          <a:p>
            <a:pPr algn="ctr"/>
            <a:r>
              <a:rPr b="0" sz="2800">
                <a:solidFill>
                  <a:srgbClr val="F5F5F5"/>
                </a:solidFill>
              </a:rPr>
              <a:t>Apostolic Mission</a:t>
            </a:r>
          </a:p>
        </p:txBody>
      </p:sp>
      <p:sp>
        <p:nvSpPr>
          <p:cNvPr id="4" name="Rectangle 3"/>
          <p:cNvSpPr/>
          <p:nvPr/>
        </p:nvSpPr>
        <p:spPr>
          <a:xfrm>
            <a:off x="914400" y="1371600"/>
            <a:ext cx="7315200" cy="50800"/>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D4AF37"/>
        </a:solidFill>
        <a:effectLst/>
      </p:bgPr>
    </p:bg>
    <p:spTree>
      <p:nvGrpSpPr>
        <p:cNvPr id="1" name=""/>
        <p:cNvGrpSpPr/>
        <p:nvPr/>
      </p:nvGrpSpPr>
      <p:grpSpPr/>
      <p:sp>
        <p:nvSpPr>
          <p:cNvPr id="2" name="Title 1"/>
          <p:cNvSpPr>
            <a:spLocks noGrp="1"/>
          </p:cNvSpPr>
          <p:nvPr>
            <p:ph type="ctrTitle"/>
          </p:nvPr>
        </p:nvSpPr>
        <p:spPr>
          <a:xfrm>
            <a:off x="457200" y="2743200"/>
            <a:ext cx="8229600" cy="0"/>
          </a:xfrm>
        </p:spPr>
        <p:txBody>
          <a:bodyPr/>
          <a:lstStyle/>
          <a:p>
            <a:pPr algn="ctr"/>
            <a:r>
              <a:rPr b="1" sz="5000">
                <a:solidFill>
                  <a:srgbClr val="00334D"/>
                </a:solidFill>
              </a:rPr>
              <a:t>ክፍል 1: ዋና ትምህርት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የሐዋርያዊና ሐዋርያዊነት ምንነት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ሐዋርያ የሚለው ቃል ሖረ ሄደ ከሚለው የግዕዝ ግስ የተገኘ ነው፡፡ ሐዋርያ ማለት የተላከ የተመረጠና በእግዚአብሔር የተጠራ፣ ለአገልግሎት የሚፋጠን የቅዱሳንን አሠረ ፍኖት የተከተለ ብቁና ንቁ የሆነ የሐዋርያዊነትን ተልዕኮ በተግባር የሚያሳይ ማለት ነው፡፡</a:t>
            </a:r>
          </a:p>
          <a:p>
            <a:pPr>
              <a:spcAft>
                <a:spcPts val="1000"/>
              </a:spcAft>
            </a:pPr>
            <a:r>
              <a:rPr sz="2200">
                <a:solidFill>
                  <a:srgbClr val="333333"/>
                </a:solidFill>
              </a:rPr>
              <a:t>ሐዋርያዊነት፣ ጌታችን ኢየሱስ ክርሰቶስ በኢየሩሳሌም በይሁዳ በሰማርያም ሁሉ እስከ ምድርም ዳርቻ ድረስ ምስክሮች ትሆናላችሁ ሐዋ 1፡8 ብሎ ባዘዘው አምላካዊ ቃል መሠረት ሐሩ ወመሐሩ ያለውን በተግባር መፍጸም ነው፡፡</a:t>
            </a:r>
          </a:p>
          <a:p>
            <a:pPr>
              <a:spcAft>
                <a:spcPts val="1000"/>
              </a:spcAft>
            </a:pPr>
            <a:r>
              <a:rPr sz="2200">
                <a:solidFill>
                  <a:srgbClr val="333333"/>
                </a:solidFill>
              </a:rPr>
              <a:t>ሐዋርያዊ ተልዕኮ፡ የቤተክርስቲያን ዋና ተልዕኮና ዓላማ ነው፡፡</a:t>
            </a:r>
          </a:p>
          <a:p>
            <a:pPr>
              <a:spcAft>
                <a:spcPts val="1000"/>
              </a:spcAft>
            </a:pPr>
            <a:r>
              <a:rPr sz="2200">
                <a:solidFill>
                  <a:srgbClr val="333333"/>
                </a:solidFill>
              </a:rPr>
              <a:t>ምሳሌ</a:t>
            </a:r>
          </a:p>
          <a:p>
            <a:pPr>
              <a:spcAft>
                <a:spcPts val="1000"/>
              </a:spcAft>
            </a:pPr>
            <a:r>
              <a:rPr sz="2200">
                <a:solidFill>
                  <a:srgbClr val="333333"/>
                </a:solidFill>
              </a:rPr>
              <a:t>ሳምራዊቷ ሴት ያደረገችው ዮሐ 4፡33</a:t>
            </a:r>
          </a:p>
          <a:p>
            <a:pPr>
              <a:spcAft>
                <a:spcPts val="1000"/>
              </a:spcAft>
            </a:pPr>
            <a:r>
              <a:rPr sz="2200">
                <a:solidFill>
                  <a:srgbClr val="333333"/>
                </a:solidFill>
              </a:rPr>
              <a:t>የተበተኑት ቃሉን እየሰበኩ መዞራቸው ሐዋ 8፡4</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የሐዋርያዊ ተልዕኮ ታሪክ</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ሀ. ቅድመ ክርስትና</a:t>
            </a:r>
          </a:p>
          <a:p>
            <a:pPr>
              <a:spcAft>
                <a:spcPts val="1000"/>
              </a:spcAft>
            </a:pPr>
            <a:r>
              <a:rPr sz="2200">
                <a:solidFill>
                  <a:srgbClr val="333333"/>
                </a:solidFill>
              </a:rPr>
              <a:t>ለ. በዘመነ ክርስትና</a:t>
            </a:r>
          </a:p>
          <a:p>
            <a:pPr>
              <a:spcAft>
                <a:spcPts val="1000"/>
              </a:spcAft>
            </a:pPr>
            <a:r>
              <a:rPr sz="2200">
                <a:solidFill>
                  <a:srgbClr val="333333"/>
                </a:solidFill>
              </a:rPr>
              <a:t>የጌታችን ኢየሱስ ክርስቶስ ተልዕኮ መሠረታዊ ዓላማ ሁለት ነው፡፡</a:t>
            </a:r>
          </a:p>
          <a:p>
            <a:pPr>
              <a:spcAft>
                <a:spcPts val="1000"/>
              </a:spcAft>
            </a:pPr>
            <a:r>
              <a:rPr sz="2200">
                <a:solidFill>
                  <a:srgbClr val="333333"/>
                </a:solidFill>
              </a:rPr>
              <a:t>1. የጠፋውን የሰውን ልጅ ፈልጎ ማዳን ለቃ 19፡10</a:t>
            </a:r>
          </a:p>
          <a:p>
            <a:pPr>
              <a:spcAft>
                <a:spcPts val="1000"/>
              </a:spcAft>
            </a:pPr>
            <a:r>
              <a:rPr sz="2200">
                <a:solidFill>
                  <a:srgbClr val="333333"/>
                </a:solidFill>
              </a:rPr>
              <a:t>2. ለሚያምኑት ሁሉ አርዓያና ምሳሌ ለመሆን 1ጴጥ2 ፡21፣ ዮሐ. 13፡15</a:t>
            </a:r>
          </a:p>
          <a:p>
            <a:pPr>
              <a:spcAft>
                <a:spcPts val="1000"/>
              </a:spcAft>
            </a:pPr>
            <a:r>
              <a:rPr sz="2200">
                <a:solidFill>
                  <a:srgbClr val="333333"/>
                </a:solidFill>
              </a:rPr>
              <a:t>በጥልቀት ይነበብ</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የሐዋርያዊነት መሠረቶች፡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ሀ. ጽኑ እምነት</a:t>
            </a:r>
          </a:p>
          <a:p>
            <a:pPr>
              <a:spcAft>
                <a:spcPts val="1000"/>
              </a:spcAft>
            </a:pPr>
            <a:r>
              <a:rPr sz="2200">
                <a:solidFill>
                  <a:srgbClr val="333333"/>
                </a:solidFill>
              </a:rPr>
              <a:t>ለ. በመንፈስ ቅዱስ መሥራት፡</a:t>
            </a:r>
          </a:p>
          <a:p>
            <a:pPr>
              <a:spcAft>
                <a:spcPts val="1000"/>
              </a:spcAft>
            </a:pPr>
            <a:r>
              <a:rPr sz="2200">
                <a:solidFill>
                  <a:srgbClr val="333333"/>
                </a:solidFill>
              </a:rPr>
              <a:t>ለቅዱሳን ሐዋርያት መንፈስ ቅዱስን መላኩ ሐዋ.2፡15 ሉቃ.24፡54</a:t>
            </a:r>
          </a:p>
          <a:p>
            <a:pPr>
              <a:spcAft>
                <a:spcPts val="1000"/>
              </a:spcAft>
            </a:pPr>
            <a:r>
              <a:rPr sz="2200">
                <a:solidFill>
                  <a:srgbClr val="333333"/>
                </a:solidFill>
              </a:rPr>
              <a:t>በርናባስና ሳውል ለተመረጡት ሥራ የተለዩት በመንፈስ ቅዱስ ነው ሐዋ . 13፡3</a:t>
            </a:r>
          </a:p>
          <a:p>
            <a:pPr>
              <a:spcAft>
                <a:spcPts val="1000"/>
              </a:spcAft>
            </a:pPr>
            <a:r>
              <a:rPr sz="2200">
                <a:solidFill>
                  <a:srgbClr val="333333"/>
                </a:solidFill>
              </a:rPr>
              <a:t>ይህም ማለት፡- የሐዋርያነት ሥራ የመንፈስ ቅዱስ እንጂ የሰው አለመሆኑን ማመን፣</a:t>
            </a:r>
          </a:p>
          <a:p>
            <a:pPr>
              <a:spcAft>
                <a:spcPts val="1000"/>
              </a:spcAft>
            </a:pPr>
            <a:r>
              <a:rPr sz="2200">
                <a:solidFill>
                  <a:srgbClr val="333333"/>
                </a:solidFill>
              </a:rPr>
              <a:t>ሊከበርበትና ሊመሰገንበት የሚገባው እግዚአብሔር መንፈስ ቅዱስ ብቻ መሆኑን ማመን፣</a:t>
            </a:r>
          </a:p>
          <a:p>
            <a:pPr>
              <a:spcAft>
                <a:spcPts val="1000"/>
              </a:spcAft>
            </a:pPr>
            <a:r>
              <a:rPr sz="2200">
                <a:solidFill>
                  <a:srgbClr val="333333"/>
                </a:solidFill>
              </a:rPr>
              <a:t>ሐ. መንፈሳዊነት፡</a:t>
            </a:r>
          </a:p>
          <a:p>
            <a:pPr>
              <a:spcAft>
                <a:spcPts val="1000"/>
              </a:spcAft>
            </a:pPr>
            <a:r>
              <a:rPr sz="2200">
                <a:solidFill>
                  <a:srgbClr val="333333"/>
                </a:solidFill>
              </a:rPr>
              <a:t>መ. ትሕትና እና የኃላፊነት ስሜት፡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ሐዋርያ ማን ነው?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በእግዚአብሔር የተጠራ እና የተመረጠ ነዉ</a:t>
            </a:r>
          </a:p>
          <a:p>
            <a:pPr>
              <a:spcAft>
                <a:spcPts val="1000"/>
              </a:spcAft>
            </a:pPr>
            <a:r>
              <a:rPr sz="2200">
                <a:solidFill>
                  <a:srgbClr val="333333"/>
                </a:solidFill>
              </a:rPr>
              <a:t>የእግዚአብሔር ጥሪ ከተገለጠባቸው መንገዶች መካከል፡</a:t>
            </a:r>
          </a:p>
          <a:p>
            <a:pPr>
              <a:spcAft>
                <a:spcPts val="1000"/>
              </a:spcAft>
            </a:pPr>
            <a:r>
              <a:rPr sz="2200">
                <a:solidFill>
                  <a:srgbClr val="333333"/>
                </a:solidFill>
              </a:rPr>
              <a:t>ራዕይ</a:t>
            </a:r>
          </a:p>
          <a:p>
            <a:pPr>
              <a:spcAft>
                <a:spcPts val="1000"/>
              </a:spcAft>
            </a:pPr>
            <a:r>
              <a:rPr sz="2200">
                <a:solidFill>
                  <a:srgbClr val="333333"/>
                </a:solidFill>
              </a:rPr>
              <a:t>ሕልም</a:t>
            </a:r>
          </a:p>
          <a:p>
            <a:pPr>
              <a:spcAft>
                <a:spcPts val="1000"/>
              </a:spcAft>
            </a:pPr>
            <a:r>
              <a:rPr sz="2200">
                <a:solidFill>
                  <a:srgbClr val="333333"/>
                </a:solidFill>
              </a:rPr>
              <a:t>በሰው በኩል</a:t>
            </a:r>
          </a:p>
          <a:p>
            <a:pPr>
              <a:spcAft>
                <a:spcPts val="1000"/>
              </a:spcAft>
            </a:pPr>
            <a:r>
              <a:rPr sz="2200">
                <a:solidFill>
                  <a:srgbClr val="333333"/>
                </a:solidFill>
              </a:rPr>
              <a:t>በሥራ አጋጣሚ</a:t>
            </a:r>
          </a:p>
          <a:p>
            <a:pPr>
              <a:spcAft>
                <a:spcPts val="1000"/>
              </a:spcAft>
            </a:pPr>
            <a:r>
              <a:rPr sz="2200">
                <a:solidFill>
                  <a:srgbClr val="333333"/>
                </a:solidFill>
              </a:rPr>
              <a:t>የልብን ስሜት በማነሳሳት</a:t>
            </a:r>
          </a:p>
          <a:p>
            <a:pPr>
              <a:spcAft>
                <a:spcPts val="1000"/>
              </a:spcAft>
            </a:pPr>
            <a:r>
              <a:rPr sz="2200">
                <a:solidFill>
                  <a:srgbClr val="333333"/>
                </a:solidFill>
              </a:rPr>
              <a:t>በትምህርት በመቀስቀስ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ሀ . ለሐዋሪያዊነት የተጠሩ ሰዎች፡</a:t>
            </a:r>
          </a:p>
          <a:p>
            <a:pPr>
              <a:spcAft>
                <a:spcPts val="1000"/>
              </a:spcAft>
            </a:pPr>
            <a:r>
              <a:rPr sz="2200">
                <a:solidFill>
                  <a:srgbClr val="333333"/>
                </a:solidFill>
              </a:rPr>
              <a:t>ሙሴ በግ ሲጠብቅ ዘዳ 3፡1.10</a:t>
            </a:r>
          </a:p>
          <a:p>
            <a:pPr>
              <a:spcAft>
                <a:spcPts val="1000"/>
              </a:spcAft>
            </a:pPr>
            <a:r>
              <a:rPr sz="2200">
                <a:solidFill>
                  <a:srgbClr val="333333"/>
                </a:solidFill>
              </a:rPr>
              <a:t>ዲዊት በግ ሲጠብቅ 1ሳሙ 16፡13</a:t>
            </a:r>
          </a:p>
          <a:p>
            <a:pPr>
              <a:spcAft>
                <a:spcPts val="1000"/>
              </a:spcAft>
            </a:pPr>
            <a:r>
              <a:rPr sz="2200">
                <a:solidFill>
                  <a:srgbClr val="333333"/>
                </a:solidFill>
              </a:rPr>
              <a:t>ኤሌሳዕ በእርሻ ላይ 1ነገ 19፡19</a:t>
            </a:r>
          </a:p>
          <a:p>
            <a:pPr>
              <a:spcAft>
                <a:spcPts val="1000"/>
              </a:spcAft>
            </a:pPr>
            <a:r>
              <a:rPr sz="2200">
                <a:solidFill>
                  <a:srgbClr val="333333"/>
                </a:solidFill>
              </a:rPr>
              <a:t>አሞጽ የሾላ ፍሬ ሲለቅም አሞ 1፡1</a:t>
            </a:r>
          </a:p>
          <a:p>
            <a:pPr>
              <a:spcAft>
                <a:spcPts val="1000"/>
              </a:spcAft>
            </a:pPr>
            <a:r>
              <a:rPr sz="2200">
                <a:solidFill>
                  <a:srgbClr val="333333"/>
                </a:solidFill>
              </a:rPr>
              <a:t>እነ ጴጥሮስ ዓሣ ሲያጠምዱ ማቴ 4፡18</a:t>
            </a:r>
          </a:p>
          <a:p>
            <a:pPr>
              <a:spcAft>
                <a:spcPts val="1000"/>
              </a:spcAft>
            </a:pPr>
            <a:r>
              <a:rPr sz="2200">
                <a:solidFill>
                  <a:srgbClr val="333333"/>
                </a:solidFill>
              </a:rPr>
              <a:t>ቅደስ ጳውሎስ ክርስቲያኖችን ሲያሳድድ ሐዋ 9፡1</a:t>
            </a:r>
          </a:p>
          <a:p>
            <a:pPr>
              <a:spcAft>
                <a:spcPts val="1000"/>
              </a:spcAft>
            </a:pPr>
            <a:r>
              <a:rPr sz="2200">
                <a:solidFill>
                  <a:srgbClr val="333333"/>
                </a:solidFill>
              </a:rPr>
              <a:t>ለ . የጥሪ መስፈርቶች፡</a:t>
            </a:r>
          </a:p>
          <a:p>
            <a:pPr>
              <a:spcAft>
                <a:spcPts val="1000"/>
              </a:spcAft>
            </a:pPr>
            <a:r>
              <a:rPr sz="2200">
                <a:solidFill>
                  <a:srgbClr val="333333"/>
                </a:solidFill>
              </a:rPr>
              <a:t>- የልብ ውስጥ ቅንነት ፡           - መንፈሳዊ ቅንዓት ፡</a:t>
            </a:r>
          </a:p>
          <a:p>
            <a:pPr>
              <a:spcAft>
                <a:spcPts val="1000"/>
              </a:spcAft>
            </a:pPr>
            <a:r>
              <a:rPr sz="2200">
                <a:solidFill>
                  <a:srgbClr val="333333"/>
                </a:solidFill>
              </a:rPr>
              <a:t>- ጉጉትና ተነሳሽነት                  - ማስተማር ግዴታው መሆኑን የሚያውቅ</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ሐዋርያዉ ሊጠነቀቅባቸው የሚገቡ ጉዳዮች፡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ከንቱ ውዳሴ</a:t>
            </a:r>
          </a:p>
          <a:p>
            <a:pPr>
              <a:spcAft>
                <a:spcPts val="1000"/>
              </a:spcAft>
            </a:pPr>
            <a:r>
              <a:rPr sz="2200">
                <a:solidFill>
                  <a:srgbClr val="333333"/>
                </a:solidFill>
              </a:rPr>
              <a:t>ከንቱ ውዳሴ የሚመጣባቸው መንገዶች፡</a:t>
            </a:r>
          </a:p>
          <a:p>
            <a:pPr>
              <a:spcAft>
                <a:spcPts val="1000"/>
              </a:spcAft>
            </a:pPr>
            <a:r>
              <a:rPr sz="2200">
                <a:solidFill>
                  <a:srgbClr val="333333"/>
                </a:solidFill>
              </a:rPr>
              <a:t>ሀ. ከከንቱ ውዳሴ መሻት መፈለግ</a:t>
            </a:r>
          </a:p>
          <a:p>
            <a:pPr>
              <a:spcAft>
                <a:spcPts val="1000"/>
              </a:spcAft>
            </a:pPr>
            <a:r>
              <a:rPr sz="2200">
                <a:solidFill>
                  <a:srgbClr val="333333"/>
                </a:solidFill>
              </a:rPr>
              <a:t>ሐዋርያዊው ከውስጡ መደነቅን፣ መከበርን፣ መዉደድ መናፈቅና መፈለግ እነዚህን ሊያመጡ የሚችሉ ነገሮችን በተደጋጋሚ በአንድም በሌላም መንገድ በቀጥታ እና በተዘዋዋሪ ጥረት ማድረግ፡፡</a:t>
            </a:r>
          </a:p>
          <a:p>
            <a:pPr>
              <a:spcAft>
                <a:spcPts val="1000"/>
              </a:spcAft>
            </a:pPr>
            <a:r>
              <a:rPr sz="2200">
                <a:solidFill>
                  <a:srgbClr val="333333"/>
                </a:solidFill>
              </a:rPr>
              <a:t>ለ. ከሌላ አካል፡ ከሰው ዘንድ በእውነትም በሐሰትም ውዳሴና ሙገሳ አድናቆት ሊመጣ ይችላል፡፡</a:t>
            </a:r>
          </a:p>
          <a:p>
            <a:pPr>
              <a:spcAft>
                <a:spcPts val="1000"/>
              </a:spcAft>
            </a:pPr>
            <a:r>
              <a:rPr sz="2200">
                <a:solidFill>
                  <a:srgbClr val="333333"/>
                </a:solidFill>
              </a:rPr>
              <a:t>በዚህ ጊዜ አለመቃወም፣ ይልቁንም በውስጡ ደስ መሰኘት፣ እኔ እንዲህ ዓይነት ሰው ነኝ ብሎ ራስን ማድነቅና ለራስ ትልቅ ግምትና ዋጋ መስጠት ፡፡</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2 . ከወገንተኝነት መራቅ፡ የቆሮንቶስንና የፉሊጵስዩስን አብያተ ክርስቲያናት ያውኳቸው ከነበሩ ጉዳዮች መካከል እንዱ ወገንተኝነት ነው፡፡ በቆሮንቶስ ቤተክርስቲያን፡</a:t>
            </a:r>
          </a:p>
          <a:p>
            <a:pPr>
              <a:spcAft>
                <a:spcPts val="1000"/>
              </a:spcAft>
            </a:pPr>
            <a:r>
              <a:rPr sz="2200">
                <a:solidFill>
                  <a:srgbClr val="333333"/>
                </a:solidFill>
              </a:rPr>
              <a:t>እኔ የጳውሎስ ነኝ</a:t>
            </a:r>
          </a:p>
          <a:p>
            <a:pPr>
              <a:spcAft>
                <a:spcPts val="1000"/>
              </a:spcAft>
            </a:pPr>
            <a:r>
              <a:rPr sz="2200">
                <a:solidFill>
                  <a:srgbClr val="333333"/>
                </a:solidFill>
              </a:rPr>
              <a:t>እኔ የኬፋ ነኝ</a:t>
            </a:r>
          </a:p>
          <a:p>
            <a:pPr>
              <a:spcAft>
                <a:spcPts val="1000"/>
              </a:spcAft>
            </a:pPr>
            <a:r>
              <a:rPr sz="2200">
                <a:solidFill>
                  <a:srgbClr val="333333"/>
                </a:solidFill>
              </a:rPr>
              <a:t>እኔ የአጵሎስ ነኝ የሚል ክፍፍል ነበር 1ቆሮ 3፡1.12</a:t>
            </a:r>
          </a:p>
          <a:p>
            <a:pPr>
              <a:spcAft>
                <a:spcPts val="1000"/>
              </a:spcAft>
            </a:pPr>
            <a:r>
              <a:rPr sz="2200">
                <a:solidFill>
                  <a:srgbClr val="333333"/>
                </a:solidFill>
              </a:rPr>
              <a:t>3 . ለምድራዊ ጥቅም አለማገልገል፡</a:t>
            </a:r>
          </a:p>
          <a:p>
            <a:pPr>
              <a:spcAft>
                <a:spcPts val="1000"/>
              </a:spcAft>
            </a:pPr>
            <a:r>
              <a:rPr sz="2200">
                <a:solidFill>
                  <a:srgbClr val="333333"/>
                </a:solidFill>
              </a:rPr>
              <a:t>በዚህ ዘመን ቤተክርስቲያን በእጅጉ የተፈታተናት፣ አንዳንዶችም ያመኑትን ፈጣሪና የታመኑለትንና ያመነቻቸውን ቤተክርስቲያን ከመክዳት አልፈው የጫማ ውስጥ ጠጠርና የጭቃ ውስጥ እሾህ እንዲሆኑባት ያደረገው የጥቅም ፍላጏት ነው፡፡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4 .ከፈተናዎች መጠበቅ</a:t>
            </a:r>
          </a:p>
          <a:p>
            <a:pPr>
              <a:spcAft>
                <a:spcPts val="1000"/>
              </a:spcAft>
            </a:pPr>
            <a:r>
              <a:rPr sz="2200">
                <a:solidFill>
                  <a:srgbClr val="333333"/>
                </a:solidFill>
              </a:rPr>
              <a:t>ፈተና ከወዴት ሊመጣ ይችላል</a:t>
            </a:r>
          </a:p>
          <a:p>
            <a:pPr>
              <a:spcAft>
                <a:spcPts val="1000"/>
              </a:spcAft>
            </a:pPr>
            <a:r>
              <a:rPr sz="2200">
                <a:solidFill>
                  <a:srgbClr val="333333"/>
                </a:solidFill>
              </a:rPr>
              <a:t>ከራስ</a:t>
            </a:r>
          </a:p>
          <a:p>
            <a:pPr>
              <a:spcAft>
                <a:spcPts val="1000"/>
              </a:spcAft>
            </a:pPr>
            <a:r>
              <a:rPr sz="2200">
                <a:solidFill>
                  <a:srgbClr val="333333"/>
                </a:solidFill>
              </a:rPr>
              <a:t>2. ከባለ ሥልጣናት፡</a:t>
            </a:r>
          </a:p>
          <a:p>
            <a:pPr>
              <a:spcAft>
                <a:spcPts val="1000"/>
              </a:spcAft>
            </a:pPr>
            <a:r>
              <a:rPr sz="2200">
                <a:solidFill>
                  <a:srgbClr val="333333"/>
                </a:solidFill>
              </a:rPr>
              <a:t>3. ከወግ አጥባቂዎች፡</a:t>
            </a:r>
          </a:p>
          <a:p>
            <a:pPr>
              <a:spcAft>
                <a:spcPts val="1000"/>
              </a:spcAft>
            </a:pPr>
            <a:r>
              <a:rPr sz="2200">
                <a:solidFill>
                  <a:srgbClr val="333333"/>
                </a:solidFill>
              </a:rPr>
              <a:t>4. ጥቅማቸው ከተነካባቸው ሊነካ ይችላል ብለው ከሚያስቡ ግለሰቦች፡</a:t>
            </a:r>
          </a:p>
          <a:p>
            <a:pPr>
              <a:spcAft>
                <a:spcPts val="1000"/>
              </a:spcAft>
            </a:pPr>
            <a:r>
              <a:rPr sz="2200">
                <a:solidFill>
                  <a:srgbClr val="333333"/>
                </a:solidFill>
              </a:rPr>
              <a:t>5. ከመናፍቃንና ከአሕዛብ</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4AF37"/>
        </a:solidFill>
        <a:effectLst/>
      </p:bgPr>
    </p:bg>
    <p:spTree>
      <p:nvGrpSpPr>
        <p:cNvPr id="1" name=""/>
        <p:cNvGrpSpPr/>
        <p:nvPr/>
      </p:nvGrpSpPr>
      <p:grpSpPr/>
      <p:sp>
        <p:nvSpPr>
          <p:cNvPr id="2" name="Title 1"/>
          <p:cNvSpPr>
            <a:spLocks noGrp="1"/>
          </p:cNvSpPr>
          <p:nvPr>
            <p:ph type="ctrTitle"/>
          </p:nvPr>
        </p:nvSpPr>
        <p:spPr>
          <a:xfrm>
            <a:off x="457200" y="2743200"/>
            <a:ext cx="8229600" cy="0"/>
          </a:xfrm>
        </p:spPr>
        <p:txBody>
          <a:bodyPr/>
          <a:lstStyle/>
          <a:p>
            <a:pPr algn="ctr"/>
            <a:r>
              <a:rPr b="1" sz="5000">
                <a:solidFill>
                  <a:srgbClr val="00334D"/>
                </a:solidFill>
              </a:rPr>
              <a:t>ክፍል 2: ተጨማሪ ጥቅሶችና መረጃዎች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በስመ አብ ወወልድ ወመንፈስ ቅዱስ አሐዱ አምላክ አሜን</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ሐዋርያዊነት</a:t>
            </a:r>
          </a:p>
          <a:p>
            <a:pPr>
              <a:spcAft>
                <a:spcPts val="1000"/>
              </a:spcAft>
            </a:pPr>
            <a:r>
              <a:rPr sz="2200">
                <a:solidFill>
                  <a:srgbClr val="333333"/>
                </a:solidFill>
              </a:rPr>
              <a:t>(ሐዋርያዊ ተልእኮ)</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"እግዲህ ሂዱና አሕዛብን ሁሉ በአብ በወልድና በመንፈስ ቅዱስ ስም እያጠመቃችኋቸው፥ ያዘዝኋችሁንም ሁሉ እንዲጠብቁ እያስተማራችኋቸው ደቀ መዛሙርት አድርጓቸው፤ እነሆም እኔ እስከ ዓለም ፍጻሜ ድረስ ሁልጊዜ ከእናንተ ጋር ነኝ፡፡"</a:t>
            </a:r>
          </a:p>
          <a:p>
            <a:pPr>
              <a:spcAft>
                <a:spcPts val="1000"/>
              </a:spcAft>
            </a:pPr>
            <a:r>
              <a:rPr sz="2200">
                <a:solidFill>
                  <a:srgbClr val="333333"/>
                </a:solidFill>
              </a:rPr>
              <a:t>ማቴ. 28፡19-20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“ከዚህም በኋላ ኢየሱስ ራሱ ለዘላለም ድኅነት የሆነውን የማይለወጠውን ቅዱስ ወንጌል ከፀሐይ መውጫ እስከ መጥለቂያው ድረስ በእጃቸው ላከው። ወደ ዓለም ሁሉ ሂዱ፣ ወንጌልንም ለፍጥረት ሁሉ ስበኩ። ያመነ የተጠመቀም ይድናል፥ ያላመነ ግን ይፈረድበታል፡፡”</a:t>
            </a:r>
          </a:p>
          <a:p>
            <a:pPr>
              <a:spcAft>
                <a:spcPts val="1000"/>
              </a:spcAft>
            </a:pPr>
            <a:r>
              <a:rPr sz="2200">
                <a:solidFill>
                  <a:srgbClr val="333333"/>
                </a:solidFill>
              </a:rPr>
              <a:t>ማር. 16፡15-16</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“እንግዲህ ያላመኑበትን እንዴት አድርገው ይጠሩታል? ባልሰሙትስ እንዴት ያምናሉ? ያለ ሰባኪስ እንዴት ይሰማሉ?”</a:t>
            </a:r>
          </a:p>
          <a:p>
            <a:pPr>
              <a:spcAft>
                <a:spcPts val="1000"/>
              </a:spcAft>
            </a:pPr>
            <a:r>
              <a:rPr sz="2200">
                <a:solidFill>
                  <a:srgbClr val="333333"/>
                </a:solidFill>
              </a:rPr>
              <a:t>ሮሜ 10፡14-15</a:t>
            </a:r>
          </a:p>
          <a:p>
            <a:pPr>
              <a:spcAft>
                <a:spcPts val="1000"/>
              </a:spcAft>
            </a:pPr>
            <a:r>
              <a:rPr sz="2200">
                <a:solidFill>
                  <a:srgbClr val="333333"/>
                </a:solidFill>
              </a:rPr>
              <a:t>“ወንጌልን ብሰብክ እንኳ የምመካበት የለኝም፤ ግድ ደርሶብኝ ነውና፤ ወንጌልንም ባልሰብክ ወዮልኝ።”</a:t>
            </a:r>
          </a:p>
          <a:p>
            <a:pPr>
              <a:spcAft>
                <a:spcPts val="1000"/>
              </a:spcAft>
            </a:pPr>
            <a:r>
              <a:rPr sz="2200">
                <a:solidFill>
                  <a:srgbClr val="333333"/>
                </a:solidFill>
              </a:rPr>
              <a:t>1 ቆሮ. 9፡16</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“በወንጌልም ማኅበረተኛ እሆን ዘንድ ስለ ወንጌል ሁሉን አደርጋለሁ።”</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1 ቆሮ. 9፡23</a:t>
            </a:r>
          </a:p>
          <a:p>
            <a:pPr>
              <a:spcAft>
                <a:spcPts val="1000"/>
              </a:spcAft>
            </a:pPr>
            <a:r>
              <a:rPr sz="2200">
                <a:solidFill>
                  <a:srgbClr val="333333"/>
                </a:solidFill>
              </a:rPr>
              <a:t>“ወንድሞች ሆይ፥ የሰበክሁላችሁን ደግሞም የተቀበላችሁትን በእርሱም ደግሞ የቆማችሁበትን በእርሱም ደግሞ የምትድኑበትን ወንጌል አሳስባችኋለሁ፡፡”</a:t>
            </a:r>
          </a:p>
          <a:p>
            <a:pPr>
              <a:spcAft>
                <a:spcPts val="1000"/>
              </a:spcAft>
            </a:pPr>
            <a:r>
              <a:rPr sz="2200">
                <a:solidFill>
                  <a:srgbClr val="333333"/>
                </a:solidFill>
              </a:rPr>
              <a:t>1 ቆሮ. 15፡1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“ጥበበኞቹም እንደ ሰማይ ፀዳል፥ ብዙ ሰዎችንም ወደ ጽድቅ የሚመልሱ እንደ ከዋክብት ለዘላለም ይደምቃሉ።”</a:t>
            </a:r>
          </a:p>
          <a:p>
            <a:pPr>
              <a:spcAft>
                <a:spcPts val="1000"/>
              </a:spcAft>
            </a:pPr>
            <a:r>
              <a:rPr sz="2200">
                <a:solidFill>
                  <a:srgbClr val="333333"/>
                </a:solidFill>
              </a:rPr>
              <a:t>ዳን. 12፡3</a:t>
            </a:r>
          </a:p>
          <a:p>
            <a:pPr>
              <a:spcAft>
                <a:spcPts val="1000"/>
              </a:spcAft>
            </a:pPr>
            <a:r>
              <a:rPr sz="2200">
                <a:solidFill>
                  <a:srgbClr val="333333"/>
                </a:solidFill>
              </a:rPr>
              <a:t>“ወንድሞቼ ሆይ፥ ከእናንተ ማንም ከእውነት ቢስት አንዱም ቢመልሰው፣ ኃጢአተኛን ከተሳሳተበት መንገድ የሚመልሰው ነፍሱን ከሞት እንዲያድን፥ የኃጢአትንም ብዛት እንዲሸፍን ይወቅ።”</a:t>
            </a:r>
          </a:p>
          <a:p>
            <a:pPr>
              <a:spcAft>
                <a:spcPts val="1000"/>
              </a:spcAft>
            </a:pPr>
            <a:r>
              <a:rPr sz="2200">
                <a:solidFill>
                  <a:srgbClr val="333333"/>
                </a:solidFill>
              </a:rPr>
              <a:t>ያዕ. 5፡19-20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“አንዳንዶች ተከራካሪዎችንም ውቀሱ፥ አንዳንዶችንም ከእሳት ነጥቃችሁ አድኑ”</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ይሁዳ 22</a:t>
            </a:r>
          </a:p>
          <a:p>
            <a:pPr>
              <a:spcAft>
                <a:spcPts val="1000"/>
              </a:spcAft>
            </a:pPr>
            <a:r>
              <a:rPr sz="2200">
                <a:solidFill>
                  <a:srgbClr val="333333"/>
                </a:solidFill>
              </a:rPr>
              <a:t>“የወንጌል ሰባኪነትን ሥራ አድርግ፥ አገልግሎትህን ፈጽም።”</a:t>
            </a:r>
          </a:p>
          <a:p>
            <a:pPr>
              <a:spcAft>
                <a:spcPts val="1000"/>
              </a:spcAft>
            </a:pPr>
            <a:r>
              <a:rPr sz="2200">
                <a:solidFill>
                  <a:srgbClr val="333333"/>
                </a:solidFill>
              </a:rPr>
              <a:t>2 ጢሞ. 4፡5</a:t>
            </a:r>
          </a:p>
          <a:p>
            <a:pPr>
              <a:spcAft>
                <a:spcPts val="1000"/>
              </a:spcAft>
            </a:pPr>
            <a:r>
              <a:rPr sz="2200">
                <a:solidFill>
                  <a:srgbClr val="333333"/>
                </a:solidFill>
              </a:rPr>
              <a:t>“ስለዚህ እግዚአብሔር እንዲህ ይላል፦ . . . የከበረውንም ከተዋረደው ብትለይ እንደ አፌ ትሆናለህ።”</a:t>
            </a:r>
          </a:p>
          <a:p>
            <a:pPr>
              <a:spcAft>
                <a:spcPts val="1000"/>
              </a:spcAft>
            </a:pPr>
            <a:r>
              <a:rPr sz="2200">
                <a:solidFill>
                  <a:srgbClr val="333333"/>
                </a:solidFill>
              </a:rPr>
              <a:t>ኤር. 15፡19</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“በመልካም የሚያስተዳድሩ ሽማግሌዎች፥ ይልቁንም በመስበክና በማስተማር የሚደክሙት፥ እጥፍ ክብር ይገባቸዋል።”</a:t>
            </a:r>
          </a:p>
          <a:p>
            <a:pPr>
              <a:spcAft>
                <a:spcPts val="1000"/>
              </a:spcAft>
            </a:pPr>
            <a:r>
              <a:rPr sz="2200">
                <a:solidFill>
                  <a:srgbClr val="333333"/>
                </a:solidFill>
              </a:rPr>
              <a:t>1 ጢሞ. 5፡17</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“አንድ መክሊትም የተቀበለው ደግሞ ቀርቦ። ጌታ ሆይ፥ ካልዘራህባት የምታጭድ ካልበተንህባትም የምትሰበስብ ጨካኝ ሰው መሆንህን አውቃለሁ፤ ፈራሁም ሄጄም መክሊትህን በምድር ቀበርሁት፤ እነሆ፥ መክሊትህ አለህ አለ። ጌታውም መልሶ እንዲህ አለው፦ አንተ ክፉና ሃኬተኛ ባሪያ፥ ካልዘራሁባት እንዳጭድ ካልበተንሁባትም እንድሰበስብ ታውቃለህን? ስለዚህ ገንዘቤን ለለዋጮች አደራ ልትሰጠው በተገባህ ነበር፥ እኔም መጥቼ ያለኝን ከትርፉ ጋር እወስደው ነበር። ስለዚህ መክሊቱን ውሰዱበት አሥር መክሊትም ላለው ስጡት፡፡”</a:t>
            </a:r>
          </a:p>
          <a:p>
            <a:pPr>
              <a:spcAft>
                <a:spcPts val="1000"/>
              </a:spcAft>
            </a:pPr>
            <a:r>
              <a:rPr sz="2200">
                <a:solidFill>
                  <a:srgbClr val="333333"/>
                </a:solidFill>
              </a:rPr>
              <a:t>ማቴ. 25፡24-28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የወንጌል ስብከት - የክርስትና መስፋፋት - በዓለም ሁሉ</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ይህ እስከ ዓለም ፍጻሜ ድረስ ይቀጥላል፡፡</a:t>
            </a:r>
          </a:p>
          <a:p>
            <a:pPr>
              <a:spcAft>
                <a:spcPts val="1000"/>
              </a:spcAft>
            </a:pPr>
            <a:r>
              <a:rPr sz="2200">
                <a:solidFill>
                  <a:srgbClr val="333333"/>
                </a:solidFill>
              </a:rPr>
              <a:t>በ2 ምሳሌዎች አንጻር ተነሯግል፡-</a:t>
            </a:r>
          </a:p>
          <a:p>
            <a:pPr>
              <a:spcAft>
                <a:spcPts val="1000"/>
              </a:spcAft>
            </a:pPr>
            <a:r>
              <a:rPr sz="2200">
                <a:solidFill>
                  <a:srgbClr val="333333"/>
                </a:solidFill>
              </a:rPr>
              <a:t>አንደኛው የሰናፍጭ ቅንጣት - ውጫዊ ዕድገት (በቁጥር መብዛት፣ መስፋት)</a:t>
            </a:r>
          </a:p>
          <a:p>
            <a:pPr>
              <a:spcAft>
                <a:spcPts val="1000"/>
              </a:spcAft>
            </a:pPr>
            <a:r>
              <a:rPr sz="2200">
                <a:solidFill>
                  <a:srgbClr val="333333"/>
                </a:solidFill>
              </a:rPr>
              <a:t>“ሌላ ምሳሌ አቀረበላቸው፣ እንዲህም አለ፦ መንግሥተ ሰማያት ሰው ወስዶ በእርሻው የዘራትን የሰናፍጭ ቅንጣት ትመስላለች፤ እርስዋም ከዘር ሁሉ ታንሳለች፥ በአደገች ጊዜ ግን፥ ከአታክልቶች ትበልጣለች፣ የሰማይም ወፎች መጥተው በቅርንጫፎችዋ እስኪሰፍሩ ድረስ ዛፍ ትሆናለች።” ማቴ. 13፡31-32</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ሊጡን ሁሉ ቀስ በቀስ በሚያቦካው እርሾ  - ውሳጣዊ ለውጥና ዕድገት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“ሌላ ምሳሌ ነገራቸው እንዲህም አለ፦ መንግሥተ ሰማያት ሁሉ እስኪቦካ ድረስ ሴት ወስዳ በሦስት መስፈሪያ ዱቄት የሸሸገችውን እርሾ ትመስላለች።”</a:t>
            </a:r>
          </a:p>
          <a:p>
            <a:pPr>
              <a:spcAft>
                <a:spcPts val="1000"/>
              </a:spcAft>
            </a:pPr>
            <a:r>
              <a:rPr sz="2200">
                <a:solidFill>
                  <a:srgbClr val="333333"/>
                </a:solidFill>
              </a:rPr>
              <a:t>ማቴ. 13፡33</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የወንጌል ስብከት መንገዶች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ብቻ ለብቻ (ለአንድ ሰው)</a:t>
            </a:r>
          </a:p>
          <a:p>
            <a:pPr>
              <a:spcAft>
                <a:spcPts val="1000"/>
              </a:spcAft>
            </a:pPr>
            <a:r>
              <a:rPr sz="2200">
                <a:solidFill>
                  <a:srgbClr val="333333"/>
                </a:solidFill>
              </a:rPr>
              <a:t>ለጥቂት ሰዎች (ለደቀ መዛሙርት፣ ለቤተሰቦች)</a:t>
            </a:r>
          </a:p>
          <a:p>
            <a:pPr>
              <a:spcAft>
                <a:spcPts val="1000"/>
              </a:spcAft>
            </a:pPr>
            <a:r>
              <a:rPr sz="2200">
                <a:solidFill>
                  <a:srgbClr val="333333"/>
                </a:solidFill>
              </a:rPr>
              <a:t>ለሕዝብ</a:t>
            </a:r>
          </a:p>
          <a:p>
            <a:pPr>
              <a:spcAft>
                <a:spcPts val="1000"/>
              </a:spcAft>
            </a:pPr>
            <a:r>
              <a:rPr sz="2200">
                <a:solidFill>
                  <a:srgbClr val="333333"/>
                </a:solidFill>
              </a:rPr>
              <a:t>ለማኅበር፣ . . .</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ብቻ ለብቻ (ለአንድ ሰው)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ለሳምራዊቷ ሴት</a:t>
            </a:r>
          </a:p>
          <a:p>
            <a:pPr>
              <a:spcAft>
                <a:spcPts val="1000"/>
              </a:spcAft>
            </a:pPr>
            <a:r>
              <a:rPr sz="2200">
                <a:solidFill>
                  <a:srgbClr val="333333"/>
                </a:solidFill>
              </a:rPr>
              <a:t>“ይሁዳን ትቶ ወደ ገሊላ ደግሞ ሄደ፤ ዳሩ ግን ደቀ መዛሙርቱ እንጂ ኢየሱስ ራሱ አላጠመቀም። በሰማርያም ሊያልፍ ግድ ሆነበት። . . . ኢየሱስም መንገድ ከመሄድ ደክሞ በጕድጓድ አጠገብ እንዲህ ተቀመጠ፤ ጊዜውም ስድስት ሰዓት ያህል ነበረ። ከሰማርያ አንዲት ሴት ውኃ ልትቀዳ መጣች። ኢየሱስም፦ ውኃ አጠጪኝ አላት፤ ደቀ መዛሙርቱ ምግብ ሊገዙ ወደ ከተማ ሄደው ነበርና።</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“ሴቲቱም እንስራዋን ትታ ወደ ከተማ ሄደች ለሰዎችም ያደረግሁትን ሁሉ የነገረኝን ሰው ኑና እዩ፤ እንጃ እርሱ ክርስቶስ ይሆንን? አለች። ከከተማ ወጥተው ወደ እርሱ ይመጡ ነበር።  “ሴቲቱም፡- ያደረግሁትን ሁሉ ነገረኝ ብላ ስለ መሰከረችው ቃል ከዚያች ከተማ የሰማርያ ሰዎች ብዙ አመኑበት። የሰማርያ ሰዎችም ወደ እርሱ በመጡ ጊዜ በእነርሱ ዘንድ እንዲኖር ለመኑት፤ በዚያም ሁለት ቀን ያህል ኖረ።</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“ስለ ቃሉ ከፊተኞች ይልቅ ብዙ ሰዎች አመኑ፤ ሴቲቱንም። አሁን የምናምን ስለ ቃልሽ አይደለም፥ እኛ ራሳችን ሰምተነዋልና፤ እርሱም በእውነት ክርስቶስ የዓለም መድኃኒት እንደ ሆነ እናውቃለን ይሉአት ነበር።”</a:t>
            </a:r>
          </a:p>
          <a:p>
            <a:pPr>
              <a:spcAft>
                <a:spcPts val="1000"/>
              </a:spcAft>
            </a:pPr>
            <a:r>
              <a:rPr sz="2200">
                <a:solidFill>
                  <a:srgbClr val="333333"/>
                </a:solidFill>
              </a:rPr>
              <a:t>ኒቆዲሞስ</a:t>
            </a:r>
          </a:p>
          <a:p>
            <a:pPr>
              <a:spcAft>
                <a:spcPts val="1000"/>
              </a:spcAft>
            </a:pPr>
            <a:r>
              <a:rPr sz="2200">
                <a:solidFill>
                  <a:srgbClr val="333333"/>
                </a:solidFill>
              </a:rPr>
              <a:t>“ከእነርሱ አንዱ በሌሊት ቀድሞ ወደ እርሱ መጥቶ የነበረ ኒቆዲሞስ፡- ሕጋችን አስቀድሞ ከእርሱ ሳይሰማ ምንስ እንዳደረገ ሳያውቅ በሰው ይፈርዳልን? አላቸው።”</a:t>
            </a:r>
          </a:p>
          <a:p>
            <a:pPr>
              <a:spcAft>
                <a:spcPts val="1000"/>
              </a:spcAft>
            </a:pPr>
            <a:r>
              <a:rPr sz="2200">
                <a:solidFill>
                  <a:srgbClr val="333333"/>
                </a:solidFill>
              </a:rPr>
              <a:t>ዮሐ. 7፡50-51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ዮሴፍ ዘአርማትያስ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“ከዚህም በኋላ አይሁድን ስለ ፈራ በስውር የኢየሱስ ደቀ መዝሙር የነበረ የአርማትያስ ዮሴፍ የኢየሱስን ሥጋ ሊወስድ ጲላጦስን ለመነ፤ ጲላጦስም ፈቀደለት። ስለዚህም መጥቶ የኢየሱስን ሥጋ ወሰደ። ደግሞም አስቀድሞ በሌሊት ወደ ኢየሱስ መጥቶ የነበረ ኒቆዲሞስ መቶ ንጥር የሚያህል የከርቤና የእሬት ቅልቅል ይዞ መጣ።</a:t>
            </a:r>
          </a:p>
          <a:p>
            <a:pPr>
              <a:spcAft>
                <a:spcPts val="1000"/>
              </a:spcAft>
            </a:pPr>
            <a:r>
              <a:rPr sz="2200">
                <a:solidFill>
                  <a:srgbClr val="333333"/>
                </a:solidFill>
              </a:rPr>
              <a:t>“የኢየሱስንም ሥጋ ወስደው እንደ አይሁድ አገናነዝ ልማድ ከሽቱ ጋር በተልባ እግር ልብስ ከፈኑት።”</a:t>
            </a:r>
          </a:p>
          <a:p>
            <a:pPr>
              <a:spcAft>
                <a:spcPts val="1000"/>
              </a:spcAft>
            </a:pPr>
            <a:r>
              <a:rPr sz="2200">
                <a:solidFill>
                  <a:srgbClr val="333333"/>
                </a:solidFill>
              </a:rPr>
              <a:t>ዮሐ. 19፡38-40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ለጥቂት ሰዎች (ለደቀ መዛሙርት፣ ለቤተሰቦች)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ልድያና ቤተሰቦቿ</a:t>
            </a:r>
          </a:p>
          <a:p>
            <a:pPr>
              <a:spcAft>
                <a:spcPts val="1000"/>
              </a:spcAft>
            </a:pPr>
            <a:r>
              <a:rPr sz="2200">
                <a:solidFill>
                  <a:srgbClr val="333333"/>
                </a:solidFill>
              </a:rPr>
              <a:t>“ከትያጥሮን ከተማም የመጣች ቀይ ሐር ሻጭ እግዚአብሔርን የምታመልክ ልድያ የሚሉአት አንዲት ሴት ትሰማ ነበረች፤ ጳውሎስም የሚናገረውን ታዳምጥ ዘንድ ጌታ ልብዋን ከፈተላት።</a:t>
            </a:r>
          </a:p>
          <a:p>
            <a:pPr>
              <a:spcAft>
                <a:spcPts val="1000"/>
              </a:spcAft>
            </a:pPr>
            <a:r>
              <a:rPr sz="2200">
                <a:solidFill>
                  <a:srgbClr val="333333"/>
                </a:solidFill>
              </a:rPr>
              <a:t>“እርስዋም ከቤተ ሰዎችዋ ጋር ከተጠመቀች በኋላ። በጌታ የማምን እንድሆን ከፈረዳችሁልኝ፥ ወደ ቤቴ ገብታችሁ ኑሩ ብላ ለመነችን፤ በግድም አለችን።”</a:t>
            </a:r>
          </a:p>
          <a:p>
            <a:pPr>
              <a:spcAft>
                <a:spcPts val="1000"/>
              </a:spcAft>
            </a:pPr>
            <a:r>
              <a:rPr sz="2200">
                <a:solidFill>
                  <a:srgbClr val="333333"/>
                </a:solidFill>
              </a:rPr>
              <a:t>የሐዋ. 16፡14-15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ለጵርስቅላ እና አቂላ</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“በክርስቶስ ኢየሱስ አብረውኝ ለሚሠሩ ለጵርስቅላና ለአቂላ ሰላምታ አቅርቡልኝ፤ እነርሱም ስለ ነፍሴ ነፍሳቸውን ለሞት አቀረቡ፥ የአሕዛብም አብያተ ክርስቲያናት ሁሉ የሚያመሰግኑአቸው ናቸው እንጂ እኔ ብቻ አይደለሁም፤</a:t>
            </a:r>
          </a:p>
          <a:p>
            <a:pPr>
              <a:spcAft>
                <a:spcPts val="1000"/>
              </a:spcAft>
            </a:pPr>
            <a:r>
              <a:rPr sz="2200">
                <a:solidFill>
                  <a:srgbClr val="333333"/>
                </a:solidFill>
              </a:rPr>
              <a:t>“በቤታቸውም ላለች ቤተ ክርስቲያን ሰላምታ አቅርቡልኝ። ከእስያ ለክርስቶስ በኵራት ለሆነው ለምወደው ለአጤኔጦን ሰላምታ አቅርቡልኝ።”</a:t>
            </a:r>
          </a:p>
          <a:p>
            <a:pPr>
              <a:spcAft>
                <a:spcPts val="1000"/>
              </a:spcAft>
            </a:pPr>
            <a:r>
              <a:rPr sz="2200">
                <a:solidFill>
                  <a:srgbClr val="333333"/>
                </a:solidFill>
              </a:rPr>
              <a:t>ሮሜ 16፡3-5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ለሕዝብ</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“ሕዝቡንም አይቶ ወደ ተራራ ወጣ፤ በተቀመጠም ጊዜ ደቀ መዛሙርቱ ወደ እርሱ ቀረቡ፤ አፉንም ከፍቶ አስተማራቸው እንዲህም አለ፦ . . .”</a:t>
            </a:r>
          </a:p>
          <a:p>
            <a:pPr>
              <a:spcAft>
                <a:spcPts val="1000"/>
              </a:spcAft>
            </a:pPr>
            <a:r>
              <a:rPr sz="2200">
                <a:solidFill>
                  <a:srgbClr val="333333"/>
                </a:solidFill>
              </a:rPr>
              <a:t>ማቴ. 5፡1-2</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ለሐዋርያዊ ተልእኮ መሠረታዊ የሆኑ ነገሮች</a:t>
            </a:r>
          </a:p>
        </p:txBody>
      </p:sp>
      <p:sp>
        <p:nvSpPr>
          <p:cNvPr id="3" name="Content Placeholder 2"/>
          <p:cNvSpPr>
            <a:spLocks noGrp="1"/>
          </p:cNvSpPr>
          <p:nvPr>
            <p:ph idx="1"/>
          </p:nvPr>
        </p:nvSpPr>
        <p:spPr>
          <a:xfrm>
            <a:off x="457200" y="1371600"/>
            <a:ext cx="8229600" cy="5029200"/>
          </a:xfrm>
        </p:spPr>
        <p:txBody>
          <a:bodyPr/>
          <a:lstStyle/>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፩. ሕዝቡ ያለበትን ተጨባጭ ሁኔታ መረዳት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“ኢየሱስም በምኩራቦቻቸው እያስተማረ፥ የመንግሥትንም ወንጌል እየሰበከ፥ በሕዝብም ያለውን ደዌና ሕማም ሁሉ እየፈወሰ፥ በከተማዎችና በመንደሮች ሁሉ ይዞር ነበር። “ብዙ ሕዝብም ባየ ጊዜ፥ እረኛ እንደ ሌላቸው በጎች ተጨንቀው ተጥለውም ነበርና አዘነላቸው።” ማቴ. 9፡35-36</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፪. መሠረቱ የምናገለግለውን ሕዝብ ማፍቀር ሊሆን ይገባል፡፡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“በዚያን ጊዜ ደቀ መዛሙርቱን፡- መከሩስ ብዙ ነው፥ ሠራተኞች ግን ጥቂቶች ናቸው፤ እንግዲህ የመከሩን ጌታ ወደ መከሩ ሠራተኞች እንዲልክ ለምኑት አላቸው።”</a:t>
            </a:r>
          </a:p>
          <a:p>
            <a:pPr>
              <a:spcAft>
                <a:spcPts val="1000"/>
              </a:spcAft>
            </a:pPr>
            <a:r>
              <a:rPr sz="2200">
                <a:solidFill>
                  <a:srgbClr val="333333"/>
                </a:solidFill>
              </a:rPr>
              <a:t>ማቴ. 9፡35-37</a:t>
            </a:r>
          </a:p>
          <a:p>
            <a:pPr>
              <a:spcAft>
                <a:spcPts val="1000"/>
              </a:spcAft>
            </a:pPr>
            <a:r>
              <a:rPr sz="2200">
                <a:solidFill>
                  <a:srgbClr val="333333"/>
                </a:solidFill>
              </a:rPr>
              <a:t>“አሥራ ሁለቱን ደቀ መዛሙርቱን ወደ እርሱ ጠርቶ፥ እንዲያወጡአቸው በርኩሳን መናፍስት ላይ ደዌንና ሕማምንም ሁሉ እንዲፈውሱ ሥልጣን ሰጣቸው።” ማቴ. 10፡1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“ኢየሱስም ከፋሲካ በዓል በፊት፥ ከዚህ ዓለም ወደ አብ የሚሄድበት ሰዓት እንደ ደረሰ አውቆ፥ በዚህ ዓለም ያሉትን ወገኖቹን የወደዳቸውን እስከ መጨረሻ ወደዳቸው።”</a:t>
            </a:r>
          </a:p>
          <a:p>
            <a:pPr>
              <a:spcAft>
                <a:spcPts val="1000"/>
              </a:spcAft>
            </a:pPr>
            <a:r>
              <a:rPr sz="2200">
                <a:solidFill>
                  <a:srgbClr val="333333"/>
                </a:solidFill>
              </a:rPr>
              <a:t>ዮሐ. 13፡1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“ነገር ግን ሞግዚት የራስዋን ልጆች እንደምትከባከብ፥ በመካከላችሁ የዋሆች ሆንን፤ እንዲሁም እያፈቀርናችሁ የእግዚአብሔርን ወንጌል ለማካፈል ብቻ ሳይሆን የገዛ ነፍሳችንን ደግሞ እናካፍላችሁ ዘንድ በጎ ፈቃዳችን ነበረ፥ ለእኛ የተወደዳችሁ ሆናችሁ ነበርና።</a:t>
            </a:r>
          </a:p>
          <a:p>
            <a:pPr>
              <a:spcAft>
                <a:spcPts val="1000"/>
              </a:spcAft>
            </a:pPr>
            <a:r>
              <a:rPr sz="2200">
                <a:solidFill>
                  <a:srgbClr val="333333"/>
                </a:solidFill>
              </a:rPr>
              <a:t>“. . . አባት ለልጆቹ እንደሚሆን ለእያንዳንዳችሁ እንደ ሆንን ታውቃላችሁና።”</a:t>
            </a:r>
          </a:p>
          <a:p>
            <a:pPr>
              <a:spcAft>
                <a:spcPts val="1000"/>
              </a:spcAft>
            </a:pPr>
            <a:r>
              <a:rPr sz="2200">
                <a:solidFill>
                  <a:srgbClr val="333333"/>
                </a:solidFill>
              </a:rPr>
              <a:t>1 ተሰ. 2፡7-12</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፫.  ለሰዎች ምክንያት አለመስጠት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“ወንድሞች ሆይ፥ ድካማችንና ጥረታችን ትዝ ይላችኋልና፤ ከእናንተ በአንዱ ስንኳ እንዳንከብድበት ሌሊትና ቀን እየሠራን፥ የእግዚአብሔርን ወንጌል ለእናንተ ሰበክን።</a:t>
            </a:r>
          </a:p>
          <a:p>
            <a:pPr>
              <a:spcAft>
                <a:spcPts val="1000"/>
              </a:spcAft>
            </a:pPr>
            <a:r>
              <a:rPr sz="2200">
                <a:solidFill>
                  <a:srgbClr val="333333"/>
                </a:solidFill>
              </a:rPr>
              <a:t>“በእናንተ በምታምኑ ዘንድ በእንዴት ያለ ቅድስናና ጽድቅ ነቀፋም በሌለበት ኑሮ እንደ ሄድን፥ እናንተና እግዚአብሔር ምስክሮች ናችሁ” 1 ተሰ. 2፡9-10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 . . . ዳሩ ግን ይህ መብታችሁ ለደካሞች ዕንቅፋት እንዳይሆንባቸው ተጠንቀቁ። አንተ እውቀት ያለህ በጣዖት ቤት በማዕድ ስትቀመጥ አንድ ሰው ቢያይህ፥ ደካማ ሰው ቢሆን ለጣዖት የተሠዋውን ለመብላት ሕሊናው አይታነጽበትምን?</a:t>
            </a:r>
          </a:p>
          <a:p>
            <a:pPr>
              <a:spcAft>
                <a:spcPts val="1000"/>
              </a:spcAft>
            </a:pPr>
            <a:r>
              <a:rPr sz="2200">
                <a:solidFill>
                  <a:srgbClr val="333333"/>
                </a:solidFill>
              </a:rPr>
              <a:t>“በአንተ እውቀትም ይህ ደካማ ይጠፋል፥ እርሱም ክርስቶስ የሞተለት ወንድም ነው። እንዲህም ወንድሞችን እየበደላችሁ ደካማም የሆነውን ሕሊናቸውን እያቆሰላችሁ ክርስቶስን ትበድላላችሁ። ስለዚህም መብል ወንድሜን የሚያሰናክለው ከሆነ፥ ወንድሜን እንዳላሰናክለው ለዘላለም ከቶ ሥጋ አልበላም።” 1 ቆሮ. 8፡4-13</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“ወንድምህንም በመብል ምክንያት የምታሳዝን ከሆንህ እንግዲህ በፍቅር አልተመላለስህም። ክርስቶስ ስለ እርሱ የሞተለትን እርሱን በመብልህ አታጥፋው። እንግዲህ ለእናንተ ያለው መልካም ነገር አይሰደብ” ሮሜ 14፡15-16</a:t>
            </a:r>
          </a:p>
          <a:p>
            <a:pPr>
              <a:spcAft>
                <a:spcPts val="1000"/>
              </a:spcAft>
            </a:pPr>
            <a:r>
              <a:rPr sz="2200">
                <a:solidFill>
                  <a:srgbClr val="333333"/>
                </a:solidFill>
              </a:rPr>
              <a:t>“እንግዲህ ከዛሬ ጀምሮ እርስ በርሳችን አንፈራረድ፤ ይልቁን ግን ለወንድም እንቅፋትን ወይም ማሰናከያን ማንም እንዳያኖርበት ይህን ቍረጡ።” ሮሜ 14፡13</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፬. ለሰዎች መዳን ድርሻን የሚቻለውን ሁሉ ማድረግ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ጌታችን ለይሁዳ ያደረገው</a:t>
            </a:r>
          </a:p>
          <a:p>
            <a:pPr>
              <a:spcAft>
                <a:spcPts val="1000"/>
              </a:spcAft>
            </a:pPr>
            <a:r>
              <a:rPr sz="2200">
                <a:solidFill>
                  <a:srgbClr val="333333"/>
                </a:solidFill>
              </a:rPr>
              <a:t>“ወደ እግዚአብሔር ዘንድ ንስሐንና በጌታችን በኢየሱስ ክርስቶስ ማመንን ለአይሁድና ለግሪክ ሰዎች እየመሰከርሁ በጉባኤም በየቤታችሁም አወራሁላችሁና አስተማርኋችሁ እንጂ ከሚጠቅማችሁ ነገር አንዳች ስንኳ አላስቀረሁባችሁም።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 . . ስለዚህ እኔ ከሰው ሁሉ ደም ንጹሕ እንደ ሆንሁ ዛሬ በዚች ቀን እመሰክርላችኋለሁ። የእግዚአብሔርን ምክር ሁሉ ነግሬአችኋለሁና፥ ምንም አላስቀረሁባችሁም።”</a:t>
            </a:r>
          </a:p>
          <a:p>
            <a:pPr>
              <a:spcAft>
                <a:spcPts val="1000"/>
              </a:spcAft>
            </a:pPr>
            <a:r>
              <a:rPr sz="2200">
                <a:solidFill>
                  <a:srgbClr val="333333"/>
                </a:solidFill>
              </a:rPr>
              <a:t>የሐዋ. 20፡20-27</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“እኔ ኃጢአተኛውን፦ በእርግጥ ትሞታለህ ባልሁት ጊዜ፥ አንተም ባታስጠነቅቀው ነፍሱም እንድትድን ከክፉ መንገዱ ይመለስ ዘንድ ለኃጢአተኛው አስጠንቅቀህ ባትነግረው፥ ያ ኃጢአተኛ በኃጢአት ይሞታል ደሙን ግን ከእጅህ እፈልጋለሁ።”</a:t>
            </a:r>
          </a:p>
          <a:p>
            <a:pPr>
              <a:spcAft>
                <a:spcPts val="1000"/>
              </a:spcAft>
            </a:pPr>
            <a:r>
              <a:rPr sz="2200">
                <a:solidFill>
                  <a:srgbClr val="333333"/>
                </a:solidFill>
              </a:rPr>
              <a:t>ሕዝ. 3፡18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“ደግሞ ጻድቁ ከጽድቁ ተመልሶ ኃጢአት በሠራ ጊዜ እኔ በፊቱም ዕንቅፋትን ሳደርግ፥ እርሱ ይሞታል አንተም አላስጠነቀቅኸውምና በኃጢአቱ ይሞታል ያደረጋትም ጽድቅ አትታሰብለትም፣ ነገር ግን ደሙን ከእጅህ እፈልጋለሁ።”</a:t>
            </a:r>
          </a:p>
          <a:p>
            <a:pPr>
              <a:spcAft>
                <a:spcPts val="1000"/>
              </a:spcAft>
            </a:pPr>
            <a:r>
              <a:rPr sz="2200">
                <a:solidFill>
                  <a:srgbClr val="333333"/>
                </a:solidFill>
              </a:rPr>
              <a:t>ሕዝ.  3፡20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“ኃጢአተኛውን፦ ኃጢአተኛ ሆይ፥ በእርግጥ ትሞታለህ ባልሁ ጊዜ፥ ኃጢአተኛውን ከመንገዱ ታስጠነቅቅ ዘንድ ባትናገር ያ ኃጢአተኛ በኃጢአቱ ይሞታል፥ ደሙን ግን ከእጅህ እፈልጋለሁ።”</a:t>
            </a:r>
          </a:p>
          <a:p>
            <a:pPr>
              <a:spcAft>
                <a:spcPts val="1000"/>
              </a:spcAft>
            </a:pPr>
            <a:r>
              <a:rPr sz="2200">
                <a:solidFill>
                  <a:srgbClr val="333333"/>
                </a:solidFill>
              </a:rPr>
              <a:t>ሕዝ.  33፡8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“እግዚአብሔርም ቃየንን አለው፦ ወንድምህ አቤል ወዴት ነው? እርሱም አለ፦ አላውቅም የወንድሜ ጠባቂው እኔ ነኝን?” ዘፍ. 4፡9</a:t>
            </a:r>
          </a:p>
          <a:p>
            <a:pPr>
              <a:spcAft>
                <a:spcPts val="1000"/>
              </a:spcAft>
            </a:pPr>
            <a:r>
              <a:rPr sz="2200">
                <a:solidFill>
                  <a:srgbClr val="333333"/>
                </a:solidFill>
              </a:rPr>
              <a:t>“ወንድምህ ቢደኸይ እጁም በአንተ ዘንድ ቢደክም፥ አጽናው እንደ እንግዳና እንደ መጻተኛም ከአንተ ጋር ይኑር።” ዘሌ. 25፡35</a:t>
            </a:r>
          </a:p>
          <a:p>
            <a:pPr>
              <a:spcAft>
                <a:spcPts val="1000"/>
              </a:spcAft>
            </a:pPr>
            <a:r>
              <a:rPr sz="2200">
                <a:solidFill>
                  <a:srgbClr val="333333"/>
                </a:solidFill>
              </a:rPr>
              <a:t>“የወንድምህ በሬ ወይም በግ ጠፍቶ ብታይ ቸል አትበል፣ ወደ ወንድምህ መልሰው።” ዘዳ. 22፡1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“የወንድምህ አህያ ወይም በሬው በመንገድ ወድቆ ብታይ ከእርሱ ጋር ሆነህ አነሣሣው እንጂ ቸል አትበለው።” ዘዳ. 22፡4</a:t>
            </a:r>
          </a:p>
          <a:p>
            <a:pPr>
              <a:spcAft>
                <a:spcPts val="1000"/>
              </a:spcAft>
            </a:pPr>
            <a:r>
              <a:rPr sz="2200">
                <a:solidFill>
                  <a:srgbClr val="333333"/>
                </a:solidFill>
              </a:rPr>
              <a:t>“ስለ ሌላው ወንድሙ መዳን ግድ የሌለው ሰው እርሱ ይድናል ብዬ አላምንም፡፡”</a:t>
            </a:r>
          </a:p>
          <a:p>
            <a:pPr>
              <a:spcAft>
                <a:spcPts val="1000"/>
              </a:spcAft>
            </a:pPr>
            <a:r>
              <a:rPr sz="2200">
                <a:solidFill>
                  <a:srgbClr val="333333"/>
                </a:solidFill>
              </a:rPr>
              <a:t>ቅዱስ ዮሐንስ አፈ ወርቅ</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፭. በትንሹ አለመሳነፍ (አለመርካት)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“ሰብዓውም በደስታ ተመልሰው:- ጌታ ሆይ፥ አጋንንት ስንኳ በስምህ ተገዝተውልናል አሉት። እንዲህም አላቸው፡- ሰይጣንን እንደ መብረቅ ከሰማይ ሲወድቅ አየሁ። እነሆ፥ እባቡንና ጊንጡን ትረግጡ ዘንድ፥ በጠላትም ኃይል ሁሉ ላይ ሥልጣን ሰጥቻችኋለሁ፥</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“የሚጐዳችሁም ምንም የለም። ነገር ግን መናፍስት ስለ ተገዙላችሁ በዚህ ደስ አይበላችሁ፥ ስማችሁ ግን በሰማያት ስለ ተጻፈ ደስ ይበላችሁ።”</a:t>
            </a:r>
          </a:p>
          <a:p>
            <a:pPr>
              <a:spcAft>
                <a:spcPts val="1000"/>
              </a:spcAft>
            </a:pPr>
            <a:r>
              <a:rPr sz="2200">
                <a:solidFill>
                  <a:srgbClr val="333333"/>
                </a:solidFill>
              </a:rPr>
              <a:t>ሉቃ. 10፡17-20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“ናትናኤልም መልሶ፦ መምህር ሆይ፥ አንተ የእግዚአብሔር ልጅ ነህ፤ አንተ የእስራኤል ንጉሥ ነህ አለው። ኢየሱስም መልሶ፦ ከበለስ በታች አየሁህ ስላልሁህ አመንህን? ከዚህ የሚበልጥ ነገር ታያለህ አለው።”</a:t>
            </a:r>
          </a:p>
          <a:p>
            <a:pPr>
              <a:spcAft>
                <a:spcPts val="1000"/>
              </a:spcAft>
            </a:pPr>
            <a:r>
              <a:rPr sz="2200">
                <a:solidFill>
                  <a:srgbClr val="333333"/>
                </a:solidFill>
              </a:rPr>
              <a:t>ዮሐ. 1፡50-52</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፮. የሌላን ሰው ሃሳብ (ምክር) መስማት (ምክር መቀበል)፣ አድማጭ መሆን</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እግዚአብሔር የሰዎችን ሃሳብ ይሰማል፣ ይቀበላል፡፡</a:t>
            </a:r>
          </a:p>
          <a:p>
            <a:pPr>
              <a:spcAft>
                <a:spcPts val="1000"/>
              </a:spcAft>
            </a:pPr>
            <a:r>
              <a:rPr sz="2200">
                <a:solidFill>
                  <a:srgbClr val="333333"/>
                </a:solidFill>
              </a:rPr>
              <a:t>“እግዚአብሔርም አለ፦ የሰዶምና የገሞራ ጩኸት እጅግ በዝቶአልና፥ ኃጢአታቸውም እጅግ ከብዳለችና፥ እንግዲህስ ወደ እኔ እንደ መጣች እንደ ጩኸትዋ አድርገው እንደ ሆነ ወርጄ አያለሁ እንዲሁም ባይሆን አውቃለሁ። ሰዎቹም ከዚያ ፊታቸውን አቀኑ፥</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“ወደ ሰዶምም ሄዱ አብርሃም ግን በእግዚአብሔር ፊት ገና ቆሞ ነበር። አብርሃምም ቀረበ አለም። በውኑ ጻድቁን ከኃጢአተኛ ጋር ታጠፋለህን? አምሳ ጻድቃን በከተማይቱ ውስጥ ቢገኙ በውኑ ሁሉን ታጠፋለህን?</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“ከተማይቱንስ በእርስዋ ስለሚገኙ አምሳ ጻድቃን አትምርምን? ይህ ከአንተ ይራቅ ጻድቁን ከኃጢአተኛ ጋር ትገድል ዘንድ፥ ጻድቁም እንደ ኃጢአተኛ ይሆን ዘንድ፥ እንደዚህ ያለው አድራጎት ከአንተ ይራቅ። የምድር ሁሉ ፈራጅ በቅን ፍርድ አይፈርድምን?”</a:t>
            </a:r>
          </a:p>
          <a:p>
            <a:pPr>
              <a:spcAft>
                <a:spcPts val="1000"/>
              </a:spcAft>
            </a:pPr>
            <a:r>
              <a:rPr sz="2200">
                <a:solidFill>
                  <a:srgbClr val="333333"/>
                </a:solidFill>
              </a:rPr>
              <a:t>ዘፍ. 18፡20-25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“ኑና እንዋቀስ ይላል እግዚአብሔር ኃጢአታችሁ እንደ አለላ ብትሆን እንደ አመዳይ ትነጻለች እንደ ደምም ብትቀላ እንደ ባዘቶ ትጠራለች።”</a:t>
            </a:r>
          </a:p>
          <a:p>
            <a:pPr>
              <a:spcAft>
                <a:spcPts val="1000"/>
              </a:spcAft>
            </a:pPr>
            <a:r>
              <a:rPr sz="2200">
                <a:solidFill>
                  <a:srgbClr val="333333"/>
                </a:solidFill>
              </a:rPr>
              <a:t>ኢሳ. 1፡18</a:t>
            </a:r>
          </a:p>
          <a:p>
            <a:pPr>
              <a:spcAft>
                <a:spcPts val="1000"/>
              </a:spcAft>
            </a:pPr>
            <a:r>
              <a:rPr sz="2200">
                <a:solidFill>
                  <a:srgbClr val="333333"/>
                </a:solidFill>
              </a:rPr>
              <a:t>“ክርክራችሁን አቅርቡ፥ ይላል እግዚአብሔር ማስረጃችሁን አምጡ፥ ይላል የያዕቆብ ንጉሥ።” ኢሳ. 41፡21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“ኢየሱስም ወደ ፊልጶስ ቂሣርያ አገር በደረሰ ጊዜ ደቀ መዛሙርቱን፡- ሰዎች የሰውን ልጅ ማን እንደ ሆነ ይሉታል? ብሎ ጠየቀ።” ማቴ. 16፡16</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፯. ደካማ ጎንን መስማት (መቀበል)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“በኤፌሶን ወዳለው ወደ ቤተ ክርስቲያን መልአክ እንዲህ ብለህ ጻፍ። በቀኝ እጁ ሰባቱን ከዋክብት የያዘው በሰባቱም የወርቅ መቅረዞች መካከል የሚሄደው እንዲህ ይላል፡-</a:t>
            </a:r>
          </a:p>
          <a:p>
            <a:pPr>
              <a:spcAft>
                <a:spcPts val="1000"/>
              </a:spcAft>
            </a:pPr>
            <a:r>
              <a:rPr sz="2200">
                <a:solidFill>
                  <a:srgbClr val="333333"/>
                </a:solidFill>
              </a:rPr>
              <a:t>“ሥራህንና ድካምህን ትዕግሥትህንም አውቃለሁ፤ ክፉዎችንም ልትታገሥ እንዳትችል፥ እንዲሁም ሳይሆኑ ሐዋርያት ነን የሚሉቱን መርምረህ ሐሰተኞች ሆነው እንዳገኘሃቸው አውቃለሁ፤</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“ታግሠህማል፥ ስለ ስሜም ብለህ ጸንተህ አልደከምህም፤ ዳሩ ግን የምነቅፍብህ ነገር አለኝ፣ የቀደመውን ፍቅርህን ትተሃልና።</a:t>
            </a:r>
          </a:p>
          <a:p>
            <a:pPr>
              <a:spcAft>
                <a:spcPts val="1000"/>
              </a:spcAft>
            </a:pPr>
            <a:r>
              <a:rPr sz="2200">
                <a:solidFill>
                  <a:srgbClr val="333333"/>
                </a:solidFill>
              </a:rPr>
              <a:t>“እንግዲህ ከወዴት እንደ ወደቅህ አስብ፣ ንስሐም ግባ፣ የቀደመውንም ሥራህን አድርግ፤ አለዚያ እመጣብሃለሁ፣ ንስሐም ባትገባ መቅረዝህን ከስፍራው እወስዳለሁ።”</a:t>
            </a:r>
          </a:p>
          <a:p>
            <a:pPr>
              <a:spcAft>
                <a:spcPts val="1000"/>
              </a:spcAft>
            </a:pPr>
            <a:r>
              <a:rPr sz="2200">
                <a:solidFill>
                  <a:srgbClr val="333333"/>
                </a:solidFill>
              </a:rPr>
              <a:t>ራእ 2፡1-5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፰. መረጃን መፈለግ፣ መለዋወጥና መጠቀም</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መነ የብልዎ ሰብእ ለወልደ ዕጉዋለ እመሕያው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፱. ዓላማ እና ቁርጠኝነት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“It is easy to say ‘'no!’ when there is a strong ‘'yes!’ burning from the inside”</a:t>
            </a:r>
          </a:p>
          <a:p>
            <a:pPr>
              <a:spcAft>
                <a:spcPts val="1000"/>
              </a:spcAft>
            </a:pPr>
            <a:r>
              <a:rPr sz="2200">
                <a:solidFill>
                  <a:srgbClr val="333333"/>
                </a:solidFill>
              </a:rPr>
              <a:t>Stephen R. Covey</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፲. አሳታፊነት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“በክንክራኦስ ባለች ቤተ ክርስቲያን አገልጋይ የምትሆን እኅታችንን ፌቤንን አደራ ብያችኋለሁ፤ ለቅዱሳን እንደሚገባ በጌታ ተቀበሉአት፥ እርስዋ ለብዙዎች ለእኔም ለራሴ ደጋፊ ነበረችና፥ ከእናንተም በምትፈልገው በማናቸውም ነገር እርዱአት።”</a:t>
            </a:r>
          </a:p>
          <a:p>
            <a:pPr>
              <a:spcAft>
                <a:spcPts val="1000"/>
              </a:spcAft>
            </a:pPr>
            <a:r>
              <a:rPr sz="2200">
                <a:solidFill>
                  <a:srgbClr val="333333"/>
                </a:solidFill>
              </a:rPr>
              <a:t>ሮሜ 16፡1-2</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“በክርስቶስ ኢየሱስ አብረውኝ ለሚሠሩ ለጵርስቅላና ለአቂላ ሰላምታ አቅርቡልኝ፤ እነርሱም ስለ ነፍሴ ነፍሳቸውን ለሞት አቀረቡ፥ የአሕዛብም አብያተ ክርስቲያናት ሁሉ የሚያመሰግኑአቸው ናቸው እንጂ እኔ ብቻ አይደለሁም፡፡” ሮሜ 16፡3-4</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“እርሱም (አጵሎስ) በምኵራብ ገልጦ ይናገር ጀመር። ጵርስቅላና አቂላም በሰሙት ጊዜ፥ ወስደው የእግዚአብሔርን መንገድ ከፊት ይልቅ በትክክል ገለጡለት።” የሐዋ. 18፡26</a:t>
            </a:r>
          </a:p>
          <a:p>
            <a:pPr>
              <a:spcAft>
                <a:spcPts val="1000"/>
              </a:spcAft>
            </a:pPr>
            <a:r>
              <a:rPr sz="2200">
                <a:solidFill>
                  <a:srgbClr val="333333"/>
                </a:solidFill>
              </a:rPr>
              <a:t>“የእስያ አብያተ ክርስቲያናት ሰላምታ ያቀርቡላችኋል። አቂላና ጵርስቅላ በቤታቸው ካለች ቤተ ክርስቲያን ጋር በጌታ እጅግ ሰላምታ ያቀርቡላችኋል።” 1ኛ ቆሮ. 16፡19</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 . . እኔም ባሪያህ ከትንሽነቴ ጀምሬ እግዚአብሔርን እፈራ ነበር። ኤልዛቤል የእግዚአብሔርን ነቢያት ባስገደለች ጊዜ፥ መቶውን የእግዚአብሔር ነቢያት ወስጄ፥ አምሳ አምሳውንም በዋሻ ውስጥ ሸሽጌ፥ እንጀራና ውኃ የመገብኋቸው፥ ይህ ያደርግሁት ነገር በውኑ ለጌታዬ አልታወቀህምን?” 1 ነገ. 18፡7-13</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“ከሶርያውያንም አገር አደጋ ጣዮች ወጥተው ነበር፥ ከእስራኤልም ምድር ታናሽ ብላቴና ሴት ማርከው ነበር የንዕማንንም ሚስት ታገለግል ነበር። እመቤትዋንም፡- ጌታዬ በሰማርያ ካለው ከነቢዩ ፊት ቢደርስ ኖሮ ከለምጹ በፈወሰው ነበር አለቻት።</a:t>
            </a:r>
          </a:p>
          <a:p>
            <a:pPr>
              <a:spcAft>
                <a:spcPts val="1000"/>
              </a:spcAft>
            </a:pPr>
            <a:r>
              <a:rPr sz="2200">
                <a:solidFill>
                  <a:srgbClr val="333333"/>
                </a:solidFill>
              </a:rPr>
              <a:t>“ንዕማንም ገብቶ ለጌታው። ከእስራኤል አገር የሆነች አንዲት ብላቴና እንዲህና እንዲህ ብላለች ብሎ ነገረው።” 2 ነገ. 5፡2-4</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ስብሐት ለእግዚአብሔር!</a:t>
            </a:r>
          </a:p>
        </p:txBody>
      </p:sp>
      <p:sp>
        <p:nvSpPr>
          <p:cNvPr id="3" name="Content Placeholder 2"/>
          <p:cNvSpPr>
            <a:spLocks noGrp="1"/>
          </p:cNvSpPr>
          <p:nvPr>
            <p:ph idx="1"/>
          </p:nvPr>
        </p:nvSpPr>
        <p:spPr>
          <a:xfrm>
            <a:off x="457200" y="1371600"/>
            <a:ext cx="8229600" cy="5029200"/>
          </a:xfrm>
        </p:spPr>
        <p:txBody>
          <a:bodyPr/>
          <a:lstStyle/>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